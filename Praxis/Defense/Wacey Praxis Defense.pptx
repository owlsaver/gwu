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316" r:id="rId3"/>
    <p:sldId id="317" r:id="rId4"/>
    <p:sldId id="318" r:id="rId5"/>
    <p:sldId id="320" r:id="rId6"/>
    <p:sldId id="323" r:id="rId7"/>
    <p:sldId id="324" r:id="rId8"/>
    <p:sldId id="325" r:id="rId9"/>
    <p:sldId id="326" r:id="rId10"/>
    <p:sldId id="296" r:id="rId11"/>
    <p:sldId id="321" r:id="rId12"/>
    <p:sldId id="322"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0" roundtripDataSignature="AMtx7miDNVSbFq7dyO4335j4J4+rkAmYE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3A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66"/>
    <p:restoredTop sz="94694"/>
  </p:normalViewPr>
  <p:slideViewPr>
    <p:cSldViewPr snapToGrid="0" snapToObjects="1">
      <p:cViewPr varScale="1">
        <p:scale>
          <a:sx n="105" d="100"/>
          <a:sy n="105" d="100"/>
        </p:scale>
        <p:origin x="81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80" Type="http://customschemas.google.com/relationships/presentationmetadata" Target="metadata"/><Relationship Id="rId3" Type="http://schemas.openxmlformats.org/officeDocument/2006/relationships/slide" Target="slides/slide2.xml"/><Relationship Id="rId8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82" Type="http://schemas.openxmlformats.org/officeDocument/2006/relationships/viewProps" Target="viewProps.xml"/><Relationship Id="rId10" Type="http://schemas.openxmlformats.org/officeDocument/2006/relationships/slide" Target="slides/slide9.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7719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jp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Master" Target="../slideMasters/slideMaster1.xml"/><Relationship Id="rId4"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24"/>
        <p:cNvGrpSpPr/>
        <p:nvPr/>
      </p:nvGrpSpPr>
      <p:grpSpPr>
        <a:xfrm>
          <a:off x="0" y="0"/>
          <a:ext cx="0" cy="0"/>
          <a:chOff x="0" y="0"/>
          <a:chExt cx="0" cy="0"/>
        </a:xfrm>
      </p:grpSpPr>
      <p:sp>
        <p:nvSpPr>
          <p:cNvPr id="25" name="Google Shape;25;p46"/>
          <p:cNvSpPr txBox="1">
            <a:spLocks noGrp="1"/>
          </p:cNvSpPr>
          <p:nvPr>
            <p:ph type="body" idx="1"/>
          </p:nvPr>
        </p:nvSpPr>
        <p:spPr>
          <a:xfrm>
            <a:off x="838200" y="1825625"/>
            <a:ext cx="10515600" cy="347450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800"/>
              <a:buNone/>
              <a:defRPr>
                <a:solidFill>
                  <a:srgbClr val="595959"/>
                </a:solidFill>
                <a:latin typeface="Arial"/>
                <a:ea typeface="Arial"/>
                <a:cs typeface="Arial"/>
                <a:sym typeface="Arial"/>
              </a:defRPr>
            </a:lvl1pPr>
            <a:lvl2pPr marL="914400" lvl="1" indent="-381000" algn="l">
              <a:lnSpc>
                <a:spcPct val="90000"/>
              </a:lnSpc>
              <a:spcBef>
                <a:spcPts val="500"/>
              </a:spcBef>
              <a:spcAft>
                <a:spcPts val="0"/>
              </a:spcAft>
              <a:buClr>
                <a:schemeClr val="dk1"/>
              </a:buClr>
              <a:buSzPts val="2400"/>
              <a:buChar char="•"/>
              <a:defRPr>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a:latin typeface="Arial"/>
                <a:ea typeface="Arial"/>
                <a:cs typeface="Arial"/>
                <a:sym typeface="Arial"/>
              </a:defRPr>
            </a:lvl3pPr>
            <a:lvl4pPr marL="1828800" lvl="3" indent="-342900" algn="l">
              <a:lnSpc>
                <a:spcPct val="90000"/>
              </a:lnSpc>
              <a:spcBef>
                <a:spcPts val="500"/>
              </a:spcBef>
              <a:spcAft>
                <a:spcPts val="0"/>
              </a:spcAft>
              <a:buClr>
                <a:schemeClr val="dk1"/>
              </a:buClr>
              <a:buSzPts val="1800"/>
              <a:buChar char="•"/>
              <a:defRPr>
                <a:latin typeface="Arial"/>
                <a:ea typeface="Arial"/>
                <a:cs typeface="Arial"/>
                <a:sym typeface="Arial"/>
              </a:defRPr>
            </a:lvl4pPr>
            <a:lvl5pPr marL="2286000" lvl="4" indent="-342900" algn="l">
              <a:lnSpc>
                <a:spcPct val="90000"/>
              </a:lnSpc>
              <a:spcBef>
                <a:spcPts val="500"/>
              </a:spcBef>
              <a:spcAft>
                <a:spcPts val="0"/>
              </a:spcAft>
              <a:buClr>
                <a:schemeClr val="dk1"/>
              </a:buClr>
              <a:buSzPts val="1800"/>
              <a:buChar char="•"/>
              <a:defRPr>
                <a:latin typeface="Arial"/>
                <a:ea typeface="Arial"/>
                <a:cs typeface="Arial"/>
                <a:sym typeface="Aria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46"/>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70"/>
        <p:cNvGrpSpPr/>
        <p:nvPr/>
      </p:nvGrpSpPr>
      <p:grpSpPr>
        <a:xfrm>
          <a:off x="0" y="0"/>
          <a:ext cx="0" cy="0"/>
          <a:chOff x="0" y="0"/>
          <a:chExt cx="0" cy="0"/>
        </a:xfrm>
      </p:grpSpPr>
      <p:sp>
        <p:nvSpPr>
          <p:cNvPr id="71" name="Google Shape;71;p5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5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5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5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5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5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7"/>
        <p:cNvGrpSpPr/>
        <p:nvPr/>
      </p:nvGrpSpPr>
      <p:grpSpPr>
        <a:xfrm>
          <a:off x="0" y="0"/>
          <a:ext cx="0" cy="0"/>
          <a:chOff x="0" y="0"/>
          <a:chExt cx="0" cy="0"/>
        </a:xfrm>
      </p:grpSpPr>
      <p:sp>
        <p:nvSpPr>
          <p:cNvPr id="78" name="Google Shape;78;p5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55"/>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80" name="Google Shape;80;p5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5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5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5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4"/>
        <p:cNvGrpSpPr/>
        <p:nvPr/>
      </p:nvGrpSpPr>
      <p:grpSpPr>
        <a:xfrm>
          <a:off x="0" y="0"/>
          <a:ext cx="0" cy="0"/>
          <a:chOff x="0" y="0"/>
          <a:chExt cx="0" cy="0"/>
        </a:xfrm>
      </p:grpSpPr>
      <p:sp>
        <p:nvSpPr>
          <p:cNvPr id="85" name="Google Shape;85;p5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5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5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5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5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0"/>
        <p:cNvGrpSpPr/>
        <p:nvPr/>
      </p:nvGrpSpPr>
      <p:grpSpPr>
        <a:xfrm>
          <a:off x="0" y="0"/>
          <a:ext cx="0" cy="0"/>
          <a:chOff x="0" y="0"/>
          <a:chExt cx="0" cy="0"/>
        </a:xfrm>
      </p:grpSpPr>
      <p:sp>
        <p:nvSpPr>
          <p:cNvPr id="91" name="Google Shape;91;p5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5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5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5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5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6"/>
        <p:cNvGrpSpPr/>
        <p:nvPr/>
      </p:nvGrpSpPr>
      <p:grpSpPr>
        <a:xfrm>
          <a:off x="0" y="0"/>
          <a:ext cx="0" cy="0"/>
          <a:chOff x="0" y="0"/>
          <a:chExt cx="0" cy="0"/>
        </a:xfrm>
      </p:grpSpPr>
      <p:sp>
        <p:nvSpPr>
          <p:cNvPr id="97" name="Google Shape;97;p58"/>
          <p:cNvSpPr txBox="1">
            <a:spLocks noGrp="1"/>
          </p:cNvSpPr>
          <p:nvPr>
            <p:ph type="body"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
        <p:nvSpPr>
          <p:cNvPr id="98" name="Google Shape;98;p58"/>
          <p:cNvSpPr txBox="1">
            <a:spLocks noGrp="1"/>
          </p:cNvSpPr>
          <p:nvPr>
            <p:ph type="title"/>
          </p:nvPr>
        </p:nvSpPr>
        <p:spPr>
          <a:xfrm>
            <a:off x="1524000" y="1599247"/>
            <a:ext cx="9143999"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595959"/>
              </a:buClr>
              <a:buSzPts val="5400"/>
              <a:buFont typeface="Arial"/>
              <a:buNone/>
              <a:defRPr sz="5400" b="1" cap="none">
                <a:solidFill>
                  <a:srgbClr val="595959"/>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Areas">
  <p:cSld name="Two Content Areas">
    <p:spTree>
      <p:nvGrpSpPr>
        <p:cNvPr id="1" name="Shape 99"/>
        <p:cNvGrpSpPr/>
        <p:nvPr/>
      </p:nvGrpSpPr>
      <p:grpSpPr>
        <a:xfrm>
          <a:off x="0" y="0"/>
          <a:ext cx="0" cy="0"/>
          <a:chOff x="0" y="0"/>
          <a:chExt cx="0" cy="0"/>
        </a:xfrm>
      </p:grpSpPr>
      <p:sp>
        <p:nvSpPr>
          <p:cNvPr id="100" name="Google Shape;100;p59"/>
          <p:cNvSpPr txBox="1">
            <a:spLocks noGrp="1"/>
          </p:cNvSpPr>
          <p:nvPr>
            <p:ph type="body" idx="1"/>
          </p:nvPr>
        </p:nvSpPr>
        <p:spPr>
          <a:xfrm>
            <a:off x="838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2"/>
          </p:nvPr>
        </p:nvSpPr>
        <p:spPr>
          <a:xfrm>
            <a:off x="6172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lumns with Subtitles">
  <p:cSld name="Two Columns with Subtitles">
    <p:spTree>
      <p:nvGrpSpPr>
        <p:cNvPr id="1" name="Shape 103"/>
        <p:cNvGrpSpPr/>
        <p:nvPr/>
      </p:nvGrpSpPr>
      <p:grpSpPr>
        <a:xfrm>
          <a:off x="0" y="0"/>
          <a:ext cx="0" cy="0"/>
          <a:chOff x="0" y="0"/>
          <a:chExt cx="0" cy="0"/>
        </a:xfrm>
      </p:grpSpPr>
      <p:sp>
        <p:nvSpPr>
          <p:cNvPr id="104" name="Google Shape;104;p60"/>
          <p:cNvSpPr txBox="1">
            <a:spLocks noGrp="1"/>
          </p:cNvSpPr>
          <p:nvPr>
            <p:ph type="body" idx="1"/>
          </p:nvPr>
        </p:nvSpPr>
        <p:spPr>
          <a:xfrm>
            <a:off x="836612" y="2505075"/>
            <a:ext cx="5176884"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5" name="Google Shape;105;p60"/>
          <p:cNvSpPr txBox="1">
            <a:spLocks noGrp="1"/>
          </p:cNvSpPr>
          <p:nvPr>
            <p:ph type="body" idx="2"/>
          </p:nvPr>
        </p:nvSpPr>
        <p:spPr>
          <a:xfrm>
            <a:off x="6172200" y="1711496"/>
            <a:ext cx="5186362"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6" name="Google Shape;106;p60"/>
          <p:cNvSpPr txBox="1">
            <a:spLocks noGrp="1"/>
          </p:cNvSpPr>
          <p:nvPr>
            <p:ph type="body" idx="3"/>
          </p:nvPr>
        </p:nvSpPr>
        <p:spPr>
          <a:xfrm>
            <a:off x="6178505" y="2505075"/>
            <a:ext cx="5180057"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vl2pPr>
            <a:lvl3pPr marL="1371600" lvl="2" indent="-342900" algn="l">
              <a:lnSpc>
                <a:spcPct val="90000"/>
              </a:lnSpc>
              <a:spcBef>
                <a:spcPts val="500"/>
              </a:spcBef>
              <a:spcAft>
                <a:spcPts val="0"/>
              </a:spcAft>
              <a:buClr>
                <a:schemeClr val="dk1"/>
              </a:buClr>
              <a:buSzPts val="1800"/>
              <a:buChar char="•"/>
              <a:defRPr sz="18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7" name="Google Shape;107;p60"/>
          <p:cNvSpPr txBox="1">
            <a:spLocks noGrp="1"/>
          </p:cNvSpPr>
          <p:nvPr>
            <p:ph type="body" idx="4"/>
          </p:nvPr>
        </p:nvSpPr>
        <p:spPr>
          <a:xfrm>
            <a:off x="836614" y="1712639"/>
            <a:ext cx="5183187"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8" name="Google Shape;108;p60"/>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Content with Caption">
  <p:cSld name="1_Content with Caption">
    <p:spTree>
      <p:nvGrpSpPr>
        <p:cNvPr id="1" name="Shape 109"/>
        <p:cNvGrpSpPr/>
        <p:nvPr/>
      </p:nvGrpSpPr>
      <p:grpSpPr>
        <a:xfrm>
          <a:off x="0" y="0"/>
          <a:ext cx="0" cy="0"/>
          <a:chOff x="0" y="0"/>
          <a:chExt cx="0" cy="0"/>
        </a:xfrm>
      </p:grpSpPr>
      <p:sp>
        <p:nvSpPr>
          <p:cNvPr id="110" name="Google Shape;110;p61"/>
          <p:cNvSpPr txBox="1">
            <a:spLocks noGrp="1"/>
          </p:cNvSpPr>
          <p:nvPr>
            <p:ph type="body" idx="1"/>
          </p:nvPr>
        </p:nvSpPr>
        <p:spPr>
          <a:xfrm>
            <a:off x="457717" y="545091"/>
            <a:ext cx="5393266" cy="441401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11" name="Google Shape;111;p61"/>
          <p:cNvSpPr txBox="1">
            <a:spLocks noGrp="1"/>
          </p:cNvSpPr>
          <p:nvPr>
            <p:ph type="body" idx="2"/>
          </p:nvPr>
        </p:nvSpPr>
        <p:spPr>
          <a:xfrm>
            <a:off x="6231467" y="545092"/>
            <a:ext cx="5393266" cy="441401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hoto with Caption">
  <p:cSld name="Photo with Caption">
    <p:spTree>
      <p:nvGrpSpPr>
        <p:cNvPr id="1" name="Shape 112"/>
        <p:cNvGrpSpPr/>
        <p:nvPr/>
      </p:nvGrpSpPr>
      <p:grpSpPr>
        <a:xfrm>
          <a:off x="0" y="0"/>
          <a:ext cx="0" cy="0"/>
          <a:chOff x="0" y="0"/>
          <a:chExt cx="0" cy="0"/>
        </a:xfrm>
      </p:grpSpPr>
      <p:sp>
        <p:nvSpPr>
          <p:cNvPr id="113" name="Google Shape;113;p62"/>
          <p:cNvSpPr>
            <a:spLocks noGrp="1"/>
          </p:cNvSpPr>
          <p:nvPr>
            <p:ph type="pic" idx="2"/>
          </p:nvPr>
        </p:nvSpPr>
        <p:spPr>
          <a:xfrm rot="344365">
            <a:off x="765923" y="687338"/>
            <a:ext cx="10591524" cy="3491307"/>
          </a:xfrm>
          <a:prstGeom prst="rect">
            <a:avLst/>
          </a:prstGeom>
          <a:solidFill>
            <a:srgbClr val="ECECEC"/>
          </a:solidFill>
          <a:ln w="190500" cap="sq" cmpd="sng">
            <a:solidFill>
              <a:srgbClr val="FFFFFF"/>
            </a:solidFill>
            <a:prstDash val="solid"/>
            <a:miter lim="800000"/>
            <a:headEnd type="none" w="sm" len="sm"/>
            <a:tailEnd type="none" w="sm" len="sm"/>
          </a:ln>
        </p:spPr>
      </p:sp>
      <p:sp>
        <p:nvSpPr>
          <p:cNvPr id="114" name="Google Shape;114;p62"/>
          <p:cNvSpPr txBox="1">
            <a:spLocks noGrp="1"/>
          </p:cNvSpPr>
          <p:nvPr>
            <p:ph type="body" idx="1"/>
          </p:nvPr>
        </p:nvSpPr>
        <p:spPr>
          <a:xfrm>
            <a:off x="688489" y="4486019"/>
            <a:ext cx="10816984" cy="8048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1600"/>
              <a:buNone/>
              <a:defRPr sz="1600" b="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losing Slide - Option 1">
  <p:cSld name="Closing Slide - Option 1">
    <p:spTree>
      <p:nvGrpSpPr>
        <p:cNvPr id="1" name="Shape 115"/>
        <p:cNvGrpSpPr/>
        <p:nvPr/>
      </p:nvGrpSpPr>
      <p:grpSpPr>
        <a:xfrm>
          <a:off x="0" y="0"/>
          <a:ext cx="0" cy="0"/>
          <a:chOff x="0" y="0"/>
          <a:chExt cx="0" cy="0"/>
        </a:xfrm>
      </p:grpSpPr>
      <p:pic>
        <p:nvPicPr>
          <p:cNvPr id="116" name="Google Shape;116;p63" descr="A picture containing water, computer&#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17" name="Google Shape;117;p63" descr="A picture containing brick&#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8" name="Google Shape;118;p63" descr="A close up of a logo&#10;&#10;Description automatically generated"/>
          <p:cNvPicPr preferRelativeResize="0"/>
          <p:nvPr/>
        </p:nvPicPr>
        <p:blipFill rotWithShape="1">
          <a:blip r:embed="rId4">
            <a:alphaModFix/>
          </a:blip>
          <a:srcRect/>
          <a:stretch/>
        </p:blipFill>
        <p:spPr>
          <a:xfrm>
            <a:off x="0" y="0"/>
            <a:ext cx="12192000" cy="68580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 Option 2">
  <p:cSld name="Title Slide - Option 2">
    <p:spTree>
      <p:nvGrpSpPr>
        <p:cNvPr id="1" name="Shape 119"/>
        <p:cNvGrpSpPr/>
        <p:nvPr/>
      </p:nvGrpSpPr>
      <p:grpSpPr>
        <a:xfrm>
          <a:off x="0" y="0"/>
          <a:ext cx="0" cy="0"/>
          <a:chOff x="0" y="0"/>
          <a:chExt cx="0" cy="0"/>
        </a:xfrm>
      </p:grpSpPr>
      <p:pic>
        <p:nvPicPr>
          <p:cNvPr id="120" name="Google Shape;120;p64" descr="A picture containing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21" name="Google Shape;121;p64" descr="A picture containing bi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22" name="Google Shape;122;p64"/>
          <p:cNvSpPr txBox="1">
            <a:spLocks noGrp="1"/>
          </p:cNvSpPr>
          <p:nvPr>
            <p:ph type="title"/>
          </p:nvPr>
        </p:nvSpPr>
        <p:spPr>
          <a:xfrm>
            <a:off x="690040" y="1204857"/>
            <a:ext cx="10799595"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FFFFFF"/>
              </a:buClr>
              <a:buSzPts val="5400"/>
              <a:buFont typeface="Arial"/>
              <a:buNone/>
              <a:defRPr sz="5400" b="1"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3" name="Google Shape;123;p64"/>
          <p:cNvSpPr txBox="1">
            <a:spLocks noGrp="1"/>
          </p:cNvSpPr>
          <p:nvPr>
            <p:ph type="body" idx="1"/>
          </p:nvPr>
        </p:nvSpPr>
        <p:spPr>
          <a:xfrm>
            <a:off x="699248" y="3324431"/>
            <a:ext cx="10771789" cy="1500187"/>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FFFFFF"/>
              </a:buClr>
              <a:buSzPts val="2000"/>
              <a:buNone/>
              <a:defRPr sz="2000">
                <a:solidFill>
                  <a:srgbClr val="FFFFFF"/>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losing Slide - Option 2">
  <p:cSld name="Closing Slide - Option 2">
    <p:spTree>
      <p:nvGrpSpPr>
        <p:cNvPr id="1" name="Shape 124"/>
        <p:cNvGrpSpPr/>
        <p:nvPr/>
      </p:nvGrpSpPr>
      <p:grpSpPr>
        <a:xfrm>
          <a:off x="0" y="0"/>
          <a:ext cx="0" cy="0"/>
          <a:chOff x="0" y="0"/>
          <a:chExt cx="0" cy="0"/>
        </a:xfrm>
      </p:grpSpPr>
      <p:pic>
        <p:nvPicPr>
          <p:cNvPr id="125" name="Google Shape;125;p65" descr="A picture containing screenshot,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26" name="Google Shape;126;p65"/>
          <p:cNvSpPr/>
          <p:nvPr/>
        </p:nvSpPr>
        <p:spPr>
          <a:xfrm>
            <a:off x="0" y="0"/>
            <a:ext cx="12192000" cy="6858000"/>
          </a:xfrm>
          <a:prstGeom prst="rect">
            <a:avLst/>
          </a:prstGeom>
          <a:solidFill>
            <a:srgbClr val="003A5D"/>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27" name="Google Shape;127;p65" descr="A close up of a logo&#10;&#10;Description automatically generated"/>
          <p:cNvPicPr preferRelativeResize="0"/>
          <p:nvPr/>
        </p:nvPicPr>
        <p:blipFill rotWithShape="1">
          <a:blip r:embed="rId3">
            <a:alphaModFix/>
          </a:blip>
          <a:srcRect/>
          <a:stretch/>
        </p:blipFill>
        <p:spPr>
          <a:xfrm>
            <a:off x="1524000" y="0"/>
            <a:ext cx="9144000"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1_Comparison">
  <p:cSld name="1_Comparison">
    <p:spTree>
      <p:nvGrpSpPr>
        <p:cNvPr id="1" name="Shape 128"/>
        <p:cNvGrpSpPr/>
        <p:nvPr/>
      </p:nvGrpSpPr>
      <p:grpSpPr>
        <a:xfrm>
          <a:off x="0" y="0"/>
          <a:ext cx="0" cy="0"/>
          <a:chOff x="0" y="0"/>
          <a:chExt cx="0" cy="0"/>
        </a:xfrm>
      </p:grpSpPr>
      <p:sp>
        <p:nvSpPr>
          <p:cNvPr id="129" name="Google Shape;129;p66"/>
          <p:cNvSpPr txBox="1">
            <a:spLocks noGrp="1"/>
          </p:cNvSpPr>
          <p:nvPr>
            <p:ph type="body" idx="1"/>
          </p:nvPr>
        </p:nvSpPr>
        <p:spPr>
          <a:xfrm>
            <a:off x="839788" y="853439"/>
            <a:ext cx="5157787"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0" name="Google Shape;130;p66"/>
          <p:cNvSpPr txBox="1">
            <a:spLocks noGrp="1"/>
          </p:cNvSpPr>
          <p:nvPr>
            <p:ph type="body" idx="2"/>
          </p:nvPr>
        </p:nvSpPr>
        <p:spPr>
          <a:xfrm>
            <a:off x="839788" y="1444371"/>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1" name="Google Shape;131;p66"/>
          <p:cNvSpPr txBox="1">
            <a:spLocks noGrp="1"/>
          </p:cNvSpPr>
          <p:nvPr>
            <p:ph type="body" idx="3"/>
          </p:nvPr>
        </p:nvSpPr>
        <p:spPr>
          <a:xfrm>
            <a:off x="6172200" y="853439"/>
            <a:ext cx="5183188"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2" name="Google Shape;132;p66"/>
          <p:cNvSpPr txBox="1">
            <a:spLocks noGrp="1"/>
          </p:cNvSpPr>
          <p:nvPr>
            <p:ph type="body" idx="4"/>
          </p:nvPr>
        </p:nvSpPr>
        <p:spPr>
          <a:xfrm>
            <a:off x="6172200" y="1444371"/>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3" name="Google Shape;133;p6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4" name="Google Shape;134;p6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5" name="Google Shape;135;p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36" name="Google Shape;136;p66"/>
          <p:cNvSpPr txBox="1">
            <a:spLocks noGrp="1"/>
          </p:cNvSpPr>
          <p:nvPr>
            <p:ph type="title"/>
          </p:nvPr>
        </p:nvSpPr>
        <p:spPr>
          <a:xfrm>
            <a:off x="826008" y="218821"/>
            <a:ext cx="10515600" cy="488315"/>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3200"/>
              <a:buFont typeface="Calibri"/>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lide - Option 1">
    <p:spTree>
      <p:nvGrpSpPr>
        <p:cNvPr id="1" name=""/>
        <p:cNvGrpSpPr/>
        <p:nvPr/>
      </p:nvGrpSpPr>
      <p:grpSpPr>
        <a:xfrm>
          <a:off x="0" y="0"/>
          <a:ext cx="0" cy="0"/>
          <a:chOff x="0" y="0"/>
          <a:chExt cx="0" cy="0"/>
        </a:xfrm>
      </p:grpSpPr>
      <p:pic>
        <p:nvPicPr>
          <p:cNvPr id="7" name="Picture 6" descr="A close up of a sign&#10;&#10;Description automatically generated">
            <a:extLst>
              <a:ext uri="{FF2B5EF4-FFF2-40B4-BE49-F238E27FC236}">
                <a16:creationId xmlns:a16="http://schemas.microsoft.com/office/drawing/2014/main" id="{A5706C32-4A7F-904A-A159-858BADF285E9}"/>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5" name="Picture 4" descr="A close up of a logo&#10;&#10;Description automatically generated">
            <a:extLst>
              <a:ext uri="{FF2B5EF4-FFF2-40B4-BE49-F238E27FC236}">
                <a16:creationId xmlns:a16="http://schemas.microsoft.com/office/drawing/2014/main" id="{A4A908DD-8A6B-CA4C-A972-B41A7779B82D}"/>
              </a:ext>
            </a:extLst>
          </p:cNvPr>
          <p:cNvPicPr>
            <a:picLocks noChangeAspect="1"/>
          </p:cNvPicPr>
          <p:nvPr userDrawn="1"/>
        </p:nvPicPr>
        <p:blipFill>
          <a:blip r:embed="rId3"/>
          <a:stretch>
            <a:fillRect/>
          </a:stretch>
        </p:blipFill>
        <p:spPr>
          <a:xfrm>
            <a:off x="0" y="0"/>
            <a:ext cx="12192000" cy="6858000"/>
          </a:xfrm>
          <a:prstGeom prst="rect">
            <a:avLst/>
          </a:prstGeom>
        </p:spPr>
      </p:pic>
      <p:pic>
        <p:nvPicPr>
          <p:cNvPr id="3" name="Picture 2" descr="A close up of a sign&#10;&#10;Description automatically generated">
            <a:extLst>
              <a:ext uri="{FF2B5EF4-FFF2-40B4-BE49-F238E27FC236}">
                <a16:creationId xmlns:a16="http://schemas.microsoft.com/office/drawing/2014/main" id="{B3494C34-0F3D-854E-AFF5-078C6756F1D5}"/>
              </a:ext>
            </a:extLst>
          </p:cNvPr>
          <p:cNvPicPr>
            <a:picLocks noChangeAspect="1"/>
          </p:cNvPicPr>
          <p:nvPr userDrawn="1"/>
        </p:nvPicPr>
        <p:blipFill>
          <a:blip r:embed="rId4"/>
          <a:stretch>
            <a:fillRect/>
          </a:stretch>
        </p:blipFill>
        <p:spPr>
          <a:xfrm>
            <a:off x="0" y="0"/>
            <a:ext cx="12192000" cy="6858000"/>
          </a:xfrm>
          <a:prstGeom prst="rect">
            <a:avLst/>
          </a:prstGeom>
        </p:spPr>
      </p:pic>
      <p:sp>
        <p:nvSpPr>
          <p:cNvPr id="10" name="Title 1">
            <a:extLst>
              <a:ext uri="{FF2B5EF4-FFF2-40B4-BE49-F238E27FC236}">
                <a16:creationId xmlns:a16="http://schemas.microsoft.com/office/drawing/2014/main" id="{A36B4BA9-309F-334E-A8C9-AE868B684689}"/>
              </a:ext>
            </a:extLst>
          </p:cNvPr>
          <p:cNvSpPr>
            <a:spLocks noGrp="1"/>
          </p:cNvSpPr>
          <p:nvPr>
            <p:ph type="ctrTitle" hasCustomPrompt="1"/>
          </p:nvPr>
        </p:nvSpPr>
        <p:spPr>
          <a:xfrm>
            <a:off x="3150704" y="495088"/>
            <a:ext cx="8389575" cy="2441160"/>
          </a:xfrm>
          <a:prstGeom prst="rect">
            <a:avLst/>
          </a:prstGeom>
        </p:spPr>
        <p:txBody>
          <a:bodyPr anchor="t"/>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title</a:t>
            </a:r>
          </a:p>
        </p:txBody>
      </p:sp>
      <p:sp>
        <p:nvSpPr>
          <p:cNvPr id="11" name="Subtitle 2">
            <a:extLst>
              <a:ext uri="{FF2B5EF4-FFF2-40B4-BE49-F238E27FC236}">
                <a16:creationId xmlns:a16="http://schemas.microsoft.com/office/drawing/2014/main" id="{9AC8EBA3-BD00-8C48-ADBA-8DABB356C09A}"/>
              </a:ext>
            </a:extLst>
          </p:cNvPr>
          <p:cNvSpPr>
            <a:spLocks noGrp="1"/>
          </p:cNvSpPr>
          <p:nvPr>
            <p:ph type="subTitle" idx="1" hasCustomPrompt="1"/>
          </p:nvPr>
        </p:nvSpPr>
        <p:spPr>
          <a:xfrm>
            <a:off x="3150704" y="3167505"/>
            <a:ext cx="8389575" cy="1752600"/>
          </a:xfrm>
          <a:prstGeom prst="rect">
            <a:avLst/>
          </a:prstGeom>
        </p:spPr>
        <p:txBody>
          <a:bodyPr/>
          <a:lstStyle>
            <a:lvl1pPr marL="0" indent="0" algn="l">
              <a:buNone/>
              <a:defRPr>
                <a:solidFill>
                  <a:schemeClr val="bg2">
                    <a:lumMod val="90000"/>
                  </a:schemeClr>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a:t>
            </a:r>
          </a:p>
        </p:txBody>
      </p:sp>
    </p:spTree>
    <p:extLst>
      <p:ext uri="{BB962C8B-B14F-4D97-AF65-F5344CB8AC3E}">
        <p14:creationId xmlns:p14="http://schemas.microsoft.com/office/powerpoint/2010/main" val="271939337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51A131-86D0-9D23-98CE-7FC61A71E63B}"/>
              </a:ext>
            </a:extLst>
          </p:cNvPr>
          <p:cNvSpPr>
            <a:spLocks noGrp="1"/>
          </p:cNvSpPr>
          <p:nvPr>
            <p:ph type="dt" sz="half" idx="10"/>
          </p:nvPr>
        </p:nvSpPr>
        <p:spPr/>
        <p:txBody>
          <a:bodyPr/>
          <a:lstStyle/>
          <a:p>
            <a:fld id="{84D0E6BA-C896-4F66-AC39-BCF86AB0AE0D}" type="datetimeFigureOut">
              <a:rPr lang="en-US" smtClean="0"/>
              <a:t>11/12/2025</a:t>
            </a:fld>
            <a:endParaRPr lang="en-US"/>
          </a:p>
        </p:txBody>
      </p:sp>
      <p:sp>
        <p:nvSpPr>
          <p:cNvPr id="3" name="Footer Placeholder 2">
            <a:extLst>
              <a:ext uri="{FF2B5EF4-FFF2-40B4-BE49-F238E27FC236}">
                <a16:creationId xmlns:a16="http://schemas.microsoft.com/office/drawing/2014/main" id="{BADC9603-06A4-38AE-7829-F527C802D3C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8372589-8EE9-06E4-1058-BC91734BAA69}"/>
              </a:ext>
            </a:extLst>
          </p:cNvPr>
          <p:cNvSpPr>
            <a:spLocks noGrp="1"/>
          </p:cNvSpPr>
          <p:nvPr>
            <p:ph type="sldNum" sz="quarter" idx="12"/>
          </p:nvPr>
        </p:nvSpPr>
        <p:spPr/>
        <p:txBody>
          <a:bodyPr/>
          <a:lstStyle/>
          <a:p>
            <a:fld id="{CE6E643F-8558-4EA4-A314-EA1785908A04}" type="slidenum">
              <a:rPr lang="en-US" smtClean="0"/>
              <a:t>‹#›</a:t>
            </a:fld>
            <a:endParaRPr lang="en-US"/>
          </a:p>
        </p:txBody>
      </p:sp>
    </p:spTree>
    <p:extLst>
      <p:ext uri="{BB962C8B-B14F-4D97-AF65-F5344CB8AC3E}">
        <p14:creationId xmlns:p14="http://schemas.microsoft.com/office/powerpoint/2010/main" val="1006543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jp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5" name="Google Shape;15;p44" descr="A picture containing screenshot&#10;&#10;Description automatically generated"/>
          <p:cNvPicPr preferRelativeResize="0"/>
          <p:nvPr/>
        </p:nvPicPr>
        <p:blipFill rotWithShape="1">
          <a:blip r:embed="rId18">
            <a:alphaModFix/>
          </a:blip>
          <a:srcRect/>
          <a:stretch/>
        </p:blipFill>
        <p:spPr>
          <a:xfrm>
            <a:off x="0" y="0"/>
            <a:ext cx="12192000" cy="6858000"/>
          </a:xfrm>
          <a:prstGeom prst="rect">
            <a:avLst/>
          </a:prstGeom>
          <a:noFill/>
          <a:ln>
            <a:noFill/>
          </a:ln>
        </p:spPr>
      </p:pic>
      <p:pic>
        <p:nvPicPr>
          <p:cNvPr id="16" name="Google Shape;16;p44" descr="A close up of a logo&#10;&#10;Description automatically generated"/>
          <p:cNvPicPr preferRelativeResize="0"/>
          <p:nvPr/>
        </p:nvPicPr>
        <p:blipFill rotWithShape="1">
          <a:blip r:embed="rId19">
            <a:alphaModFix/>
          </a:blip>
          <a:srcRect/>
          <a:stretch/>
        </p:blipFill>
        <p:spPr>
          <a:xfrm>
            <a:off x="0" y="0"/>
            <a:ext cx="12192000" cy="6858000"/>
          </a:xfrm>
          <a:prstGeom prst="rect">
            <a:avLst/>
          </a:prstGeom>
          <a:noFill/>
          <a:ln>
            <a:noFill/>
          </a:ln>
        </p:spPr>
      </p:pic>
      <p:pic>
        <p:nvPicPr>
          <p:cNvPr id="17" name="Google Shape;17;p44" descr="A close up of a logo&#10;&#10;Description automatically generated"/>
          <p:cNvPicPr preferRelativeResize="0"/>
          <p:nvPr/>
        </p:nvPicPr>
        <p:blipFill rotWithShape="1">
          <a:blip r:embed="rId20">
            <a:alphaModFix/>
          </a:blip>
          <a:srcRect/>
          <a:stretch/>
        </p:blipFill>
        <p:spPr>
          <a:xfrm>
            <a:off x="0" y="0"/>
            <a:ext cx="12192000" cy="6858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0"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 id="2147483670" r:id="rId14"/>
    <p:sldLayoutId id="2147483671" r:id="rId15"/>
    <p:sldLayoutId id="2147483672"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437BA-2E84-3549-8B00-4D6E2E7C8053}"/>
              </a:ext>
            </a:extLst>
          </p:cNvPr>
          <p:cNvSpPr>
            <a:spLocks noGrp="1"/>
          </p:cNvSpPr>
          <p:nvPr>
            <p:ph type="ctrTitle"/>
          </p:nvPr>
        </p:nvSpPr>
        <p:spPr/>
        <p:txBody>
          <a:bodyPr>
            <a:normAutofit fontScale="90000"/>
          </a:bodyPr>
          <a:lstStyle/>
          <a:p>
            <a:r>
              <a:rPr lang="en-US" dirty="0"/>
              <a:t>Mnemosyne: Using Large Language Models to Convert Documents to</a:t>
            </a:r>
            <a:br>
              <a:rPr lang="en-US" dirty="0"/>
            </a:br>
            <a:r>
              <a:rPr lang="en-US" dirty="0"/>
              <a:t>Knowledge Graphs to Check for Completeness and Consistency </a:t>
            </a:r>
          </a:p>
        </p:txBody>
      </p:sp>
      <p:sp>
        <p:nvSpPr>
          <p:cNvPr id="3" name="Subtitle 2">
            <a:extLst>
              <a:ext uri="{FF2B5EF4-FFF2-40B4-BE49-F238E27FC236}">
                <a16:creationId xmlns:a16="http://schemas.microsoft.com/office/drawing/2014/main" id="{D04025FF-B551-7A4B-9349-720975BC8529}"/>
              </a:ext>
            </a:extLst>
          </p:cNvPr>
          <p:cNvSpPr>
            <a:spLocks noGrp="1"/>
          </p:cNvSpPr>
          <p:nvPr>
            <p:ph type="subTitle" idx="1"/>
          </p:nvPr>
        </p:nvSpPr>
        <p:spPr>
          <a:xfrm>
            <a:off x="3150704" y="2517814"/>
            <a:ext cx="8389575" cy="3306913"/>
          </a:xfrm>
        </p:spPr>
        <p:txBody>
          <a:bodyPr>
            <a:normAutofit fontScale="85000" lnSpcReduction="20000"/>
          </a:bodyPr>
          <a:lstStyle/>
          <a:p>
            <a:r>
              <a:rPr lang="en-US" dirty="0">
                <a:solidFill>
                  <a:schemeClr val="bg1">
                    <a:lumMod val="85000"/>
                  </a:schemeClr>
                </a:solidFill>
              </a:rPr>
              <a:t>Michael Wacey</a:t>
            </a:r>
          </a:p>
          <a:p>
            <a:endParaRPr lang="en-US" dirty="0">
              <a:solidFill>
                <a:schemeClr val="bg1">
                  <a:lumMod val="85000"/>
                </a:schemeClr>
              </a:solidFill>
            </a:endParaRPr>
          </a:p>
          <a:p>
            <a:r>
              <a:rPr lang="en-US" dirty="0">
                <a:solidFill>
                  <a:schemeClr val="bg1">
                    <a:lumMod val="85000"/>
                  </a:schemeClr>
                </a:solidFill>
              </a:rPr>
              <a:t>Presented to:</a:t>
            </a:r>
          </a:p>
          <a:p>
            <a:pPr marL="457200" indent="-457200">
              <a:buFont typeface="Arial" panose="020B0604020202020204" pitchFamily="34" charset="0"/>
              <a:buChar char="•"/>
            </a:pPr>
            <a:r>
              <a:rPr lang="en-US" dirty="0">
                <a:solidFill>
                  <a:schemeClr val="bg1">
                    <a:lumMod val="85000"/>
                  </a:schemeClr>
                </a:solidFill>
                <a:effectLst/>
              </a:rPr>
              <a:t>Amir Etemadi</a:t>
            </a:r>
          </a:p>
          <a:p>
            <a:pPr marL="457200" indent="-457200">
              <a:buFont typeface="Arial" panose="020B0604020202020204" pitchFamily="34" charset="0"/>
              <a:buChar char="•"/>
            </a:pPr>
            <a:r>
              <a:rPr lang="en-US" dirty="0">
                <a:solidFill>
                  <a:schemeClr val="bg1">
                    <a:lumMod val="85000"/>
                  </a:schemeClr>
                </a:solidFill>
                <a:effectLst/>
              </a:rPr>
              <a:t>Mohamed </a:t>
            </a:r>
            <a:r>
              <a:rPr lang="en-US" dirty="0" err="1">
                <a:solidFill>
                  <a:schemeClr val="bg1">
                    <a:lumMod val="85000"/>
                  </a:schemeClr>
                </a:solidFill>
                <a:effectLst/>
              </a:rPr>
              <a:t>Elbasheer</a:t>
            </a:r>
            <a:endParaRPr lang="en-US" dirty="0">
              <a:solidFill>
                <a:schemeClr val="bg1">
                  <a:lumMod val="85000"/>
                </a:schemeClr>
              </a:solidFill>
              <a:effectLst/>
            </a:endParaRPr>
          </a:p>
          <a:p>
            <a:pPr marL="457200" indent="-457200">
              <a:buFont typeface="Arial" panose="020B0604020202020204" pitchFamily="34" charset="0"/>
              <a:buChar char="•"/>
            </a:pPr>
            <a:r>
              <a:rPr lang="en-US" dirty="0">
                <a:solidFill>
                  <a:schemeClr val="bg1">
                    <a:lumMod val="85000"/>
                  </a:schemeClr>
                </a:solidFill>
                <a:effectLst/>
              </a:rPr>
              <a:t>Johnathon Ng</a:t>
            </a:r>
          </a:p>
          <a:p>
            <a:endParaRPr lang="en-US" dirty="0">
              <a:solidFill>
                <a:schemeClr val="bg1">
                  <a:lumMod val="85000"/>
                </a:schemeClr>
              </a:solidFill>
            </a:endParaRPr>
          </a:p>
          <a:p>
            <a:r>
              <a:rPr lang="en-US" dirty="0">
                <a:solidFill>
                  <a:schemeClr val="bg1">
                    <a:lumMod val="85000"/>
                  </a:schemeClr>
                </a:solidFill>
              </a:rPr>
              <a:t>November 24, 2025</a:t>
            </a:r>
          </a:p>
        </p:txBody>
      </p:sp>
      <p:pic>
        <p:nvPicPr>
          <p:cNvPr id="6" name="Google Shape;189;p5" descr="Graphical user interface, text&#10;&#10;Description automatically generated with medium confidence">
            <a:extLst>
              <a:ext uri="{FF2B5EF4-FFF2-40B4-BE49-F238E27FC236}">
                <a16:creationId xmlns:a16="http://schemas.microsoft.com/office/drawing/2014/main" id="{144EF13A-4A0A-9C45-93FC-D5245FFD541B}"/>
              </a:ext>
            </a:extLst>
          </p:cNvPr>
          <p:cNvPicPr preferRelativeResize="0"/>
          <p:nvPr/>
        </p:nvPicPr>
        <p:blipFill rotWithShape="1">
          <a:blip r:embed="rId2">
            <a:alphaModFix/>
          </a:blip>
          <a:srcRect/>
          <a:stretch/>
        </p:blipFill>
        <p:spPr>
          <a:xfrm>
            <a:off x="0" y="5560418"/>
            <a:ext cx="5196113" cy="1163929"/>
          </a:xfrm>
          <a:prstGeom prst="rect">
            <a:avLst/>
          </a:prstGeom>
          <a:noFill/>
          <a:ln>
            <a:noFill/>
          </a:ln>
        </p:spPr>
      </p:pic>
    </p:spTree>
    <p:extLst>
      <p:ext uri="{BB962C8B-B14F-4D97-AF65-F5344CB8AC3E}">
        <p14:creationId xmlns:p14="http://schemas.microsoft.com/office/powerpoint/2010/main" val="37704986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pic>
        <p:nvPicPr>
          <p:cNvPr id="189" name="Google Shape;189;p5" descr="Graphical user interface, text&#10;&#10;Description automatically generated with medium confidence"/>
          <p:cNvPicPr preferRelativeResize="0"/>
          <p:nvPr/>
        </p:nvPicPr>
        <p:blipFill rotWithShape="1">
          <a:blip r:embed="rId3">
            <a:alphaModFix/>
          </a:blip>
          <a:srcRect/>
          <a:stretch/>
        </p:blipFill>
        <p:spPr>
          <a:xfrm>
            <a:off x="0" y="5560418"/>
            <a:ext cx="5196113" cy="1163929"/>
          </a:xfrm>
          <a:prstGeom prst="rect">
            <a:avLst/>
          </a:prstGeom>
          <a:noFill/>
          <a:ln>
            <a:noFill/>
          </a:ln>
        </p:spPr>
      </p:pic>
      <p:sp>
        <p:nvSpPr>
          <p:cNvPr id="2" name="Google Shape;153;g1223c012a97_0_20">
            <a:extLst>
              <a:ext uri="{FF2B5EF4-FFF2-40B4-BE49-F238E27FC236}">
                <a16:creationId xmlns:a16="http://schemas.microsoft.com/office/drawing/2014/main" id="{3AB09C38-36D1-45AC-6C7A-95EA3C38D42B}"/>
              </a:ext>
            </a:extLst>
          </p:cNvPr>
          <p:cNvSpPr txBox="1">
            <a:spLocks noGrp="1"/>
          </p:cNvSpPr>
          <p:nvPr>
            <p:ph type="title"/>
          </p:nvPr>
        </p:nvSpPr>
        <p:spPr>
          <a:xfrm>
            <a:off x="703958" y="251587"/>
            <a:ext cx="10784084" cy="9750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3F3F3F"/>
              </a:buClr>
              <a:buSzPts val="6000"/>
              <a:buFont typeface="Arial"/>
              <a:buNone/>
            </a:pPr>
            <a:r>
              <a:rPr lang="en-US" sz="5400" dirty="0"/>
              <a:t>Why Mnemosyne?</a:t>
            </a:r>
            <a:endParaRPr sz="5400" dirty="0"/>
          </a:p>
        </p:txBody>
      </p:sp>
      <p:sp>
        <p:nvSpPr>
          <p:cNvPr id="4" name="Text Placeholder 3">
            <a:extLst>
              <a:ext uri="{FF2B5EF4-FFF2-40B4-BE49-F238E27FC236}">
                <a16:creationId xmlns:a16="http://schemas.microsoft.com/office/drawing/2014/main" id="{091E6D14-31BF-C14C-ACB7-783B6ECA29F6}"/>
              </a:ext>
            </a:extLst>
          </p:cNvPr>
          <p:cNvSpPr>
            <a:spLocks noGrp="1"/>
          </p:cNvSpPr>
          <p:nvPr>
            <p:ph type="body" idx="1"/>
          </p:nvPr>
        </p:nvSpPr>
        <p:spPr/>
        <p:txBody>
          <a:bodyPr>
            <a:normAutofit fontScale="92500" lnSpcReduction="20000"/>
          </a:bodyPr>
          <a:lstStyle/>
          <a:p>
            <a:r>
              <a:rPr lang="en-US" dirty="0"/>
              <a:t>Imagine that your New Drug Application (NDA) to the FDA has just been rejected. It is over 100,000 pages long. On page 727 it stated that Octreotide must not be taken with your new drug due to risk of death. But on page 32,434 it clearly stated that there are no known side effects with any Somatostatin Analog. Octreotide is a Somatostatin Analog. This inconsistency sunk the whole application. None of your human or automated checks found the contradiction. </a:t>
            </a:r>
          </a:p>
          <a:p>
            <a:r>
              <a:rPr lang="en-US" dirty="0"/>
              <a:t>Mnemosyne could have found this and other inconsistencies and incompleteness.</a:t>
            </a:r>
          </a:p>
        </p:txBody>
      </p:sp>
      <p:sp>
        <p:nvSpPr>
          <p:cNvPr id="3" name="TextBox 2">
            <a:extLst>
              <a:ext uri="{FF2B5EF4-FFF2-40B4-BE49-F238E27FC236}">
                <a16:creationId xmlns:a16="http://schemas.microsoft.com/office/drawing/2014/main" id="{3F5EF72C-B019-CE22-4CD6-29E14B4C5F62}"/>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2784664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F763F19-AC4A-59EC-5B24-7B76EEE8C2B2}"/>
              </a:ext>
            </a:extLst>
          </p:cNvPr>
          <p:cNvSpPr>
            <a:spLocks noGrp="1"/>
          </p:cNvSpPr>
          <p:nvPr>
            <p:ph type="body" idx="1"/>
          </p:nvPr>
        </p:nvSpPr>
        <p:spPr/>
        <p:txBody>
          <a:bodyPr>
            <a:normAutofit/>
          </a:bodyPr>
          <a:lstStyle/>
          <a:p>
            <a:r>
              <a:rPr lang="en-US" b="1" dirty="0"/>
              <a:t>RQ1: </a:t>
            </a:r>
            <a:r>
              <a:rPr lang="en-US" dirty="0"/>
              <a:t>Can an LLM be used to convert a large document into a knowledge graph?</a:t>
            </a:r>
          </a:p>
          <a:p>
            <a:r>
              <a:rPr lang="en-US" b="1" dirty="0"/>
              <a:t>RQ2: </a:t>
            </a:r>
            <a:r>
              <a:rPr lang="en-US" dirty="0"/>
              <a:t>Can an LLM be used to process multiple knowledge graphs into a typed cluster of knowledge graphs?</a:t>
            </a:r>
          </a:p>
          <a:p>
            <a:r>
              <a:rPr lang="en-US" b="1" dirty="0"/>
              <a:t>RQ3: </a:t>
            </a:r>
            <a:r>
              <a:rPr lang="en-US" dirty="0"/>
              <a:t>Can a typed cluster of knowledge graphs be used to check a source document for consistency and completeness?</a:t>
            </a:r>
          </a:p>
        </p:txBody>
      </p:sp>
      <p:sp>
        <p:nvSpPr>
          <p:cNvPr id="5" name="Title 4">
            <a:extLst>
              <a:ext uri="{FF2B5EF4-FFF2-40B4-BE49-F238E27FC236}">
                <a16:creationId xmlns:a16="http://schemas.microsoft.com/office/drawing/2014/main" id="{3E4610B5-E229-938C-5F9E-7063062669EB}"/>
              </a:ext>
            </a:extLst>
          </p:cNvPr>
          <p:cNvSpPr>
            <a:spLocks noGrp="1"/>
          </p:cNvSpPr>
          <p:nvPr>
            <p:ph type="title"/>
          </p:nvPr>
        </p:nvSpPr>
        <p:spPr/>
        <p:txBody>
          <a:bodyPr/>
          <a:lstStyle/>
          <a:p>
            <a:r>
              <a:rPr lang="en-US" dirty="0"/>
              <a:t>Research Questions</a:t>
            </a:r>
          </a:p>
        </p:txBody>
      </p:sp>
      <p:sp>
        <p:nvSpPr>
          <p:cNvPr id="8" name="TextBox 7">
            <a:extLst>
              <a:ext uri="{FF2B5EF4-FFF2-40B4-BE49-F238E27FC236}">
                <a16:creationId xmlns:a16="http://schemas.microsoft.com/office/drawing/2014/main" id="{4810B453-841C-3892-29CB-D462A898FF4A}"/>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1645475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07A6DB8-5FE0-5B1F-1CC0-FF4E99EE271F}"/>
              </a:ext>
            </a:extLst>
          </p:cNvPr>
          <p:cNvSpPr>
            <a:spLocks noGrp="1"/>
          </p:cNvSpPr>
          <p:nvPr>
            <p:ph type="title"/>
          </p:nvPr>
        </p:nvSpPr>
        <p:spPr/>
        <p:txBody>
          <a:bodyPr/>
          <a:lstStyle/>
          <a:p>
            <a:r>
              <a:rPr lang="en-US" dirty="0"/>
              <a:t>Roadmap</a:t>
            </a:r>
          </a:p>
        </p:txBody>
      </p:sp>
      <p:pic>
        <p:nvPicPr>
          <p:cNvPr id="9" name="Picture Placeholder 8" descr="Multiple interweaving highways with cars driving in different directions">
            <a:extLst>
              <a:ext uri="{FF2B5EF4-FFF2-40B4-BE49-F238E27FC236}">
                <a16:creationId xmlns:a16="http://schemas.microsoft.com/office/drawing/2014/main" id="{DBBF5A79-1E11-A3E2-1EED-F399E9365081}"/>
              </a:ext>
            </a:extLst>
          </p:cNvPr>
          <p:cNvPicPr>
            <a:picLocks noGrp="1" noChangeAspect="1"/>
          </p:cNvPicPr>
          <p:nvPr>
            <p:ph type="pic" idx="2"/>
          </p:nvPr>
        </p:nvPicPr>
        <p:blipFill>
          <a:blip r:embed="rId2"/>
          <a:srcRect l="10331" r="10331"/>
          <a:stretch>
            <a:fillRect/>
          </a:stretch>
        </p:blipFill>
        <p:spPr>
          <a:xfrm>
            <a:off x="4333876" y="310769"/>
            <a:ext cx="7379587" cy="4873625"/>
          </a:xfrm>
        </p:spPr>
      </p:pic>
      <p:sp>
        <p:nvSpPr>
          <p:cNvPr id="6" name="Text Placeholder 5">
            <a:extLst>
              <a:ext uri="{FF2B5EF4-FFF2-40B4-BE49-F238E27FC236}">
                <a16:creationId xmlns:a16="http://schemas.microsoft.com/office/drawing/2014/main" id="{061B3B41-30A7-295E-7A6A-11908171F307}"/>
              </a:ext>
            </a:extLst>
          </p:cNvPr>
          <p:cNvSpPr>
            <a:spLocks noGrp="1"/>
          </p:cNvSpPr>
          <p:nvPr>
            <p:ph type="body" idx="1"/>
          </p:nvPr>
        </p:nvSpPr>
        <p:spPr/>
        <p:txBody>
          <a:bodyPr/>
          <a:lstStyle/>
          <a:p>
            <a:r>
              <a:rPr lang="en-US" dirty="0"/>
              <a:t>Introduction</a:t>
            </a:r>
          </a:p>
          <a:p>
            <a:r>
              <a:rPr lang="en-US" dirty="0"/>
              <a:t>Foundation</a:t>
            </a:r>
          </a:p>
          <a:p>
            <a:r>
              <a:rPr lang="en-US" dirty="0"/>
              <a:t>Key Findings</a:t>
            </a:r>
          </a:p>
          <a:p>
            <a:r>
              <a:rPr lang="en-US" dirty="0"/>
              <a:t>Discussion</a:t>
            </a:r>
          </a:p>
          <a:p>
            <a:r>
              <a:rPr lang="en-US" dirty="0"/>
              <a:t>Conclusion</a:t>
            </a:r>
          </a:p>
        </p:txBody>
      </p:sp>
      <p:sp>
        <p:nvSpPr>
          <p:cNvPr id="11" name="TextBox 10">
            <a:extLst>
              <a:ext uri="{FF2B5EF4-FFF2-40B4-BE49-F238E27FC236}">
                <a16:creationId xmlns:a16="http://schemas.microsoft.com/office/drawing/2014/main" id="{80679D73-7C1F-F489-EC1D-A6C17A511642}"/>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1847601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4CA87-FBC4-D3A5-CE31-ECF9C5FD86C5}"/>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892D470D-B186-5BC9-6D37-F8E8D5DD38AC}"/>
              </a:ext>
            </a:extLst>
          </p:cNvPr>
          <p:cNvSpPr>
            <a:spLocks noGrp="1"/>
          </p:cNvSpPr>
          <p:nvPr>
            <p:ph type="body" idx="1"/>
          </p:nvPr>
        </p:nvSpPr>
        <p:spPr/>
        <p:txBody>
          <a:bodyPr/>
          <a:lstStyle/>
          <a:p>
            <a:pPr marL="685800" indent="-457200">
              <a:buFont typeface="Arial" panose="020B0604020202020204" pitchFamily="34" charset="0"/>
              <a:buChar char="•"/>
            </a:pPr>
            <a:r>
              <a:rPr lang="en-US" dirty="0"/>
              <a:t>How can we store large amounts of information for analysis by an LLM?</a:t>
            </a:r>
          </a:p>
          <a:p>
            <a:pPr marL="685800" indent="-457200">
              <a:buFont typeface="Arial" panose="020B0604020202020204" pitchFamily="34" charset="0"/>
              <a:buChar char="•"/>
            </a:pPr>
            <a:r>
              <a:rPr lang="en-US" dirty="0">
                <a:sym typeface="Wingdings" panose="05000000000000000000" pitchFamily="2" charset="2"/>
              </a:rPr>
              <a:t> Minsky’s concept of Frames has existed since the 1970’s</a:t>
            </a:r>
          </a:p>
          <a:p>
            <a:pPr marL="685800" indent="-457200">
              <a:buFont typeface="Arial" panose="020B0604020202020204" pitchFamily="34" charset="0"/>
              <a:buChar char="•"/>
            </a:pPr>
            <a:r>
              <a:rPr lang="en-US" dirty="0">
                <a:sym typeface="Wingdings" panose="05000000000000000000" pitchFamily="2" charset="2"/>
              </a:rPr>
              <a:t> Attributed Knowledge Graphs and Graph Databases</a:t>
            </a:r>
          </a:p>
          <a:p>
            <a:pPr marL="685800" indent="-457200">
              <a:buFont typeface="Arial" panose="020B0604020202020204" pitchFamily="34" charset="0"/>
              <a:buChar char="•"/>
            </a:pPr>
            <a:r>
              <a:rPr lang="en-US" dirty="0">
                <a:sym typeface="Wingdings" panose="05000000000000000000" pitchFamily="2" charset="2"/>
              </a:rPr>
              <a:t> Using a semantic hierarchy to focus the limited context window</a:t>
            </a:r>
            <a:endParaRPr lang="en-US" dirty="0"/>
          </a:p>
        </p:txBody>
      </p:sp>
      <p:sp>
        <p:nvSpPr>
          <p:cNvPr id="6" name="Title 5">
            <a:extLst>
              <a:ext uri="{FF2B5EF4-FFF2-40B4-BE49-F238E27FC236}">
                <a16:creationId xmlns:a16="http://schemas.microsoft.com/office/drawing/2014/main" id="{3AD413D0-7BD8-EAE2-EA46-6B064E8B00F1}"/>
              </a:ext>
            </a:extLst>
          </p:cNvPr>
          <p:cNvSpPr>
            <a:spLocks noGrp="1"/>
          </p:cNvSpPr>
          <p:nvPr>
            <p:ph type="title"/>
          </p:nvPr>
        </p:nvSpPr>
        <p:spPr/>
        <p:txBody>
          <a:bodyPr/>
          <a:lstStyle/>
          <a:p>
            <a:r>
              <a:rPr lang="en-US" dirty="0"/>
              <a:t>Brief Literature Review</a:t>
            </a:r>
          </a:p>
        </p:txBody>
      </p:sp>
      <p:sp>
        <p:nvSpPr>
          <p:cNvPr id="2" name="TextBox 1">
            <a:extLst>
              <a:ext uri="{FF2B5EF4-FFF2-40B4-BE49-F238E27FC236}">
                <a16:creationId xmlns:a16="http://schemas.microsoft.com/office/drawing/2014/main" id="{628CD394-5A5A-7D43-5E3C-24DD81845EDB}"/>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4148603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D3156-82CE-7021-4E38-25C40BA3DE6C}"/>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C77DC567-B713-86F7-CB0E-E7DB5347C5EB}"/>
              </a:ext>
            </a:extLst>
          </p:cNvPr>
          <p:cNvSpPr>
            <a:spLocks noGrp="1"/>
          </p:cNvSpPr>
          <p:nvPr>
            <p:ph type="body" idx="1"/>
          </p:nvPr>
        </p:nvSpPr>
        <p:spPr/>
        <p:txBody>
          <a:bodyPr>
            <a:normAutofit fontScale="85000" lnSpcReduction="10000"/>
          </a:bodyPr>
          <a:lstStyle/>
          <a:p>
            <a:pPr marL="685800" indent="-457200">
              <a:buFont typeface="Arial" panose="020B0604020202020204" pitchFamily="34" charset="0"/>
              <a:buChar char="•"/>
            </a:pPr>
            <a:r>
              <a:rPr lang="en-US" dirty="0"/>
              <a:t>Minsky, M. (1974). A framework for representing knowledge.</a:t>
            </a:r>
          </a:p>
          <a:p>
            <a:pPr marL="1143000" lvl="1" indent="-457200">
              <a:buFont typeface="Arial" panose="020B0604020202020204" pitchFamily="34" charset="0"/>
              <a:buChar char="•"/>
            </a:pPr>
            <a:r>
              <a:rPr lang="en-US" dirty="0"/>
              <a:t>Inspiration that there is a better way to represent knowledge</a:t>
            </a:r>
          </a:p>
          <a:p>
            <a:pPr marL="685800" indent="-457200">
              <a:buFont typeface="Arial" panose="020B0604020202020204" pitchFamily="34" charset="0"/>
              <a:buChar char="•"/>
            </a:pPr>
            <a:r>
              <a:rPr lang="en-US" dirty="0" err="1"/>
              <a:t>Zowghi</a:t>
            </a:r>
            <a:r>
              <a:rPr lang="en-US" dirty="0"/>
              <a:t>, D., &amp; Gervasi, V. (2003). On the interplay between </a:t>
            </a:r>
            <a:r>
              <a:rPr lang="en-US" dirty="0" err="1"/>
              <a:t>consistency,completeness</a:t>
            </a:r>
            <a:r>
              <a:rPr lang="en-US" dirty="0"/>
              <a:t>, and correctness in requirements evolution.</a:t>
            </a:r>
          </a:p>
          <a:p>
            <a:pPr marL="1143000" lvl="1" indent="-457200">
              <a:buFont typeface="Arial" panose="020B0604020202020204" pitchFamily="34" charset="0"/>
              <a:buChar char="•"/>
            </a:pPr>
            <a:r>
              <a:rPr lang="en-US" dirty="0"/>
              <a:t>Confirmation that this is an issue, albeit in a different domain</a:t>
            </a:r>
          </a:p>
          <a:p>
            <a:pPr marL="685800" indent="-457200">
              <a:buFont typeface="Arial" panose="020B0604020202020204" pitchFamily="34" charset="0"/>
              <a:buChar char="•"/>
            </a:pPr>
            <a:r>
              <a:rPr lang="en-US" dirty="0"/>
              <a:t>Vaswani, A., </a:t>
            </a:r>
            <a:r>
              <a:rPr lang="en-US" dirty="0" err="1"/>
              <a:t>Shazeer</a:t>
            </a:r>
            <a:r>
              <a:rPr lang="en-US" dirty="0"/>
              <a:t>, N., Brain, G., Parmar, N., </a:t>
            </a:r>
            <a:r>
              <a:rPr lang="en-US" dirty="0" err="1"/>
              <a:t>Uszkoreit</a:t>
            </a:r>
            <a:r>
              <a:rPr lang="en-US" dirty="0"/>
              <a:t>, J., Jones, </a:t>
            </a:r>
            <a:r>
              <a:rPr lang="en-US" dirty="0" err="1"/>
              <a:t>L.,Gomez</a:t>
            </a:r>
            <a:r>
              <a:rPr lang="en-US" dirty="0"/>
              <a:t>, A. N., &amp; Kaiser, Ł. (2017). Attention is all you need.</a:t>
            </a:r>
          </a:p>
          <a:p>
            <a:pPr marL="1143000" lvl="1" indent="-457200">
              <a:buFont typeface="Arial" panose="020B0604020202020204" pitchFamily="34" charset="0"/>
              <a:buChar char="•"/>
            </a:pPr>
            <a:r>
              <a:rPr lang="en-US" dirty="0"/>
              <a:t>General information about transformers and understanding of the limits of the context window</a:t>
            </a:r>
          </a:p>
        </p:txBody>
      </p:sp>
      <p:sp>
        <p:nvSpPr>
          <p:cNvPr id="6" name="Title 5">
            <a:extLst>
              <a:ext uri="{FF2B5EF4-FFF2-40B4-BE49-F238E27FC236}">
                <a16:creationId xmlns:a16="http://schemas.microsoft.com/office/drawing/2014/main" id="{C39EFC50-3E50-D396-7783-51BD0CDB6C13}"/>
              </a:ext>
            </a:extLst>
          </p:cNvPr>
          <p:cNvSpPr>
            <a:spLocks noGrp="1"/>
          </p:cNvSpPr>
          <p:nvPr>
            <p:ph type="title"/>
          </p:nvPr>
        </p:nvSpPr>
        <p:spPr/>
        <p:txBody>
          <a:bodyPr/>
          <a:lstStyle/>
          <a:p>
            <a:r>
              <a:rPr lang="en-US" dirty="0"/>
              <a:t>Brief Literature Review</a:t>
            </a:r>
          </a:p>
        </p:txBody>
      </p:sp>
      <p:sp>
        <p:nvSpPr>
          <p:cNvPr id="2" name="TextBox 1">
            <a:extLst>
              <a:ext uri="{FF2B5EF4-FFF2-40B4-BE49-F238E27FC236}">
                <a16:creationId xmlns:a16="http://schemas.microsoft.com/office/drawing/2014/main" id="{C4B4BE57-D5A3-F579-2A1C-2D098E399AEC}"/>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44609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BEF8D-AFCD-9358-10FE-86B613254457}"/>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B7AB6B23-199A-4C38-3BF9-2657FEC88179}"/>
              </a:ext>
            </a:extLst>
          </p:cNvPr>
          <p:cNvSpPr>
            <a:spLocks noGrp="1"/>
          </p:cNvSpPr>
          <p:nvPr>
            <p:ph type="body" idx="1"/>
          </p:nvPr>
        </p:nvSpPr>
        <p:spPr/>
        <p:txBody>
          <a:bodyPr>
            <a:normAutofit lnSpcReduction="10000"/>
          </a:bodyPr>
          <a:lstStyle/>
          <a:p>
            <a:pPr marL="685800" indent="-457200">
              <a:buFont typeface="Arial" panose="020B0604020202020204" pitchFamily="34" charset="0"/>
              <a:buChar char="•"/>
            </a:pPr>
            <a:r>
              <a:rPr lang="en-US" dirty="0"/>
              <a:t>Minsky, M. (1974). A framework for representing knowledge. Fensel, D., Şimşek, U., Angele, K., Huaman, E., </a:t>
            </a:r>
            <a:r>
              <a:rPr lang="en-US" dirty="0" err="1"/>
              <a:t>Kärle</a:t>
            </a:r>
            <a:r>
              <a:rPr lang="en-US" dirty="0"/>
              <a:t>, E., Panasiuk, </a:t>
            </a:r>
            <a:r>
              <a:rPr lang="en-US" dirty="0" err="1"/>
              <a:t>O.,Toma</a:t>
            </a:r>
            <a:r>
              <a:rPr lang="en-US" dirty="0"/>
              <a:t>, I., Umbrich, J., &amp; Wahler, A. (2020). Knowledge graphs : Methodology, tools and selected use cases</a:t>
            </a:r>
          </a:p>
          <a:p>
            <a:pPr marL="1143000" lvl="1" indent="-457200">
              <a:buFont typeface="Arial" panose="020B0604020202020204" pitchFamily="34" charset="0"/>
              <a:buChar char="•"/>
            </a:pPr>
            <a:r>
              <a:rPr lang="en-US" dirty="0"/>
              <a:t>How to construct a knowledge graph</a:t>
            </a:r>
          </a:p>
          <a:p>
            <a:pPr marL="685800" indent="-457200">
              <a:buFont typeface="Arial" panose="020B0604020202020204" pitchFamily="34" charset="0"/>
              <a:buChar char="•"/>
            </a:pPr>
            <a:r>
              <a:rPr lang="en-US" dirty="0"/>
              <a:t>Noy, N. F., &amp; McGuinness, D. L. (2001). Ontology development 101 : A guide to creating your first ontology.</a:t>
            </a:r>
          </a:p>
          <a:p>
            <a:pPr marL="1143000" lvl="1" indent="-457200">
              <a:buFont typeface="Arial" panose="020B0604020202020204" pitchFamily="34" charset="0"/>
              <a:buChar char="•"/>
            </a:pPr>
            <a:r>
              <a:rPr lang="en-US" dirty="0"/>
              <a:t>Helped to build a knowledge graph that capture meaning</a:t>
            </a:r>
          </a:p>
        </p:txBody>
      </p:sp>
      <p:sp>
        <p:nvSpPr>
          <p:cNvPr id="6" name="Title 5">
            <a:extLst>
              <a:ext uri="{FF2B5EF4-FFF2-40B4-BE49-F238E27FC236}">
                <a16:creationId xmlns:a16="http://schemas.microsoft.com/office/drawing/2014/main" id="{1E2DBD70-40FC-03BA-3430-E4EFB8C946C7}"/>
              </a:ext>
            </a:extLst>
          </p:cNvPr>
          <p:cNvSpPr>
            <a:spLocks noGrp="1"/>
          </p:cNvSpPr>
          <p:nvPr>
            <p:ph type="title"/>
          </p:nvPr>
        </p:nvSpPr>
        <p:spPr/>
        <p:txBody>
          <a:bodyPr/>
          <a:lstStyle/>
          <a:p>
            <a:r>
              <a:rPr lang="en-US" dirty="0"/>
              <a:t>Brief Literature Review</a:t>
            </a:r>
          </a:p>
        </p:txBody>
      </p:sp>
      <p:sp>
        <p:nvSpPr>
          <p:cNvPr id="2" name="TextBox 1">
            <a:extLst>
              <a:ext uri="{FF2B5EF4-FFF2-40B4-BE49-F238E27FC236}">
                <a16:creationId xmlns:a16="http://schemas.microsoft.com/office/drawing/2014/main" id="{08D315E6-6757-1C93-C858-64C9FAE01661}"/>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11217323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807C1660-4506-68FF-A8C0-089B1FDF58BB}"/>
              </a:ext>
            </a:extLst>
          </p:cNvPr>
          <p:cNvSpPr>
            <a:spLocks noGrp="1"/>
          </p:cNvSpPr>
          <p:nvPr>
            <p:ph type="body" idx="1"/>
          </p:nvPr>
        </p:nvSpPr>
        <p:spPr/>
        <p:txBody>
          <a:bodyPr/>
          <a:lstStyle/>
          <a:p>
            <a:r>
              <a:rPr lang="en-US" dirty="0"/>
              <a:t>As I worked through my research, it became very clear that almost all the works was on small documents</a:t>
            </a:r>
          </a:p>
          <a:p>
            <a:r>
              <a:rPr lang="en-US" dirty="0"/>
              <a:t>Papers would rarely use documents larger than 3-5 pages</a:t>
            </a:r>
          </a:p>
          <a:p>
            <a:endParaRPr lang="en-US" dirty="0"/>
          </a:p>
        </p:txBody>
      </p:sp>
      <p:sp>
        <p:nvSpPr>
          <p:cNvPr id="5" name="Title 4">
            <a:extLst>
              <a:ext uri="{FF2B5EF4-FFF2-40B4-BE49-F238E27FC236}">
                <a16:creationId xmlns:a16="http://schemas.microsoft.com/office/drawing/2014/main" id="{38F06F57-CE26-AEE1-2F20-3FA7EC0F5680}"/>
              </a:ext>
            </a:extLst>
          </p:cNvPr>
          <p:cNvSpPr>
            <a:spLocks noGrp="1"/>
          </p:cNvSpPr>
          <p:nvPr>
            <p:ph type="title"/>
          </p:nvPr>
        </p:nvSpPr>
        <p:spPr/>
        <p:txBody>
          <a:bodyPr/>
          <a:lstStyle/>
          <a:p>
            <a:r>
              <a:rPr lang="en-US" dirty="0"/>
              <a:t>Brief Literature Review</a:t>
            </a:r>
          </a:p>
        </p:txBody>
      </p:sp>
      <p:sp>
        <p:nvSpPr>
          <p:cNvPr id="7" name="TextBox 6">
            <a:extLst>
              <a:ext uri="{FF2B5EF4-FFF2-40B4-BE49-F238E27FC236}">
                <a16:creationId xmlns:a16="http://schemas.microsoft.com/office/drawing/2014/main" id="{3FE98ED4-B115-A148-F94E-A35C12B2A120}"/>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5916869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12946-BDC6-86CA-328F-13CF43D1E39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05DC529-F4F9-3BDC-8471-A94C568C3446}"/>
              </a:ext>
            </a:extLst>
          </p:cNvPr>
          <p:cNvSpPr>
            <a:spLocks noGrp="1"/>
          </p:cNvSpPr>
          <p:nvPr>
            <p:ph type="body" idx="1"/>
          </p:nvPr>
        </p:nvSpPr>
        <p:spPr/>
        <p:txBody>
          <a:bodyPr>
            <a:normAutofit fontScale="92500" lnSpcReduction="10000"/>
          </a:bodyPr>
          <a:lstStyle/>
          <a:p>
            <a:pPr marL="685800" indent="-457200">
              <a:buFont typeface="Arial" panose="020B0604020202020204" pitchFamily="34" charset="0"/>
              <a:buChar char="•"/>
            </a:pPr>
            <a:r>
              <a:rPr lang="en-US" dirty="0"/>
              <a:t>My starting goal was to:</a:t>
            </a:r>
          </a:p>
          <a:p>
            <a:pPr marL="1143000" lvl="1" indent="-457200">
              <a:buFont typeface="Arial" panose="020B0604020202020204" pitchFamily="34" charset="0"/>
              <a:buChar char="•"/>
            </a:pPr>
            <a:r>
              <a:rPr lang="en-US" dirty="0"/>
              <a:t>Divide the document into overlapping chunks based on paragraphs</a:t>
            </a:r>
          </a:p>
          <a:p>
            <a:pPr marL="1143000" lvl="1" indent="-457200">
              <a:buFont typeface="Arial" panose="020B0604020202020204" pitchFamily="34" charset="0"/>
              <a:buChar char="•"/>
            </a:pPr>
            <a:r>
              <a:rPr lang="en-US" dirty="0"/>
              <a:t>Have the LLM extract entities and relationships to build a local knowledge graph</a:t>
            </a:r>
          </a:p>
          <a:p>
            <a:pPr marL="1143000" lvl="1" indent="-457200">
              <a:buFont typeface="Arial" panose="020B0604020202020204" pitchFamily="34" charset="0"/>
              <a:buChar char="•"/>
            </a:pPr>
            <a:r>
              <a:rPr lang="en-US" dirty="0"/>
              <a:t>Merge the knowledge graphs form the chunks into a single knowledge graph</a:t>
            </a:r>
          </a:p>
          <a:p>
            <a:pPr marL="1143000" lvl="1" indent="-457200">
              <a:buFont typeface="Arial" panose="020B0604020202020204" pitchFamily="34" charset="0"/>
              <a:buChar char="•"/>
            </a:pPr>
            <a:r>
              <a:rPr lang="en-US" dirty="0"/>
              <a:t>Have the LLM review small sections of the knowledge graph to make it semantically rich</a:t>
            </a:r>
          </a:p>
          <a:p>
            <a:pPr marL="1143000" lvl="1" indent="-457200">
              <a:buFont typeface="Arial" panose="020B0604020202020204" pitchFamily="34" charset="0"/>
              <a:buChar char="•"/>
            </a:pPr>
            <a:r>
              <a:rPr lang="en-US" dirty="0"/>
              <a:t>Verify that this knowledge graph could be used to check for consistency and completeness</a:t>
            </a:r>
          </a:p>
          <a:p>
            <a:endParaRPr lang="en-US" dirty="0"/>
          </a:p>
        </p:txBody>
      </p:sp>
      <p:sp>
        <p:nvSpPr>
          <p:cNvPr id="5" name="Title 4">
            <a:extLst>
              <a:ext uri="{FF2B5EF4-FFF2-40B4-BE49-F238E27FC236}">
                <a16:creationId xmlns:a16="http://schemas.microsoft.com/office/drawing/2014/main" id="{C5C40C84-CCE7-F0D5-6874-066A4D4AFC27}"/>
              </a:ext>
            </a:extLst>
          </p:cNvPr>
          <p:cNvSpPr>
            <a:spLocks noGrp="1"/>
          </p:cNvSpPr>
          <p:nvPr>
            <p:ph type="title"/>
          </p:nvPr>
        </p:nvSpPr>
        <p:spPr/>
        <p:txBody>
          <a:bodyPr/>
          <a:lstStyle/>
          <a:p>
            <a:r>
              <a:rPr lang="en-US" dirty="0"/>
              <a:t>Methodology</a:t>
            </a:r>
          </a:p>
        </p:txBody>
      </p:sp>
      <p:sp>
        <p:nvSpPr>
          <p:cNvPr id="2" name="TextBox 1">
            <a:extLst>
              <a:ext uri="{FF2B5EF4-FFF2-40B4-BE49-F238E27FC236}">
                <a16:creationId xmlns:a16="http://schemas.microsoft.com/office/drawing/2014/main" id="{5BB4DA79-F90B-AFBA-D770-0DEAAF5DCF1A}"/>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36831784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FCDD8-F88C-60EF-E023-564596BB7515}"/>
            </a:ext>
          </a:extLst>
        </p:cNvPr>
        <p:cNvGrpSpPr/>
        <p:nvPr/>
      </p:nvGrpSpPr>
      <p:grpSpPr>
        <a:xfrm>
          <a:off x="0" y="0"/>
          <a:ext cx="0" cy="0"/>
          <a:chOff x="0" y="0"/>
          <a:chExt cx="0" cy="0"/>
        </a:xfrm>
      </p:grpSpPr>
      <p:sp>
        <p:nvSpPr>
          <p:cNvPr id="97" name="Rectangle 96">
            <a:extLst>
              <a:ext uri="{FF2B5EF4-FFF2-40B4-BE49-F238E27FC236}">
                <a16:creationId xmlns:a16="http://schemas.microsoft.com/office/drawing/2014/main" id="{3E3BEB4B-93A3-4BAE-58DF-E728C188A3EA}"/>
              </a:ext>
            </a:extLst>
          </p:cNvPr>
          <p:cNvSpPr/>
          <p:nvPr/>
        </p:nvSpPr>
        <p:spPr>
          <a:xfrm>
            <a:off x="3822515" y="381680"/>
            <a:ext cx="6644960" cy="588381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Rectangle 1">
            <a:extLst>
              <a:ext uri="{FF2B5EF4-FFF2-40B4-BE49-F238E27FC236}">
                <a16:creationId xmlns:a16="http://schemas.microsoft.com/office/drawing/2014/main" id="{B1CF879C-8A58-77E8-61A1-B4C7A97B90E5}"/>
              </a:ext>
            </a:extLst>
          </p:cNvPr>
          <p:cNvSpPr/>
          <p:nvPr/>
        </p:nvSpPr>
        <p:spPr>
          <a:xfrm>
            <a:off x="1883391" y="4793549"/>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(P2)</a:t>
            </a:r>
          </a:p>
          <a:p>
            <a:pPr algn="ctr" defTabSz="813816">
              <a:spcAft>
                <a:spcPts val="600"/>
              </a:spcAft>
            </a:pPr>
            <a:r>
              <a:rPr lang="en-US" sz="1400" dirty="0">
                <a:solidFill>
                  <a:schemeClr val="tx1"/>
                </a:solidFill>
              </a:rPr>
              <a:t>Prompt</a:t>
            </a:r>
            <a:r>
              <a:rPr lang="en-US" sz="1400" kern="1200" dirty="0">
                <a:solidFill>
                  <a:schemeClr val="tx1"/>
                </a:solidFill>
                <a:latin typeface="+mn-lt"/>
                <a:ea typeface="+mn-ea"/>
                <a:cs typeface="+mn-cs"/>
              </a:rPr>
              <a:t> Processing</a:t>
            </a:r>
            <a:endParaRPr lang="en-US" sz="1400" dirty="0">
              <a:solidFill>
                <a:schemeClr val="tx1"/>
              </a:solidFill>
            </a:endParaRPr>
          </a:p>
        </p:txBody>
      </p:sp>
      <p:sp>
        <p:nvSpPr>
          <p:cNvPr id="6" name="Oval 5">
            <a:extLst>
              <a:ext uri="{FF2B5EF4-FFF2-40B4-BE49-F238E27FC236}">
                <a16:creationId xmlns:a16="http://schemas.microsoft.com/office/drawing/2014/main" id="{7E4EC2A5-F5C6-D6CC-2680-38996D895D89}"/>
              </a:ext>
            </a:extLst>
          </p:cNvPr>
          <p:cNvSpPr/>
          <p:nvPr/>
        </p:nvSpPr>
        <p:spPr>
          <a:xfrm>
            <a:off x="4099026" y="360482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a:t>
            </a:r>
            <a:r>
              <a:rPr lang="en-US" sz="1400" dirty="0">
                <a:solidFill>
                  <a:schemeClr val="tx1"/>
                </a:solidFill>
              </a:rPr>
              <a:t>3</a:t>
            </a:r>
            <a:r>
              <a:rPr lang="en-US" sz="1400" kern="1200" dirty="0">
                <a:solidFill>
                  <a:schemeClr val="tx1"/>
                </a:solidFill>
                <a:latin typeface="+mn-lt"/>
                <a:ea typeface="+mn-ea"/>
                <a:cs typeface="+mn-cs"/>
              </a:rPr>
              <a:t>)</a:t>
            </a:r>
          </a:p>
          <a:p>
            <a:pPr algn="ctr" defTabSz="813816">
              <a:spcAft>
                <a:spcPts val="600"/>
              </a:spcAft>
            </a:pPr>
            <a:r>
              <a:rPr lang="en-US" sz="1400" kern="1200" dirty="0">
                <a:solidFill>
                  <a:schemeClr val="tx1"/>
                </a:solidFill>
                <a:latin typeface="+mn-lt"/>
                <a:ea typeface="+mn-ea"/>
                <a:cs typeface="+mn-cs"/>
              </a:rPr>
              <a:t>Input Processing</a:t>
            </a:r>
            <a:endParaRPr lang="en-US" sz="1400" dirty="0">
              <a:solidFill>
                <a:schemeClr val="tx1"/>
              </a:solidFill>
            </a:endParaRPr>
          </a:p>
        </p:txBody>
      </p:sp>
      <p:sp>
        <p:nvSpPr>
          <p:cNvPr id="7" name="Oval 6">
            <a:extLst>
              <a:ext uri="{FF2B5EF4-FFF2-40B4-BE49-F238E27FC236}">
                <a16:creationId xmlns:a16="http://schemas.microsoft.com/office/drawing/2014/main" id="{BA0E06E1-55A9-F4F7-46FE-7A5B53DC3E81}"/>
              </a:ext>
            </a:extLst>
          </p:cNvPr>
          <p:cNvSpPr/>
          <p:nvPr/>
        </p:nvSpPr>
        <p:spPr>
          <a:xfrm>
            <a:off x="8703616" y="419918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a:t>
            </a:r>
            <a:r>
              <a:rPr lang="en-US" sz="1400" dirty="0">
                <a:solidFill>
                  <a:schemeClr val="tx1"/>
                </a:solidFill>
              </a:rPr>
              <a:t>P6</a:t>
            </a:r>
            <a:r>
              <a:rPr lang="en-US" sz="1400" kern="1200" dirty="0">
                <a:solidFill>
                  <a:schemeClr val="tx1"/>
                </a:solidFill>
                <a:latin typeface="+mn-lt"/>
                <a:ea typeface="+mn-ea"/>
                <a:cs typeface="+mn-cs"/>
              </a:rPr>
              <a:t>)</a:t>
            </a:r>
          </a:p>
          <a:p>
            <a:pPr algn="ctr" defTabSz="813816"/>
            <a:r>
              <a:rPr lang="en-US" sz="1400" kern="1200" dirty="0">
                <a:solidFill>
                  <a:schemeClr val="tx1"/>
                </a:solidFill>
                <a:latin typeface="+mn-lt"/>
                <a:ea typeface="+mn-ea"/>
                <a:cs typeface="+mn-cs"/>
              </a:rPr>
              <a:t>Response Processing</a:t>
            </a:r>
          </a:p>
          <a:p>
            <a:pPr algn="ctr" defTabSz="813816"/>
            <a:r>
              <a:rPr lang="en-US" sz="1400" dirty="0">
                <a:solidFill>
                  <a:schemeClr val="tx1"/>
                </a:solidFill>
              </a:rPr>
              <a:t>Agent</a:t>
            </a:r>
          </a:p>
        </p:txBody>
      </p:sp>
      <p:cxnSp>
        <p:nvCxnSpPr>
          <p:cNvPr id="8" name="Straight Arrow Connector 7">
            <a:extLst>
              <a:ext uri="{FF2B5EF4-FFF2-40B4-BE49-F238E27FC236}">
                <a16:creationId xmlns:a16="http://schemas.microsoft.com/office/drawing/2014/main" id="{3F0242E7-9EF6-7F33-33E2-A0F461822C3C}"/>
              </a:ext>
            </a:extLst>
          </p:cNvPr>
          <p:cNvCxnSpPr>
            <a:cxnSpLocks/>
            <a:stCxn id="2" idx="3"/>
            <a:endCxn id="6" idx="3"/>
          </p:cNvCxnSpPr>
          <p:nvPr/>
        </p:nvCxnSpPr>
        <p:spPr>
          <a:xfrm flipV="1">
            <a:off x="3254991" y="4619465"/>
            <a:ext cx="1085074" cy="6312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59C99E5-1D54-B424-B54F-2A2F98C66616}"/>
              </a:ext>
            </a:extLst>
          </p:cNvPr>
          <p:cNvCxnSpPr>
            <a:cxnSpLocks/>
            <a:stCxn id="7" idx="7"/>
            <a:endCxn id="94" idx="1"/>
          </p:cNvCxnSpPr>
          <p:nvPr/>
        </p:nvCxnSpPr>
        <p:spPr>
          <a:xfrm flipV="1">
            <a:off x="10108497" y="3252803"/>
            <a:ext cx="627030" cy="1120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FCF291E-2ABC-3170-C5F1-4A1FC6054A42}"/>
              </a:ext>
            </a:extLst>
          </p:cNvPr>
          <p:cNvCxnSpPr>
            <a:cxnSpLocks/>
            <a:stCxn id="144" idx="4"/>
            <a:endCxn id="7" idx="2"/>
          </p:cNvCxnSpPr>
          <p:nvPr/>
        </p:nvCxnSpPr>
        <p:spPr>
          <a:xfrm>
            <a:off x="7395400" y="4373962"/>
            <a:ext cx="1308216" cy="4195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7EC576EF-37BF-A410-32FC-0D2A3D5187F8}"/>
              </a:ext>
            </a:extLst>
          </p:cNvPr>
          <p:cNvCxnSpPr>
            <a:cxnSpLocks/>
            <a:stCxn id="6" idx="6"/>
            <a:endCxn id="144" idx="2"/>
          </p:cNvCxnSpPr>
          <p:nvPr/>
        </p:nvCxnSpPr>
        <p:spPr>
          <a:xfrm>
            <a:off x="5744946" y="4199189"/>
            <a:ext cx="377971" cy="1747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5C5E61F-6D2D-FEFD-6CE5-C5BD34217924}"/>
              </a:ext>
            </a:extLst>
          </p:cNvPr>
          <p:cNvCxnSpPr>
            <a:cxnSpLocks/>
            <a:stCxn id="27" idx="0"/>
            <a:endCxn id="145" idx="3"/>
          </p:cNvCxnSpPr>
          <p:nvPr/>
        </p:nvCxnSpPr>
        <p:spPr>
          <a:xfrm flipH="1" flipV="1">
            <a:off x="6732242" y="1755459"/>
            <a:ext cx="16995" cy="732367"/>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0500603C-D91C-3477-E5AB-A3320069CF1A}"/>
              </a:ext>
            </a:extLst>
          </p:cNvPr>
          <p:cNvCxnSpPr>
            <a:cxnSpLocks/>
            <a:stCxn id="144" idx="1"/>
            <a:endCxn id="27" idx="2"/>
          </p:cNvCxnSpPr>
          <p:nvPr/>
        </p:nvCxnSpPr>
        <p:spPr>
          <a:xfrm flipH="1" flipV="1">
            <a:off x="6749237" y="3402226"/>
            <a:ext cx="9922" cy="4463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Connector: Elbow 19">
            <a:extLst>
              <a:ext uri="{FF2B5EF4-FFF2-40B4-BE49-F238E27FC236}">
                <a16:creationId xmlns:a16="http://schemas.microsoft.com/office/drawing/2014/main" id="{1400EADA-0EBE-FBFE-B0F3-270DA2AE3235}"/>
              </a:ext>
            </a:extLst>
          </p:cNvPr>
          <p:cNvCxnSpPr>
            <a:cxnSpLocks/>
            <a:stCxn id="145" idx="2"/>
            <a:endCxn id="6" idx="0"/>
          </p:cNvCxnSpPr>
          <p:nvPr/>
        </p:nvCxnSpPr>
        <p:spPr>
          <a:xfrm rot="10800000" flipV="1">
            <a:off x="4921986" y="1230083"/>
            <a:ext cx="1174014" cy="237474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8492355D-4F80-21CD-976B-D47F39F5A490}"/>
              </a:ext>
            </a:extLst>
          </p:cNvPr>
          <p:cNvCxnSpPr>
            <a:cxnSpLocks/>
            <a:stCxn id="51" idx="3"/>
            <a:endCxn id="6" idx="1"/>
          </p:cNvCxnSpPr>
          <p:nvPr/>
        </p:nvCxnSpPr>
        <p:spPr>
          <a:xfrm>
            <a:off x="3371030" y="2498112"/>
            <a:ext cx="969035" cy="12808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Flowchart: Multidocument 24">
            <a:extLst>
              <a:ext uri="{FF2B5EF4-FFF2-40B4-BE49-F238E27FC236}">
                <a16:creationId xmlns:a16="http://schemas.microsoft.com/office/drawing/2014/main" id="{04DA5563-8DAC-EC35-57B9-AC479F721185}"/>
              </a:ext>
            </a:extLst>
          </p:cNvPr>
          <p:cNvSpPr/>
          <p:nvPr/>
        </p:nvSpPr>
        <p:spPr>
          <a:xfrm>
            <a:off x="191499" y="1835280"/>
            <a:ext cx="1371600" cy="914400"/>
          </a:xfrm>
          <a:prstGeom prst="flowChartMulti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(D1)</a:t>
            </a:r>
          </a:p>
          <a:p>
            <a:pPr algn="ctr"/>
            <a:r>
              <a:rPr lang="en-US" sz="1400" dirty="0">
                <a:solidFill>
                  <a:schemeClr val="tx1"/>
                </a:solidFill>
              </a:rPr>
              <a:t>Documents</a:t>
            </a:r>
          </a:p>
        </p:txBody>
      </p:sp>
      <p:cxnSp>
        <p:nvCxnSpPr>
          <p:cNvPr id="26" name="Straight Arrow Connector 25">
            <a:extLst>
              <a:ext uri="{FF2B5EF4-FFF2-40B4-BE49-F238E27FC236}">
                <a16:creationId xmlns:a16="http://schemas.microsoft.com/office/drawing/2014/main" id="{8564BF5E-D4D7-59E1-7F20-C09593B582FC}"/>
              </a:ext>
            </a:extLst>
          </p:cNvPr>
          <p:cNvCxnSpPr>
            <a:cxnSpLocks/>
            <a:stCxn id="25" idx="3"/>
            <a:endCxn id="51" idx="1"/>
          </p:cNvCxnSpPr>
          <p:nvPr/>
        </p:nvCxnSpPr>
        <p:spPr>
          <a:xfrm>
            <a:off x="1563099" y="2292480"/>
            <a:ext cx="436331" cy="2056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Rectangle 26">
            <a:extLst>
              <a:ext uri="{FF2B5EF4-FFF2-40B4-BE49-F238E27FC236}">
                <a16:creationId xmlns:a16="http://schemas.microsoft.com/office/drawing/2014/main" id="{857FE361-45FD-A945-34BC-95D69D4729F4}"/>
              </a:ext>
            </a:extLst>
          </p:cNvPr>
          <p:cNvSpPr/>
          <p:nvPr/>
        </p:nvSpPr>
        <p:spPr>
          <a:xfrm>
            <a:off x="6063437" y="2487826"/>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(P4)</a:t>
            </a:r>
          </a:p>
          <a:p>
            <a:pPr algn="ctr" defTabSz="813816">
              <a:spcAft>
                <a:spcPts val="600"/>
              </a:spcAft>
            </a:pPr>
            <a:r>
              <a:rPr lang="en-US" sz="1400" kern="1200" dirty="0">
                <a:solidFill>
                  <a:schemeClr val="tx1"/>
                </a:solidFill>
                <a:latin typeface="+mn-lt"/>
                <a:ea typeface="+mn-ea"/>
                <a:cs typeface="+mn-cs"/>
              </a:rPr>
              <a:t>Long Term Memory Formation</a:t>
            </a:r>
            <a:endParaRPr lang="en-US" sz="1400" dirty="0">
              <a:solidFill>
                <a:schemeClr val="tx1"/>
              </a:solidFill>
            </a:endParaRPr>
          </a:p>
        </p:txBody>
      </p:sp>
      <p:cxnSp>
        <p:nvCxnSpPr>
          <p:cNvPr id="31" name="Connector: Elbow 30">
            <a:extLst>
              <a:ext uri="{FF2B5EF4-FFF2-40B4-BE49-F238E27FC236}">
                <a16:creationId xmlns:a16="http://schemas.microsoft.com/office/drawing/2014/main" id="{10D8126E-B830-A84B-2A72-C800737C4066}"/>
              </a:ext>
            </a:extLst>
          </p:cNvPr>
          <p:cNvCxnSpPr>
            <a:cxnSpLocks/>
            <a:stCxn id="145" idx="1"/>
            <a:endCxn id="7" idx="0"/>
          </p:cNvCxnSpPr>
          <p:nvPr/>
        </p:nvCxnSpPr>
        <p:spPr>
          <a:xfrm rot="16200000" flipH="1">
            <a:off x="6382168" y="1054781"/>
            <a:ext cx="3494482" cy="2794334"/>
          </a:xfrm>
          <a:prstGeom prst="bentConnector3">
            <a:avLst>
              <a:gd name="adj1" fmla="val -654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C1C7C93-6244-458C-9653-3B0748D788C7}"/>
              </a:ext>
            </a:extLst>
          </p:cNvPr>
          <p:cNvCxnSpPr>
            <a:cxnSpLocks/>
            <a:stCxn id="19" idx="1"/>
            <a:endCxn id="145" idx="4"/>
          </p:cNvCxnSpPr>
          <p:nvPr/>
        </p:nvCxnSpPr>
        <p:spPr>
          <a:xfrm flipH="1" flipV="1">
            <a:off x="7368483" y="1230083"/>
            <a:ext cx="620034" cy="78624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7547C59C-E72D-BEA9-8B73-AE0038754C6E}"/>
              </a:ext>
            </a:extLst>
          </p:cNvPr>
          <p:cNvSpPr txBox="1"/>
          <p:nvPr/>
        </p:nvSpPr>
        <p:spPr>
          <a:xfrm>
            <a:off x="191499" y="376964"/>
            <a:ext cx="1954431" cy="1103922"/>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endParaRPr lang="en-US" sz="1200" dirty="0"/>
          </a:p>
        </p:txBody>
      </p:sp>
      <p:cxnSp>
        <p:nvCxnSpPr>
          <p:cNvPr id="38" name="Straight Connector 37">
            <a:extLst>
              <a:ext uri="{FF2B5EF4-FFF2-40B4-BE49-F238E27FC236}">
                <a16:creationId xmlns:a16="http://schemas.microsoft.com/office/drawing/2014/main" id="{9744F470-54E8-6190-046A-6738D1D2D0CD}"/>
              </a:ext>
            </a:extLst>
          </p:cNvPr>
          <p:cNvCxnSpPr>
            <a:cxnSpLocks/>
          </p:cNvCxnSpPr>
          <p:nvPr/>
        </p:nvCxnSpPr>
        <p:spPr>
          <a:xfrm flipH="1">
            <a:off x="7797700" y="1915981"/>
            <a:ext cx="2167540" cy="4092725"/>
          </a:xfrm>
          <a:prstGeom prst="line">
            <a:avLst/>
          </a:prstGeom>
        </p:spPr>
        <p:style>
          <a:lnRef idx="2">
            <a:schemeClr val="accent2"/>
          </a:lnRef>
          <a:fillRef idx="0">
            <a:schemeClr val="accent2"/>
          </a:fillRef>
          <a:effectRef idx="1">
            <a:schemeClr val="accent2"/>
          </a:effectRef>
          <a:fontRef idx="minor">
            <a:schemeClr val="tx1"/>
          </a:fontRef>
        </p:style>
      </p:cxnSp>
      <p:sp>
        <p:nvSpPr>
          <p:cNvPr id="39" name="TextBox 38">
            <a:extLst>
              <a:ext uri="{FF2B5EF4-FFF2-40B4-BE49-F238E27FC236}">
                <a16:creationId xmlns:a16="http://schemas.microsoft.com/office/drawing/2014/main" id="{1744B6DC-AEE2-0372-1736-259AA2E06E92}"/>
              </a:ext>
            </a:extLst>
          </p:cNvPr>
          <p:cNvSpPr txBox="1"/>
          <p:nvPr/>
        </p:nvSpPr>
        <p:spPr>
          <a:xfrm>
            <a:off x="10832063" y="2102551"/>
            <a:ext cx="1037463" cy="276999"/>
          </a:xfrm>
          <a:prstGeom prst="rect">
            <a:avLst/>
          </a:prstGeom>
          <a:noFill/>
        </p:spPr>
        <p:txBody>
          <a:bodyPr wrap="none" rtlCol="0">
            <a:spAutoFit/>
          </a:bodyPr>
          <a:lstStyle/>
          <a:p>
            <a:r>
              <a:rPr lang="en-US" sz="1200" dirty="0">
                <a:solidFill>
                  <a:schemeClr val="accent2"/>
                </a:solidFill>
              </a:rPr>
              <a:t>Out of scope</a:t>
            </a:r>
          </a:p>
        </p:txBody>
      </p:sp>
      <p:sp>
        <p:nvSpPr>
          <p:cNvPr id="22" name="Flowchart: Document 21">
            <a:extLst>
              <a:ext uri="{FF2B5EF4-FFF2-40B4-BE49-F238E27FC236}">
                <a16:creationId xmlns:a16="http://schemas.microsoft.com/office/drawing/2014/main" id="{3D4CDF1D-33FC-B2C8-04FA-821E77A82EF0}"/>
              </a:ext>
            </a:extLst>
          </p:cNvPr>
          <p:cNvSpPr/>
          <p:nvPr/>
        </p:nvSpPr>
        <p:spPr>
          <a:xfrm>
            <a:off x="191499" y="4846075"/>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(D2)</a:t>
            </a:r>
          </a:p>
          <a:p>
            <a:pPr algn="ctr"/>
            <a:r>
              <a:rPr lang="en-US" sz="1400" dirty="0">
                <a:solidFill>
                  <a:schemeClr val="tx1"/>
                </a:solidFill>
              </a:rPr>
              <a:t>Prompts</a:t>
            </a:r>
          </a:p>
        </p:txBody>
      </p:sp>
      <p:cxnSp>
        <p:nvCxnSpPr>
          <p:cNvPr id="23" name="Straight Arrow Connector 22">
            <a:extLst>
              <a:ext uri="{FF2B5EF4-FFF2-40B4-BE49-F238E27FC236}">
                <a16:creationId xmlns:a16="http://schemas.microsoft.com/office/drawing/2014/main" id="{CC29E1F6-92F6-8E50-AE3D-059A7459C01B}"/>
              </a:ext>
            </a:extLst>
          </p:cNvPr>
          <p:cNvCxnSpPr>
            <a:cxnSpLocks/>
            <a:stCxn id="22" idx="3"/>
            <a:endCxn id="2" idx="1"/>
          </p:cNvCxnSpPr>
          <p:nvPr/>
        </p:nvCxnSpPr>
        <p:spPr>
          <a:xfrm flipV="1">
            <a:off x="1563099" y="5250749"/>
            <a:ext cx="320292" cy="52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4" name="Flowchart: Document 93">
            <a:extLst>
              <a:ext uri="{FF2B5EF4-FFF2-40B4-BE49-F238E27FC236}">
                <a16:creationId xmlns:a16="http://schemas.microsoft.com/office/drawing/2014/main" id="{7AAFFF08-B24F-6CAE-73C7-E1961012466E}"/>
              </a:ext>
            </a:extLst>
          </p:cNvPr>
          <p:cNvSpPr/>
          <p:nvPr/>
        </p:nvSpPr>
        <p:spPr>
          <a:xfrm>
            <a:off x="10735527" y="2795603"/>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(D3)</a:t>
            </a:r>
          </a:p>
          <a:p>
            <a:pPr algn="ctr"/>
            <a:r>
              <a:rPr lang="en-US" sz="1400" dirty="0">
                <a:solidFill>
                  <a:schemeClr val="tx1"/>
                </a:solidFill>
              </a:rPr>
              <a:t>Responses</a:t>
            </a:r>
          </a:p>
        </p:txBody>
      </p:sp>
      <p:cxnSp>
        <p:nvCxnSpPr>
          <p:cNvPr id="121" name="Straight Connector 120">
            <a:extLst>
              <a:ext uri="{FF2B5EF4-FFF2-40B4-BE49-F238E27FC236}">
                <a16:creationId xmlns:a16="http://schemas.microsoft.com/office/drawing/2014/main" id="{923B6526-C247-3B19-E35B-F4C71C5E9E3D}"/>
              </a:ext>
            </a:extLst>
          </p:cNvPr>
          <p:cNvCxnSpPr>
            <a:cxnSpLocks/>
          </p:cNvCxnSpPr>
          <p:nvPr/>
        </p:nvCxnSpPr>
        <p:spPr>
          <a:xfrm>
            <a:off x="2113424" y="3323588"/>
            <a:ext cx="3500936" cy="2545769"/>
          </a:xfrm>
          <a:prstGeom prst="line">
            <a:avLst/>
          </a:prstGeom>
        </p:spPr>
        <p:style>
          <a:lnRef idx="2">
            <a:schemeClr val="accent2"/>
          </a:lnRef>
          <a:fillRef idx="0">
            <a:schemeClr val="accent2"/>
          </a:fillRef>
          <a:effectRef idx="1">
            <a:schemeClr val="accent2"/>
          </a:effectRef>
          <a:fontRef idx="minor">
            <a:schemeClr val="tx1"/>
          </a:fontRef>
        </p:style>
      </p:cxnSp>
      <p:cxnSp>
        <p:nvCxnSpPr>
          <p:cNvPr id="126" name="Straight Connector 125">
            <a:extLst>
              <a:ext uri="{FF2B5EF4-FFF2-40B4-BE49-F238E27FC236}">
                <a16:creationId xmlns:a16="http://schemas.microsoft.com/office/drawing/2014/main" id="{36310D77-C505-0675-52BE-771AB05A89C7}"/>
              </a:ext>
            </a:extLst>
          </p:cNvPr>
          <p:cNvCxnSpPr>
            <a:cxnSpLocks/>
          </p:cNvCxnSpPr>
          <p:nvPr/>
        </p:nvCxnSpPr>
        <p:spPr>
          <a:xfrm>
            <a:off x="220107" y="3278313"/>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33" name="TextBox 132">
            <a:extLst>
              <a:ext uri="{FF2B5EF4-FFF2-40B4-BE49-F238E27FC236}">
                <a16:creationId xmlns:a16="http://schemas.microsoft.com/office/drawing/2014/main" id="{8BE3BF8F-B2F4-EE35-101B-2BDD18E4015F}"/>
              </a:ext>
            </a:extLst>
          </p:cNvPr>
          <p:cNvSpPr txBox="1"/>
          <p:nvPr/>
        </p:nvSpPr>
        <p:spPr>
          <a:xfrm>
            <a:off x="327328" y="3402226"/>
            <a:ext cx="1037463" cy="276999"/>
          </a:xfrm>
          <a:prstGeom prst="rect">
            <a:avLst/>
          </a:prstGeom>
          <a:noFill/>
        </p:spPr>
        <p:txBody>
          <a:bodyPr wrap="none" rtlCol="0">
            <a:spAutoFit/>
          </a:bodyPr>
          <a:lstStyle/>
          <a:p>
            <a:r>
              <a:rPr lang="en-US" sz="1200" dirty="0">
                <a:solidFill>
                  <a:schemeClr val="accent2"/>
                </a:solidFill>
              </a:rPr>
              <a:t>Out of scope</a:t>
            </a:r>
          </a:p>
        </p:txBody>
      </p:sp>
      <p:cxnSp>
        <p:nvCxnSpPr>
          <p:cNvPr id="134" name="Straight Connector 133">
            <a:extLst>
              <a:ext uri="{FF2B5EF4-FFF2-40B4-BE49-F238E27FC236}">
                <a16:creationId xmlns:a16="http://schemas.microsoft.com/office/drawing/2014/main" id="{45276407-0586-E3B4-B3DE-855A95C2FC13}"/>
              </a:ext>
            </a:extLst>
          </p:cNvPr>
          <p:cNvCxnSpPr>
            <a:cxnSpLocks/>
          </p:cNvCxnSpPr>
          <p:nvPr/>
        </p:nvCxnSpPr>
        <p:spPr>
          <a:xfrm>
            <a:off x="9951694" y="1915981"/>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44" name="Flowchart: Magnetic Disk 143">
            <a:extLst>
              <a:ext uri="{FF2B5EF4-FFF2-40B4-BE49-F238E27FC236}">
                <a16:creationId xmlns:a16="http://schemas.microsoft.com/office/drawing/2014/main" id="{D894D678-5C50-B2DB-71D8-FDD23C94FA35}"/>
              </a:ext>
            </a:extLst>
          </p:cNvPr>
          <p:cNvSpPr/>
          <p:nvPr/>
        </p:nvSpPr>
        <p:spPr>
          <a:xfrm>
            <a:off x="6122917" y="3848586"/>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(KG1)</a:t>
            </a:r>
          </a:p>
          <a:p>
            <a:pPr algn="ctr"/>
            <a:r>
              <a:rPr lang="en-US" sz="1400" dirty="0">
                <a:solidFill>
                  <a:schemeClr val="tx1"/>
                </a:solidFill>
              </a:rPr>
              <a:t>Short-Term Memory</a:t>
            </a:r>
          </a:p>
        </p:txBody>
      </p:sp>
      <p:sp>
        <p:nvSpPr>
          <p:cNvPr id="145" name="Flowchart: Magnetic Disk 144">
            <a:extLst>
              <a:ext uri="{FF2B5EF4-FFF2-40B4-BE49-F238E27FC236}">
                <a16:creationId xmlns:a16="http://schemas.microsoft.com/office/drawing/2014/main" id="{E7B6E9BC-7E89-BBF6-9081-AB7DFBDEAC45}"/>
              </a:ext>
            </a:extLst>
          </p:cNvPr>
          <p:cNvSpPr/>
          <p:nvPr/>
        </p:nvSpPr>
        <p:spPr>
          <a:xfrm>
            <a:off x="6096000" y="704707"/>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(KG2)</a:t>
            </a:r>
          </a:p>
          <a:p>
            <a:pPr algn="ctr"/>
            <a:r>
              <a:rPr lang="en-US" sz="1400" dirty="0">
                <a:solidFill>
                  <a:schemeClr val="tx1"/>
                </a:solidFill>
              </a:rPr>
              <a:t>Long-Term Memory</a:t>
            </a:r>
          </a:p>
        </p:txBody>
      </p:sp>
      <p:sp>
        <p:nvSpPr>
          <p:cNvPr id="5" name="Flowchart: Document 4">
            <a:extLst>
              <a:ext uri="{FF2B5EF4-FFF2-40B4-BE49-F238E27FC236}">
                <a16:creationId xmlns:a16="http://schemas.microsoft.com/office/drawing/2014/main" id="{4B30121F-46FD-9594-4E08-1A74F6800A7C}"/>
              </a:ext>
            </a:extLst>
          </p:cNvPr>
          <p:cNvSpPr/>
          <p:nvPr/>
        </p:nvSpPr>
        <p:spPr>
          <a:xfrm>
            <a:off x="368315" y="471393"/>
            <a:ext cx="156410" cy="180474"/>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TextBox 10">
            <a:extLst>
              <a:ext uri="{FF2B5EF4-FFF2-40B4-BE49-F238E27FC236}">
                <a16:creationId xmlns:a16="http://schemas.microsoft.com/office/drawing/2014/main" id="{5B46B65A-7810-F3C7-3196-34B4A16DC144}"/>
              </a:ext>
            </a:extLst>
          </p:cNvPr>
          <p:cNvSpPr txBox="1"/>
          <p:nvPr/>
        </p:nvSpPr>
        <p:spPr>
          <a:xfrm>
            <a:off x="533716" y="376964"/>
            <a:ext cx="1465338" cy="276999"/>
          </a:xfrm>
          <a:prstGeom prst="rect">
            <a:avLst/>
          </a:prstGeom>
          <a:noFill/>
        </p:spPr>
        <p:txBody>
          <a:bodyPr wrap="none" rtlCol="0">
            <a:spAutoFit/>
          </a:bodyPr>
          <a:lstStyle/>
          <a:p>
            <a:r>
              <a:rPr lang="en-US" sz="1200" dirty="0"/>
              <a:t>User Input / Output</a:t>
            </a:r>
          </a:p>
        </p:txBody>
      </p:sp>
      <p:sp>
        <p:nvSpPr>
          <p:cNvPr id="13" name="Rectangle 20">
            <a:extLst>
              <a:ext uri="{FF2B5EF4-FFF2-40B4-BE49-F238E27FC236}">
                <a16:creationId xmlns:a16="http://schemas.microsoft.com/office/drawing/2014/main" id="{F8E8E75A-0640-D07E-C1AF-8E4CB542F94A}"/>
              </a:ext>
            </a:extLst>
          </p:cNvPr>
          <p:cNvSpPr/>
          <p:nvPr/>
        </p:nvSpPr>
        <p:spPr>
          <a:xfrm>
            <a:off x="332965" y="703794"/>
            <a:ext cx="227109" cy="163643"/>
          </a:xfrm>
          <a:custGeom>
            <a:avLst/>
            <a:gdLst>
              <a:gd name="connsiteX0" fmla="*/ 0 w 1317090"/>
              <a:gd name="connsiteY0" fmla="*/ 0 h 770795"/>
              <a:gd name="connsiteX1" fmla="*/ 1317090 w 1317090"/>
              <a:gd name="connsiteY1" fmla="*/ 0 h 770795"/>
              <a:gd name="connsiteX2" fmla="*/ 1317090 w 1317090"/>
              <a:gd name="connsiteY2" fmla="*/ 770795 h 770795"/>
              <a:gd name="connsiteX3" fmla="*/ 0 w 1317090"/>
              <a:gd name="connsiteY3" fmla="*/ 770795 h 770795"/>
              <a:gd name="connsiteX4" fmla="*/ 0 w 1317090"/>
              <a:gd name="connsiteY4" fmla="*/ 0 h 770795"/>
              <a:gd name="connsiteX0" fmla="*/ 0 w 1317090"/>
              <a:gd name="connsiteY0" fmla="*/ 638 h 771433"/>
              <a:gd name="connsiteX1" fmla="*/ 309711 w 1317090"/>
              <a:gd name="connsiteY1" fmla="*/ 0 h 771433"/>
              <a:gd name="connsiteX2" fmla="*/ 1317090 w 1317090"/>
              <a:gd name="connsiteY2" fmla="*/ 638 h 771433"/>
              <a:gd name="connsiteX3" fmla="*/ 1317090 w 1317090"/>
              <a:gd name="connsiteY3" fmla="*/ 771433 h 771433"/>
              <a:gd name="connsiteX4" fmla="*/ 0 w 1317090"/>
              <a:gd name="connsiteY4" fmla="*/ 771433 h 771433"/>
              <a:gd name="connsiteX5" fmla="*/ 0 w 1317090"/>
              <a:gd name="connsiteY5" fmla="*/ 638 h 77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17090" h="771433">
                <a:moveTo>
                  <a:pt x="0" y="638"/>
                </a:moveTo>
                <a:lnTo>
                  <a:pt x="309711" y="0"/>
                </a:lnTo>
                <a:lnTo>
                  <a:pt x="1317090" y="638"/>
                </a:lnTo>
                <a:lnTo>
                  <a:pt x="1317090" y="771433"/>
                </a:lnTo>
                <a:lnTo>
                  <a:pt x="0" y="771433"/>
                </a:lnTo>
                <a:lnTo>
                  <a:pt x="0" y="638"/>
                </a:lnTo>
                <a:close/>
              </a:path>
            </a:pathLst>
          </a:cu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4" name="TextBox 13">
            <a:extLst>
              <a:ext uri="{FF2B5EF4-FFF2-40B4-BE49-F238E27FC236}">
                <a16:creationId xmlns:a16="http://schemas.microsoft.com/office/drawing/2014/main" id="{F04984C7-0040-5656-76A3-74142F630B14}"/>
              </a:ext>
            </a:extLst>
          </p:cNvPr>
          <p:cNvSpPr txBox="1"/>
          <p:nvPr/>
        </p:nvSpPr>
        <p:spPr>
          <a:xfrm>
            <a:off x="531673" y="592196"/>
            <a:ext cx="1271374" cy="276999"/>
          </a:xfrm>
          <a:prstGeom prst="rect">
            <a:avLst/>
          </a:prstGeom>
          <a:noFill/>
        </p:spPr>
        <p:txBody>
          <a:bodyPr wrap="none" rtlCol="0">
            <a:spAutoFit/>
          </a:bodyPr>
          <a:lstStyle/>
          <a:p>
            <a:r>
              <a:rPr lang="en-US" sz="1200" dirty="0"/>
              <a:t>Normal Program</a:t>
            </a:r>
          </a:p>
        </p:txBody>
      </p:sp>
      <p:sp>
        <p:nvSpPr>
          <p:cNvPr id="17" name="Oval 16">
            <a:extLst>
              <a:ext uri="{FF2B5EF4-FFF2-40B4-BE49-F238E27FC236}">
                <a16:creationId xmlns:a16="http://schemas.microsoft.com/office/drawing/2014/main" id="{85E3EB41-6452-C4D1-8C5D-3DD5474AFE04}"/>
              </a:ext>
            </a:extLst>
          </p:cNvPr>
          <p:cNvSpPr/>
          <p:nvPr/>
        </p:nvSpPr>
        <p:spPr>
          <a:xfrm>
            <a:off x="294305" y="919364"/>
            <a:ext cx="284929" cy="218168"/>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8" name="TextBox 17">
            <a:extLst>
              <a:ext uri="{FF2B5EF4-FFF2-40B4-BE49-F238E27FC236}">
                <a16:creationId xmlns:a16="http://schemas.microsoft.com/office/drawing/2014/main" id="{E2389BA1-6B19-C1AE-5F27-9A02CF1E5A83}"/>
              </a:ext>
            </a:extLst>
          </p:cNvPr>
          <p:cNvSpPr txBox="1"/>
          <p:nvPr/>
        </p:nvSpPr>
        <p:spPr>
          <a:xfrm>
            <a:off x="538621" y="841162"/>
            <a:ext cx="1048557" cy="276999"/>
          </a:xfrm>
          <a:prstGeom prst="rect">
            <a:avLst/>
          </a:prstGeom>
          <a:noFill/>
        </p:spPr>
        <p:txBody>
          <a:bodyPr wrap="none" rtlCol="0">
            <a:spAutoFit/>
          </a:bodyPr>
          <a:lstStyle/>
          <a:p>
            <a:r>
              <a:rPr lang="en-US" sz="1200" dirty="0"/>
              <a:t>LLM Program</a:t>
            </a:r>
          </a:p>
        </p:txBody>
      </p:sp>
      <p:sp>
        <p:nvSpPr>
          <p:cNvPr id="19" name="Oval 18">
            <a:extLst>
              <a:ext uri="{FF2B5EF4-FFF2-40B4-BE49-F238E27FC236}">
                <a16:creationId xmlns:a16="http://schemas.microsoft.com/office/drawing/2014/main" id="{A8027C81-9ADE-7B6F-8767-77E36EB7E76C}"/>
              </a:ext>
            </a:extLst>
          </p:cNvPr>
          <p:cNvSpPr/>
          <p:nvPr/>
        </p:nvSpPr>
        <p:spPr>
          <a:xfrm>
            <a:off x="7747478" y="1842244"/>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(P5)</a:t>
            </a:r>
          </a:p>
          <a:p>
            <a:pPr algn="ctr" defTabSz="813816">
              <a:spcAft>
                <a:spcPts val="600"/>
              </a:spcAft>
            </a:pPr>
            <a:r>
              <a:rPr lang="en-US" sz="1400" kern="1200" dirty="0">
                <a:solidFill>
                  <a:schemeClr val="tx1"/>
                </a:solidFill>
                <a:latin typeface="+mn-lt"/>
                <a:ea typeface="+mn-ea"/>
                <a:cs typeface="+mn-cs"/>
              </a:rPr>
              <a:t>Long Term Memory Processing</a:t>
            </a:r>
            <a:endParaRPr lang="en-US" sz="1400" dirty="0">
              <a:solidFill>
                <a:schemeClr val="tx1"/>
              </a:solidFill>
            </a:endParaRPr>
          </a:p>
        </p:txBody>
      </p:sp>
      <p:sp>
        <p:nvSpPr>
          <p:cNvPr id="34" name="Flowchart: Magnetic Disk 33">
            <a:extLst>
              <a:ext uri="{FF2B5EF4-FFF2-40B4-BE49-F238E27FC236}">
                <a16:creationId xmlns:a16="http://schemas.microsoft.com/office/drawing/2014/main" id="{1D38A457-5F17-98CC-1FD2-0295ADADAC47}"/>
              </a:ext>
            </a:extLst>
          </p:cNvPr>
          <p:cNvSpPr/>
          <p:nvPr/>
        </p:nvSpPr>
        <p:spPr>
          <a:xfrm>
            <a:off x="304788" y="1208567"/>
            <a:ext cx="263961" cy="215040"/>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6" name="TextBox 35">
            <a:extLst>
              <a:ext uri="{FF2B5EF4-FFF2-40B4-BE49-F238E27FC236}">
                <a16:creationId xmlns:a16="http://schemas.microsoft.com/office/drawing/2014/main" id="{DF808A41-E386-B711-89F3-1A200679BE62}"/>
              </a:ext>
            </a:extLst>
          </p:cNvPr>
          <p:cNvSpPr txBox="1"/>
          <p:nvPr/>
        </p:nvSpPr>
        <p:spPr>
          <a:xfrm>
            <a:off x="531673" y="1113084"/>
            <a:ext cx="1038554" cy="276999"/>
          </a:xfrm>
          <a:prstGeom prst="rect">
            <a:avLst/>
          </a:prstGeom>
          <a:noFill/>
        </p:spPr>
        <p:txBody>
          <a:bodyPr wrap="none" rtlCol="0">
            <a:spAutoFit/>
          </a:bodyPr>
          <a:lstStyle/>
          <a:p>
            <a:r>
              <a:rPr lang="en-US" sz="1200" dirty="0"/>
              <a:t>Data Storage</a:t>
            </a:r>
          </a:p>
        </p:txBody>
      </p:sp>
      <p:sp>
        <p:nvSpPr>
          <p:cNvPr id="51" name="Rectangle 50">
            <a:extLst>
              <a:ext uri="{FF2B5EF4-FFF2-40B4-BE49-F238E27FC236}">
                <a16:creationId xmlns:a16="http://schemas.microsoft.com/office/drawing/2014/main" id="{AFBAAF97-0342-F1E4-FD70-81EF0B555E2A}"/>
              </a:ext>
            </a:extLst>
          </p:cNvPr>
          <p:cNvSpPr/>
          <p:nvPr/>
        </p:nvSpPr>
        <p:spPr>
          <a:xfrm>
            <a:off x="1999430" y="2040912"/>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(P1)</a:t>
            </a:r>
          </a:p>
          <a:p>
            <a:pPr algn="ctr" defTabSz="813816">
              <a:spcAft>
                <a:spcPts val="600"/>
              </a:spcAft>
            </a:pPr>
            <a:r>
              <a:rPr lang="en-US" sz="1400" kern="1200" dirty="0">
                <a:solidFill>
                  <a:schemeClr val="tx1"/>
                </a:solidFill>
                <a:latin typeface="+mn-lt"/>
                <a:ea typeface="+mn-ea"/>
                <a:cs typeface="+mn-cs"/>
              </a:rPr>
              <a:t>Document Processing</a:t>
            </a:r>
            <a:endParaRPr lang="en-US" sz="1400" dirty="0">
              <a:solidFill>
                <a:schemeClr val="tx1"/>
              </a:solidFill>
            </a:endParaRPr>
          </a:p>
        </p:txBody>
      </p:sp>
      <p:sp>
        <p:nvSpPr>
          <p:cNvPr id="3" name="TextBox 2">
            <a:extLst>
              <a:ext uri="{FF2B5EF4-FFF2-40B4-BE49-F238E27FC236}">
                <a16:creationId xmlns:a16="http://schemas.microsoft.com/office/drawing/2014/main" id="{C2FF721D-527B-314C-0AD5-5E0FF5C1AAAE}"/>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Key Findings   Discussion   Conclusion</a:t>
            </a:r>
          </a:p>
        </p:txBody>
      </p:sp>
    </p:spTree>
    <p:extLst>
      <p:ext uri="{BB962C8B-B14F-4D97-AF65-F5344CB8AC3E}">
        <p14:creationId xmlns:p14="http://schemas.microsoft.com/office/powerpoint/2010/main" val="29017933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A72FF-C0BE-9986-CB32-0A3880D5BAF2}"/>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B26A2C6C-C70D-65DC-1352-5764E406A70C}"/>
              </a:ext>
            </a:extLst>
          </p:cNvPr>
          <p:cNvSpPr>
            <a:spLocks noGrp="1"/>
          </p:cNvSpPr>
          <p:nvPr>
            <p:ph type="body" idx="1"/>
          </p:nvPr>
        </p:nvSpPr>
        <p:spPr/>
        <p:txBody>
          <a:bodyPr>
            <a:normAutofit lnSpcReduction="10000"/>
          </a:bodyPr>
          <a:lstStyle/>
          <a:p>
            <a:pPr marL="228600" indent="0"/>
            <a:r>
              <a:rPr lang="en-US" dirty="0"/>
              <a:t>Handwritten stories and ground truth.</a:t>
            </a:r>
          </a:p>
          <a:p>
            <a:pPr marL="228600" indent="0"/>
            <a:r>
              <a:rPr lang="en-US" dirty="0"/>
              <a:t>Laws of Pennsylvania Townships</a:t>
            </a:r>
          </a:p>
          <a:p>
            <a:pPr marL="228600" indent="0"/>
            <a:r>
              <a:rPr lang="en-US" dirty="0"/>
              <a:t>EDA Results</a:t>
            </a:r>
          </a:p>
          <a:p>
            <a:pPr marL="685800" indent="-457200">
              <a:buFont typeface="Arial" panose="020B0604020202020204" pitchFamily="34" charset="0"/>
              <a:buChar char="•"/>
            </a:pPr>
            <a:r>
              <a:rPr lang="en-US" dirty="0" err="1"/>
              <a:t>Mnemosynes</a:t>
            </a:r>
            <a:r>
              <a:rPr lang="en-US" dirty="0"/>
              <a:t> Data Structures are richer than typical graphs</a:t>
            </a:r>
          </a:p>
          <a:p>
            <a:pPr marL="685800" indent="-457200">
              <a:buFont typeface="Arial" panose="020B0604020202020204" pitchFamily="34" charset="0"/>
              <a:buChar char="•"/>
            </a:pPr>
            <a:r>
              <a:rPr lang="en-US" dirty="0"/>
              <a:t>It worked well on the small documents</a:t>
            </a:r>
          </a:p>
          <a:p>
            <a:pPr marL="685800" indent="-457200">
              <a:buFont typeface="Arial" panose="020B0604020202020204" pitchFamily="34" charset="0"/>
              <a:buChar char="•"/>
            </a:pPr>
            <a:r>
              <a:rPr lang="en-US" dirty="0"/>
              <a:t>Without ground truth it was hard to tell on large documents</a:t>
            </a:r>
          </a:p>
          <a:p>
            <a:pPr marL="685800" indent="-457200">
              <a:buFont typeface="Arial" panose="020B0604020202020204" pitchFamily="34" charset="0"/>
              <a:buChar char="•"/>
            </a:pPr>
            <a:r>
              <a:rPr lang="en-US" dirty="0"/>
              <a:t>Multiple towns laws had a high degree of similarity</a:t>
            </a:r>
          </a:p>
        </p:txBody>
      </p:sp>
      <p:sp>
        <p:nvSpPr>
          <p:cNvPr id="6" name="Title 5">
            <a:extLst>
              <a:ext uri="{FF2B5EF4-FFF2-40B4-BE49-F238E27FC236}">
                <a16:creationId xmlns:a16="http://schemas.microsoft.com/office/drawing/2014/main" id="{5F70797F-DE65-C6F6-B8F9-356252F02030}"/>
              </a:ext>
            </a:extLst>
          </p:cNvPr>
          <p:cNvSpPr>
            <a:spLocks noGrp="1"/>
          </p:cNvSpPr>
          <p:nvPr>
            <p:ph type="title"/>
          </p:nvPr>
        </p:nvSpPr>
        <p:spPr/>
        <p:txBody>
          <a:bodyPr/>
          <a:lstStyle/>
          <a:p>
            <a:r>
              <a:rPr lang="en-US" dirty="0"/>
              <a:t>Data</a:t>
            </a:r>
          </a:p>
        </p:txBody>
      </p:sp>
      <p:sp>
        <p:nvSpPr>
          <p:cNvPr id="2" name="TextBox 1">
            <a:extLst>
              <a:ext uri="{FF2B5EF4-FFF2-40B4-BE49-F238E27FC236}">
                <a16:creationId xmlns:a16="http://schemas.microsoft.com/office/drawing/2014/main" id="{868AABD9-4571-53AE-6F2D-BB603271A0C0}"/>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874987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D5D2B-98B1-1FEB-330B-5BE12F79B82C}"/>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E38AB167-627F-9A93-4230-D2341545A73B}"/>
              </a:ext>
            </a:extLst>
          </p:cNvPr>
          <p:cNvSpPr>
            <a:spLocks noGrp="1"/>
          </p:cNvSpPr>
          <p:nvPr>
            <p:ph type="body" idx="1"/>
          </p:nvPr>
        </p:nvSpPr>
        <p:spPr/>
        <p:txBody>
          <a:bodyPr>
            <a:normAutofit/>
          </a:bodyPr>
          <a:lstStyle/>
          <a:p>
            <a:pPr marL="228600" indent="0"/>
            <a:r>
              <a:rPr lang="en-US" dirty="0"/>
              <a:t>The raw knowledge graph from a </a:t>
            </a:r>
            <a:r>
              <a:rPr lang="en-US" dirty="0" err="1"/>
              <a:t>sourcetext</a:t>
            </a:r>
            <a:r>
              <a:rPr lang="en-US" dirty="0"/>
              <a:t> is of limited use</a:t>
            </a:r>
          </a:p>
          <a:p>
            <a:pPr marL="228600" indent="0"/>
            <a:r>
              <a:rPr lang="en-US" dirty="0" err="1"/>
              <a:t>Semnatically</a:t>
            </a:r>
            <a:r>
              <a:rPr lang="en-US" dirty="0"/>
              <a:t> enriching it provides </a:t>
            </a:r>
            <a:r>
              <a:rPr lang="en-US"/>
              <a:t>deeper understanding</a:t>
            </a:r>
          </a:p>
          <a:p>
            <a:pPr marL="228600" indent="0"/>
            <a:endParaRPr lang="en-US" dirty="0"/>
          </a:p>
        </p:txBody>
      </p:sp>
      <p:sp>
        <p:nvSpPr>
          <p:cNvPr id="6" name="Title 5">
            <a:extLst>
              <a:ext uri="{FF2B5EF4-FFF2-40B4-BE49-F238E27FC236}">
                <a16:creationId xmlns:a16="http://schemas.microsoft.com/office/drawing/2014/main" id="{4E7CD4B0-E9DF-3913-3784-E879D6C59930}"/>
              </a:ext>
            </a:extLst>
          </p:cNvPr>
          <p:cNvSpPr>
            <a:spLocks noGrp="1"/>
          </p:cNvSpPr>
          <p:nvPr>
            <p:ph type="title"/>
          </p:nvPr>
        </p:nvSpPr>
        <p:spPr/>
        <p:txBody>
          <a:bodyPr/>
          <a:lstStyle/>
          <a:p>
            <a:r>
              <a:rPr lang="en-US" dirty="0"/>
              <a:t>Key Findings</a:t>
            </a:r>
          </a:p>
        </p:txBody>
      </p:sp>
      <p:sp>
        <p:nvSpPr>
          <p:cNvPr id="2" name="TextBox 1">
            <a:extLst>
              <a:ext uri="{FF2B5EF4-FFF2-40B4-BE49-F238E27FC236}">
                <a16:creationId xmlns:a16="http://schemas.microsoft.com/office/drawing/2014/main" id="{8DCE920B-77B3-3FB3-7C62-452470225B70}"/>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306989421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17498</TotalTime>
  <Words>786</Words>
  <Application>Microsoft Office PowerPoint</Application>
  <PresentationFormat>Widescreen</PresentationFormat>
  <Paragraphs>102</Paragraphs>
  <Slides>12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Wingdings</vt:lpstr>
      <vt:lpstr>Arial</vt:lpstr>
      <vt:lpstr>Calibri</vt:lpstr>
      <vt:lpstr>Office Theme</vt:lpstr>
      <vt:lpstr>Mnemosyne: Using Large Language Models to Convert Documents to Knowledge Graphs to Check for Completeness and Consistency </vt:lpstr>
      <vt:lpstr>Why Mnemosyne?</vt:lpstr>
      <vt:lpstr>Research Questions</vt:lpstr>
      <vt:lpstr>Roadmap</vt:lpstr>
      <vt:lpstr>Brief Literature Review</vt:lpstr>
      <vt:lpstr>Brief Literature Review</vt:lpstr>
      <vt:lpstr>Brief Literature Review</vt:lpstr>
      <vt:lpstr>Brief Literature Review</vt:lpstr>
      <vt:lpstr>Methodology</vt:lpstr>
      <vt:lpstr>PowerPoint Presentation</vt:lpstr>
      <vt:lpstr>Data</vt:lpstr>
      <vt:lpstr>Key Findings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2022-23 Communications Plan</dc:title>
  <dc:creator>Healy, Devin Marie</dc:creator>
  <cp:lastModifiedBy>Michael</cp:lastModifiedBy>
  <cp:revision>28</cp:revision>
  <dcterms:created xsi:type="dcterms:W3CDTF">2020-03-10T16:22:03Z</dcterms:created>
  <dcterms:modified xsi:type="dcterms:W3CDTF">2025-11-12T22:34:55Z</dcterms:modified>
</cp:coreProperties>
</file>