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352" r:id="rId3"/>
    <p:sldId id="342" r:id="rId4"/>
    <p:sldId id="316" r:id="rId5"/>
    <p:sldId id="317" r:id="rId6"/>
    <p:sldId id="350" r:id="rId7"/>
    <p:sldId id="344" r:id="rId8"/>
    <p:sldId id="330" r:id="rId9"/>
    <p:sldId id="345" r:id="rId10"/>
    <p:sldId id="348" r:id="rId11"/>
    <p:sldId id="340" r:id="rId12"/>
    <p:sldId id="349" r:id="rId13"/>
    <p:sldId id="339" r:id="rId14"/>
    <p:sldId id="322" r:id="rId15"/>
    <p:sldId id="356" r:id="rId16"/>
    <p:sldId id="355" r:id="rId17"/>
    <p:sldId id="351" r:id="rId18"/>
    <p:sldId id="354" r:id="rId19"/>
    <p:sldId id="327" r:id="rId20"/>
    <p:sldId id="341" r:id="rId21"/>
    <p:sldId id="363" r:id="rId22"/>
    <p:sldId id="333" r:id="rId23"/>
    <p:sldId id="338" r:id="rId24"/>
    <p:sldId id="359" r:id="rId25"/>
    <p:sldId id="358" r:id="rId26"/>
    <p:sldId id="335" r:id="rId27"/>
    <p:sldId id="336" r:id="rId28"/>
    <p:sldId id="337" r:id="rId29"/>
    <p:sldId id="346" r:id="rId30"/>
    <p:sldId id="353" r:id="rId31"/>
    <p:sldId id="357" r:id="rId32"/>
    <p:sldId id="361" r:id="rId33"/>
    <p:sldId id="362" r:id="rId34"/>
    <p:sldId id="296" r:id="rId35"/>
    <p:sldId id="343" r:id="rId36"/>
    <p:sldId id="347" r:id="rId37"/>
  </p:sldIdLst>
  <p:sldSz cx="12192000" cy="6858000"/>
  <p:notesSz cx="7315200" cy="9601200"/>
  <p:embeddedFontLst>
    <p:embeddedFont>
      <p:font typeface="Aptos Narrow" panose="020B0004020202020204" pitchFamily="34" charset="0"/>
      <p:regular r:id="rId39"/>
      <p:bold r:id="rId40"/>
    </p:embeddedFont>
    <p:embeddedFont>
      <p:font typeface="Lato" panose="020F0502020204030203" pitchFamily="34" charset="0"/>
      <p:regular r:id="rId41"/>
    </p:embeddedFont>
    <p:embeddedFont>
      <p:font typeface="Poppins" panose="00000500000000000000" pitchFamily="2" charset="0"/>
      <p:regular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iDNVSbFq7dyO4335j4J4+rkAmY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3A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66"/>
    <p:restoredTop sz="60533" autoAdjust="0"/>
  </p:normalViewPr>
  <p:slideViewPr>
    <p:cSldViewPr snapToGrid="0" snapToObjects="1">
      <p:cViewPr varScale="1">
        <p:scale>
          <a:sx n="67" d="100"/>
          <a:sy n="67" d="100"/>
        </p:scale>
        <p:origin x="22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font" Target="fonts/font3.fntdata"/><Relationship Id="rId83"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Response to Removal</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CTSA - Base</c:v>
                </c:pt>
              </c:strCache>
            </c:strRef>
          </c:tx>
          <c:spPr>
            <a:solidFill>
              <a:schemeClr val="accent1"/>
            </a:solidFill>
            <a:ln>
              <a:noFill/>
            </a:ln>
            <a:effectLst/>
          </c:spPr>
          <c:invertIfNegative val="0"/>
          <c:cat>
            <c:strRef>
              <c:f>Sheet1!$A$2:$A$5</c:f>
              <c:strCache>
                <c:ptCount val="4"/>
                <c:pt idx="0">
                  <c:v>Discovered Nodes</c:v>
                </c:pt>
                <c:pt idx="1">
                  <c:v>Discovered Relationships</c:v>
                </c:pt>
                <c:pt idx="2">
                  <c:v>Final Nodes</c:v>
                </c:pt>
                <c:pt idx="3">
                  <c:v>Final Relationships</c:v>
                </c:pt>
              </c:strCache>
            </c:strRef>
          </c:cat>
          <c:val>
            <c:numRef>
              <c:f>Sheet1!$B$2:$B$5</c:f>
              <c:numCache>
                <c:formatCode>General</c:formatCode>
                <c:ptCount val="4"/>
                <c:pt idx="0">
                  <c:v>1091</c:v>
                </c:pt>
                <c:pt idx="1">
                  <c:v>2017</c:v>
                </c:pt>
                <c:pt idx="2">
                  <c:v>1256</c:v>
                </c:pt>
                <c:pt idx="3">
                  <c:v>3268</c:v>
                </c:pt>
              </c:numCache>
            </c:numRef>
          </c:val>
          <c:extLst>
            <c:ext xmlns:c16="http://schemas.microsoft.com/office/drawing/2014/chart" uri="{C3380CC4-5D6E-409C-BE32-E72D297353CC}">
              <c16:uniqueId val="{00000000-7375-4B59-A719-477C78574144}"/>
            </c:ext>
          </c:extLst>
        </c:ser>
        <c:ser>
          <c:idx val="1"/>
          <c:order val="1"/>
          <c:tx>
            <c:strRef>
              <c:f>Sheet1!$C$1</c:f>
              <c:strCache>
                <c:ptCount val="1"/>
                <c:pt idx="0">
                  <c:v>CTSA - Remove</c:v>
                </c:pt>
              </c:strCache>
            </c:strRef>
          </c:tx>
          <c:spPr>
            <a:solidFill>
              <a:schemeClr val="accent2"/>
            </a:solidFill>
            <a:ln>
              <a:noFill/>
            </a:ln>
            <a:effectLst/>
          </c:spPr>
          <c:invertIfNegative val="0"/>
          <c:cat>
            <c:strRef>
              <c:f>Sheet1!$A$2:$A$5</c:f>
              <c:strCache>
                <c:ptCount val="4"/>
                <c:pt idx="0">
                  <c:v>Discovered Nodes</c:v>
                </c:pt>
                <c:pt idx="1">
                  <c:v>Discovered Relationships</c:v>
                </c:pt>
                <c:pt idx="2">
                  <c:v>Final Nodes</c:v>
                </c:pt>
                <c:pt idx="3">
                  <c:v>Final Relationships</c:v>
                </c:pt>
              </c:strCache>
            </c:strRef>
          </c:cat>
          <c:val>
            <c:numRef>
              <c:f>Sheet1!$C$2:$C$5</c:f>
              <c:numCache>
                <c:formatCode>General</c:formatCode>
                <c:ptCount val="4"/>
                <c:pt idx="0">
                  <c:v>986</c:v>
                </c:pt>
                <c:pt idx="1">
                  <c:v>1955</c:v>
                </c:pt>
                <c:pt idx="2">
                  <c:v>1133</c:v>
                </c:pt>
                <c:pt idx="3">
                  <c:v>3099</c:v>
                </c:pt>
              </c:numCache>
            </c:numRef>
          </c:val>
          <c:extLst>
            <c:ext xmlns:c16="http://schemas.microsoft.com/office/drawing/2014/chart" uri="{C3380CC4-5D6E-409C-BE32-E72D297353CC}">
              <c16:uniqueId val="{00000001-7375-4B59-A719-477C78574144}"/>
            </c:ext>
          </c:extLst>
        </c:ser>
        <c:dLbls>
          <c:showLegendKey val="0"/>
          <c:showVal val="0"/>
          <c:showCatName val="0"/>
          <c:showSerName val="0"/>
          <c:showPercent val="0"/>
          <c:showBubbleSize val="0"/>
        </c:dLbls>
        <c:gapWidth val="219"/>
        <c:overlap val="-27"/>
        <c:axId val="483422351"/>
        <c:axId val="483426191"/>
      </c:barChart>
      <c:catAx>
        <c:axId val="483422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3426191"/>
        <c:crosses val="autoZero"/>
        <c:auto val="1"/>
        <c:lblAlgn val="ctr"/>
        <c:lblOffset val="100"/>
        <c:noMultiLvlLbl val="0"/>
      </c:catAx>
      <c:valAx>
        <c:axId val="4834261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Node</a:t>
                </a:r>
                <a:r>
                  <a:rPr lang="en-US" baseline="0" dirty="0"/>
                  <a:t> / Relationship Count</a:t>
                </a:r>
                <a:endParaRPr lang="en-US"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34223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45" tIns="48309" rIns="96645" bIns="48309"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45" tIns="48309" rIns="96645" bIns="48309"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45" tIns="48309" rIns="96645" bIns="48309"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sz="1300" smtClean="0">
                <a:solidFill>
                  <a:schemeClr val="dk1"/>
                </a:solidFill>
                <a:latin typeface="Calibri"/>
                <a:ea typeface="Calibri"/>
                <a:cs typeface="Calibri"/>
                <a:sym typeface="Calibri"/>
              </a:rPr>
              <a:pPr algn="r"/>
              <a:t>‹#›</a:t>
            </a:fld>
            <a:endParaRPr lang="en-US"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"Good afternoon. I am Michael Wacey." </a:t>
            </a:r>
          </a:p>
          <a:p>
            <a:r>
              <a:rPr lang="en-US" b="1" dirty="0"/>
              <a:t>Notes:</a:t>
            </a:r>
          </a:p>
          <a:p>
            <a:r>
              <a:rPr lang="en-US" b="1" dirty="0"/>
              <a:t>	</a:t>
            </a:r>
            <a:r>
              <a:rPr lang="en-US" dirty="0"/>
              <a:t>"Welcome to my presentation on Mnemosyne. In Greek mythology, Mnemosyne is the goddess of memory and the mother of the Muses. I chose this name for my research because, at its core, this praxis is about solving the problem of 'memory'—specifically, the limited context window—in Large Language Models. I am honored to present this work to my committee: Dr. Amir Etemadi, Dr. Mohamed </a:t>
            </a:r>
            <a:r>
              <a:rPr lang="en-US" dirty="0" err="1"/>
              <a:t>Elbasheer</a:t>
            </a:r>
            <a:r>
              <a:rPr lang="en-US" dirty="0"/>
              <a:t>, and Dr. Johnathon Ng."</a:t>
            </a:r>
          </a:p>
          <a:p>
            <a:r>
              <a:rPr lang="en-US" b="1" dirty="0"/>
              <a:t>Conclusion:</a:t>
            </a:r>
            <a:r>
              <a:rPr lang="en-US" dirty="0"/>
              <a:t> "Today, I will demonstrate how we can turn static documents into active, </a:t>
            </a:r>
            <a:r>
              <a:rPr lang="en-US" dirty="0" err="1"/>
              <a:t>queryable</a:t>
            </a:r>
            <a:r>
              <a:rPr lang="en-US" dirty="0"/>
              <a:t> knowledge graphs to solve multi-billion dollar inconsistencies."</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9007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"My presentation today mirrors the structure of my written praxis, divided into five key sections." </a:t>
            </a:r>
          </a:p>
          <a:p>
            <a:r>
              <a:rPr lang="en-US" b="1" dirty="0"/>
              <a:t>Notes:</a:t>
            </a:r>
            <a:endParaRPr lang="en-US" dirty="0"/>
          </a:p>
          <a:p>
            <a:r>
              <a:rPr lang="en-US" dirty="0"/>
              <a:t>	"</a:t>
            </a:r>
            <a:r>
              <a:rPr lang="en-US" b="1" dirty="0"/>
              <a:t>Introduction:</a:t>
            </a:r>
            <a:r>
              <a:rPr lang="en-US" dirty="0"/>
              <a:t> Here, I will outline the research questions and the scope of the study, focusing on the limitations of current LLMs." </a:t>
            </a:r>
          </a:p>
          <a:p>
            <a:r>
              <a:rPr lang="en-US" dirty="0"/>
              <a:t>	"</a:t>
            </a:r>
            <a:r>
              <a:rPr lang="en-US" b="1" dirty="0"/>
              <a:t>Foundation:</a:t>
            </a:r>
            <a:r>
              <a:rPr lang="en-US" dirty="0"/>
              <a:t> I will explain the 'Short Term' versus 'Long Term' memory consolidation methodology used in the Mnemosyne system." </a:t>
            </a:r>
          </a:p>
          <a:p>
            <a:r>
              <a:rPr lang="en-US" dirty="0"/>
              <a:t>	"</a:t>
            </a:r>
            <a:r>
              <a:rPr lang="en-US" b="1" dirty="0"/>
              <a:t>Key Findings:</a:t>
            </a:r>
            <a:r>
              <a:rPr lang="en-US" dirty="0"/>
              <a:t> I will present the data gathered from the PA Township Laws corpus and analyze the system's performance via F1 scores." </a:t>
            </a:r>
          </a:p>
          <a:p>
            <a:r>
              <a:rPr lang="en-US" dirty="0"/>
              <a:t>	"</a:t>
            </a:r>
            <a:r>
              <a:rPr lang="en-US" b="1" dirty="0"/>
              <a:t>Discussion:</a:t>
            </a:r>
            <a:r>
              <a:rPr lang="en-US" dirty="0"/>
              <a:t> We will distinguish between 'Internal Consistency,' which is verifiable, and 'External Completeness'." </a:t>
            </a:r>
          </a:p>
          <a:p>
            <a:r>
              <a:rPr lang="en-US" b="1" dirty="0"/>
              <a:t>Conclusion:</a:t>
            </a:r>
            <a:r>
              <a:rPr lang="en-US" dirty="0"/>
              <a:t> "And finally, in the </a:t>
            </a:r>
            <a:r>
              <a:rPr lang="en-US" b="1" dirty="0"/>
              <a:t>Conclusion</a:t>
            </a:r>
            <a:r>
              <a:rPr lang="en-US" dirty="0"/>
              <a:t>, I will close by summarizing the contributions to the field." </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51694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"This slide outlines the core conflict my research addresses." </a:t>
            </a:r>
          </a:p>
          <a:p>
            <a:r>
              <a:rPr lang="en-US" b="1" dirty="0"/>
              <a:t>Notes:</a:t>
            </a:r>
            <a:endParaRPr lang="en-US" dirty="0"/>
          </a:p>
          <a:p>
            <a:r>
              <a:rPr lang="en-US" dirty="0"/>
              <a:t>	"The </a:t>
            </a:r>
            <a:r>
              <a:rPr lang="en-US" b="1" dirty="0"/>
              <a:t>Problem</a:t>
            </a:r>
            <a:r>
              <a:rPr lang="en-US" dirty="0"/>
              <a:t> is one of scale. In domains like pharmaceuticals or law, we deal with massive documents—NDAs often exceed 100,000 pages." </a:t>
            </a:r>
          </a:p>
          <a:p>
            <a:r>
              <a:rPr lang="en-US" dirty="0"/>
              <a:t>	"Standard Large Language Models fail here because of the 'Context Window' limit." </a:t>
            </a:r>
          </a:p>
          <a:p>
            <a:r>
              <a:rPr lang="en-US" dirty="0"/>
              <a:t>	"Essentially, the model forgets the beginning of the document before it reaches the end, making holistic analysis impossible." </a:t>
            </a:r>
          </a:p>
          <a:p>
            <a:r>
              <a:rPr lang="en-US" dirty="0"/>
              <a:t>	"My </a:t>
            </a:r>
            <a:r>
              <a:rPr lang="en-US" b="1" dirty="0"/>
              <a:t>Solution</a:t>
            </a:r>
            <a:r>
              <a:rPr lang="en-US" dirty="0"/>
              <a:t> is a pipeline called Mnemosyne. Instead of forcing raw text into a limited window, Mnemosyne incrementally converts the document into an Attributed Knowledge Graph." </a:t>
            </a:r>
          </a:p>
          <a:p>
            <a:r>
              <a:rPr lang="en-US" dirty="0"/>
              <a:t>	"By merging these graphs and using an LLM to perform semantic enrichment, we create typed clusters that capture the deep meaning of the text." </a:t>
            </a:r>
          </a:p>
          <a:p>
            <a:r>
              <a:rPr lang="en-US" b="1" dirty="0"/>
              <a:t>Conclusion:</a:t>
            </a:r>
            <a:r>
              <a:rPr lang="en-US" dirty="0"/>
              <a:t> "This effectively solves the context problem, allowing us to query the graph directly to identify contradictions and missing information without needing the entire text in memory." </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24495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r>
              <a:rPr lang="en-US" b="1" dirty="0"/>
              <a:t>Transition:</a:t>
            </a:r>
            <a:r>
              <a:rPr lang="en-US" dirty="0"/>
              <a:t> "To understand the stakes, I'd like to walk you through an illustrative nightmare scenario." </a:t>
            </a:r>
          </a:p>
          <a:p>
            <a:r>
              <a:rPr lang="en-US" b="1" dirty="0"/>
              <a:t>Notes:</a:t>
            </a:r>
            <a:endParaRPr lang="en-US" dirty="0"/>
          </a:p>
          <a:p>
            <a:r>
              <a:rPr lang="en-US" dirty="0"/>
              <a:t>	"Imagine you have just submitted a 100,000-page New Drug Application to the FDA. On page 727, your documentation correctly notes that </a:t>
            </a:r>
            <a:r>
              <a:rPr lang="en-US" b="1" dirty="0"/>
              <a:t>Octreotide</a:t>
            </a:r>
            <a:r>
              <a:rPr lang="en-US" dirty="0"/>
              <a:t> carries a risk of death if taken with your drug." </a:t>
            </a:r>
          </a:p>
          <a:p>
            <a:r>
              <a:rPr lang="en-US" dirty="0"/>
              <a:t>	"However, 30,000 pages later, on page 32,434, a different section states there are 'no known side effects' with any </a:t>
            </a:r>
            <a:r>
              <a:rPr lang="en-US" b="1" dirty="0"/>
              <a:t>Somatostatin Analog</a:t>
            </a:r>
            <a:r>
              <a:rPr lang="en-US" dirty="0"/>
              <a:t>." </a:t>
            </a:r>
          </a:p>
          <a:p>
            <a:r>
              <a:rPr lang="en-US" dirty="0"/>
              <a:t>	"The problem is that Octreotide </a:t>
            </a:r>
            <a:r>
              <a:rPr lang="en-US" i="1" dirty="0"/>
              <a:t>is</a:t>
            </a:r>
            <a:r>
              <a:rPr lang="en-US" dirty="0"/>
              <a:t> a Somatostatin Analog. This logical contradiction sinks the application." </a:t>
            </a:r>
          </a:p>
          <a:p>
            <a:r>
              <a:rPr lang="en-US" dirty="0"/>
              <a:t>	"I want to be clear for the committee: This specific narrative is a synthesized example designed to isolate the logical error. In the appendix of my deck, I detail the messy, real-world rejection cases—such as Vanda Pharmaceuticals and PTC Therapeutics—that inspired this composite." </a:t>
            </a:r>
          </a:p>
          <a:p>
            <a:r>
              <a:rPr lang="en-US" b="1" dirty="0"/>
              <a:t>Conclusion:</a:t>
            </a:r>
            <a:r>
              <a:rPr lang="en-US" dirty="0"/>
              <a:t> "I use this simplified example here to demonstrate the exact type of 'needle-in-a-haystack' inference failure that Mnemosyne is designed to detect." </a:t>
            </a:r>
          </a:p>
          <a:p>
            <a:pPr marL="0" indent="0"/>
            <a:endParaRPr dirty="0"/>
          </a:p>
        </p:txBody>
      </p:sp>
      <p:sp>
        <p:nvSpPr>
          <p:cNvPr id="185" name="Google Shape;185;p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7719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"To guide this research, I established three specific questions." </a:t>
            </a:r>
          </a:p>
          <a:p>
            <a:r>
              <a:rPr lang="en-US" b="1" dirty="0"/>
              <a:t>Notes:</a:t>
            </a:r>
            <a:endParaRPr lang="en-US" dirty="0"/>
          </a:p>
          <a:p>
            <a:r>
              <a:rPr lang="en-US" dirty="0"/>
              <a:t>	"</a:t>
            </a:r>
            <a:r>
              <a:rPr lang="en-US" b="1" dirty="0"/>
              <a:t>RQ1:</a:t>
            </a:r>
            <a:r>
              <a:rPr lang="en-US" dirty="0"/>
              <a:t> Can an LLM successfully convert a large, unstructured document into a structured knowledge graph?" </a:t>
            </a:r>
          </a:p>
          <a:p>
            <a:r>
              <a:rPr lang="en-US" dirty="0"/>
              <a:t>	"</a:t>
            </a:r>
            <a:r>
              <a:rPr lang="en-US" b="1" dirty="0"/>
              <a:t>RQ2:</a:t>
            </a:r>
            <a:r>
              <a:rPr lang="en-US" dirty="0"/>
              <a:t> Can we then process multiple local graphs into a single, semantically enriched 'typed cluster'?" </a:t>
            </a:r>
          </a:p>
          <a:p>
            <a:r>
              <a:rPr lang="en-US" dirty="0"/>
              <a:t>	"</a:t>
            </a:r>
            <a:r>
              <a:rPr lang="en-US" b="1" dirty="0"/>
              <a:t>RQ3:</a:t>
            </a:r>
            <a:r>
              <a:rPr lang="en-US" dirty="0"/>
              <a:t> And finally, can this enriched cluster be used to verify the consistency and completeness of the source document?" </a:t>
            </a:r>
          </a:p>
          <a:p>
            <a:r>
              <a:rPr lang="en-US" dirty="0"/>
              <a:t>	"For my hypotheses, I posited the affirmative for each: that the pipeline would not only build these graphs but that the resulting structure would allow for mathematical verification of the text." </a:t>
            </a:r>
          </a:p>
          <a:p>
            <a:r>
              <a:rPr lang="en-US" b="1" dirty="0"/>
              <a:t>Conclusion:</a:t>
            </a:r>
            <a:r>
              <a:rPr lang="en-US" dirty="0"/>
              <a:t> "I used my Township Law dataset as the proving ground to test these hypotheses." </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5</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5080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"To ensure this research remained focused on the novel contributions regarding graph consistency, I established strict boundaries in consultation with Dr. </a:t>
            </a:r>
            <a:r>
              <a:rPr lang="en-US" dirty="0" err="1"/>
              <a:t>Elbasheer</a:t>
            </a:r>
            <a:r>
              <a:rPr lang="en-US" dirty="0"/>
              <a:t> and the Department Leaders."</a:t>
            </a:r>
          </a:p>
          <a:p>
            <a:r>
              <a:rPr lang="en-US" b="1" dirty="0"/>
              <a:t>Notes:</a:t>
            </a:r>
            <a:endParaRPr lang="en-US" dirty="0"/>
          </a:p>
          <a:p>
            <a:r>
              <a:rPr lang="en-US" dirty="0"/>
              <a:t>	"</a:t>
            </a:r>
            <a:r>
              <a:rPr lang="en-US" b="1" dirty="0"/>
              <a:t>In Scope:</a:t>
            </a:r>
            <a:r>
              <a:rPr lang="en-US" dirty="0"/>
              <a:t> We decided to focus strictly on the pipeline logic: ingesting clean text (specifically Word documents), converting it to a Graph, and validating the consistency checks."</a:t>
            </a:r>
          </a:p>
          <a:p>
            <a:r>
              <a:rPr lang="en-US" dirty="0"/>
              <a:t>	"</a:t>
            </a:r>
            <a:r>
              <a:rPr lang="en-US" b="1" dirty="0"/>
              <a:t>Out of Scope:</a:t>
            </a:r>
            <a:r>
              <a:rPr lang="en-US" dirty="0"/>
              <a:t> Consequently, we explicitly excluded 'product' features like PDF parsing or a user-facing Chatbot interface."</a:t>
            </a:r>
          </a:p>
          <a:p>
            <a:r>
              <a:rPr lang="en-US" dirty="0"/>
              <a:t>	"This scoping allowed me to devote my engineering efforts entirely to the semantic enrichment algorithms rather than solving solved problems like file parsing."</a:t>
            </a:r>
          </a:p>
          <a:p>
            <a:r>
              <a:rPr lang="en-US" b="1" dirty="0"/>
              <a:t>Conclusion:</a:t>
            </a:r>
            <a:r>
              <a:rPr lang="en-US" dirty="0"/>
              <a:t> "This ensured the research targeted the unsolved problem of semantic consistency rather than the solved problem of file ingestion."</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6</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9635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"My research rests on three theoretical pillars that define both the structure and the constraint of the system."</a:t>
            </a:r>
          </a:p>
          <a:p>
            <a:r>
              <a:rPr lang="en-US" b="1" dirty="0"/>
              <a:t>Notes:</a:t>
            </a:r>
          </a:p>
          <a:p>
            <a:r>
              <a:rPr lang="en-US" b="1" dirty="0"/>
              <a:t>	</a:t>
            </a:r>
            <a:r>
              <a:rPr lang="en-US" dirty="0"/>
              <a:t>"First is </a:t>
            </a:r>
            <a:r>
              <a:rPr lang="en-US" b="1" dirty="0"/>
              <a:t>Minsky (1974)</a:t>
            </a:r>
            <a:r>
              <a:rPr lang="en-US" dirty="0"/>
              <a:t>: His concept of 'Frames' is the basis for my system's 'Nodes.' He argued that knowledge isn't a stream of words, but distinct, structured units.“</a:t>
            </a:r>
          </a:p>
          <a:p>
            <a:r>
              <a:rPr lang="en-US" dirty="0"/>
              <a:t>	"Second are </a:t>
            </a:r>
            <a:r>
              <a:rPr lang="en-US" b="1" dirty="0"/>
              <a:t>Noy &amp; Fensel</a:t>
            </a:r>
            <a:r>
              <a:rPr lang="en-US" dirty="0"/>
              <a:t>: They provided the 'Knowledge Graph' methodology. If Minsky gave us the 'dots,' they gave us the 'lines'—the semantic relationships that turn isolated facts into understanding.“</a:t>
            </a:r>
          </a:p>
          <a:p>
            <a:r>
              <a:rPr lang="en-US" dirty="0"/>
              <a:t>	"Third is </a:t>
            </a:r>
            <a:r>
              <a:rPr lang="en-US" b="1" dirty="0"/>
              <a:t>Vaswani (2017)</a:t>
            </a:r>
            <a:r>
              <a:rPr lang="en-US" dirty="0"/>
              <a:t>: He defined the 'Context Window.' This is our scaling constraint. Crucially, while windows have grown larger, we now face 'Attention Degradation,' where the model cannot maintain coherence over vast distances."</a:t>
            </a:r>
          </a:p>
          <a:p>
            <a:r>
              <a:rPr lang="en-US" b="1" dirty="0"/>
              <a:t>Conclusion:</a:t>
            </a:r>
            <a:r>
              <a:rPr lang="en-US" dirty="0"/>
              <a:t> "Mnemosyne uses the structure of Minsky and Noy to provide the focus necessary to solve the limitations of Vaswani's context window."</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7</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526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"Having established the theoretical pillars, I conducted a review of current applications of LLMs in knowledge extraction. I found that despite the hype, the field is currently hitting a ceiling."</a:t>
            </a:r>
          </a:p>
          <a:p>
            <a:r>
              <a:rPr lang="en-US" b="1" dirty="0"/>
              <a:t>Notes:</a:t>
            </a:r>
            <a:endParaRPr lang="en-US" dirty="0"/>
          </a:p>
          <a:p>
            <a:r>
              <a:rPr lang="en-US" dirty="0"/>
              <a:t>	"To date, practical research in this area has been severely constrained by three interconnected factors: </a:t>
            </a:r>
            <a:r>
              <a:rPr lang="en-US" b="1" dirty="0"/>
              <a:t>Processing Time</a:t>
            </a:r>
            <a:r>
              <a:rPr lang="en-US" dirty="0"/>
              <a:t>, the </a:t>
            </a:r>
            <a:r>
              <a:rPr lang="en-US" b="1" dirty="0"/>
              <a:t>Context Window</a:t>
            </a:r>
            <a:r>
              <a:rPr lang="en-US" dirty="0"/>
              <a:t> (specifically attention degradation), and </a:t>
            </a:r>
            <a:r>
              <a:rPr lang="en-US" b="1" dirty="0"/>
              <a:t>Resource Intensity</a:t>
            </a:r>
            <a:r>
              <a:rPr lang="en-US" dirty="0"/>
              <a:t>."</a:t>
            </a:r>
          </a:p>
          <a:p>
            <a:r>
              <a:rPr lang="en-US" dirty="0"/>
              <a:t>	"Because of these constraints, the vast majority of researchers have focused on smaller documents—summarizing news articles or extracting facts from single abstracts."</a:t>
            </a:r>
          </a:p>
          <a:p>
            <a:r>
              <a:rPr lang="en-US" dirty="0"/>
              <a:t>	"Very few have attempted to tackle the '100,000-page problem' in a way that preserves rigorous logic."</a:t>
            </a:r>
          </a:p>
          <a:p>
            <a:r>
              <a:rPr lang="en-US" b="1" dirty="0"/>
              <a:t>Conclusion:</a:t>
            </a:r>
            <a:r>
              <a:rPr lang="en-US" dirty="0"/>
              <a:t> "This gap defined my design requirements. To handle an NDA, I needed a system that did not rely on a massive single context window and could manage resources efficiently through incremental processing."</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8</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48691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"This slide illustrates how I translated the literature review into the Mnemosyne pipeline."</a:t>
            </a:r>
          </a:p>
          <a:p>
            <a:r>
              <a:rPr lang="en-US" b="1" dirty="0"/>
              <a:t>Notes:</a:t>
            </a:r>
          </a:p>
          <a:p>
            <a:r>
              <a:rPr lang="en-US" b="1" dirty="0"/>
              <a:t>	“</a:t>
            </a:r>
            <a:r>
              <a:rPr lang="en-US" dirty="0"/>
              <a:t>I want to clarify a detail regarding the Refinement stage (P5). In the written Praxis, I note that the </a:t>
            </a:r>
            <a:r>
              <a:rPr lang="en-US" i="1" dirty="0"/>
              <a:t>asynchronous</a:t>
            </a:r>
            <a:r>
              <a:rPr lang="en-US" dirty="0"/>
              <a:t> processing engine was disabled during experiments. To ensure precise timing measurements and deterministic output for this defense, I ran the Refinement logic </a:t>
            </a:r>
            <a:r>
              <a:rPr lang="en-US" b="1" dirty="0"/>
              <a:t>synchronously</a:t>
            </a:r>
            <a:r>
              <a:rPr lang="en-US" dirty="0"/>
              <a:t>—in batch mode—rather than as a background thread. This allowed me to capture the semantic enrichment metrics you will see on Slide 16, while maintaining strict control over the experimental variables.”</a:t>
            </a:r>
            <a:endParaRPr lang="en-US" b="1" dirty="0"/>
          </a:p>
          <a:p>
            <a:r>
              <a:rPr lang="en-US" b="1" dirty="0"/>
              <a:t>	</a:t>
            </a:r>
            <a:r>
              <a:rPr lang="en-US" dirty="0"/>
              <a:t>"I built the foundation of the system on recent methodologies: adopting </a:t>
            </a:r>
            <a:r>
              <a:rPr lang="en-US" b="1" dirty="0"/>
              <a:t>Qu et al.</a:t>
            </a:r>
            <a:r>
              <a:rPr lang="en-US" dirty="0"/>
              <a:t> for paragraph-based chunking and </a:t>
            </a:r>
            <a:r>
              <a:rPr lang="en-US" b="1" dirty="0" err="1"/>
              <a:t>Benjira</a:t>
            </a:r>
            <a:r>
              <a:rPr lang="en-US" b="1" dirty="0"/>
              <a:t> et al.</a:t>
            </a:r>
            <a:r>
              <a:rPr lang="en-US" dirty="0"/>
              <a:t> for extracting entities into local Knowledge Graphs.“</a:t>
            </a:r>
          </a:p>
          <a:p>
            <a:r>
              <a:rPr lang="en-US" dirty="0"/>
              <a:t>	"However, existing methods stop there, resulting in a 'flat' graph. My novel contributions are the </a:t>
            </a:r>
            <a:r>
              <a:rPr lang="en-US" b="1" dirty="0"/>
              <a:t>Refinement</a:t>
            </a:r>
            <a:r>
              <a:rPr lang="en-US" dirty="0"/>
              <a:t> and </a:t>
            </a:r>
            <a:r>
              <a:rPr lang="en-US" b="1" dirty="0"/>
              <a:t>Validation</a:t>
            </a:r>
            <a:r>
              <a:rPr lang="en-US" dirty="0"/>
              <a:t> steps.“</a:t>
            </a:r>
          </a:p>
          <a:p>
            <a:r>
              <a:rPr lang="en-US" dirty="0"/>
              <a:t>	“I utilize a hybrid approach: using Procedural Code for deterministic tasks like chunking, and LLMs only for probabilistic tasks like extraction.“</a:t>
            </a:r>
          </a:p>
          <a:p>
            <a:r>
              <a:rPr lang="en-US" dirty="0"/>
              <a:t>	"The pipeline moves from </a:t>
            </a:r>
            <a:r>
              <a:rPr lang="en-US" b="1" dirty="0"/>
              <a:t>Short Term Memory</a:t>
            </a:r>
            <a:r>
              <a:rPr lang="en-US" dirty="0"/>
              <a:t> (a temporary JSON buffer) to </a:t>
            </a:r>
            <a:r>
              <a:rPr lang="en-US" b="1" dirty="0"/>
              <a:t>Long Term Memory</a:t>
            </a:r>
            <a:r>
              <a:rPr lang="en-US" dirty="0"/>
              <a:t> (the Neo4j database), and finally to </a:t>
            </a:r>
            <a:r>
              <a:rPr lang="en-US" b="1" dirty="0"/>
              <a:t>Refinement</a:t>
            </a:r>
            <a:r>
              <a:rPr lang="en-US" dirty="0"/>
              <a:t>, where the system revisits the graph to semantically enrich it."</a:t>
            </a:r>
          </a:p>
          <a:p>
            <a:r>
              <a:rPr lang="en-US" b="1" dirty="0"/>
              <a:t>Conclusion:</a:t>
            </a:r>
            <a:r>
              <a:rPr lang="en-US" dirty="0"/>
              <a:t> "This Refinement step effectively turns a static map of words into a </a:t>
            </a:r>
            <a:r>
              <a:rPr lang="en-US" dirty="0" err="1"/>
              <a:t>queryable</a:t>
            </a:r>
            <a:r>
              <a:rPr lang="en-US" dirty="0"/>
              <a:t> structure that can actually check for consistency."</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9</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20842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"The first step in the pipeline is 'Chunking,' where we determined how to feed the document into the model."</a:t>
            </a:r>
          </a:p>
          <a:p>
            <a:r>
              <a:rPr lang="en-US" b="1" dirty="0"/>
              <a:t>Notes:</a:t>
            </a:r>
          </a:p>
          <a:p>
            <a:r>
              <a:rPr lang="en-US" b="1" dirty="0"/>
              <a:t>	</a:t>
            </a:r>
            <a:r>
              <a:rPr lang="en-US" dirty="0"/>
              <a:t>"During the early prototyping phase, I ran several heuristic tests using fixed character and sentence splitting.“</a:t>
            </a:r>
          </a:p>
          <a:p>
            <a:r>
              <a:rPr lang="en-US" dirty="0"/>
              <a:t>	"I observed immediately that these methods were destructive—often cutting critical definitions in half or separating subjects from their verbs.“</a:t>
            </a:r>
          </a:p>
          <a:p>
            <a:r>
              <a:rPr lang="en-US" dirty="0"/>
              <a:t>	"While they were computationally cheap ('Easy'), the loss of semantic context was unacceptable for the downstream consistency checks.“</a:t>
            </a:r>
          </a:p>
          <a:p>
            <a:r>
              <a:rPr lang="en-US" dirty="0"/>
              <a:t>	"Based on those early tests, I formalized the decision to use a </a:t>
            </a:r>
            <a:r>
              <a:rPr lang="en-US" b="1" dirty="0"/>
              <a:t>Fixed Number of Paragraphs</a:t>
            </a:r>
            <a:r>
              <a:rPr lang="en-US" dirty="0"/>
              <a:t>.“</a:t>
            </a:r>
          </a:p>
          <a:p>
            <a:r>
              <a:rPr lang="en-US" dirty="0"/>
              <a:t>	"Paragraphs are natural, author-defined context boundaries."</a:t>
            </a:r>
          </a:p>
          <a:p>
            <a:r>
              <a:rPr lang="en-US" b="1" dirty="0"/>
              <a:t>Conclusion:</a:t>
            </a:r>
            <a:r>
              <a:rPr lang="en-US" dirty="0"/>
              <a:t> "This approach provided the necessary semantic integrity without the massive performance penalty of using an LLM to pre-read the text.“</a:t>
            </a:r>
          </a:p>
          <a:p>
            <a:endParaRPr lang="en-US" dirty="0"/>
          </a:p>
          <a:p>
            <a:r>
              <a:rPr lang="en-US" dirty="0"/>
              <a:t>Research, literature review, critical for fitting context window.</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10</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98408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5FFE3-5BBA-14FA-DB53-35B4ACEFE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51D4D-5FE4-BA39-694A-F321517DD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C39EB-FA23-9C49-2F37-0B42C4F309FC}"/>
              </a:ext>
            </a:extLst>
          </p:cNvPr>
          <p:cNvSpPr>
            <a:spLocks noGrp="1"/>
          </p:cNvSpPr>
          <p:nvPr>
            <p:ph type="body" idx="1"/>
          </p:nvPr>
        </p:nvSpPr>
        <p:spPr/>
        <p:txBody>
          <a:bodyPr/>
          <a:lstStyle/>
          <a:p>
            <a:r>
              <a:rPr lang="en-US" b="1" dirty="0"/>
              <a:t>Transition:</a:t>
            </a:r>
            <a:r>
              <a:rPr lang="en-US" dirty="0"/>
              <a:t> "This slide illustrates the logic Mnemosyne uses to construct the graph, applied here to the Octreotide example."</a:t>
            </a:r>
          </a:p>
          <a:p>
            <a:r>
              <a:rPr lang="en-US" b="1" dirty="0"/>
              <a:t>Notes:</a:t>
            </a:r>
          </a:p>
          <a:p>
            <a:r>
              <a:rPr lang="en-US" b="1" dirty="0"/>
              <a:t>	</a:t>
            </a:r>
            <a:r>
              <a:rPr lang="en-US" dirty="0"/>
              <a:t>"At a basic level, the knowledge graph consists of </a:t>
            </a:r>
            <a:r>
              <a:rPr lang="en-US" b="1" dirty="0"/>
              <a:t>Nodes</a:t>
            </a:r>
            <a:r>
              <a:rPr lang="en-US" dirty="0"/>
              <a:t> and </a:t>
            </a:r>
            <a:r>
              <a:rPr lang="en-US" b="1" dirty="0"/>
              <a:t>Directed Relationships</a:t>
            </a:r>
            <a:r>
              <a:rPr lang="en-US" dirty="0"/>
              <a:t>.“</a:t>
            </a:r>
          </a:p>
          <a:p>
            <a:r>
              <a:rPr lang="en-US" dirty="0"/>
              <a:t>	"However, one specific innovation is in how the system assigns attributes. In this scenario, because the text explicitly mentions ‘New Drug' and ‘Calcium channel blocker', the system would mark those nodes as </a:t>
            </a:r>
            <a:r>
              <a:rPr lang="en-US" dirty="0" err="1"/>
              <a:t>creationStage</a:t>
            </a:r>
            <a:r>
              <a:rPr lang="en-US" dirty="0"/>
              <a:t> </a:t>
            </a:r>
            <a:r>
              <a:rPr lang="en-US" b="1" dirty="0"/>
              <a:t>Source</a:t>
            </a:r>
            <a:r>
              <a:rPr lang="en-US" dirty="0"/>
              <a:t>.“</a:t>
            </a:r>
          </a:p>
          <a:p>
            <a:r>
              <a:rPr lang="en-US" dirty="0"/>
              <a:t>	"But to check for consistency, the system needs to understand what ‘Calcium channel blocker' </a:t>
            </a:r>
            <a:r>
              <a:rPr lang="en-US" i="1" dirty="0"/>
              <a:t>is</a:t>
            </a:r>
            <a:r>
              <a:rPr lang="en-US" dirty="0"/>
              <a:t>. During the consolidation phase, the logic dictates creating a new node called 'Drug </a:t>
            </a:r>
            <a:r>
              <a:rPr lang="en-US" dirty="0" err="1"/>
              <a:t>Class'</a:t>
            </a:r>
            <a:r>
              <a:rPr lang="en-US" dirty="0"/>
              <a:t> to link them.“</a:t>
            </a:r>
          </a:p>
          <a:p>
            <a:r>
              <a:rPr lang="en-US" dirty="0"/>
              <a:t>	"This new node is marked as </a:t>
            </a:r>
            <a:r>
              <a:rPr lang="en-US" dirty="0" err="1"/>
              <a:t>creationStage</a:t>
            </a:r>
            <a:r>
              <a:rPr lang="en-US" dirty="0"/>
              <a:t> </a:t>
            </a:r>
            <a:r>
              <a:rPr lang="en-US" b="1" dirty="0"/>
              <a:t>Consolidation</a:t>
            </a:r>
            <a:r>
              <a:rPr lang="en-US" dirty="0"/>
              <a:t>. Early on, I called this stage Consolidation. I latter realized it was really Refinement. But I never changed the code."</a:t>
            </a:r>
          </a:p>
          <a:p>
            <a:r>
              <a:rPr lang="en-US" b="1" dirty="0"/>
              <a:t>Conclusion:</a:t>
            </a:r>
            <a:r>
              <a:rPr lang="en-US" dirty="0"/>
              <a:t> "This distinction is vital: it allows a human to later audit the graph and distinguish between facts derived explicitly from the source text and scaffolding generated by the AI. This can be used to check for hallucinations."</a:t>
            </a:r>
          </a:p>
          <a:p>
            <a:endParaRPr lang="en-US" dirty="0"/>
          </a:p>
        </p:txBody>
      </p:sp>
      <p:sp>
        <p:nvSpPr>
          <p:cNvPr id="4" name="Slide Number Placeholder 3">
            <a:extLst>
              <a:ext uri="{FF2B5EF4-FFF2-40B4-BE49-F238E27FC236}">
                <a16:creationId xmlns:a16="http://schemas.microsoft.com/office/drawing/2014/main" id="{C2046E39-C928-4D84-52FA-3A482C668C0E}"/>
              </a:ext>
            </a:extLst>
          </p:cNvPr>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11</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12945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"To handle 100,000-page documents, I designed Mnemosyne with a two-stage memory architecture that mirrors human cognition."</a:t>
            </a:r>
          </a:p>
          <a:p>
            <a:r>
              <a:rPr lang="en-US" b="1" dirty="0"/>
              <a:t>Notes:</a:t>
            </a:r>
            <a:endParaRPr lang="en-US" dirty="0"/>
          </a:p>
          <a:p>
            <a:r>
              <a:rPr lang="en-US" dirty="0"/>
              <a:t>	"First is </a:t>
            </a:r>
            <a:r>
              <a:rPr lang="en-US" b="1" dirty="0"/>
              <a:t>Short Term Memory</a:t>
            </a:r>
            <a:r>
              <a:rPr lang="en-US" dirty="0"/>
              <a:t>: This is the 'quick load' buffer. As the LLM reads each paragraph chunk, it extracts entities into a lightweight in-memory JSON format. There is no deep thinking here; it is just a holding place."</a:t>
            </a:r>
          </a:p>
          <a:p>
            <a:r>
              <a:rPr lang="en-US" dirty="0"/>
              <a:t>	"Next is </a:t>
            </a:r>
            <a:r>
              <a:rPr lang="en-US" b="1" dirty="0"/>
              <a:t>Long Term Memory</a:t>
            </a:r>
            <a:r>
              <a:rPr lang="en-US" dirty="0"/>
              <a:t>: This is where we consolidate those chunks into a persistent Neo4j database. This allows us to hold data from multiple sources in a single repository."</a:t>
            </a:r>
          </a:p>
          <a:p>
            <a:r>
              <a:rPr lang="en-US" dirty="0"/>
              <a:t>	"Finally, the </a:t>
            </a:r>
            <a:r>
              <a:rPr lang="en-US" b="1" dirty="0"/>
              <a:t>Refinement Phase</a:t>
            </a:r>
            <a:r>
              <a:rPr lang="en-US" dirty="0"/>
              <a:t>: This is the most critical step. The system revisits the Long Term Memory—much like a human consolidating memories during sleep."</a:t>
            </a:r>
          </a:p>
          <a:p>
            <a:r>
              <a:rPr lang="en-US" dirty="0"/>
              <a:t>	"It selects random samples and specifically looks for </a:t>
            </a:r>
            <a:r>
              <a:rPr lang="en-US" sz="1200" b="0" i="0" u="none" strike="noStrike" cap="none" dirty="0">
                <a:solidFill>
                  <a:schemeClr val="dk1"/>
                </a:solidFill>
                <a:latin typeface="Calibri"/>
                <a:ea typeface="Calibri"/>
                <a:cs typeface="Calibri"/>
                <a:sym typeface="Calibri"/>
              </a:rPr>
              <a:t>IS_A</a:t>
            </a:r>
            <a:r>
              <a:rPr lang="en-US" dirty="0"/>
              <a:t> and </a:t>
            </a:r>
            <a:r>
              <a:rPr lang="en-US" sz="1200" b="0" i="0" u="none" strike="noStrike" cap="none" dirty="0">
                <a:solidFill>
                  <a:schemeClr val="dk1"/>
                </a:solidFill>
                <a:latin typeface="Calibri"/>
                <a:ea typeface="Calibri"/>
                <a:cs typeface="Calibri"/>
                <a:sym typeface="Calibri"/>
              </a:rPr>
              <a:t>PART_OF</a:t>
            </a:r>
            <a:r>
              <a:rPr lang="en-US" dirty="0"/>
              <a:t> relationships to reorganize and cluster the nodes."</a:t>
            </a:r>
          </a:p>
          <a:p>
            <a:r>
              <a:rPr lang="en-US" b="1" dirty="0"/>
              <a:t>Conclusion:</a:t>
            </a:r>
            <a:r>
              <a:rPr lang="en-US" dirty="0"/>
              <a:t> "This process turns a flat list of extracted facts into a connected web of knowledge."</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12</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56812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"To validate the pipeline, I utilized two distinct corpora."</a:t>
            </a:r>
          </a:p>
          <a:p>
            <a:r>
              <a:rPr lang="en-US" b="1" dirty="0"/>
              <a:t>Notes:</a:t>
            </a:r>
          </a:p>
          <a:p>
            <a:r>
              <a:rPr lang="en-US" b="1" dirty="0"/>
              <a:t>	</a:t>
            </a:r>
            <a:r>
              <a:rPr lang="en-US" dirty="0"/>
              <a:t>"First, for Development: I used </a:t>
            </a:r>
            <a:r>
              <a:rPr lang="en-US" b="1" dirty="0"/>
              <a:t>Handwritten Stories</a:t>
            </a:r>
            <a:r>
              <a:rPr lang="en-US" dirty="0"/>
              <a:t> with hand derived 'ground truth’.”</a:t>
            </a:r>
          </a:p>
          <a:p>
            <a:r>
              <a:rPr lang="en-US" dirty="0"/>
              <a:t>	"Second, for Real-World Testing: I selected the </a:t>
            </a:r>
            <a:r>
              <a:rPr lang="en-US" b="1" dirty="0"/>
              <a:t>Laws of Pennsylvania Townships</a:t>
            </a:r>
            <a:r>
              <a:rPr lang="en-US" dirty="0"/>
              <a:t>.“</a:t>
            </a:r>
          </a:p>
          <a:p>
            <a:r>
              <a:rPr lang="en-US" dirty="0"/>
              <a:t>	"I chose this legal dataset for two specific reasons:“</a:t>
            </a:r>
          </a:p>
          <a:p>
            <a:r>
              <a:rPr lang="en-US" dirty="0"/>
              <a:t>		"</a:t>
            </a:r>
            <a:r>
              <a:rPr lang="en-US" b="1" dirty="0"/>
              <a:t>Availability:</a:t>
            </a:r>
            <a:r>
              <a:rPr lang="en-US" dirty="0"/>
              <a:t> NDAs are proprietary and highly confidential, making them impossible to secure for open research. Township laws are public domain.“</a:t>
            </a:r>
          </a:p>
          <a:p>
            <a:r>
              <a:rPr lang="en-US" dirty="0"/>
              <a:t>		"</a:t>
            </a:r>
            <a:r>
              <a:rPr lang="en-US" b="1" dirty="0"/>
              <a:t>Isomorphism:</a:t>
            </a:r>
            <a:r>
              <a:rPr lang="en-US" dirty="0"/>
              <a:t> While the vocabulary differs, the logic is identical. Both an NDA and a Township Law consist of definitions that constrain entities, and rules that are conditional on those definitions."</a:t>
            </a:r>
          </a:p>
          <a:p>
            <a:r>
              <a:rPr lang="en-US" b="1" dirty="0"/>
              <a:t>Conclusion:</a:t>
            </a:r>
            <a:r>
              <a:rPr lang="en-US" dirty="0"/>
              <a:t> "If Mnemosyne can find a contradiction in a zoning law, it demonstrates the exact reasoning chain required to find a drug interaction contradiction in an NDA."</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13</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49487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"With the pipeline built and the corpora selected, we can now look at the empirical evidence of how Mnemosyne performed."</a:t>
            </a:r>
          </a:p>
          <a:p>
            <a:r>
              <a:rPr lang="en-US" b="1" dirty="0"/>
              <a:t>Notes:</a:t>
            </a:r>
            <a:endParaRPr lang="en-US" dirty="0"/>
          </a:p>
          <a:p>
            <a:r>
              <a:rPr lang="en-US" dirty="0"/>
              <a:t>	"Over the next few slides, I will present the experimental results gathered from the Pennsylvania Township Laws corpus. I have divided these findings into two categories."</a:t>
            </a:r>
          </a:p>
          <a:p>
            <a:r>
              <a:rPr lang="en-US" dirty="0"/>
              <a:t>	"First, </a:t>
            </a:r>
            <a:r>
              <a:rPr lang="en-US" b="1" dirty="0"/>
              <a:t>Quantitative Analysis</a:t>
            </a:r>
            <a:r>
              <a:rPr lang="en-US" dirty="0"/>
              <a:t>: We will look at the F1 scores to evaluate how well Mnemosyne extracted the knowledge graph compared to the ground truth."</a:t>
            </a:r>
          </a:p>
          <a:p>
            <a:r>
              <a:rPr lang="en-US" dirty="0"/>
              <a:t>	"Second, </a:t>
            </a:r>
            <a:r>
              <a:rPr lang="en-US" b="1" dirty="0"/>
              <a:t>Qualitative Validation</a:t>
            </a:r>
            <a:r>
              <a:rPr lang="en-US" dirty="0"/>
              <a:t>: I will detail the 'Controlled Error Injection' experiment."</a:t>
            </a:r>
          </a:p>
          <a:p>
            <a:r>
              <a:rPr lang="en-US" dirty="0"/>
              <a:t>	"This is where I intentionally broke the laws—inserting specific errors into the text—to prove that Mnemosyne could detect the inconsistencies."</a:t>
            </a:r>
          </a:p>
          <a:p>
            <a:r>
              <a:rPr lang="en-US" b="1" dirty="0"/>
              <a:t>Conclusion:</a:t>
            </a:r>
            <a:r>
              <a:rPr lang="en-US" dirty="0"/>
              <a:t> "These experiments provide the empirical backing for the system's capabilities."</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14</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08239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"I want to address the 'Elephant in the Room' regarding these metrics."</a:t>
            </a:r>
          </a:p>
          <a:p>
            <a:r>
              <a:rPr lang="en-US" b="1" dirty="0"/>
              <a:t>Notes:</a:t>
            </a:r>
          </a:p>
          <a:p>
            <a:r>
              <a:rPr lang="en-US" b="1" dirty="0"/>
              <a:t>	</a:t>
            </a:r>
            <a:r>
              <a:rPr lang="en-US" dirty="0"/>
              <a:t>"If you look at the table, you see a stark difference: </a:t>
            </a:r>
            <a:r>
              <a:rPr lang="en-US" b="1" dirty="0"/>
              <a:t>Manual Curation</a:t>
            </a:r>
            <a:r>
              <a:rPr lang="en-US" dirty="0"/>
              <a:t> (Manually Generated Ground Truth) shows high accuracy at roughly 71% Entity F1.“</a:t>
            </a:r>
          </a:p>
          <a:p>
            <a:r>
              <a:rPr lang="en-US" dirty="0"/>
              <a:t>	"However, </a:t>
            </a:r>
            <a:r>
              <a:rPr lang="en-US" b="1" dirty="0"/>
              <a:t>Google </a:t>
            </a:r>
            <a:r>
              <a:rPr lang="en-US" b="1" dirty="0" err="1"/>
              <a:t>LangExtract</a:t>
            </a:r>
            <a:r>
              <a:rPr lang="en-US" dirty="0"/>
              <a:t> (Machine Generated Ground Truth) shows a much lower entity F1 of roughly 33%.“</a:t>
            </a:r>
          </a:p>
          <a:p>
            <a:r>
              <a:rPr lang="en-US" dirty="0"/>
              <a:t>	"In a standard ML context, that 33% would be a failure. Here, it is a measurement of </a:t>
            </a:r>
            <a:r>
              <a:rPr lang="en-US" b="1" dirty="0"/>
              <a:t>Semantic Enrichment</a:t>
            </a:r>
            <a:r>
              <a:rPr lang="en-US" dirty="0"/>
              <a:t>.“</a:t>
            </a:r>
          </a:p>
          <a:p>
            <a:r>
              <a:rPr lang="en-US" dirty="0"/>
              <a:t>	"</a:t>
            </a:r>
            <a:r>
              <a:rPr lang="en-US" dirty="0" err="1"/>
              <a:t>LangExtract</a:t>
            </a:r>
            <a:r>
              <a:rPr lang="en-US" dirty="0"/>
              <a:t> creates a 'Flat Graph'—it only captures syntax. Mnemosyne creates a 'Deep Graph'—it captures implied semantics. If the text says 'Car,' Mnemosyne infers 'Vehicle.' </a:t>
            </a:r>
            <a:r>
              <a:rPr lang="en-US" dirty="0" err="1"/>
              <a:t>LangExtract</a:t>
            </a:r>
            <a:r>
              <a:rPr lang="en-US" dirty="0"/>
              <a:t> ground truth does not have 'Vehicle’ so it is seen as an error because the word wasn't in the sentence.“</a:t>
            </a:r>
          </a:p>
          <a:p>
            <a:r>
              <a:rPr lang="en-US" dirty="0"/>
              <a:t>	“Relationship F1 scores are low because there is a greater variety in the terminology used for relationships.”</a:t>
            </a:r>
          </a:p>
          <a:p>
            <a:r>
              <a:rPr lang="en-US" b="1" dirty="0"/>
              <a:t>Conclusion:</a:t>
            </a:r>
            <a:r>
              <a:rPr lang="en-US" dirty="0"/>
              <a:t> "Therefore, the low F1 score against </a:t>
            </a:r>
            <a:r>
              <a:rPr lang="en-US" dirty="0" err="1"/>
              <a:t>LangExtract</a:t>
            </a:r>
            <a:r>
              <a:rPr lang="en-US" dirty="0"/>
              <a:t> actually validates Hypothesis 2: It proves the system is generating knowledge that strictly exceeds the raw text.“</a:t>
            </a:r>
          </a:p>
          <a:p>
            <a:endParaRPr lang="en-US" dirty="0"/>
          </a:p>
          <a:p>
            <a:endParaRPr lang="en-US" dirty="0"/>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15</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79853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"So, if the standard F1 scores don't tell the whole story, how do we know the graph is actually fit for purpose? We evaluated the system on three critical dimensions."</a:t>
            </a:r>
          </a:p>
          <a:p>
            <a:r>
              <a:rPr lang="en-US" b="1" dirty="0"/>
              <a:t>Notes:</a:t>
            </a:r>
            <a:endParaRPr lang="en-US" dirty="0"/>
          </a:p>
          <a:p>
            <a:r>
              <a:rPr lang="en-US" dirty="0"/>
              <a:t>	"First, </a:t>
            </a:r>
            <a:r>
              <a:rPr lang="en-US" b="1" dirty="0"/>
              <a:t>Traceability (Trust)</a:t>
            </a:r>
            <a:r>
              <a:rPr lang="en-US" dirty="0"/>
              <a:t>: One of the biggest risks with Generative AI is hallucination. I found that over 95% of the nodes could be explicitly traced back to a specific location in the source document."</a:t>
            </a:r>
          </a:p>
          <a:p>
            <a:r>
              <a:rPr lang="en-US" dirty="0"/>
              <a:t>	"Second, </a:t>
            </a:r>
            <a:r>
              <a:rPr lang="en-US" b="1" dirty="0"/>
              <a:t>Coverage</a:t>
            </a:r>
            <a:r>
              <a:rPr lang="en-US" dirty="0"/>
              <a:t>: I compared word frequency in the source against concepts in the Graph to ensure I wasn’t losing the core message."</a:t>
            </a:r>
          </a:p>
          <a:p>
            <a:r>
              <a:rPr lang="en-US" dirty="0"/>
              <a:t>	"Finally, </a:t>
            </a:r>
            <a:r>
              <a:rPr lang="en-US" b="1" dirty="0"/>
              <a:t>Structural Integrity</a:t>
            </a:r>
            <a:r>
              <a:rPr lang="en-US" dirty="0"/>
              <a:t>: This is the proof of Semantic Enrichment. During the refinement phase, Nodes grew slowly (about 15%), but Relationships grew explosively (over 60%)."</a:t>
            </a:r>
          </a:p>
          <a:p>
            <a:r>
              <a:rPr lang="en-US" b="1" dirty="0"/>
              <a:t>Conclusion:</a:t>
            </a:r>
            <a:r>
              <a:rPr lang="en-US" dirty="0"/>
              <a:t> "This validates my hypothesis: The system wasn't just adding more 'nouns' or random noise; it was aggressively knitting connections between existing concepts to turn a list of facts into a </a:t>
            </a:r>
            <a:r>
              <a:rPr lang="en-US" dirty="0" err="1"/>
              <a:t>queryable</a:t>
            </a:r>
            <a:r>
              <a:rPr lang="en-US" dirty="0"/>
              <a:t> web."</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16</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1823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"While I proved the system can add value through semantic enrichment, I also had to prove it doesn't hallucinate value where none exists."</a:t>
            </a:r>
          </a:p>
          <a:p>
            <a:r>
              <a:rPr lang="en-US" b="1" dirty="0"/>
              <a:t>Notes:</a:t>
            </a:r>
            <a:endParaRPr lang="en-US" dirty="0"/>
          </a:p>
          <a:p>
            <a:r>
              <a:rPr lang="en-US" dirty="0"/>
              <a:t>	"A common failure mode in LLMs is 'filling in the blank.' To test this, I performed a subtraction experiment labeled here as </a:t>
            </a:r>
            <a:r>
              <a:rPr lang="en-US" b="1" dirty="0"/>
              <a:t>CTSA-Remove</a:t>
            </a:r>
            <a:r>
              <a:rPr lang="en-US" dirty="0"/>
              <a:t>."</a:t>
            </a:r>
          </a:p>
          <a:p>
            <a:r>
              <a:rPr lang="en-US" dirty="0"/>
              <a:t>	"I physically deleted a section of the text. The Blue bars represent the full 'Base' document; the Orange bars represent the document with the text removed."</a:t>
            </a:r>
          </a:p>
          <a:p>
            <a:r>
              <a:rPr lang="en-US" dirty="0"/>
              <a:t>	"If the system were hallucinating, I would expect the Orange bars to stay roughly the same height as the LLM tried to compensate. Instead, we see a clear, proportional drop across every metric."</a:t>
            </a:r>
          </a:p>
          <a:p>
            <a:r>
              <a:rPr lang="en-US" dirty="0"/>
              <a:t>	"Final Nodes dropped from roughly 1,250 to 1,130, with a corresponding decrease in relationships."</a:t>
            </a:r>
          </a:p>
          <a:p>
            <a:r>
              <a:rPr lang="en-US" b="1" dirty="0"/>
              <a:t>Conclusion:</a:t>
            </a:r>
            <a:r>
              <a:rPr lang="en-US" dirty="0"/>
              <a:t> "This proves Mnemosyne is structurally sensitive to the source text. When the text disappears, the knowledge disappears. It does not invent filler.“</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17</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00809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"Having validated the structure of the graph, I then tested if it could actually answer the core research questions regarding Consistency and Completeness."</a:t>
            </a:r>
          </a:p>
          <a:p>
            <a:r>
              <a:rPr lang="en-US" b="1" dirty="0"/>
              <a:t>Notes:</a:t>
            </a:r>
            <a:endParaRPr lang="en-US" dirty="0"/>
          </a:p>
          <a:p>
            <a:r>
              <a:rPr lang="en-US" dirty="0"/>
              <a:t>	"First, I looked at </a:t>
            </a:r>
            <a:r>
              <a:rPr lang="en-US" b="1" dirty="0"/>
              <a:t>Consistency</a:t>
            </a:r>
            <a:r>
              <a:rPr lang="en-US" dirty="0"/>
              <a:t>. This is verifiable internally. To prove this, I performed a 'Controlled Error Injection' experiment called the 'Driveways' test."</a:t>
            </a:r>
          </a:p>
          <a:p>
            <a:r>
              <a:rPr lang="en-US" dirty="0"/>
              <a:t>	"I injected semantically dissimilar text about driveways into the sewer law corpus. The hypothesis was that if the system were just 'hallucinating connections,' it would blend this in. Instead, the system isolated it as a structural anomaly."</a:t>
            </a:r>
          </a:p>
          <a:p>
            <a:r>
              <a:rPr lang="en-US" dirty="0"/>
              <a:t>	"Second is </a:t>
            </a:r>
            <a:r>
              <a:rPr lang="en-US" b="1" dirty="0"/>
              <a:t>Internal Completeness</a:t>
            </a:r>
            <a:r>
              <a:rPr lang="en-US" dirty="0"/>
              <a:t>. This asks: 'Does the document support itself?' By querying for nodes that were used but lacked a </a:t>
            </a:r>
            <a:r>
              <a:rPr lang="en-US" sz="1200" b="0" i="0" u="none" strike="noStrike" cap="none" dirty="0">
                <a:solidFill>
                  <a:schemeClr val="dk1"/>
                </a:solidFill>
                <a:latin typeface="Calibri"/>
                <a:ea typeface="Calibri"/>
                <a:cs typeface="Calibri"/>
                <a:sym typeface="Calibri"/>
              </a:rPr>
              <a:t>DEFINES</a:t>
            </a:r>
            <a:r>
              <a:rPr lang="en-US" dirty="0"/>
              <a:t> relationship, I identified gaps strictly using the graph's topology."</a:t>
            </a:r>
          </a:p>
          <a:p>
            <a:r>
              <a:rPr lang="en-US" dirty="0"/>
              <a:t>	"Finally, </a:t>
            </a:r>
            <a:r>
              <a:rPr lang="en-US" b="1" dirty="0"/>
              <a:t>External Completeness</a:t>
            </a:r>
            <a:r>
              <a:rPr lang="en-US" dirty="0"/>
              <a:t>. This asks: 'Is the document missing something required by the outside world?'."</a:t>
            </a:r>
          </a:p>
          <a:p>
            <a:r>
              <a:rPr lang="en-US" b="1" dirty="0"/>
              <a:t>Conclusion:</a:t>
            </a:r>
            <a:r>
              <a:rPr lang="en-US" dirty="0"/>
              <a:t> "As noted on the slide, External Completeness requires knowledge outside the source document. Mnemosyne can only flag these if the external regulations are also loaded into the graph.“</a:t>
            </a:r>
          </a:p>
          <a:p>
            <a:endParaRPr lang="en-US" dirty="0"/>
          </a:p>
          <a:p>
            <a:r>
              <a:rPr lang="en-US" b="1" dirty="0"/>
              <a:t>Transition:</a:t>
            </a:r>
            <a:r>
              <a:rPr lang="en-US" dirty="0"/>
              <a:t> "I want to draw your attention to the first bullet regarding </a:t>
            </a:r>
            <a:r>
              <a:rPr lang="en-US" b="1" dirty="0"/>
              <a:t>Consistency</a:t>
            </a:r>
            <a:r>
              <a:rPr lang="en-US" dirty="0"/>
              <a:t>. While the 'Driveway' experiment successfully proved we can detect </a:t>
            </a:r>
            <a:r>
              <a:rPr lang="en-US" i="1" dirty="0"/>
              <a:t>dissimilar</a:t>
            </a:r>
            <a:r>
              <a:rPr lang="en-US" dirty="0"/>
              <a:t> content through topological isolation, I also wanted to find the breaking point of this method."</a:t>
            </a:r>
          </a:p>
          <a:p>
            <a:r>
              <a:rPr lang="en-US" b="1" dirty="0"/>
              <a:t>The Limitation (The "Sewer" Test):</a:t>
            </a:r>
            <a:r>
              <a:rPr lang="en-US" dirty="0"/>
              <a:t> "I performed a second stress test where I injected a 'Prohibited Wastes' section from a neighboring township. Because this injected text shared the exact same domain vocabulary as the source document, the semantic clustering algorithms could not isolate it as an anomaly."</a:t>
            </a:r>
          </a:p>
          <a:p>
            <a:r>
              <a:rPr lang="en-US" b="1" dirty="0"/>
              <a:t>The Insight/Defense:</a:t>
            </a:r>
            <a:r>
              <a:rPr lang="en-US" dirty="0"/>
              <a:t> "This is a critical finding. It demonstrates that </a:t>
            </a:r>
            <a:r>
              <a:rPr lang="en-US" b="1" dirty="0"/>
              <a:t>semantic analysis</a:t>
            </a:r>
            <a:r>
              <a:rPr lang="en-US" dirty="0"/>
              <a:t> has a 'resolution limit.' It is excellent for catching cross-domain logical errors—like the Driveway or the Octreotide example—but for distinguishing between two nearly identical legal codes, semantic analysis is insufficient.</a:t>
            </a:r>
          </a:p>
          <a:p>
            <a:r>
              <a:rPr lang="en-US" dirty="0"/>
              <a:t>This confirms that future iterations must integrate </a:t>
            </a:r>
            <a:r>
              <a:rPr lang="en-US" b="1" dirty="0"/>
              <a:t>structural metadata</a:t>
            </a:r>
            <a:r>
              <a:rPr lang="en-US" dirty="0"/>
              <a:t>—such as section numbering and header formatting—alongside the semantic graph to catch these 'near-peer' inconsistencies."</a:t>
            </a:r>
          </a:p>
          <a:p>
            <a:endParaRPr lang="en-US" dirty="0"/>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18</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678074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"Finally, we arrive at the core proof of concept: The Query."</a:t>
            </a:r>
          </a:p>
          <a:p>
            <a:r>
              <a:rPr lang="en-US" b="1" dirty="0"/>
              <a:t>Notes:</a:t>
            </a:r>
            <a:endParaRPr lang="en-US" dirty="0"/>
          </a:p>
          <a:p>
            <a:r>
              <a:rPr lang="en-US" dirty="0"/>
              <a:t>	"On the left, you see the actual Cypher query I ran. The logic is simple: It asks the system to </a:t>
            </a:r>
            <a:r>
              <a:rPr lang="en-US" sz="1200" b="0" i="0" u="none" strike="noStrike" cap="none" dirty="0">
                <a:solidFill>
                  <a:schemeClr val="dk1"/>
                </a:solidFill>
                <a:latin typeface="Calibri"/>
                <a:ea typeface="Calibri"/>
                <a:cs typeface="Calibri"/>
                <a:sym typeface="Calibri"/>
              </a:rPr>
              <a:t>MATCH</a:t>
            </a:r>
            <a:r>
              <a:rPr lang="en-US" dirty="0"/>
              <a:t> every instance where a term is </a:t>
            </a:r>
            <a:r>
              <a:rPr lang="en-US" sz="1200" b="0" i="0" u="none" strike="noStrike" cap="none" dirty="0">
                <a:solidFill>
                  <a:schemeClr val="dk1"/>
                </a:solidFill>
                <a:latin typeface="Calibri"/>
                <a:ea typeface="Calibri"/>
                <a:cs typeface="Calibri"/>
                <a:sym typeface="Calibri"/>
              </a:rPr>
              <a:t>USED_IN</a:t>
            </a:r>
            <a:r>
              <a:rPr lang="en-US" dirty="0"/>
              <a:t> a regulation, then filters for cases </a:t>
            </a:r>
            <a:r>
              <a:rPr lang="en-US" sz="1200" b="0" i="0" u="none" strike="noStrike" cap="none" dirty="0">
                <a:solidFill>
                  <a:schemeClr val="dk1"/>
                </a:solidFill>
                <a:latin typeface="Calibri"/>
                <a:ea typeface="Calibri"/>
                <a:cs typeface="Calibri"/>
                <a:sym typeface="Calibri"/>
              </a:rPr>
              <a:t>WHERE NOT EXISTS</a:t>
            </a:r>
            <a:r>
              <a:rPr lang="en-US" dirty="0"/>
              <a:t> a corresponding node that </a:t>
            </a:r>
            <a:r>
              <a:rPr lang="en-US" sz="1200" b="0" i="0" u="none" strike="noStrike" cap="none" dirty="0">
                <a:solidFill>
                  <a:schemeClr val="dk1"/>
                </a:solidFill>
                <a:latin typeface="Calibri"/>
                <a:ea typeface="Calibri"/>
                <a:cs typeface="Calibri"/>
                <a:sym typeface="Calibri"/>
              </a:rPr>
              <a:t>DEFINES</a:t>
            </a:r>
            <a:r>
              <a:rPr lang="en-US" dirty="0"/>
              <a:t> that term."</a:t>
            </a:r>
          </a:p>
          <a:p>
            <a:r>
              <a:rPr lang="en-US" dirty="0"/>
              <a:t>	"When running this against the Township Laws, the system instantly flagged the </a:t>
            </a:r>
            <a:r>
              <a:rPr lang="en-US" b="1" dirty="0"/>
              <a:t>'Portable Flow Meter'</a:t>
            </a:r>
            <a:r>
              <a:rPr lang="en-US" dirty="0"/>
              <a:t>."</a:t>
            </a:r>
          </a:p>
          <a:p>
            <a:r>
              <a:rPr lang="en-US" dirty="0"/>
              <a:t>	"The graph revealed that the specific composite concept of a 'Portable Flow Meter' was used but never defined.“</a:t>
            </a:r>
          </a:p>
          <a:p>
            <a:r>
              <a:rPr lang="en-US" dirty="0"/>
              <a:t>	"This confirms Mnemosyne can detect 'Internal Completeness' failures—identifying concepts that exist in the regulations but are missing their foundational definitions."</a:t>
            </a:r>
          </a:p>
          <a:p>
            <a:r>
              <a:rPr lang="en-US" dirty="0"/>
              <a:t>	"This matters because it is the exact same logical pathway required to catch the 'Octreotide' error in an NDA. It traces non-local logical dependencies across the graph."</a:t>
            </a:r>
          </a:p>
          <a:p>
            <a:r>
              <a:rPr lang="en-US" b="1" dirty="0"/>
              <a:t>Conclusion:</a:t>
            </a:r>
            <a:r>
              <a:rPr lang="en-US" dirty="0"/>
              <a:t> "This directly answers Research Question 3: Yes, the semantically enriched graph can automatically detect completeness failures that a linear reading might miss."</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19</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14126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"Now, why does finding a missing definition for a 'Flow Meter' matter? Because the exact same logic used to find that error solves the multi-billion dollar 'Fatal Contradiction' we discussed in the introduction."</a:t>
            </a:r>
          </a:p>
          <a:p>
            <a:r>
              <a:rPr lang="en-US" b="1" dirty="0"/>
              <a:t>Notes:</a:t>
            </a:r>
            <a:endParaRPr lang="en-US" dirty="0"/>
          </a:p>
          <a:p>
            <a:r>
              <a:rPr lang="en-US" dirty="0"/>
              <a:t>	"Let’s apply Mnemosyne’s graph structure to that 100,000-page NDA."</a:t>
            </a:r>
          </a:p>
          <a:p>
            <a:r>
              <a:rPr lang="en-US" dirty="0"/>
              <a:t>	"</a:t>
            </a:r>
            <a:r>
              <a:rPr lang="en-US" b="1" dirty="0"/>
              <a:t>Fact A: </a:t>
            </a:r>
            <a:r>
              <a:rPr lang="en-US" dirty="0"/>
              <a:t>The system extracts the specific warning that 'Octreotide' carries a risk of death."</a:t>
            </a:r>
          </a:p>
          <a:p>
            <a:r>
              <a:rPr lang="en-US" dirty="0"/>
              <a:t>	"</a:t>
            </a:r>
            <a:r>
              <a:rPr lang="en-US" b="1" dirty="0"/>
              <a:t>Fact B: </a:t>
            </a:r>
            <a:r>
              <a:rPr lang="en-US" dirty="0"/>
              <a:t>Thirty thousand pages later, it extracts the broad claim that 'Somatostatin Analogs' have no side effects."</a:t>
            </a:r>
          </a:p>
          <a:p>
            <a:r>
              <a:rPr lang="en-US" dirty="0"/>
              <a:t>	"</a:t>
            </a:r>
            <a:r>
              <a:rPr lang="en-US" b="1" dirty="0"/>
              <a:t>The Bridge:</a:t>
            </a:r>
            <a:r>
              <a:rPr lang="en-US" dirty="0"/>
              <a:t> Crucially, during the Refinement Phase, the system infers the ontological link: that 'Octreotide </a:t>
            </a:r>
            <a:r>
              <a:rPr lang="en-US" sz="1200" b="0" i="0" u="none" strike="noStrike" cap="none" dirty="0">
                <a:solidFill>
                  <a:schemeClr val="dk1"/>
                </a:solidFill>
                <a:latin typeface="Calibri"/>
                <a:ea typeface="Calibri"/>
                <a:cs typeface="Calibri"/>
                <a:sym typeface="Calibri"/>
              </a:rPr>
              <a:t>IS_A</a:t>
            </a:r>
            <a:r>
              <a:rPr lang="en-US" dirty="0"/>
              <a:t> Somatostatin Analog’. Note that its </a:t>
            </a:r>
            <a:r>
              <a:rPr lang="en-US" dirty="0" err="1"/>
              <a:t>creationStage</a:t>
            </a:r>
            <a:r>
              <a:rPr lang="en-US" dirty="0"/>
              <a:t> is consolidation.”</a:t>
            </a:r>
          </a:p>
          <a:p>
            <a:r>
              <a:rPr lang="en-US" dirty="0"/>
              <a:t>	"Because the graph is now semantically connected, the Consistency Check triggers automatically. It asks: 'Does a specific instance (Octreotide) have a constraint that contradicts its parent class?' The answer is Yes."</a:t>
            </a:r>
          </a:p>
          <a:p>
            <a:r>
              <a:rPr lang="en-US" b="1" dirty="0"/>
              <a:t>Conclusion:</a:t>
            </a:r>
            <a:r>
              <a:rPr lang="en-US" dirty="0"/>
              <a:t> "This turns a multi-billion dollar failure into a simple database query. It proves that by converting documents to knowledge graphs, we find the needle in the haystack not by searching for it, but by using a magnet."</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20</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21641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448D2-B52F-AFCA-C617-41E804671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5F584-5D76-55F0-D461-8A8452997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114A98-9F27-BEC7-CB71-9559CABAF3CA}"/>
              </a:ext>
            </a:extLst>
          </p:cNvPr>
          <p:cNvSpPr>
            <a:spLocks noGrp="1"/>
          </p:cNvSpPr>
          <p:nvPr>
            <p:ph type="body" idx="1"/>
          </p:nvPr>
        </p:nvSpPr>
        <p:spPr/>
        <p:txBody>
          <a:bodyPr/>
          <a:lstStyle/>
          <a:p>
            <a:r>
              <a:rPr lang="en-US" b="1" dirty="0"/>
              <a:t>Transition:</a:t>
            </a:r>
            <a:r>
              <a:rPr lang="en-US" dirty="0"/>
              <a:t> "Based on these experiments—both the real-world Township tests and the NDA logic models—we can distill our findings into three core insights.”</a:t>
            </a:r>
          </a:p>
          <a:p>
            <a:r>
              <a:rPr lang="en-US" b="1" dirty="0"/>
              <a:t>Notes:</a:t>
            </a:r>
            <a:endParaRPr lang="en-US" dirty="0"/>
          </a:p>
          <a:p>
            <a:r>
              <a:rPr lang="en-US" dirty="0"/>
              <a:t>	"First, I learned that a raw knowledge graph is of limited utility. The real breakthrough comes from </a:t>
            </a:r>
            <a:r>
              <a:rPr lang="en-US" b="1" dirty="0"/>
              <a:t>Semantic Enrichment</a:t>
            </a:r>
            <a:r>
              <a:rPr lang="en-US" dirty="0"/>
              <a:t>. By clustering nodes into types (like linking Octreotide to Drug Class), I create a 'Locality of Reference'."</a:t>
            </a:r>
          </a:p>
          <a:p>
            <a:r>
              <a:rPr lang="en-US" dirty="0"/>
              <a:t>	"Second, this clustering enables </a:t>
            </a:r>
            <a:r>
              <a:rPr lang="en-US" b="1" dirty="0"/>
              <a:t>Structural Anomaly Detection</a:t>
            </a:r>
            <a:r>
              <a:rPr lang="en-US" dirty="0"/>
              <a:t>. I don't just look for keywords; I look for broken patterns—like a law missing a </a:t>
            </a:r>
            <a:r>
              <a:rPr lang="en-US" sz="1200" b="0" i="0" u="none" strike="noStrike" cap="none" dirty="0">
                <a:solidFill>
                  <a:schemeClr val="dk1"/>
                </a:solidFill>
                <a:latin typeface="Calibri"/>
                <a:ea typeface="Calibri"/>
                <a:cs typeface="Calibri"/>
                <a:sym typeface="Calibri"/>
              </a:rPr>
              <a:t>DRAFTED_BY</a:t>
            </a:r>
            <a:r>
              <a:rPr lang="en-US" dirty="0"/>
              <a:t> relationship or a Drug missing a </a:t>
            </a:r>
            <a:r>
              <a:rPr lang="en-US" sz="1200" b="0" i="0" u="none" strike="noStrike" cap="none" dirty="0">
                <a:solidFill>
                  <a:schemeClr val="dk1"/>
                </a:solidFill>
                <a:latin typeface="Calibri"/>
                <a:ea typeface="Calibri"/>
                <a:cs typeface="Calibri"/>
                <a:sym typeface="Calibri"/>
              </a:rPr>
              <a:t>SIDE_EFFECT</a:t>
            </a:r>
            <a:r>
              <a:rPr lang="en-US" dirty="0"/>
              <a:t> relationship."</a:t>
            </a:r>
          </a:p>
          <a:p>
            <a:r>
              <a:rPr lang="en-US" dirty="0"/>
              <a:t>	"Third, I established a clear boundary for </a:t>
            </a:r>
            <a:r>
              <a:rPr lang="en-US" b="1" dirty="0"/>
              <a:t>Completeness</a:t>
            </a:r>
            <a:r>
              <a:rPr lang="en-US" dirty="0"/>
              <a:t>. Internal Consistency is fully solvable within the document. External Completeness, however, is only solvable if I load the external regulations into the graph as well."</a:t>
            </a:r>
          </a:p>
          <a:p>
            <a:r>
              <a:rPr lang="en-US" b="1" dirty="0"/>
              <a:t>Conclusion:</a:t>
            </a:r>
            <a:r>
              <a:rPr lang="en-US" dirty="0"/>
              <a:t> "Mnemosyne strictly adheres to the source text: it creates a closed-world assumption where consistency is guaranteed within the boundaries of the document.“</a:t>
            </a:r>
          </a:p>
          <a:p>
            <a:endParaRPr lang="en-US" dirty="0"/>
          </a:p>
        </p:txBody>
      </p:sp>
      <p:sp>
        <p:nvSpPr>
          <p:cNvPr id="4" name="Slide Number Placeholder 3">
            <a:extLst>
              <a:ext uri="{FF2B5EF4-FFF2-40B4-BE49-F238E27FC236}">
                <a16:creationId xmlns:a16="http://schemas.microsoft.com/office/drawing/2014/main" id="{DE5E54A5-E872-C47D-42BF-936B1D902858}"/>
              </a:ext>
            </a:extLst>
          </p:cNvPr>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21</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86805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"These findings have implications that go beyond just error checking. They fundamentally change how to view the constraints of Large Language Models 'Context Window Problem'."</a:t>
            </a:r>
          </a:p>
          <a:p>
            <a:r>
              <a:rPr lang="en-US" b="1" dirty="0"/>
              <a:t>Notes:</a:t>
            </a:r>
          </a:p>
          <a:p>
            <a:r>
              <a:rPr lang="en-US" b="1" dirty="0"/>
              <a:t>	</a:t>
            </a:r>
            <a:r>
              <a:rPr lang="en-US" dirty="0"/>
              <a:t>"First, I demonstrated that the </a:t>
            </a:r>
            <a:r>
              <a:rPr lang="en-US" b="1" dirty="0"/>
              <a:t>Context Window is not an absolute limit</a:t>
            </a:r>
            <a:r>
              <a:rPr lang="en-US" dirty="0"/>
              <a:t>. By converting text into structure, I decouple 'Knowledge' from 'Memory’.”</a:t>
            </a:r>
          </a:p>
          <a:p>
            <a:r>
              <a:rPr lang="en-US" dirty="0"/>
              <a:t>	"Second, I distinguish between </a:t>
            </a:r>
            <a:r>
              <a:rPr lang="en-US" b="1" dirty="0"/>
              <a:t>'Attention' and 'Focus'</a:t>
            </a:r>
            <a:r>
              <a:rPr lang="en-US" dirty="0"/>
              <a:t>. Attention is a mechanical property; Focus is the ability to retrieve only the relevant subgraph, allowing the LLM to reason without being distracted by 90,000 pages of noise.“</a:t>
            </a:r>
          </a:p>
          <a:p>
            <a:r>
              <a:rPr lang="en-US" dirty="0"/>
              <a:t>	"Third is </a:t>
            </a:r>
            <a:r>
              <a:rPr lang="en-US" b="1" dirty="0"/>
              <a:t>Explainability</a:t>
            </a:r>
            <a:r>
              <a:rPr lang="en-US" dirty="0"/>
              <a:t>. A standard LLM is a black box. An Attributed Knowledge Graph is transparent—every node and relationship is an audit trail, which is a requirement in regulated industries.“</a:t>
            </a:r>
          </a:p>
          <a:p>
            <a:r>
              <a:rPr lang="en-US" dirty="0"/>
              <a:t>	"Finally, </a:t>
            </a:r>
            <a:r>
              <a:rPr lang="en-US" b="1" dirty="0"/>
              <a:t>Incremental Learning</a:t>
            </a:r>
            <a:r>
              <a:rPr lang="en-US" dirty="0"/>
              <a:t>. Because Mnemosyne stores knowledge as a Graph, adding a new amendment doesn't require re-reading the old laws; you simply graft the new nodes onto the existing structure."</a:t>
            </a:r>
          </a:p>
          <a:p>
            <a:r>
              <a:rPr lang="en-US" b="1" dirty="0"/>
              <a:t>Conclusion:</a:t>
            </a:r>
            <a:r>
              <a:rPr lang="en-US" dirty="0"/>
              <a:t> "This makes the system scalable in a way that raw context windows will never be."</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22</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40301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"So, what is the practical impact of this architecture? What does it mean for the future of work?"</a:t>
            </a:r>
          </a:p>
          <a:p>
            <a:r>
              <a:rPr lang="en-US" b="1" dirty="0"/>
              <a:t>Notes:</a:t>
            </a:r>
            <a:endParaRPr lang="en-US" dirty="0"/>
          </a:p>
          <a:p>
            <a:r>
              <a:rPr lang="en-US" dirty="0"/>
              <a:t>	"We are currently facing a </a:t>
            </a:r>
            <a:r>
              <a:rPr lang="en-US" b="1" dirty="0"/>
              <a:t>Scalability Crisis</a:t>
            </a:r>
            <a:r>
              <a:rPr lang="en-US" dirty="0"/>
              <a:t>. Documents like NDAs have grown beyond human memory and standard LLM capacities. Mnemosyne offers a third path: Scalable Analysis that decouples document size from review quality."</a:t>
            </a:r>
          </a:p>
          <a:p>
            <a:r>
              <a:rPr lang="en-US" dirty="0"/>
              <a:t>	"Crucially, this changes the role of AI from </a:t>
            </a:r>
            <a:r>
              <a:rPr lang="en-US" b="1" dirty="0"/>
              <a:t>Generation</a:t>
            </a:r>
            <a:r>
              <a:rPr lang="en-US" dirty="0"/>
              <a:t> to </a:t>
            </a:r>
            <a:r>
              <a:rPr lang="en-US" b="1" dirty="0"/>
              <a:t>Assurance</a:t>
            </a:r>
            <a:r>
              <a:rPr lang="en-US" dirty="0"/>
              <a:t>. Most of the world uses LLMs to write code or emails. My research demonstrates their highest value may be acting as a logical backstop for high-stakes documentation."</a:t>
            </a:r>
          </a:p>
          <a:p>
            <a:r>
              <a:rPr lang="en-US" dirty="0"/>
              <a:t>	"This implies a future where the AI acts as an </a:t>
            </a:r>
            <a:r>
              <a:rPr lang="en-US" b="1" dirty="0"/>
              <a:t>'Auditor'</a:t>
            </a:r>
            <a:r>
              <a:rPr lang="en-US" dirty="0"/>
              <a:t>. It allows a human expert to ask, 'Did I contradict myself on page 500?' or 'Did I define every term I used?'."</a:t>
            </a:r>
          </a:p>
          <a:p>
            <a:r>
              <a:rPr lang="en-US" b="1" dirty="0"/>
              <a:t>Conclusion:</a:t>
            </a:r>
            <a:r>
              <a:rPr lang="en-US" dirty="0"/>
              <a:t> "This doesn't replace the human expert; it simply gives them a tool that has infinite memory and zero attention drift."</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23</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1899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"To formalize the academic output of this study, I have identified four specific contributions to the field of Knowledge Engineering."</a:t>
            </a:r>
          </a:p>
          <a:p>
            <a:r>
              <a:rPr lang="en-US" b="1" dirty="0"/>
              <a:t>Notes:</a:t>
            </a:r>
            <a:endParaRPr lang="en-US" dirty="0"/>
          </a:p>
          <a:p>
            <a:r>
              <a:rPr lang="en-US" dirty="0"/>
              <a:t>	"First is the </a:t>
            </a:r>
            <a:r>
              <a:rPr lang="en-US" b="1" dirty="0"/>
              <a:t>Multi-Layered Knowledge Graph Structure</a:t>
            </a:r>
            <a:r>
              <a:rPr lang="en-US" dirty="0"/>
              <a:t>. Previous approaches created 'flat' maps of sentences. My contribution was enforcing a hierarchical ontology using </a:t>
            </a:r>
            <a:r>
              <a:rPr lang="en-US" sz="1200" b="0" i="0" u="none" strike="noStrike" cap="none" dirty="0">
                <a:solidFill>
                  <a:schemeClr val="dk1"/>
                </a:solidFill>
                <a:latin typeface="Calibri"/>
                <a:ea typeface="Calibri"/>
                <a:cs typeface="Calibri"/>
                <a:sym typeface="Calibri"/>
              </a:rPr>
              <a:t>IS_A</a:t>
            </a:r>
            <a:r>
              <a:rPr lang="en-US" dirty="0"/>
              <a:t> and </a:t>
            </a:r>
            <a:r>
              <a:rPr lang="en-US" sz="1200" b="0" i="0" u="none" strike="noStrike" cap="none" dirty="0">
                <a:solidFill>
                  <a:schemeClr val="dk1"/>
                </a:solidFill>
                <a:latin typeface="Calibri"/>
                <a:ea typeface="Calibri"/>
                <a:cs typeface="Calibri"/>
                <a:sym typeface="Calibri"/>
              </a:rPr>
              <a:t>PART_OF</a:t>
            </a:r>
            <a:r>
              <a:rPr lang="en-US" dirty="0"/>
              <a:t> relationships, transforming the graph into a navigable structure of concepts."</a:t>
            </a:r>
          </a:p>
          <a:p>
            <a:r>
              <a:rPr lang="en-US" dirty="0"/>
              <a:t>	"Second is </a:t>
            </a:r>
            <a:r>
              <a:rPr lang="en-US" b="1" dirty="0"/>
              <a:t>Iterative Generative Refinement</a:t>
            </a:r>
            <a:r>
              <a:rPr lang="en-US" dirty="0"/>
              <a:t>. Most extraction pipelines are linear. Mnemosyne introduces a cyclical loop where the system revisits the graph to discover connections that weren't explicit in any single sentence."</a:t>
            </a:r>
          </a:p>
          <a:p>
            <a:r>
              <a:rPr lang="en-US" dirty="0"/>
              <a:t>	"Third is the </a:t>
            </a:r>
            <a:r>
              <a:rPr lang="en-US" b="1" dirty="0"/>
              <a:t>Incremental Framework</a:t>
            </a:r>
            <a:r>
              <a:rPr lang="en-US" dirty="0"/>
              <a:t>. I proved I can build the graph in small chunks and merge them, creating a pipeline that is theoretically boundless in terms of document length."</a:t>
            </a:r>
          </a:p>
          <a:p>
            <a:r>
              <a:rPr lang="en-US" dirty="0"/>
              <a:t>	"Finally, a </a:t>
            </a:r>
            <a:r>
              <a:rPr lang="en-US" b="1" dirty="0"/>
              <a:t>Taxonomy of Completeness</a:t>
            </a:r>
            <a:r>
              <a:rPr lang="en-US" dirty="0"/>
              <a:t>. I formally separated 'Completeness' into Internal (solvable by the graph) and External (requiring outside data), allowing future researchers to focus on the tractable problem of Internal Consistency."</a:t>
            </a:r>
          </a:p>
          <a:p>
            <a:r>
              <a:rPr lang="en-US" b="1" dirty="0"/>
              <a:t>Conclusion:</a:t>
            </a:r>
            <a:r>
              <a:rPr lang="en-US" dirty="0"/>
              <a:t> "These contributions provide the necessary architectural shift to move beyond simple summarization."</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24</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025680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"While Mnemosyne has successfully demonstrated the core concept, there are three distinct avenues for future research to transition this from an academic prototype to an industrial solution."</a:t>
            </a:r>
          </a:p>
          <a:p>
            <a:r>
              <a:rPr lang="en-US" b="1" dirty="0"/>
              <a:t>Notes:</a:t>
            </a:r>
            <a:endParaRPr lang="en-US" dirty="0"/>
          </a:p>
          <a:p>
            <a:r>
              <a:rPr lang="en-US" dirty="0"/>
              <a:t>	"First is </a:t>
            </a:r>
            <a:r>
              <a:rPr lang="en-US" b="1" dirty="0"/>
              <a:t>Automated Query Generation</a:t>
            </a:r>
            <a:r>
              <a:rPr lang="en-US" dirty="0"/>
              <a:t> (Automation). Currently, verification requires hand-coded Cypher queries. The next step is to build a Layer that translates natural language questions—like 'Are there undefined terms?'—into the necessary database queries. The other side is a component that will display the results of the queries."</a:t>
            </a:r>
          </a:p>
          <a:p>
            <a:r>
              <a:rPr lang="en-US" dirty="0"/>
              <a:t>	"Second is </a:t>
            </a:r>
            <a:r>
              <a:rPr lang="en-US" b="1" dirty="0"/>
              <a:t>Specialized Model Fine-Tuning</a:t>
            </a:r>
            <a:r>
              <a:rPr lang="en-US" dirty="0"/>
              <a:t> (Optimization). Instead of using expensive general-purpose models, future work should focus on fine-tuning smaller models specifically for entity/relationship extraction and knowledge graph refinement. This would increase speed and likely improve F1 scores by reducing semantic noise."</a:t>
            </a:r>
          </a:p>
          <a:p>
            <a:r>
              <a:rPr lang="en-US" dirty="0"/>
              <a:t>	"Finally, </a:t>
            </a:r>
            <a:r>
              <a:rPr lang="en-US" b="1" dirty="0"/>
              <a:t>Domain Expansion</a:t>
            </a:r>
            <a:r>
              <a:rPr lang="en-US" dirty="0"/>
              <a:t> (Generalization). The ultimate goal is to apply Mnemosyne to a real, 100,000-page confidential FDA New Drug Application."</a:t>
            </a:r>
          </a:p>
          <a:p>
            <a:r>
              <a:rPr lang="en-US" b="1" dirty="0"/>
              <a:t>Conclusion:</a:t>
            </a:r>
            <a:r>
              <a:rPr lang="en-US" dirty="0"/>
              <a:t> "This would be the empirical gold standard, proving definitively that the 'Fatal Contradiction' scenario can be prevented in a live regulatory environment."</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25</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044746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"In conclusion, I return to the three core hypotheses that drove this research. The results allow me to answer each in the affirmative."</a:t>
            </a:r>
          </a:p>
          <a:p>
            <a:r>
              <a:rPr lang="en-US" b="1" dirty="0"/>
              <a:t>Notes:</a:t>
            </a:r>
            <a:endParaRPr lang="en-US" dirty="0"/>
          </a:p>
          <a:p>
            <a:r>
              <a:rPr lang="en-US" dirty="0"/>
              <a:t>	"First, regarding </a:t>
            </a:r>
            <a:r>
              <a:rPr lang="en-US" b="1" dirty="0"/>
              <a:t>RQ1 &amp; H1</a:t>
            </a:r>
            <a:r>
              <a:rPr lang="en-US" dirty="0"/>
              <a:t>: I confirmed that an Attributed Knowledge Graph can be successfully constructed from massive, unstructured texts without losing the fidelity of individual entities."</a:t>
            </a:r>
          </a:p>
          <a:p>
            <a:r>
              <a:rPr lang="en-US" dirty="0"/>
              <a:t>	"Second, regarding </a:t>
            </a:r>
            <a:r>
              <a:rPr lang="en-US" b="1" dirty="0"/>
              <a:t>RQ2 &amp; H2</a:t>
            </a:r>
            <a:r>
              <a:rPr lang="en-US" dirty="0"/>
              <a:t>: I proved that this graph can be Enriched. The 'Refinement Phase' demonstrated that I can move beyond keyword extraction to build a semantic layer that functions as 'Long Term Memory’.”</a:t>
            </a:r>
          </a:p>
          <a:p>
            <a:r>
              <a:rPr lang="en-US" dirty="0"/>
              <a:t>	"Third, regarding </a:t>
            </a:r>
            <a:r>
              <a:rPr lang="en-US" b="1" dirty="0"/>
              <a:t>RQ3 &amp; H3</a:t>
            </a:r>
            <a:r>
              <a:rPr lang="en-US" dirty="0"/>
              <a:t>: I demonstrated Utility. As shown with the 'Portable Flow Meter' discovery, the system can successfully verify the correctness and completeness of a source document in ways that linear reading cannot."</a:t>
            </a:r>
          </a:p>
          <a:p>
            <a:r>
              <a:rPr lang="en-US" b="1" dirty="0"/>
              <a:t>Conclusion:</a:t>
            </a:r>
            <a:r>
              <a:rPr lang="en-US" dirty="0"/>
              <a:t> "Ultimately, Mnemosyne proves that the solution to the 'Context Window' limit is not making the window bigger—it is about changing how we view the data, building a system that can 'navigate' rather than just 'remember'."</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26</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007076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a:t>
            </a:r>
            <a:r>
              <a:rPr lang="en-US" dirty="0"/>
              <a:t> “Thank you for the opportunity to present my research today. Are there any questions?"</a:t>
            </a:r>
          </a:p>
          <a:p>
            <a:r>
              <a:rPr lang="en-US" b="1" dirty="0"/>
              <a:t>Notes:</a:t>
            </a:r>
            <a:endParaRPr lang="en-US" dirty="0"/>
          </a:p>
          <a:p>
            <a:r>
              <a:rPr lang="en-US" dirty="0"/>
              <a:t>	“Answer questions."</a:t>
            </a:r>
          </a:p>
          <a:p>
            <a:r>
              <a:rPr lang="en-US" b="1" dirty="0"/>
              <a:t>Conclusion:</a:t>
            </a:r>
            <a:r>
              <a:rPr lang="en-US" dirty="0"/>
              <a:t> “Thank you."</a:t>
            </a:r>
          </a:p>
          <a:p>
            <a:endParaRPr lang="en-US" b="1" dirty="0"/>
          </a:p>
          <a:p>
            <a:r>
              <a:rPr lang="en-US" b="1" dirty="0"/>
              <a:t>Likely questions:</a:t>
            </a:r>
          </a:p>
          <a:p>
            <a:endParaRPr lang="en-US" b="1" dirty="0"/>
          </a:p>
          <a:p>
            <a:r>
              <a:rPr lang="en-US" b="1" dirty="0"/>
              <a:t>Likely Question 1: The Recursion Problem</a:t>
            </a:r>
            <a:endParaRPr lang="en-US" dirty="0"/>
          </a:p>
          <a:p>
            <a:r>
              <a:rPr lang="en-US" b="1" dirty="0"/>
              <a:t>The Question:</a:t>
            </a:r>
            <a:r>
              <a:rPr lang="en-US" dirty="0"/>
              <a:t> "You claim to solve the context window limit, but your 'Refinement' step sends chunks to the LLM. Aren't you just moving the token limit problem to a different step?" </a:t>
            </a:r>
          </a:p>
          <a:p>
            <a:r>
              <a:rPr lang="en-US" b="1" dirty="0"/>
              <a:t>The Answer:</a:t>
            </a:r>
            <a:r>
              <a:rPr lang="en-US" dirty="0"/>
              <a:t> "That is a fair point, but the distinction is in </a:t>
            </a:r>
            <a:r>
              <a:rPr lang="en-US" i="1" dirty="0"/>
              <a:t>what</a:t>
            </a:r>
            <a:r>
              <a:rPr lang="en-US" dirty="0"/>
              <a:t> I am sending. I am not sending the whole document to be refined at once. I send small, random sub-graphs. Because the 'Long Term Memory' (Neo4j) acts as the persistent global state, these small, local updates accumulate into a globally consistent graph. It’s similar to how a painter focuses on one corner of a canvas at a time; they don't need to hold the entire image in their focal point to make the whole painting consistent.“</a:t>
            </a:r>
          </a:p>
          <a:p>
            <a:endParaRPr lang="en-US" dirty="0"/>
          </a:p>
          <a:p>
            <a:r>
              <a:rPr lang="en-US" b="1" dirty="0"/>
              <a:t>Likely Question 2: The F1 Score</a:t>
            </a:r>
            <a:endParaRPr lang="en-US" dirty="0"/>
          </a:p>
          <a:p>
            <a:r>
              <a:rPr lang="en-US" b="1" dirty="0"/>
              <a:t>The Question:</a:t>
            </a:r>
            <a:r>
              <a:rPr lang="en-US" dirty="0"/>
              <a:t> "Your F1 scores against Google </a:t>
            </a:r>
            <a:r>
              <a:rPr lang="en-US" dirty="0" err="1"/>
              <a:t>LangExtract</a:t>
            </a:r>
            <a:r>
              <a:rPr lang="en-US" dirty="0"/>
              <a:t> are near zero. In any other defense, this would be a failure. Why should we accept this?" </a:t>
            </a:r>
          </a:p>
          <a:p>
            <a:r>
              <a:rPr lang="en-US" b="1" dirty="0"/>
              <a:t>The Answer:</a:t>
            </a:r>
            <a:r>
              <a:rPr lang="en-US" dirty="0"/>
              <a:t> "If my goal were to build a better </a:t>
            </a:r>
            <a:r>
              <a:rPr lang="en-US" i="1" dirty="0"/>
              <a:t>summarizer</a:t>
            </a:r>
            <a:r>
              <a:rPr lang="en-US" dirty="0"/>
              <a:t>, a low F1 score would be a failure. But my goal was </a:t>
            </a:r>
            <a:r>
              <a:rPr lang="en-US" b="1" dirty="0"/>
              <a:t>Semantic Enrichment</a:t>
            </a:r>
            <a:r>
              <a:rPr lang="en-US" dirty="0"/>
              <a:t>. The F1 score measures 'Word Overlap.' If the text says 'Car' and my graph says 'Vehicle,' the F1 score marks that as an error. But ontologically, that is an </a:t>
            </a:r>
            <a:r>
              <a:rPr lang="en-US" i="1" dirty="0"/>
              <a:t>insight</a:t>
            </a:r>
            <a:r>
              <a:rPr lang="en-US" dirty="0"/>
              <a:t>, not an error. My manual review of the handwritten stories confirmed that when a human judges the output, the accuracy jumps to over 70%. The low F1 score against </a:t>
            </a:r>
            <a:r>
              <a:rPr lang="en-US" dirty="0" err="1"/>
              <a:t>LangExtract</a:t>
            </a:r>
            <a:r>
              <a:rPr lang="en-US" dirty="0"/>
              <a:t> is actually a quantitative measure of how much </a:t>
            </a:r>
            <a:r>
              <a:rPr lang="en-US" i="1" dirty="0"/>
              <a:t>new</a:t>
            </a:r>
            <a:r>
              <a:rPr lang="en-US" dirty="0"/>
              <a:t> semantic structure Mnemosyne added that wasn't in the raw text.“</a:t>
            </a:r>
          </a:p>
          <a:p>
            <a:endParaRPr lang="en-US" dirty="0"/>
          </a:p>
          <a:p>
            <a:r>
              <a:rPr lang="en-US" b="1" dirty="0"/>
              <a:t>Likely Question 3: Completeness Boundaries</a:t>
            </a:r>
            <a:endParaRPr lang="en-US" dirty="0"/>
          </a:p>
          <a:p>
            <a:r>
              <a:rPr lang="en-US" b="1" dirty="0"/>
              <a:t>The Question:</a:t>
            </a:r>
            <a:r>
              <a:rPr lang="en-US" dirty="0"/>
              <a:t> "You talk about completeness, but you admit you can't find missing external regulations. Isn't that a fatal flaw for an NDA?" </a:t>
            </a:r>
          </a:p>
          <a:p>
            <a:r>
              <a:rPr lang="en-US" b="1" dirty="0"/>
              <a:t>The Answer:</a:t>
            </a:r>
            <a:r>
              <a:rPr lang="en-US" dirty="0"/>
              <a:t> "It is a limitation, but not a fatal one. It is a scoping definition. Mnemosyne solves </a:t>
            </a:r>
            <a:r>
              <a:rPr lang="en-US" b="1" dirty="0"/>
              <a:t>Internal Completeness</a:t>
            </a:r>
            <a:r>
              <a:rPr lang="en-US" dirty="0"/>
              <a:t>—checking if the document agrees with itself (e.g., defining terms it uses). </a:t>
            </a:r>
            <a:r>
              <a:rPr lang="en-US" b="1" dirty="0"/>
              <a:t>External Completeness</a:t>
            </a:r>
            <a:r>
              <a:rPr lang="en-US" dirty="0"/>
              <a:t> is solved by simply loading the external regulations into the graph as a second document. The architecture supports it; it just wasn't the focus of this specific experiment.“</a:t>
            </a:r>
          </a:p>
          <a:p>
            <a:endParaRPr lang="en-US" dirty="0"/>
          </a:p>
          <a:p>
            <a:r>
              <a:rPr lang="en-US" b="1" dirty="0"/>
              <a:t>Likely Question 4: Hallucination</a:t>
            </a:r>
          </a:p>
          <a:p>
            <a:r>
              <a:rPr lang="en-US" b="1" dirty="0"/>
              <a:t>The Question:</a:t>
            </a:r>
            <a:r>
              <a:rPr lang="en-US" dirty="0"/>
              <a:t> "How do we know the system isn't just making up these relationships? How do you prevent hallucination in a safety-critical graph?"</a:t>
            </a:r>
          </a:p>
          <a:p>
            <a:r>
              <a:rPr lang="en-US" b="1" dirty="0"/>
              <a:t>The Answer:</a:t>
            </a:r>
            <a:r>
              <a:rPr lang="en-US" dirty="0"/>
              <a:t> "We tested for exactly this using the 'Removal Experiment' (Slide 18). When I removed text from the source, the corresponding nodes in the graph disappeared. The system did not try to 'fill in the gap' with guessed information. Furthermore, because every node in the graph is tagged with a source attribute (traceability), a human auditor can instantly verify where a fact came from. We prioritize </a:t>
            </a:r>
            <a:r>
              <a:rPr lang="en-US" b="1" dirty="0"/>
              <a:t>Traceability</a:t>
            </a:r>
            <a:r>
              <a:rPr lang="en-US" dirty="0"/>
              <a:t> over </a:t>
            </a:r>
            <a:r>
              <a:rPr lang="en-US" b="1" dirty="0"/>
              <a:t>Creativity</a:t>
            </a:r>
            <a:r>
              <a:rPr lang="en-US" dirty="0"/>
              <a:t>.“</a:t>
            </a:r>
          </a:p>
          <a:p>
            <a:endParaRPr lang="en-US" dirty="0"/>
          </a:p>
          <a:p>
            <a:r>
              <a:rPr lang="en-US" b="1" dirty="0"/>
              <a:t>Likely Question 5: The "Semantic Hallucination" Trap</a:t>
            </a:r>
          </a:p>
          <a:p>
            <a:r>
              <a:rPr lang="en-US" b="1" dirty="0"/>
              <a:t>The Question:</a:t>
            </a:r>
            <a:r>
              <a:rPr lang="en-US" dirty="0"/>
              <a:t> "On Slide 15, you defend an 8% F1 score by calling it 'Semantic Enrichment.' But in any other engineering discipline, a 92% deviation from the ground truth is called 'Noise' or 'Hallucination.' If the graph doesn't match the text, how can you legally certify an NDA based on it? Aren't you just introducing </a:t>
            </a:r>
            <a:r>
              <a:rPr lang="en-US" i="1" dirty="0"/>
              <a:t>more</a:t>
            </a:r>
            <a:r>
              <a:rPr lang="en-US" dirty="0"/>
              <a:t> risk?"</a:t>
            </a:r>
          </a:p>
          <a:p>
            <a:r>
              <a:rPr lang="en-US" b="1" dirty="0"/>
              <a:t>The Answer:</a:t>
            </a:r>
            <a:r>
              <a:rPr lang="en-US" dirty="0"/>
              <a:t> "I agree that for </a:t>
            </a:r>
            <a:r>
              <a:rPr lang="en-US" i="1" dirty="0"/>
              <a:t>summarization</a:t>
            </a:r>
            <a:r>
              <a:rPr lang="en-US" dirty="0"/>
              <a:t>, 8% is a failure. But for </a:t>
            </a:r>
            <a:r>
              <a:rPr lang="en-US" i="1" dirty="0"/>
              <a:t>inference</a:t>
            </a:r>
            <a:r>
              <a:rPr lang="en-US" dirty="0"/>
              <a:t>, strict adherence to syntax is a bug, not a feature.</a:t>
            </a:r>
          </a:p>
          <a:p>
            <a:pPr lvl="1"/>
            <a:r>
              <a:rPr lang="en-US" b="1" dirty="0"/>
              <a:t>The Evidence:</a:t>
            </a:r>
            <a:r>
              <a:rPr lang="en-US" dirty="0"/>
              <a:t> Look at the </a:t>
            </a:r>
            <a:r>
              <a:rPr lang="en-US" b="1" dirty="0"/>
              <a:t>Manual Curation</a:t>
            </a:r>
            <a:r>
              <a:rPr lang="en-US" dirty="0"/>
              <a:t> score. When a human expert created the ground truth, the accuracy jumped to </a:t>
            </a:r>
            <a:r>
              <a:rPr lang="en-US" b="1" dirty="0"/>
              <a:t>71%</a:t>
            </a:r>
            <a:r>
              <a:rPr lang="en-US" dirty="0"/>
              <a:t>.</a:t>
            </a:r>
          </a:p>
          <a:p>
            <a:pPr lvl="1"/>
            <a:r>
              <a:rPr lang="en-US" b="1" dirty="0"/>
              <a:t>The Logic:</a:t>
            </a:r>
            <a:r>
              <a:rPr lang="en-US" dirty="0"/>
              <a:t> The 92% 'error' marked by </a:t>
            </a:r>
            <a:r>
              <a:rPr lang="en-US" dirty="0" err="1"/>
              <a:t>LangExtract</a:t>
            </a:r>
            <a:r>
              <a:rPr lang="en-US" dirty="0"/>
              <a:t> was mostly the system adding </a:t>
            </a:r>
            <a:r>
              <a:rPr lang="en-US" sz="1200" b="0" i="0" u="none" strike="noStrike" cap="none" dirty="0">
                <a:solidFill>
                  <a:schemeClr val="dk1"/>
                </a:solidFill>
                <a:latin typeface="Calibri"/>
                <a:ea typeface="Calibri"/>
                <a:cs typeface="Calibri"/>
                <a:sym typeface="Calibri"/>
              </a:rPr>
              <a:t>IS_A</a:t>
            </a:r>
            <a:r>
              <a:rPr lang="en-US" dirty="0"/>
              <a:t> and </a:t>
            </a:r>
            <a:r>
              <a:rPr lang="en-US" sz="1200" b="0" i="0" u="none" strike="noStrike" cap="none" dirty="0">
                <a:solidFill>
                  <a:schemeClr val="dk1"/>
                </a:solidFill>
                <a:latin typeface="Calibri"/>
                <a:ea typeface="Calibri"/>
                <a:cs typeface="Calibri"/>
                <a:sym typeface="Calibri"/>
              </a:rPr>
              <a:t>PART_OF</a:t>
            </a:r>
            <a:r>
              <a:rPr lang="en-US" dirty="0"/>
              <a:t> types. An NDA checker </a:t>
            </a:r>
            <a:r>
              <a:rPr lang="en-US" i="1" dirty="0"/>
              <a:t>needs</a:t>
            </a:r>
            <a:r>
              <a:rPr lang="en-US" dirty="0"/>
              <a:t> to know that 'Octreotide' is a 'Somatostatin Analog' to find the contradiction. A 100% F1 score would mean the system learned nothing new, rendering it useless for this specific task.“</a:t>
            </a:r>
          </a:p>
          <a:p>
            <a:pPr lvl="1"/>
            <a:endParaRPr lang="en-US" dirty="0"/>
          </a:p>
          <a:p>
            <a:r>
              <a:rPr lang="en-US" b="1" dirty="0"/>
              <a:t>Likely Question 6: The "Driveway" Instability</a:t>
            </a:r>
          </a:p>
          <a:p>
            <a:r>
              <a:rPr lang="en-US" b="1" dirty="0"/>
              <a:t>The Question:</a:t>
            </a:r>
            <a:r>
              <a:rPr lang="en-US" dirty="0"/>
              <a:t> "Look at Slide 35. When you added the 'Driveway' text, your total node count </a:t>
            </a:r>
            <a:r>
              <a:rPr lang="en-US" b="1" dirty="0"/>
              <a:t>dropped</a:t>
            </a:r>
            <a:r>
              <a:rPr lang="en-US" dirty="0"/>
              <a:t> from 1,256 (Base) to 1,228. You added text, but you lost information. In a Pharma context, if I add a safety warning and the system accidentally drops a contraindication elsewhere because of 'noise,' people die. How do you justify this instability?"</a:t>
            </a:r>
          </a:p>
          <a:p>
            <a:r>
              <a:rPr lang="en-US" b="1" dirty="0"/>
              <a:t>The Answer:</a:t>
            </a:r>
            <a:r>
              <a:rPr lang="en-US" dirty="0"/>
              <a:t> "This is the trade-off of using probabilistic models (LLMs) for extraction.</a:t>
            </a:r>
          </a:p>
          <a:p>
            <a:pPr lvl="1"/>
            <a:r>
              <a:rPr lang="en-US" b="1" dirty="0"/>
              <a:t>The Cause:</a:t>
            </a:r>
            <a:r>
              <a:rPr lang="en-US" dirty="0"/>
              <a:t> The drop of ~20 nodes represents less than a 2% variance. This happened because the 'Driveway' text acted as semantic noise, slightly diluting the attention mechanism during the initial extraction pass.</a:t>
            </a:r>
          </a:p>
          <a:p>
            <a:pPr lvl="1"/>
            <a:r>
              <a:rPr lang="en-US" b="1" dirty="0"/>
              <a:t>The Mitigation:</a:t>
            </a:r>
            <a:r>
              <a:rPr lang="en-US" dirty="0"/>
              <a:t> In a production environment, we would run the extraction multiple times and merge the results (Ensemble Extraction) to eliminate this stochastic variance. However, even with this drop, the </a:t>
            </a:r>
            <a:r>
              <a:rPr lang="en-US" i="1" dirty="0"/>
              <a:t>structural</a:t>
            </a:r>
            <a:r>
              <a:rPr lang="en-US" dirty="0"/>
              <a:t> integrity of the Sewer Laws remained intact. The system didn't hallucinate false connections; it just became slightly more conservative.“</a:t>
            </a:r>
          </a:p>
          <a:p>
            <a:pPr lvl="1"/>
            <a:endParaRPr lang="en-US" dirty="0"/>
          </a:p>
          <a:p>
            <a:r>
              <a:rPr lang="en-US" b="1" dirty="0"/>
              <a:t>Likely Question 7: The "Obsolete Research" Trap</a:t>
            </a:r>
          </a:p>
          <a:p>
            <a:r>
              <a:rPr lang="en-US" b="1" dirty="0"/>
              <a:t>The Question:</a:t>
            </a:r>
            <a:r>
              <a:rPr lang="en-US" dirty="0"/>
              <a:t> "Since you started this research, Gemini and GPT-4 have released context windows of 1 million+ tokens. You can now fit the entire PA Law corpus into a prompt. Why build a complex, expensive Graph pipeline when I can just upload the PDF and ask: 'Are there contradictions?' Is your research already obsolete?"</a:t>
            </a:r>
          </a:p>
          <a:p>
            <a:r>
              <a:rPr lang="en-US" b="1" dirty="0"/>
              <a:t>The Answer:</a:t>
            </a:r>
            <a:r>
              <a:rPr lang="en-US" dirty="0"/>
              <a:t> "A larger window does not equal better reasoning; it just means more reading. This is the difference between </a:t>
            </a:r>
            <a:r>
              <a:rPr lang="en-US" b="1" dirty="0"/>
              <a:t>Recall</a:t>
            </a:r>
            <a:r>
              <a:rPr lang="en-US" dirty="0"/>
              <a:t> and </a:t>
            </a:r>
            <a:r>
              <a:rPr lang="en-US" b="1" dirty="0"/>
              <a:t>Reasoning</a:t>
            </a:r>
            <a:r>
              <a:rPr lang="en-US" dirty="0"/>
              <a:t>.</a:t>
            </a:r>
          </a:p>
          <a:p>
            <a:pPr lvl="1"/>
            <a:r>
              <a:rPr lang="en-US" b="1" dirty="0"/>
              <a:t>The Problem:</a:t>
            </a:r>
            <a:r>
              <a:rPr lang="en-US" dirty="0"/>
              <a:t> Research shows that as context fills up, 'Attention Drift' occurs—the model starts to ignore the middle of the document (the 'Lost in the Middle' phenomenon).</a:t>
            </a:r>
          </a:p>
          <a:p>
            <a:pPr lvl="1"/>
            <a:r>
              <a:rPr lang="en-US" b="1" dirty="0"/>
              <a:t>The Solution:</a:t>
            </a:r>
            <a:r>
              <a:rPr lang="en-US" dirty="0"/>
              <a:t> Mnemosyne doesn't just </a:t>
            </a:r>
            <a:r>
              <a:rPr lang="en-US" i="1" dirty="0"/>
              <a:t>store</a:t>
            </a:r>
            <a:r>
              <a:rPr lang="en-US" dirty="0"/>
              <a:t> the text; it </a:t>
            </a:r>
            <a:r>
              <a:rPr lang="en-US" i="1" dirty="0"/>
              <a:t>structures</a:t>
            </a:r>
            <a:r>
              <a:rPr lang="en-US" dirty="0"/>
              <a:t> it. By converting the document to a Graph, we turn a probabilistic 'Search' problem into a deterministic 'Lookup' problem. No matter how big context windows get, they cannot beat the auditability and precision of a Cypher query for finding a specific logical fault.“</a:t>
            </a:r>
          </a:p>
          <a:p>
            <a:pPr lvl="1"/>
            <a:endParaRPr lang="en-US" dirty="0"/>
          </a:p>
          <a:p>
            <a:r>
              <a:rPr lang="en-US" b="1" dirty="0"/>
              <a:t>Likely Question 8: The "Black Box" Liability</a:t>
            </a:r>
          </a:p>
          <a:p>
            <a:r>
              <a:rPr lang="en-US" b="1" dirty="0"/>
              <a:t>The Question:</a:t>
            </a:r>
            <a:r>
              <a:rPr lang="en-US" dirty="0"/>
              <a:t> "You used 'Refinement' to have the LLM looking at the graph and creating new relationships. If the LLM incorrectly links 'Drug A' to 'Class B' during this creative phase, and the graph saves it to Long Term Memory, you have permanently encoded an error. How does a user verify the graph is correct without re-reading the whole document themselves?"</a:t>
            </a:r>
          </a:p>
          <a:p>
            <a:r>
              <a:rPr lang="en-US" b="1" dirty="0"/>
              <a:t>The Answer:</a:t>
            </a:r>
            <a:r>
              <a:rPr lang="en-US" dirty="0"/>
              <a:t> "This is why </a:t>
            </a:r>
            <a:r>
              <a:rPr lang="en-US" b="1" dirty="0"/>
              <a:t>Traceability</a:t>
            </a:r>
            <a:r>
              <a:rPr lang="en-US" dirty="0"/>
              <a:t> was a core metric.</a:t>
            </a:r>
          </a:p>
          <a:p>
            <a:pPr lvl="1"/>
            <a:r>
              <a:rPr lang="en-US" b="1" dirty="0"/>
              <a:t>The Safety Net:</a:t>
            </a:r>
            <a:r>
              <a:rPr lang="en-US" dirty="0"/>
              <a:t> Every node Mnemosyne generates is tagged with </a:t>
            </a:r>
            <a:r>
              <a:rPr lang="en-US" dirty="0" err="1"/>
              <a:t>creationStage</a:t>
            </a:r>
            <a:r>
              <a:rPr lang="en-US" dirty="0"/>
              <a:t> and source attributes, linking back to the specific paragraph.</a:t>
            </a:r>
          </a:p>
          <a:p>
            <a:pPr lvl="1"/>
            <a:r>
              <a:rPr lang="en-US" b="1" dirty="0"/>
              <a:t>The Workflow:</a:t>
            </a:r>
            <a:r>
              <a:rPr lang="en-US" dirty="0"/>
              <a:t> The system is not an 'Autopilot'; it is a 'Copilot.' When the graph flags a contradiction, it provides the two source nodes. The human reviewer doesn't have to read the whole document—they only have to click the link to verify those two specific nodes. We reduce the workload from 100,000 pages to 2 paragraphs."</a:t>
            </a:r>
          </a:p>
          <a:p>
            <a:endParaRPr lang="en-US" dirty="0"/>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27</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09385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28</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440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29</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26033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Setup (Acknowledge the numbers):</a:t>
            </a:r>
            <a:r>
              <a:rPr lang="en-US" dirty="0"/>
              <a:t> "I anticipated this question. If you look at the table here, you see F1 scores hovering between 7% and 16% across all experimental conditions. I want to be direct: if my goal were simple text summarization or keyword extraction, these numbers would indeed be failures."</a:t>
            </a:r>
          </a:p>
          <a:p>
            <a:r>
              <a:rPr lang="en-US" b="1" dirty="0"/>
              <a:t>The Pivot (Redefine the metric):</a:t>
            </a:r>
            <a:r>
              <a:rPr lang="en-US" dirty="0"/>
              <a:t> "However, the low score here is not a failure of extraction; it is a measurement of </a:t>
            </a:r>
            <a:r>
              <a:rPr lang="en-US" b="1" dirty="0"/>
              <a:t>Semantic Enrichment</a:t>
            </a:r>
            <a:r>
              <a:rPr lang="en-US" dirty="0"/>
              <a:t>. The Ground Truth for this table was generated by </a:t>
            </a:r>
            <a:r>
              <a:rPr lang="en-US" b="1" dirty="0"/>
              <a:t>Google </a:t>
            </a:r>
            <a:r>
              <a:rPr lang="en-US" b="1" dirty="0" err="1"/>
              <a:t>LangExtract</a:t>
            </a:r>
            <a:r>
              <a:rPr lang="en-US" dirty="0"/>
              <a:t>, which creates a 'Flat Graph.' It only captures what is explicitly written. Mnemosyne, by design, creates a 'Deep Graph.' It infers the ontology."</a:t>
            </a:r>
          </a:p>
          <a:p>
            <a:r>
              <a:rPr lang="en-US" b="1" dirty="0"/>
              <a:t>The Concrete Example (The "Sewer" Defense):</a:t>
            </a:r>
            <a:r>
              <a:rPr lang="en-US" dirty="0"/>
              <a:t> "Let me give you a specific example from this data. If the text says 'The Sewer Authority shall manage waste,' </a:t>
            </a:r>
            <a:r>
              <a:rPr lang="en-US" dirty="0" err="1"/>
              <a:t>LangExtract</a:t>
            </a:r>
            <a:r>
              <a:rPr lang="en-US" dirty="0"/>
              <a:t> extracts 'Sewer Authority' and stops. Mnemosyne extracts 'Sewer Authority,' but then adds a node classifying it as an </a:t>
            </a:r>
            <a:r>
              <a:rPr lang="en-US" b="1" dirty="0"/>
              <a:t>'Organization'</a:t>
            </a:r>
            <a:r>
              <a:rPr lang="en-US" dirty="0"/>
              <a:t> via a consolidated relationship. Because the word 'Organization' was not in the source sentence, the F1 metric penalizes Mnemosyne for a 'False Positive’. Therefore, the low F1 score is actually quantifying the </a:t>
            </a:r>
            <a:r>
              <a:rPr lang="en-US" b="1" dirty="0"/>
              <a:t>new knowledge</a:t>
            </a:r>
            <a:r>
              <a:rPr lang="en-US" dirty="0"/>
              <a:t> the system added that the standard extractor missed."</a:t>
            </a:r>
          </a:p>
          <a:p>
            <a:r>
              <a:rPr lang="en-US" b="1" dirty="0"/>
              <a:t>The Proof (The "Human" Standard):</a:t>
            </a:r>
            <a:r>
              <a:rPr lang="en-US" dirty="0"/>
              <a:t> "To prove this wasn't just 'hallucination,' we refer back to the </a:t>
            </a:r>
            <a:r>
              <a:rPr lang="en-US" b="1" dirty="0"/>
              <a:t>Manual Curation</a:t>
            </a:r>
            <a:r>
              <a:rPr lang="en-US" dirty="0"/>
              <a:t> experiment I showed earlier. When a human expert created the ground truth, the Entity F1 score jumped to </a:t>
            </a:r>
            <a:r>
              <a:rPr lang="en-US" b="1" dirty="0"/>
              <a:t>71.19%</a:t>
            </a:r>
            <a:r>
              <a:rPr lang="en-US" dirty="0"/>
              <a:t>. This confirms that when judged by intelligence rather than syntax, the system performs at a high level."</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30</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79287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Entry/Navigation Script:</a:t>
            </a:r>
            <a:r>
              <a:rPr lang="en-US" dirty="0"/>
              <a:t> </a:t>
            </a:r>
            <a:r>
              <a:rPr lang="en-US" i="1" dirty="0"/>
              <a:t>(Use if they ask about data stability or specific node counts)</a:t>
            </a:r>
            <a:endParaRPr lang="en-US" dirty="0"/>
          </a:p>
          <a:p>
            <a:r>
              <a:rPr lang="en-US" dirty="0"/>
              <a:t>"I have the raw data table here that breaks down the exact node and relationship counts for every experimental run."</a:t>
            </a:r>
          </a:p>
          <a:p>
            <a:r>
              <a:rPr lang="en-US" b="1" dirty="0"/>
              <a:t>The "Driveway Anomaly" Defense:</a:t>
            </a:r>
            <a:r>
              <a:rPr lang="en-US" dirty="0"/>
              <a:t> </a:t>
            </a:r>
            <a:r>
              <a:rPr lang="en-US" i="1" dirty="0"/>
              <a:t>(Use if they ask: "Why did the node count drop when you added the Driveway text?")</a:t>
            </a:r>
            <a:endParaRPr lang="en-US" dirty="0"/>
          </a:p>
          <a:p>
            <a:r>
              <a:rPr lang="en-US" b="1" dirty="0"/>
              <a:t>1. The Direct Answer (Semantic Dilution)</a:t>
            </a:r>
            <a:endParaRPr lang="en-US" dirty="0"/>
          </a:p>
          <a:p>
            <a:r>
              <a:rPr lang="en-US" dirty="0"/>
              <a:t>"That is a sharp observation. You are looking at the drop from 1,256 nodes in the </a:t>
            </a:r>
            <a:r>
              <a:rPr lang="en-US" b="1" dirty="0"/>
              <a:t>Base</a:t>
            </a:r>
            <a:r>
              <a:rPr lang="en-US" dirty="0"/>
              <a:t> run to 1,228 nodes in the </a:t>
            </a:r>
            <a:r>
              <a:rPr lang="en-US" b="1" dirty="0"/>
              <a:t>Driveway</a:t>
            </a:r>
            <a:r>
              <a:rPr lang="en-US" dirty="0"/>
              <a:t> run. This happens due to </a:t>
            </a:r>
            <a:r>
              <a:rPr lang="en-US" b="1" dirty="0"/>
              <a:t>Semantic Dilution</a:t>
            </a:r>
            <a:r>
              <a:rPr lang="en-US" dirty="0"/>
              <a:t>. The 'Driveway' text was intentionally chosen because it is semantically dissimilar to the 'Sewer' domain. When we introduce unrelated concepts, they act as noise during the extraction phase. This noise slightly dilutes the attention mechanism, causing the model to miss a few of the weaker, marginal signals it caught in the clean run."</a:t>
            </a:r>
          </a:p>
          <a:p>
            <a:r>
              <a:rPr lang="en-US" b="1" dirty="0"/>
              <a:t>2. The Evidence (Point to the 'Discovered' Column)</a:t>
            </a:r>
            <a:endParaRPr lang="en-US" dirty="0"/>
          </a:p>
          <a:p>
            <a:r>
              <a:rPr lang="en-US" dirty="0"/>
              <a:t>"If you look at the </a:t>
            </a:r>
            <a:r>
              <a:rPr lang="en-US" b="1" dirty="0"/>
              <a:t>Discovered Nodes</a:t>
            </a:r>
            <a:r>
              <a:rPr lang="en-US" dirty="0"/>
              <a:t> column (the third column), you will see the count dropped from 1,091 to 1,072. This proves the loss happened at the very beginning—during ingestion—and not just during refinement. The model effectively deprioritized 'fringe' information because the overall coherence of the document decreased."</a:t>
            </a:r>
          </a:p>
          <a:p>
            <a:r>
              <a:rPr lang="en-US" b="1" dirty="0"/>
              <a:t>3. The Defense (Stability)</a:t>
            </a:r>
            <a:endParaRPr lang="en-US" dirty="0"/>
          </a:p>
          <a:p>
            <a:r>
              <a:rPr lang="en-US" dirty="0"/>
              <a:t>"However, the variance is only about 2% (28 nodes). The important takeaway here is what </a:t>
            </a:r>
            <a:r>
              <a:rPr lang="en-US" i="1" dirty="0"/>
              <a:t>didn't</a:t>
            </a:r>
            <a:r>
              <a:rPr lang="en-US" dirty="0"/>
              <a:t> happen: The graph didn't explode with irrelevant nodes. The system successfully identified the 'Driveway' text as an outlier and mostly treated it as background noise, which validates the stability of the ontology."</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31</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84763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1" dirty="0">
                <a:effectLst/>
              </a:rPr>
              <a:t>Entry/Navigation Script:</a:t>
            </a:r>
            <a:r>
              <a:rPr lang="en-US" dirty="0">
                <a:effectLst/>
              </a:rPr>
              <a:t> </a:t>
            </a:r>
            <a:r>
              <a:rPr lang="en-US" i="1" dirty="0">
                <a:effectLst/>
              </a:rPr>
              <a:t>(Use if they question the realism of the Octreotide example)</a:t>
            </a:r>
            <a:endParaRPr lang="en-US" dirty="0">
              <a:effectLst/>
            </a:endParaRPr>
          </a:p>
          <a:p>
            <a:pPr rtl="0"/>
            <a:r>
              <a:rPr lang="en-US" dirty="0">
                <a:effectLst/>
              </a:rPr>
              <a:t>"That is a fair critique. While the Octreotide narrative was simplified for the presentation, the logical failures it represents are drawn directly from recent FDA rejection letters."</a:t>
            </a:r>
          </a:p>
          <a:p>
            <a:pPr rtl="0"/>
            <a:r>
              <a:rPr lang="en-US" b="1" dirty="0">
                <a:effectLst/>
              </a:rPr>
              <a:t>The Setup (The "Composite" Defense):</a:t>
            </a:r>
            <a:endParaRPr lang="en-US" dirty="0">
              <a:effectLst/>
            </a:endParaRPr>
          </a:p>
          <a:p>
            <a:pPr rtl="0"/>
            <a:r>
              <a:rPr lang="en-US" dirty="0">
                <a:effectLst/>
              </a:rPr>
              <a:t>"I synthesized the Octreotide case because real NDAs are confidential. However, the specific failure mode—logical inconsistency between claims and evidence—is documented in the public record."</a:t>
            </a:r>
          </a:p>
          <a:p>
            <a:pPr rtl="0"/>
            <a:r>
              <a:rPr lang="en-US" b="1" dirty="0">
                <a:effectLst/>
              </a:rPr>
              <a:t>The "Smoking Gun" Example (PTC Therapeutics):</a:t>
            </a:r>
            <a:r>
              <a:rPr lang="en-US" dirty="0">
                <a:effectLst/>
              </a:rPr>
              <a:t> </a:t>
            </a:r>
            <a:r>
              <a:rPr lang="en-US" i="1" dirty="0">
                <a:effectLst/>
              </a:rPr>
              <a:t>(Focus on this one—it is the strongest parallel to your research)</a:t>
            </a:r>
            <a:endParaRPr lang="en-US" dirty="0">
              <a:effectLst/>
            </a:endParaRPr>
          </a:p>
          <a:p>
            <a:pPr rtl="0"/>
            <a:r>
              <a:rPr lang="en-US" dirty="0">
                <a:effectLst/>
              </a:rPr>
              <a:t>"The strongest parallel to my research is </a:t>
            </a:r>
            <a:r>
              <a:rPr lang="en-US" b="1" dirty="0">
                <a:effectLst/>
              </a:rPr>
              <a:t>PTC Therapeutics</a:t>
            </a:r>
            <a:r>
              <a:rPr lang="en-US" dirty="0">
                <a:effectLst/>
              </a:rPr>
              <a:t>.</a:t>
            </a:r>
          </a:p>
          <a:p>
            <a:pPr rtl="0"/>
            <a:r>
              <a:rPr lang="en-US" b="1" dirty="0">
                <a:effectLst/>
              </a:rPr>
              <a:t>The Situation:</a:t>
            </a:r>
            <a:r>
              <a:rPr lang="en-US" dirty="0">
                <a:effectLst/>
              </a:rPr>
              <a:t> They made specific claims in their application and originally pointed to evidence to support them.</a:t>
            </a:r>
          </a:p>
          <a:p>
            <a:pPr rtl="0"/>
            <a:r>
              <a:rPr lang="en-US" b="1" dirty="0">
                <a:effectLst/>
              </a:rPr>
              <a:t>The Contradiction:</a:t>
            </a:r>
            <a:r>
              <a:rPr lang="en-US" dirty="0">
                <a:effectLst/>
              </a:rPr>
              <a:t> Upon review, the FDA found the evidence didn't support the claims. PTC removed the evidence but </a:t>
            </a:r>
            <a:r>
              <a:rPr lang="en-US" i="1" dirty="0">
                <a:effectLst/>
              </a:rPr>
              <a:t>left the claims in the document</a:t>
            </a:r>
            <a:r>
              <a:rPr lang="en-US" dirty="0">
                <a:effectLst/>
              </a:rPr>
              <a:t>.</a:t>
            </a:r>
          </a:p>
          <a:p>
            <a:pPr rtl="0"/>
            <a:r>
              <a:rPr lang="en-US" b="1" dirty="0">
                <a:effectLst/>
              </a:rPr>
              <a:t>The Result:</a:t>
            </a:r>
            <a:r>
              <a:rPr lang="en-US" dirty="0">
                <a:effectLst/>
              </a:rPr>
              <a:t> This created a 'floating claim'—conceptually, a node in a graph with no supporting edges. It took over a year to resolve this inconsistency. Mnemosyne would have caught this immediately as an 'Orphan Node'—a claim that exists without a valid </a:t>
            </a:r>
            <a:r>
              <a:rPr lang="en-US" sz="1200" b="0" i="0" u="none" strike="noStrike" cap="none" dirty="0">
                <a:solidFill>
                  <a:schemeClr val="dk1"/>
                </a:solidFill>
                <a:effectLst/>
                <a:latin typeface="Calibri"/>
                <a:ea typeface="Calibri"/>
                <a:cs typeface="Calibri"/>
                <a:sym typeface="Calibri"/>
              </a:rPr>
              <a:t>SUPPORTED_BY</a:t>
            </a:r>
            <a:r>
              <a:rPr lang="en-US" dirty="0">
                <a:effectLst/>
              </a:rPr>
              <a:t> relationship."</a:t>
            </a:r>
          </a:p>
          <a:p>
            <a:pPr rtl="0"/>
            <a:r>
              <a:rPr lang="en-US" b="1" dirty="0">
                <a:effectLst/>
              </a:rPr>
              <a:t>The "Scope" Example (Zealand Pharma):</a:t>
            </a:r>
            <a:r>
              <a:rPr lang="en-US" dirty="0">
                <a:effectLst/>
              </a:rPr>
              <a:t> </a:t>
            </a:r>
            <a:r>
              <a:rPr lang="en-US" i="1" dirty="0">
                <a:effectLst/>
              </a:rPr>
              <a:t>(Use this if they ask about External Completeness)</a:t>
            </a:r>
            <a:endParaRPr lang="en-US" dirty="0">
              <a:effectLst/>
            </a:endParaRPr>
          </a:p>
          <a:p>
            <a:pPr rtl="0"/>
            <a:r>
              <a:rPr lang="en-US" dirty="0">
                <a:effectLst/>
              </a:rPr>
              <a:t>"We also see cases like </a:t>
            </a:r>
            <a:r>
              <a:rPr lang="en-US" b="1" dirty="0">
                <a:effectLst/>
              </a:rPr>
              <a:t>Zealand Pharma</a:t>
            </a:r>
            <a:r>
              <a:rPr lang="en-US" dirty="0">
                <a:effectLst/>
              </a:rPr>
              <a:t>. Their drug was rejected not because of the text, but because of a third-party manufacturing failure. This validates my point about 'External Completeness'—some failures require knowledge that exists outside the document boundaries."</a:t>
            </a:r>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32</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24606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33</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04963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Entry/Navigation Script:</a:t>
            </a:r>
            <a:r>
              <a:rPr lang="en-US" dirty="0"/>
              <a:t> </a:t>
            </a:r>
            <a:r>
              <a:rPr lang="en-US" i="1" dirty="0"/>
              <a:t>(Use if they ask: "How exactly does the data move from the document to the graph?" or "Can you explain the memory architecture?")</a:t>
            </a:r>
            <a:endParaRPr lang="en-US" dirty="0"/>
          </a:p>
          <a:p>
            <a:r>
              <a:rPr lang="en-US" dirty="0"/>
              <a:t>"To handle the context window limit, I couldn't just dump the text into a database. I had to design a strict pipeline that manages the handoff between volatile and persistent memory. This diagram maps that specific data flow."</a:t>
            </a:r>
          </a:p>
          <a:p>
            <a:r>
              <a:rPr lang="en-US" b="1" dirty="0"/>
              <a:t>The "Isolation" Defense (D vs. P):</a:t>
            </a:r>
            <a:endParaRPr lang="en-US" dirty="0"/>
          </a:p>
          <a:p>
            <a:r>
              <a:rPr lang="en-US" dirty="0"/>
              <a:t>"The first thing to note is the strict separation between </a:t>
            </a:r>
            <a:r>
              <a:rPr lang="en-US" b="1" dirty="0"/>
              <a:t>Data (D)</a:t>
            </a:r>
            <a:r>
              <a:rPr lang="en-US" dirty="0"/>
              <a:t> and </a:t>
            </a:r>
            <a:r>
              <a:rPr lang="en-US" b="1" dirty="0"/>
              <a:t>Processing (P)</a:t>
            </a:r>
            <a:r>
              <a:rPr lang="en-US" dirty="0"/>
              <a:t>. * </a:t>
            </a:r>
            <a:r>
              <a:rPr lang="en-US" b="1" dirty="0"/>
              <a:t>D-Blocks (Documents):</a:t>
            </a:r>
            <a:r>
              <a:rPr lang="en-US" dirty="0"/>
              <a:t> These are treated as immutable. The system never modifies the source text, ensuring we preserve the original evidence.</a:t>
            </a:r>
          </a:p>
          <a:p>
            <a:r>
              <a:rPr lang="en-US" b="1" dirty="0"/>
              <a:t>P-Blocks (Processing):</a:t>
            </a:r>
            <a:r>
              <a:rPr lang="en-US" dirty="0"/>
              <a:t> This is where the logic lives. By keeping them separate, we ensure the pipeline is auditable."</a:t>
            </a:r>
          </a:p>
          <a:p>
            <a:r>
              <a:rPr lang="en-US" b="1" dirty="0"/>
              <a:t>The "Memory Handoff" (The Core Mechanism):</a:t>
            </a:r>
            <a:r>
              <a:rPr lang="en-US" dirty="0"/>
              <a:t> </a:t>
            </a:r>
            <a:r>
              <a:rPr lang="en-US" i="1" dirty="0"/>
              <a:t>(This is the most important part of the slide)</a:t>
            </a:r>
            <a:endParaRPr lang="en-US" dirty="0"/>
          </a:p>
          <a:p>
            <a:r>
              <a:rPr lang="en-US" dirty="0"/>
              <a:t>"The core innovation here is the handoff between </a:t>
            </a:r>
            <a:r>
              <a:rPr lang="en-US" b="1" dirty="0"/>
              <a:t>KG1</a:t>
            </a:r>
            <a:r>
              <a:rPr lang="en-US" dirty="0"/>
              <a:t> and </a:t>
            </a:r>
            <a:r>
              <a:rPr lang="en-US" b="1" dirty="0"/>
              <a:t>KG2</a:t>
            </a:r>
            <a:r>
              <a:rPr lang="en-US" dirty="0"/>
              <a:t>.</a:t>
            </a:r>
          </a:p>
          <a:p>
            <a:r>
              <a:rPr lang="en-US" b="1" dirty="0"/>
              <a:t>KG1 (Short Term Memory):</a:t>
            </a:r>
            <a:r>
              <a:rPr lang="en-US" dirty="0"/>
              <a:t> This is a lightweight, in-memory JSON buffer. It catches the output from the LLM immediately after chunking. It is volatile—if the system crashes here, the chunk is lost.</a:t>
            </a:r>
          </a:p>
          <a:p>
            <a:r>
              <a:rPr lang="en-US" b="1" dirty="0"/>
              <a:t>KG2 (Long Term Memory):</a:t>
            </a:r>
            <a:r>
              <a:rPr lang="en-US" dirty="0"/>
              <a:t> This is the Neo4j database. Process </a:t>
            </a:r>
            <a:r>
              <a:rPr lang="en-US" b="1" dirty="0"/>
              <a:t>P4</a:t>
            </a:r>
            <a:r>
              <a:rPr lang="en-US" dirty="0"/>
              <a:t> is responsible for the 'Consolidation' step—moving data from volatile memory to persistent storage.</a:t>
            </a:r>
          </a:p>
          <a:p>
            <a:r>
              <a:rPr lang="en-US" dirty="0"/>
              <a:t>Once data crosses into KG2, it is safe and can be refined by the system without needing to re-read the document."</a:t>
            </a:r>
          </a:p>
          <a:p>
            <a:r>
              <a:rPr lang="en-US" b="1" dirty="0"/>
              <a:t>The "Future Proofing" (The Agent):</a:t>
            </a:r>
            <a:endParaRPr lang="en-US" dirty="0"/>
          </a:p>
          <a:p>
            <a:r>
              <a:rPr lang="en-US" dirty="0"/>
              <a:t>"Finally, you will see </a:t>
            </a:r>
            <a:r>
              <a:rPr lang="en-US" b="1" dirty="0"/>
              <a:t>P2 (Prompt Processing) </a:t>
            </a:r>
            <a:r>
              <a:rPr lang="en-US" dirty="0"/>
              <a:t>and </a:t>
            </a:r>
            <a:r>
              <a:rPr lang="en-US" b="1" dirty="0"/>
              <a:t>P6 (Response Processing Agent)</a:t>
            </a:r>
            <a:r>
              <a:rPr lang="en-US" dirty="0"/>
              <a:t> marked as 'Out of Scope'. In a production application, this is where the chatbot would live—translating user questions into the Cypher queries we manually generated for this research. Then presenting the results back to the user. A key point is that the prompt and response are not directly connected."</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34</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004907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Entry/Navigation Script:</a:t>
            </a:r>
            <a:r>
              <a:rPr lang="en-US" dirty="0"/>
              <a:t> </a:t>
            </a:r>
            <a:r>
              <a:rPr lang="en-US" i="1" dirty="0"/>
              <a:t>(Use if they question the complexity or reproducibility of your code)</a:t>
            </a:r>
            <a:endParaRPr lang="en-US" dirty="0"/>
          </a:p>
          <a:p>
            <a:r>
              <a:rPr lang="en-US" dirty="0"/>
              <a:t>"To ensure the results were reproducible and not just a 'lucky prompt,' I had to build a fairly robust software architecture around the LLM. I have a breakdown of the codebase statistics here."</a:t>
            </a:r>
          </a:p>
          <a:p>
            <a:r>
              <a:rPr lang="en-US" b="1" dirty="0"/>
              <a:t>The "Not Just a Script" Defense:</a:t>
            </a:r>
            <a:endParaRPr lang="en-US" dirty="0"/>
          </a:p>
          <a:p>
            <a:r>
              <a:rPr lang="en-US" dirty="0"/>
              <a:t>"The key takeaway from this slide is that Mnemosyne is not just a </a:t>
            </a:r>
            <a:r>
              <a:rPr lang="en-US" dirty="0" err="1"/>
              <a:t>Jupyter</a:t>
            </a:r>
            <a:r>
              <a:rPr lang="en-US" dirty="0"/>
              <a:t> Notebook or a simple script. It is a modular system comprising over </a:t>
            </a:r>
            <a:r>
              <a:rPr lang="en-US" b="1" dirty="0"/>
              <a:t>5,000 lines of Python code</a:t>
            </a:r>
            <a:r>
              <a:rPr lang="en-US" dirty="0"/>
              <a:t> across </a:t>
            </a:r>
            <a:r>
              <a:rPr lang="en-US" b="1" dirty="0"/>
              <a:t>36 distinct classes</a:t>
            </a:r>
            <a:r>
              <a:rPr lang="en-US" dirty="0"/>
              <a:t>.</a:t>
            </a:r>
          </a:p>
          <a:p>
            <a:r>
              <a:rPr lang="en-US" dirty="0"/>
              <a:t>I specifically separated the architecture into 'Mind Classes' (which handle the AI logic) and 'Graph Database Classes' (which handle the storage). This modularity was essential for managing the asynchronous calls required to process large documents without timing out."</a:t>
            </a:r>
          </a:p>
          <a:p>
            <a:r>
              <a:rPr lang="en-US" b="1" dirty="0"/>
              <a:t>The "Prompt Engineering" Defense:</a:t>
            </a:r>
            <a:endParaRPr lang="en-US" dirty="0"/>
          </a:p>
          <a:p>
            <a:r>
              <a:rPr lang="en-US" dirty="0"/>
              <a:t>"You can also see that the system relies on </a:t>
            </a:r>
            <a:r>
              <a:rPr lang="en-US" b="1" dirty="0"/>
              <a:t>72 hand-coded Cypher Queries</a:t>
            </a:r>
            <a:r>
              <a:rPr lang="en-US" dirty="0"/>
              <a:t> and </a:t>
            </a:r>
            <a:r>
              <a:rPr lang="en-US" b="1" dirty="0"/>
              <a:t>10 hand-coded LLM Prompts</a:t>
            </a:r>
            <a:r>
              <a:rPr lang="en-US" dirty="0"/>
              <a:t>. These aren't hard-coded strings hidden in functions; they are managed as external configuration assets (JSON Schemas).</a:t>
            </a:r>
          </a:p>
          <a:p>
            <a:r>
              <a:rPr lang="en-US" dirty="0"/>
              <a:t>This ensures that every run uses the exact same instructions, making the experiment scientifically reproducible."</a:t>
            </a:r>
          </a:p>
          <a:p>
            <a:r>
              <a:rPr lang="en-US" b="1" dirty="0"/>
              <a:t>The "Model Agnostic" Feature:</a:t>
            </a:r>
            <a:endParaRPr lang="en-US" dirty="0"/>
          </a:p>
          <a:p>
            <a:r>
              <a:rPr lang="en-US" dirty="0"/>
              <a:t>"Finally, I designed the system to be model-agnostic. While I primarily tested with Gemini and GPT, the </a:t>
            </a:r>
            <a:r>
              <a:rPr lang="en-US" sz="1200" b="0" i="0" u="none" strike="noStrike" cap="none" dirty="0">
                <a:solidFill>
                  <a:schemeClr val="dk1"/>
                </a:solidFill>
                <a:latin typeface="Calibri"/>
                <a:ea typeface="Calibri"/>
                <a:cs typeface="Calibri"/>
                <a:sym typeface="Calibri"/>
              </a:rPr>
              <a:t>LLM Classes</a:t>
            </a:r>
            <a:r>
              <a:rPr lang="en-US" dirty="0"/>
              <a:t> abstraction layer allows us to swap in Llama or Claude with minimal code changes. This future-proofs the research against the rapid turnover in the model market."</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35</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817204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36</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5702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1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4"/>
        <p:cNvGrpSpPr/>
        <p:nvPr/>
      </p:nvGrpSpPr>
      <p:grpSpPr>
        <a:xfrm>
          <a:off x="0" y="0"/>
          <a:ext cx="0" cy="0"/>
          <a:chOff x="0" y="0"/>
          <a:chExt cx="0" cy="0"/>
        </a:xfrm>
      </p:grpSpPr>
      <p:sp>
        <p:nvSpPr>
          <p:cNvPr id="25" name="Google Shape;25;p46"/>
          <p:cNvSpPr txBox="1">
            <a:spLocks noGrp="1"/>
          </p:cNvSpPr>
          <p:nvPr>
            <p:ph type="body" idx="1"/>
          </p:nvPr>
        </p:nvSpPr>
        <p:spPr>
          <a:xfrm>
            <a:off x="838200" y="1825625"/>
            <a:ext cx="10515600" cy="347450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95959"/>
              </a:buClr>
              <a:buSzPts val="2800"/>
              <a:buNone/>
              <a:defRPr>
                <a:solidFill>
                  <a:srgbClr val="595959"/>
                </a:solidFill>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46"/>
          <p:cNvSpPr txBox="1">
            <a:spLocks noGrp="1"/>
          </p:cNvSpPr>
          <p:nvPr>
            <p:ph type="title"/>
          </p:nvPr>
        </p:nvSpPr>
        <p:spPr>
          <a:xfrm>
            <a:off x="854337" y="715617"/>
            <a:ext cx="10483326" cy="9750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4000"/>
              <a:buFont typeface="Arial"/>
              <a:buNone/>
              <a:defRPr sz="4000" b="1">
                <a:solidFill>
                  <a:srgbClr val="3F3F3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5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5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96"/>
        <p:cNvGrpSpPr/>
        <p:nvPr/>
      </p:nvGrpSpPr>
      <p:grpSpPr>
        <a:xfrm>
          <a:off x="0" y="0"/>
          <a:ext cx="0" cy="0"/>
          <a:chOff x="0" y="0"/>
          <a:chExt cx="0" cy="0"/>
        </a:xfrm>
      </p:grpSpPr>
      <p:sp>
        <p:nvSpPr>
          <p:cNvPr id="97" name="Google Shape;97;p58"/>
          <p:cNvSpPr txBox="1">
            <a:spLocks noGrp="1"/>
          </p:cNvSpPr>
          <p:nvPr>
            <p:ph type="body"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1800"/>
              <a:buNone/>
              <a:defRPr sz="1800">
                <a:solidFill>
                  <a:srgbClr val="888888"/>
                </a:solidFill>
              </a:defRPr>
            </a:lvl2pPr>
            <a:lvl3pPr marL="1371600" lvl="2" indent="-228600" algn="l">
              <a:lnSpc>
                <a:spcPct val="90000"/>
              </a:lnSpc>
              <a:spcBef>
                <a:spcPts val="500"/>
              </a:spcBef>
              <a:spcAft>
                <a:spcPts val="0"/>
              </a:spcAft>
              <a:buClr>
                <a:srgbClr val="888888"/>
              </a:buClr>
              <a:buSzPts val="1600"/>
              <a:buNone/>
              <a:defRPr sz="1600">
                <a:solidFill>
                  <a:srgbClr val="888888"/>
                </a:solidFill>
              </a:defRPr>
            </a:lvl3pPr>
            <a:lvl4pPr marL="1828800" lvl="3" indent="-228600" algn="l">
              <a:lnSpc>
                <a:spcPct val="90000"/>
              </a:lnSpc>
              <a:spcBef>
                <a:spcPts val="500"/>
              </a:spcBef>
              <a:spcAft>
                <a:spcPts val="0"/>
              </a:spcAft>
              <a:buClr>
                <a:srgbClr val="888888"/>
              </a:buClr>
              <a:buSzPts val="1400"/>
              <a:buNone/>
              <a:defRPr sz="1400">
                <a:solidFill>
                  <a:srgbClr val="888888"/>
                </a:solidFill>
              </a:defRPr>
            </a:lvl4pPr>
            <a:lvl5pPr marL="2286000" lvl="4" indent="-228600" algn="l">
              <a:lnSpc>
                <a:spcPct val="90000"/>
              </a:lnSpc>
              <a:spcBef>
                <a:spcPts val="500"/>
              </a:spcBef>
              <a:spcAft>
                <a:spcPts val="0"/>
              </a:spcAft>
              <a:buClr>
                <a:srgbClr val="888888"/>
              </a:buClr>
              <a:buSzPts val="1400"/>
              <a:buNone/>
              <a:defRPr sz="1400">
                <a:solidFill>
                  <a:srgbClr val="888888"/>
                </a:solidFill>
              </a:defRPr>
            </a:lvl5pPr>
            <a:lvl6pPr marL="2743200" lvl="5" indent="-228600" algn="l">
              <a:lnSpc>
                <a:spcPct val="90000"/>
              </a:lnSpc>
              <a:spcBef>
                <a:spcPts val="500"/>
              </a:spcBef>
              <a:spcAft>
                <a:spcPts val="0"/>
              </a:spcAft>
              <a:buClr>
                <a:srgbClr val="888888"/>
              </a:buClr>
              <a:buSzPts val="1400"/>
              <a:buNone/>
              <a:defRPr sz="1400">
                <a:solidFill>
                  <a:srgbClr val="888888"/>
                </a:solidFill>
              </a:defRPr>
            </a:lvl6pPr>
            <a:lvl7pPr marL="3200400" lvl="6" indent="-228600" algn="l">
              <a:lnSpc>
                <a:spcPct val="90000"/>
              </a:lnSpc>
              <a:spcBef>
                <a:spcPts val="500"/>
              </a:spcBef>
              <a:spcAft>
                <a:spcPts val="0"/>
              </a:spcAft>
              <a:buClr>
                <a:srgbClr val="888888"/>
              </a:buClr>
              <a:buSzPts val="1400"/>
              <a:buNone/>
              <a:defRPr sz="1400">
                <a:solidFill>
                  <a:srgbClr val="888888"/>
                </a:solidFill>
              </a:defRPr>
            </a:lvl7pPr>
            <a:lvl8pPr marL="3657600" lvl="7" indent="-228600" algn="l">
              <a:lnSpc>
                <a:spcPct val="90000"/>
              </a:lnSpc>
              <a:spcBef>
                <a:spcPts val="500"/>
              </a:spcBef>
              <a:spcAft>
                <a:spcPts val="0"/>
              </a:spcAft>
              <a:buClr>
                <a:srgbClr val="888888"/>
              </a:buClr>
              <a:buSzPts val="1400"/>
              <a:buNone/>
              <a:defRPr sz="1400">
                <a:solidFill>
                  <a:srgbClr val="888888"/>
                </a:solidFill>
              </a:defRPr>
            </a:lvl8pPr>
            <a:lvl9pPr marL="4114800" lvl="8" indent="-228600" algn="l">
              <a:lnSpc>
                <a:spcPct val="90000"/>
              </a:lnSpc>
              <a:spcBef>
                <a:spcPts val="500"/>
              </a:spcBef>
              <a:spcAft>
                <a:spcPts val="0"/>
              </a:spcAft>
              <a:buClr>
                <a:srgbClr val="888888"/>
              </a:buClr>
              <a:buSzPts val="1400"/>
              <a:buNone/>
              <a:defRPr sz="1400">
                <a:solidFill>
                  <a:srgbClr val="888888"/>
                </a:solidFill>
              </a:defRPr>
            </a:lvl9pPr>
          </a:lstStyle>
          <a:p>
            <a:endParaRPr/>
          </a:p>
        </p:txBody>
      </p:sp>
      <p:sp>
        <p:nvSpPr>
          <p:cNvPr id="98" name="Google Shape;98;p58"/>
          <p:cNvSpPr txBox="1">
            <a:spLocks noGrp="1"/>
          </p:cNvSpPr>
          <p:nvPr>
            <p:ph type="title"/>
          </p:nvPr>
        </p:nvSpPr>
        <p:spPr>
          <a:xfrm>
            <a:off x="1524000" y="1599247"/>
            <a:ext cx="9143999" cy="191071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95959"/>
              </a:buClr>
              <a:buSzPts val="5400"/>
              <a:buFont typeface="Arial"/>
              <a:buNone/>
              <a:defRPr sz="5400" b="1" cap="none">
                <a:solidFill>
                  <a:srgbClr val="59595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99"/>
        <p:cNvGrpSpPr/>
        <p:nvPr/>
      </p:nvGrpSpPr>
      <p:grpSpPr>
        <a:xfrm>
          <a:off x="0" y="0"/>
          <a:ext cx="0" cy="0"/>
          <a:chOff x="0" y="0"/>
          <a:chExt cx="0" cy="0"/>
        </a:xfrm>
      </p:grpSpPr>
      <p:sp>
        <p:nvSpPr>
          <p:cNvPr id="100" name="Google Shape;100;p59"/>
          <p:cNvSpPr txBox="1">
            <a:spLocks noGrp="1"/>
          </p:cNvSpPr>
          <p:nvPr>
            <p:ph type="body" idx="1"/>
          </p:nvPr>
        </p:nvSpPr>
        <p:spPr>
          <a:xfrm>
            <a:off x="838199" y="1825625"/>
            <a:ext cx="5181599" cy="3434474"/>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595959"/>
              </a:buClr>
              <a:buSzPts val="2000"/>
              <a:buChar char="•"/>
              <a:defRPr sz="2000">
                <a:solidFill>
                  <a:srgbClr val="595959"/>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59"/>
          <p:cNvSpPr txBox="1">
            <a:spLocks noGrp="1"/>
          </p:cNvSpPr>
          <p:nvPr>
            <p:ph type="body" idx="2"/>
          </p:nvPr>
        </p:nvSpPr>
        <p:spPr>
          <a:xfrm>
            <a:off x="6172199" y="1825625"/>
            <a:ext cx="5181599" cy="3434474"/>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595959"/>
              </a:buClr>
              <a:buSzPts val="2000"/>
              <a:buChar char="•"/>
              <a:defRPr sz="2000">
                <a:solidFill>
                  <a:srgbClr val="595959"/>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59"/>
          <p:cNvSpPr txBox="1">
            <a:spLocks noGrp="1"/>
          </p:cNvSpPr>
          <p:nvPr>
            <p:ph type="title"/>
          </p:nvPr>
        </p:nvSpPr>
        <p:spPr>
          <a:xfrm>
            <a:off x="854337" y="715617"/>
            <a:ext cx="10483326" cy="97507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000"/>
              <a:buFont typeface="Arial"/>
              <a:buNone/>
              <a:defRPr sz="4000" b="1">
                <a:solidFill>
                  <a:srgbClr val="3F3F3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103"/>
        <p:cNvGrpSpPr/>
        <p:nvPr/>
      </p:nvGrpSpPr>
      <p:grpSpPr>
        <a:xfrm>
          <a:off x="0" y="0"/>
          <a:ext cx="0" cy="0"/>
          <a:chOff x="0" y="0"/>
          <a:chExt cx="0" cy="0"/>
        </a:xfrm>
      </p:grpSpPr>
      <p:sp>
        <p:nvSpPr>
          <p:cNvPr id="104" name="Google Shape;104;p60"/>
          <p:cNvSpPr txBox="1">
            <a:spLocks noGrp="1"/>
          </p:cNvSpPr>
          <p:nvPr>
            <p:ph type="body" idx="1"/>
          </p:nvPr>
        </p:nvSpPr>
        <p:spPr>
          <a:xfrm>
            <a:off x="836612" y="2505075"/>
            <a:ext cx="5176884" cy="27655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marL="914400" lvl="1" indent="-355600" algn="l">
              <a:lnSpc>
                <a:spcPct val="90000"/>
              </a:lnSpc>
              <a:spcBef>
                <a:spcPts val="500"/>
              </a:spcBef>
              <a:spcAft>
                <a:spcPts val="0"/>
              </a:spcAft>
              <a:buClr>
                <a:schemeClr val="dk1"/>
              </a:buClr>
              <a:buSzPts val="2000"/>
              <a:buChar char="•"/>
              <a:defRPr sz="2000">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sz="2000">
                <a:latin typeface="Arial"/>
                <a:ea typeface="Arial"/>
                <a:cs typeface="Arial"/>
                <a:sym typeface="Arial"/>
              </a:defRPr>
            </a:lvl3pPr>
            <a:lvl4pPr marL="1828800" lvl="3" indent="-355600" algn="l">
              <a:lnSpc>
                <a:spcPct val="90000"/>
              </a:lnSpc>
              <a:spcBef>
                <a:spcPts val="500"/>
              </a:spcBef>
              <a:spcAft>
                <a:spcPts val="0"/>
              </a:spcAft>
              <a:buClr>
                <a:schemeClr val="dk1"/>
              </a:buClr>
              <a:buSzPts val="2000"/>
              <a:buChar char="•"/>
              <a:defRPr sz="2000">
                <a:latin typeface="Arial"/>
                <a:ea typeface="Arial"/>
                <a:cs typeface="Arial"/>
                <a:sym typeface="Arial"/>
              </a:defRPr>
            </a:lvl4pPr>
            <a:lvl5pPr marL="2286000" lvl="4" indent="-355600" algn="l">
              <a:lnSpc>
                <a:spcPct val="90000"/>
              </a:lnSpc>
              <a:spcBef>
                <a:spcPts val="500"/>
              </a:spcBef>
              <a:spcAft>
                <a:spcPts val="0"/>
              </a:spcAft>
              <a:buClr>
                <a:schemeClr val="dk1"/>
              </a:buClr>
              <a:buSzPts val="2000"/>
              <a:buChar char="•"/>
              <a:defRPr sz="2000">
                <a:latin typeface="Arial"/>
                <a:ea typeface="Arial"/>
                <a:cs typeface="Arial"/>
                <a:sym typeface="Arial"/>
              </a:defRPr>
            </a:lvl5pPr>
            <a:lvl6pPr marL="2743200" lvl="5" indent="-330200" algn="l">
              <a:lnSpc>
                <a:spcPct val="90000"/>
              </a:lnSpc>
              <a:spcBef>
                <a:spcPts val="500"/>
              </a:spcBef>
              <a:spcAft>
                <a:spcPts val="0"/>
              </a:spcAft>
              <a:buClr>
                <a:schemeClr val="dk1"/>
              </a:buClr>
              <a:buSzPts val="1600"/>
              <a:buChar char="•"/>
              <a:defRPr sz="1600"/>
            </a:lvl6pPr>
            <a:lvl7pPr marL="3200400" lvl="6" indent="-330200" algn="l">
              <a:lnSpc>
                <a:spcPct val="90000"/>
              </a:lnSpc>
              <a:spcBef>
                <a:spcPts val="500"/>
              </a:spcBef>
              <a:spcAft>
                <a:spcPts val="0"/>
              </a:spcAft>
              <a:buClr>
                <a:schemeClr val="dk1"/>
              </a:buClr>
              <a:buSzPts val="1600"/>
              <a:buChar char="•"/>
              <a:defRPr sz="1600"/>
            </a:lvl7pPr>
            <a:lvl8pPr marL="3657600" lvl="7" indent="-330200" algn="l">
              <a:lnSpc>
                <a:spcPct val="90000"/>
              </a:lnSpc>
              <a:spcBef>
                <a:spcPts val="500"/>
              </a:spcBef>
              <a:spcAft>
                <a:spcPts val="0"/>
              </a:spcAft>
              <a:buClr>
                <a:schemeClr val="dk1"/>
              </a:buClr>
              <a:buSzPts val="1600"/>
              <a:buChar char="•"/>
              <a:defRPr sz="1600"/>
            </a:lvl8pPr>
            <a:lvl9pPr marL="4114800" lvl="8" indent="-330200" algn="l">
              <a:lnSpc>
                <a:spcPct val="90000"/>
              </a:lnSpc>
              <a:spcBef>
                <a:spcPts val="500"/>
              </a:spcBef>
              <a:spcAft>
                <a:spcPts val="0"/>
              </a:spcAft>
              <a:buClr>
                <a:schemeClr val="dk1"/>
              </a:buClr>
              <a:buSzPts val="1600"/>
              <a:buChar char="•"/>
              <a:defRPr sz="1600"/>
            </a:lvl9pPr>
          </a:lstStyle>
          <a:p>
            <a:endParaRPr/>
          </a:p>
        </p:txBody>
      </p:sp>
      <p:sp>
        <p:nvSpPr>
          <p:cNvPr id="105" name="Google Shape;105;p60"/>
          <p:cNvSpPr txBox="1">
            <a:spLocks noGrp="1"/>
          </p:cNvSpPr>
          <p:nvPr>
            <p:ph type="body" idx="2"/>
          </p:nvPr>
        </p:nvSpPr>
        <p:spPr>
          <a:xfrm>
            <a:off x="6172200" y="1711496"/>
            <a:ext cx="5186362" cy="792436"/>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rgbClr val="595959"/>
              </a:buClr>
              <a:buSzPts val="2500"/>
              <a:buNone/>
              <a:defRPr sz="2500" b="1">
                <a:solidFill>
                  <a:srgbClr val="595959"/>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6" name="Google Shape;106;p60"/>
          <p:cNvSpPr txBox="1">
            <a:spLocks noGrp="1"/>
          </p:cNvSpPr>
          <p:nvPr>
            <p:ph type="body" idx="3"/>
          </p:nvPr>
        </p:nvSpPr>
        <p:spPr>
          <a:xfrm>
            <a:off x="6178505" y="2505075"/>
            <a:ext cx="5180057" cy="27655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30200" algn="l">
              <a:lnSpc>
                <a:spcPct val="90000"/>
              </a:lnSpc>
              <a:spcBef>
                <a:spcPts val="500"/>
              </a:spcBef>
              <a:spcAft>
                <a:spcPts val="0"/>
              </a:spcAft>
              <a:buClr>
                <a:schemeClr val="dk1"/>
              </a:buClr>
              <a:buSzPts val="1600"/>
              <a:buChar char="•"/>
              <a:defRPr sz="1600"/>
            </a:lvl6pPr>
            <a:lvl7pPr marL="3200400" lvl="6" indent="-330200" algn="l">
              <a:lnSpc>
                <a:spcPct val="90000"/>
              </a:lnSpc>
              <a:spcBef>
                <a:spcPts val="500"/>
              </a:spcBef>
              <a:spcAft>
                <a:spcPts val="0"/>
              </a:spcAft>
              <a:buClr>
                <a:schemeClr val="dk1"/>
              </a:buClr>
              <a:buSzPts val="1600"/>
              <a:buChar char="•"/>
              <a:defRPr sz="1600"/>
            </a:lvl7pPr>
            <a:lvl8pPr marL="3657600" lvl="7" indent="-330200" algn="l">
              <a:lnSpc>
                <a:spcPct val="90000"/>
              </a:lnSpc>
              <a:spcBef>
                <a:spcPts val="500"/>
              </a:spcBef>
              <a:spcAft>
                <a:spcPts val="0"/>
              </a:spcAft>
              <a:buClr>
                <a:schemeClr val="dk1"/>
              </a:buClr>
              <a:buSzPts val="1600"/>
              <a:buChar char="•"/>
              <a:defRPr sz="1600"/>
            </a:lvl8pPr>
            <a:lvl9pPr marL="4114800" lvl="8" indent="-330200" algn="l">
              <a:lnSpc>
                <a:spcPct val="90000"/>
              </a:lnSpc>
              <a:spcBef>
                <a:spcPts val="500"/>
              </a:spcBef>
              <a:spcAft>
                <a:spcPts val="0"/>
              </a:spcAft>
              <a:buClr>
                <a:schemeClr val="dk1"/>
              </a:buClr>
              <a:buSzPts val="1600"/>
              <a:buChar char="•"/>
              <a:defRPr sz="1600"/>
            </a:lvl9pPr>
          </a:lstStyle>
          <a:p>
            <a:endParaRPr/>
          </a:p>
        </p:txBody>
      </p:sp>
      <p:sp>
        <p:nvSpPr>
          <p:cNvPr id="107" name="Google Shape;107;p60"/>
          <p:cNvSpPr txBox="1">
            <a:spLocks noGrp="1"/>
          </p:cNvSpPr>
          <p:nvPr>
            <p:ph type="body" idx="4"/>
          </p:nvPr>
        </p:nvSpPr>
        <p:spPr>
          <a:xfrm>
            <a:off x="836614" y="1712639"/>
            <a:ext cx="5183187" cy="792436"/>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rgbClr val="595959"/>
              </a:buClr>
              <a:buSzPts val="2500"/>
              <a:buNone/>
              <a:defRPr sz="2500" b="1">
                <a:solidFill>
                  <a:srgbClr val="595959"/>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8" name="Google Shape;108;p60"/>
          <p:cNvSpPr txBox="1">
            <a:spLocks noGrp="1"/>
          </p:cNvSpPr>
          <p:nvPr>
            <p:ph type="title"/>
          </p:nvPr>
        </p:nvSpPr>
        <p:spPr>
          <a:xfrm>
            <a:off x="854337" y="715617"/>
            <a:ext cx="10483326" cy="97507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000"/>
              <a:buFont typeface="Arial"/>
              <a:buNone/>
              <a:defRPr sz="4000" b="1">
                <a:solidFill>
                  <a:srgbClr val="3F3F3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109"/>
        <p:cNvGrpSpPr/>
        <p:nvPr/>
      </p:nvGrpSpPr>
      <p:grpSpPr>
        <a:xfrm>
          <a:off x="0" y="0"/>
          <a:ext cx="0" cy="0"/>
          <a:chOff x="0" y="0"/>
          <a:chExt cx="0" cy="0"/>
        </a:xfrm>
      </p:grpSpPr>
      <p:sp>
        <p:nvSpPr>
          <p:cNvPr id="110" name="Google Shape;110;p61"/>
          <p:cNvSpPr txBox="1">
            <a:spLocks noGrp="1"/>
          </p:cNvSpPr>
          <p:nvPr>
            <p:ph type="body" idx="1"/>
          </p:nvPr>
        </p:nvSpPr>
        <p:spPr>
          <a:xfrm>
            <a:off x="457717" y="545091"/>
            <a:ext cx="5393266" cy="44140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marL="914400" lvl="1" indent="-355600" algn="l">
              <a:lnSpc>
                <a:spcPct val="90000"/>
              </a:lnSpc>
              <a:spcBef>
                <a:spcPts val="500"/>
              </a:spcBef>
              <a:spcAft>
                <a:spcPts val="0"/>
              </a:spcAft>
              <a:buClr>
                <a:schemeClr val="dk1"/>
              </a:buClr>
              <a:buSzPts val="2000"/>
              <a:buChar char="•"/>
              <a:defRPr sz="2000">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sz="2000">
                <a:latin typeface="Arial"/>
                <a:ea typeface="Arial"/>
                <a:cs typeface="Arial"/>
                <a:sym typeface="Arial"/>
              </a:defRPr>
            </a:lvl3pPr>
            <a:lvl4pPr marL="1828800" lvl="3" indent="-355600" algn="l">
              <a:lnSpc>
                <a:spcPct val="90000"/>
              </a:lnSpc>
              <a:spcBef>
                <a:spcPts val="500"/>
              </a:spcBef>
              <a:spcAft>
                <a:spcPts val="0"/>
              </a:spcAft>
              <a:buClr>
                <a:schemeClr val="dk1"/>
              </a:buClr>
              <a:buSzPts val="2000"/>
              <a:buChar char="•"/>
              <a:defRPr sz="2000">
                <a:latin typeface="Arial"/>
                <a:ea typeface="Arial"/>
                <a:cs typeface="Arial"/>
                <a:sym typeface="Arial"/>
              </a:defRPr>
            </a:lvl4pPr>
            <a:lvl5pPr marL="2286000" lvl="4" indent="-355600" algn="l">
              <a:lnSpc>
                <a:spcPct val="90000"/>
              </a:lnSpc>
              <a:spcBef>
                <a:spcPts val="500"/>
              </a:spcBef>
              <a:spcAft>
                <a:spcPts val="0"/>
              </a:spcAft>
              <a:buClr>
                <a:schemeClr val="dk1"/>
              </a:buClr>
              <a:buSzPts val="2000"/>
              <a:buChar char="•"/>
              <a:defRPr sz="2000">
                <a:latin typeface="Arial"/>
                <a:ea typeface="Arial"/>
                <a:cs typeface="Arial"/>
                <a:sym typeface="Aria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11" name="Google Shape;111;p61"/>
          <p:cNvSpPr txBox="1">
            <a:spLocks noGrp="1"/>
          </p:cNvSpPr>
          <p:nvPr>
            <p:ph type="body" idx="2"/>
          </p:nvPr>
        </p:nvSpPr>
        <p:spPr>
          <a:xfrm>
            <a:off x="6231467" y="545092"/>
            <a:ext cx="5393266" cy="44140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112"/>
        <p:cNvGrpSpPr/>
        <p:nvPr/>
      </p:nvGrpSpPr>
      <p:grpSpPr>
        <a:xfrm>
          <a:off x="0" y="0"/>
          <a:ext cx="0" cy="0"/>
          <a:chOff x="0" y="0"/>
          <a:chExt cx="0" cy="0"/>
        </a:xfrm>
      </p:grpSpPr>
      <p:sp>
        <p:nvSpPr>
          <p:cNvPr id="113" name="Google Shape;113;p62"/>
          <p:cNvSpPr>
            <a:spLocks noGrp="1"/>
          </p:cNvSpPr>
          <p:nvPr>
            <p:ph type="pic" idx="2"/>
          </p:nvPr>
        </p:nvSpPr>
        <p:spPr>
          <a:xfrm rot="344365">
            <a:off x="765923" y="687338"/>
            <a:ext cx="10591524" cy="3491307"/>
          </a:xfrm>
          <a:prstGeom prst="rect">
            <a:avLst/>
          </a:prstGeom>
          <a:solidFill>
            <a:srgbClr val="ECECEC"/>
          </a:solidFill>
          <a:ln w="190500" cap="sq" cmpd="sng">
            <a:solidFill>
              <a:srgbClr val="FFFFFF"/>
            </a:solidFill>
            <a:prstDash val="solid"/>
            <a:miter lim="800000"/>
            <a:headEnd type="none" w="sm" len="sm"/>
            <a:tailEnd type="none" w="sm" len="sm"/>
          </a:ln>
        </p:spPr>
      </p:sp>
      <p:sp>
        <p:nvSpPr>
          <p:cNvPr id="114" name="Google Shape;114;p62"/>
          <p:cNvSpPr txBox="1">
            <a:spLocks noGrp="1"/>
          </p:cNvSpPr>
          <p:nvPr>
            <p:ph type="body" idx="1"/>
          </p:nvPr>
        </p:nvSpPr>
        <p:spPr>
          <a:xfrm>
            <a:off x="688489" y="4486019"/>
            <a:ext cx="10816984" cy="80486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595959"/>
              </a:buClr>
              <a:buSzPts val="1600"/>
              <a:buNone/>
              <a:defRPr sz="1600" b="0">
                <a:solidFill>
                  <a:srgbClr val="595959"/>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osing Slide - Option 1">
  <p:cSld name="Closing Slide - Option 1">
    <p:spTree>
      <p:nvGrpSpPr>
        <p:cNvPr id="1" name="Shape 115"/>
        <p:cNvGrpSpPr/>
        <p:nvPr/>
      </p:nvGrpSpPr>
      <p:grpSpPr>
        <a:xfrm>
          <a:off x="0" y="0"/>
          <a:ext cx="0" cy="0"/>
          <a:chOff x="0" y="0"/>
          <a:chExt cx="0" cy="0"/>
        </a:xfrm>
      </p:grpSpPr>
      <p:pic>
        <p:nvPicPr>
          <p:cNvPr id="116" name="Google Shape;116;p63" descr="A picture containing water, computer&#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7" name="Google Shape;117;p63" descr="A picture containing brick&#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8" name="Google Shape;118;p63" descr="A close up of a logo&#10;&#10;Description automatically generated"/>
          <p:cNvPicPr preferRelativeResize="0"/>
          <p:nvPr/>
        </p:nvPicPr>
        <p:blipFill rotWithShape="1">
          <a:blip r:embed="rId4">
            <a:alphaModFix/>
          </a:blip>
          <a:srcRect/>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 Option 2">
  <p:cSld name="Title Slide - Option 2">
    <p:spTree>
      <p:nvGrpSpPr>
        <p:cNvPr id="1" name="Shape 119"/>
        <p:cNvGrpSpPr/>
        <p:nvPr/>
      </p:nvGrpSpPr>
      <p:grpSpPr>
        <a:xfrm>
          <a:off x="0" y="0"/>
          <a:ext cx="0" cy="0"/>
          <a:chOff x="0" y="0"/>
          <a:chExt cx="0" cy="0"/>
        </a:xfrm>
      </p:grpSpPr>
      <p:pic>
        <p:nvPicPr>
          <p:cNvPr id="120" name="Google Shape;120;p64" descr="A picture containing bird&#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21" name="Google Shape;121;p64" descr="A picture containing bird&#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2" name="Google Shape;122;p64"/>
          <p:cNvSpPr txBox="1">
            <a:spLocks noGrp="1"/>
          </p:cNvSpPr>
          <p:nvPr>
            <p:ph type="title"/>
          </p:nvPr>
        </p:nvSpPr>
        <p:spPr>
          <a:xfrm>
            <a:off x="690040" y="1204857"/>
            <a:ext cx="10799595" cy="191071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FFFFFF"/>
              </a:buClr>
              <a:buSzPts val="5400"/>
              <a:buFont typeface="Arial"/>
              <a:buNone/>
              <a:defRPr sz="5400" b="1"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64"/>
          <p:cNvSpPr txBox="1">
            <a:spLocks noGrp="1"/>
          </p:cNvSpPr>
          <p:nvPr>
            <p:ph type="body" idx="1"/>
          </p:nvPr>
        </p:nvSpPr>
        <p:spPr>
          <a:xfrm>
            <a:off x="699248" y="3324431"/>
            <a:ext cx="10771789" cy="1500187"/>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FFFFFF"/>
              </a:buClr>
              <a:buSzPts val="2000"/>
              <a:buNone/>
              <a:defRPr sz="2000">
                <a:solidFill>
                  <a:srgbClr val="FFFFFF"/>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1800"/>
              <a:buNone/>
              <a:defRPr sz="1800">
                <a:solidFill>
                  <a:srgbClr val="888888"/>
                </a:solidFill>
              </a:defRPr>
            </a:lvl2pPr>
            <a:lvl3pPr marL="1371600" lvl="2" indent="-228600" algn="l">
              <a:lnSpc>
                <a:spcPct val="90000"/>
              </a:lnSpc>
              <a:spcBef>
                <a:spcPts val="500"/>
              </a:spcBef>
              <a:spcAft>
                <a:spcPts val="0"/>
              </a:spcAft>
              <a:buClr>
                <a:srgbClr val="888888"/>
              </a:buClr>
              <a:buSzPts val="1600"/>
              <a:buNone/>
              <a:defRPr sz="1600">
                <a:solidFill>
                  <a:srgbClr val="888888"/>
                </a:solidFill>
              </a:defRPr>
            </a:lvl3pPr>
            <a:lvl4pPr marL="1828800" lvl="3" indent="-228600" algn="l">
              <a:lnSpc>
                <a:spcPct val="90000"/>
              </a:lnSpc>
              <a:spcBef>
                <a:spcPts val="500"/>
              </a:spcBef>
              <a:spcAft>
                <a:spcPts val="0"/>
              </a:spcAft>
              <a:buClr>
                <a:srgbClr val="888888"/>
              </a:buClr>
              <a:buSzPts val="1400"/>
              <a:buNone/>
              <a:defRPr sz="1400">
                <a:solidFill>
                  <a:srgbClr val="888888"/>
                </a:solidFill>
              </a:defRPr>
            </a:lvl4pPr>
            <a:lvl5pPr marL="2286000" lvl="4" indent="-228600" algn="l">
              <a:lnSpc>
                <a:spcPct val="90000"/>
              </a:lnSpc>
              <a:spcBef>
                <a:spcPts val="500"/>
              </a:spcBef>
              <a:spcAft>
                <a:spcPts val="0"/>
              </a:spcAft>
              <a:buClr>
                <a:srgbClr val="888888"/>
              </a:buClr>
              <a:buSzPts val="1400"/>
              <a:buNone/>
              <a:defRPr sz="1400">
                <a:solidFill>
                  <a:srgbClr val="888888"/>
                </a:solidFill>
              </a:defRPr>
            </a:lvl5pPr>
            <a:lvl6pPr marL="2743200" lvl="5" indent="-228600" algn="l">
              <a:lnSpc>
                <a:spcPct val="90000"/>
              </a:lnSpc>
              <a:spcBef>
                <a:spcPts val="500"/>
              </a:spcBef>
              <a:spcAft>
                <a:spcPts val="0"/>
              </a:spcAft>
              <a:buClr>
                <a:srgbClr val="888888"/>
              </a:buClr>
              <a:buSzPts val="1400"/>
              <a:buNone/>
              <a:defRPr sz="1400">
                <a:solidFill>
                  <a:srgbClr val="888888"/>
                </a:solidFill>
              </a:defRPr>
            </a:lvl6pPr>
            <a:lvl7pPr marL="3200400" lvl="6" indent="-228600" algn="l">
              <a:lnSpc>
                <a:spcPct val="90000"/>
              </a:lnSpc>
              <a:spcBef>
                <a:spcPts val="500"/>
              </a:spcBef>
              <a:spcAft>
                <a:spcPts val="0"/>
              </a:spcAft>
              <a:buClr>
                <a:srgbClr val="888888"/>
              </a:buClr>
              <a:buSzPts val="1400"/>
              <a:buNone/>
              <a:defRPr sz="1400">
                <a:solidFill>
                  <a:srgbClr val="888888"/>
                </a:solidFill>
              </a:defRPr>
            </a:lvl7pPr>
            <a:lvl8pPr marL="3657600" lvl="7" indent="-228600" algn="l">
              <a:lnSpc>
                <a:spcPct val="90000"/>
              </a:lnSpc>
              <a:spcBef>
                <a:spcPts val="500"/>
              </a:spcBef>
              <a:spcAft>
                <a:spcPts val="0"/>
              </a:spcAft>
              <a:buClr>
                <a:srgbClr val="888888"/>
              </a:buClr>
              <a:buSzPts val="1400"/>
              <a:buNone/>
              <a:defRPr sz="1400">
                <a:solidFill>
                  <a:srgbClr val="888888"/>
                </a:solidFill>
              </a:defRPr>
            </a:lvl8pPr>
            <a:lvl9pPr marL="4114800" lvl="8" indent="-228600" algn="l">
              <a:lnSpc>
                <a:spcPct val="90000"/>
              </a:lnSpc>
              <a:spcBef>
                <a:spcPts val="500"/>
              </a:spcBef>
              <a:spcAft>
                <a:spcPts val="0"/>
              </a:spcAft>
              <a:buClr>
                <a:srgbClr val="888888"/>
              </a:buClr>
              <a:buSzPts val="1400"/>
              <a:buNone/>
              <a:defRPr sz="1400">
                <a:solidFill>
                  <a:srgbClr val="888888"/>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losing Slide - Option 2">
  <p:cSld name="Closing Slide - Option 2">
    <p:spTree>
      <p:nvGrpSpPr>
        <p:cNvPr id="1" name="Shape 124"/>
        <p:cNvGrpSpPr/>
        <p:nvPr/>
      </p:nvGrpSpPr>
      <p:grpSpPr>
        <a:xfrm>
          <a:off x="0" y="0"/>
          <a:ext cx="0" cy="0"/>
          <a:chOff x="0" y="0"/>
          <a:chExt cx="0" cy="0"/>
        </a:xfrm>
      </p:grpSpPr>
      <p:pic>
        <p:nvPicPr>
          <p:cNvPr id="125" name="Google Shape;125;p65" descr="A picture containing screenshot, bird&#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6" name="Google Shape;126;p65"/>
          <p:cNvSpPr/>
          <p:nvPr/>
        </p:nvSpPr>
        <p:spPr>
          <a:xfrm>
            <a:off x="0" y="0"/>
            <a:ext cx="12192000" cy="6858000"/>
          </a:xfrm>
          <a:prstGeom prst="rect">
            <a:avLst/>
          </a:prstGeom>
          <a:solidFill>
            <a:srgbClr val="003A5D"/>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7" name="Google Shape;127;p65" descr="A close up of a logo&#10;&#10;Description automatically generated"/>
          <p:cNvPicPr preferRelativeResize="0"/>
          <p:nvPr/>
        </p:nvPicPr>
        <p:blipFill rotWithShape="1">
          <a:blip r:embed="rId3">
            <a:alphaModFix/>
          </a:blip>
          <a:srcRect/>
          <a:stretch/>
        </p:blipFill>
        <p:spPr>
          <a:xfrm>
            <a:off x="1524000" y="0"/>
            <a:ext cx="9144000" cy="68580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128"/>
        <p:cNvGrpSpPr/>
        <p:nvPr/>
      </p:nvGrpSpPr>
      <p:grpSpPr>
        <a:xfrm>
          <a:off x="0" y="0"/>
          <a:ext cx="0" cy="0"/>
          <a:chOff x="0" y="0"/>
          <a:chExt cx="0" cy="0"/>
        </a:xfrm>
      </p:grpSpPr>
      <p:sp>
        <p:nvSpPr>
          <p:cNvPr id="129" name="Google Shape;129;p66"/>
          <p:cNvSpPr txBox="1">
            <a:spLocks noGrp="1"/>
          </p:cNvSpPr>
          <p:nvPr>
            <p:ph type="body" idx="1"/>
          </p:nvPr>
        </p:nvSpPr>
        <p:spPr>
          <a:xfrm>
            <a:off x="839788" y="853439"/>
            <a:ext cx="5157787" cy="590931"/>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0" name="Google Shape;130;p66"/>
          <p:cNvSpPr txBox="1">
            <a:spLocks noGrp="1"/>
          </p:cNvSpPr>
          <p:nvPr>
            <p:ph type="body" idx="2"/>
          </p:nvPr>
        </p:nvSpPr>
        <p:spPr>
          <a:xfrm>
            <a:off x="839788" y="1444371"/>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66"/>
          <p:cNvSpPr txBox="1">
            <a:spLocks noGrp="1"/>
          </p:cNvSpPr>
          <p:nvPr>
            <p:ph type="body" idx="3"/>
          </p:nvPr>
        </p:nvSpPr>
        <p:spPr>
          <a:xfrm>
            <a:off x="6172200" y="853439"/>
            <a:ext cx="5183188" cy="590931"/>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2" name="Google Shape;132;p66"/>
          <p:cNvSpPr txBox="1">
            <a:spLocks noGrp="1"/>
          </p:cNvSpPr>
          <p:nvPr>
            <p:ph type="body" idx="4"/>
          </p:nvPr>
        </p:nvSpPr>
        <p:spPr>
          <a:xfrm>
            <a:off x="6172200" y="1444371"/>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6" name="Google Shape;136;p66"/>
          <p:cNvSpPr txBox="1">
            <a:spLocks noGrp="1"/>
          </p:cNvSpPr>
          <p:nvPr>
            <p:ph type="title"/>
          </p:nvPr>
        </p:nvSpPr>
        <p:spPr>
          <a:xfrm>
            <a:off x="826008" y="218821"/>
            <a:ext cx="10515600" cy="48831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3200"/>
              <a:buFont typeface="Calibri"/>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Option 1">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id="{A5706C32-4A7F-904A-A159-858BADF285E9}"/>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5" name="Picture 4" descr="A close up of a logo&#10;&#10;Description automatically generated">
            <a:extLst>
              <a:ext uri="{FF2B5EF4-FFF2-40B4-BE49-F238E27FC236}">
                <a16:creationId xmlns:a16="http://schemas.microsoft.com/office/drawing/2014/main" id="{A4A908DD-8A6B-CA4C-A972-B41A7779B82D}"/>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3" name="Picture 2" descr="A close up of a sign&#10;&#10;Description automatically generated">
            <a:extLst>
              <a:ext uri="{FF2B5EF4-FFF2-40B4-BE49-F238E27FC236}">
                <a16:creationId xmlns:a16="http://schemas.microsoft.com/office/drawing/2014/main" id="{B3494C34-0F3D-854E-AFF5-078C6756F1D5}"/>
              </a:ext>
            </a:extLst>
          </p:cNvPr>
          <p:cNvPicPr>
            <a:picLocks noChangeAspect="1"/>
          </p:cNvPicPr>
          <p:nvPr userDrawn="1"/>
        </p:nvPicPr>
        <p:blipFill>
          <a:blip r:embed="rId4"/>
          <a:stretch>
            <a:fill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A36B4BA9-309F-334E-A8C9-AE868B684689}"/>
              </a:ext>
            </a:extLst>
          </p:cNvPr>
          <p:cNvSpPr>
            <a:spLocks noGrp="1"/>
          </p:cNvSpPr>
          <p:nvPr>
            <p:ph type="ctrTitle" hasCustomPrompt="1"/>
          </p:nvPr>
        </p:nvSpPr>
        <p:spPr>
          <a:xfrm>
            <a:off x="3150704" y="495088"/>
            <a:ext cx="8389575" cy="2441160"/>
          </a:xfrm>
          <a:prstGeom prst="rect">
            <a:avLst/>
          </a:prstGeom>
        </p:spPr>
        <p:txBody>
          <a:bodyPr anchor="t"/>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11" name="Subtitle 2">
            <a:extLst>
              <a:ext uri="{FF2B5EF4-FFF2-40B4-BE49-F238E27FC236}">
                <a16:creationId xmlns:a16="http://schemas.microsoft.com/office/drawing/2014/main" id="{9AC8EBA3-BD00-8C48-ADBA-8DABB356C09A}"/>
              </a:ext>
            </a:extLst>
          </p:cNvPr>
          <p:cNvSpPr>
            <a:spLocks noGrp="1"/>
          </p:cNvSpPr>
          <p:nvPr>
            <p:ph type="subTitle" idx="1" hasCustomPrompt="1"/>
          </p:nvPr>
        </p:nvSpPr>
        <p:spPr>
          <a:xfrm>
            <a:off x="3150704" y="3167505"/>
            <a:ext cx="8389575"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7193933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1A131-86D0-9D23-98CE-7FC61A71E63B}"/>
              </a:ext>
            </a:extLst>
          </p:cNvPr>
          <p:cNvSpPr>
            <a:spLocks noGrp="1"/>
          </p:cNvSpPr>
          <p:nvPr>
            <p:ph type="dt" sz="half" idx="10"/>
          </p:nvPr>
        </p:nvSpPr>
        <p:spPr/>
        <p:txBody>
          <a:bodyPr/>
          <a:lstStyle/>
          <a:p>
            <a:fld id="{84D0E6BA-C896-4F66-AC39-BCF86AB0AE0D}" type="datetimeFigureOut">
              <a:rPr lang="en-US" smtClean="0"/>
              <a:t>11/23/2025</a:t>
            </a:fld>
            <a:endParaRPr lang="en-US"/>
          </a:p>
        </p:txBody>
      </p:sp>
      <p:sp>
        <p:nvSpPr>
          <p:cNvPr id="3" name="Footer Placeholder 2">
            <a:extLst>
              <a:ext uri="{FF2B5EF4-FFF2-40B4-BE49-F238E27FC236}">
                <a16:creationId xmlns:a16="http://schemas.microsoft.com/office/drawing/2014/main" id="{BADC9603-06A4-38AE-7829-F527C802D3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372589-8EE9-06E4-1058-BC91734BAA69}"/>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006543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44" descr="A picture containing screenshot&#10;&#10;Description automatically generated"/>
          <p:cNvPicPr preferRelativeResize="0"/>
          <p:nvPr/>
        </p:nvPicPr>
        <p:blipFill rotWithShape="1">
          <a:blip r:embed="rId15">
            <a:alphaModFix/>
          </a:blip>
          <a:srcRect/>
          <a:stretch/>
        </p:blipFill>
        <p:spPr>
          <a:xfrm>
            <a:off x="0" y="0"/>
            <a:ext cx="12192000" cy="6858000"/>
          </a:xfrm>
          <a:prstGeom prst="rect">
            <a:avLst/>
          </a:prstGeom>
          <a:noFill/>
          <a:ln>
            <a:noFill/>
          </a:ln>
        </p:spPr>
      </p:pic>
      <p:pic>
        <p:nvPicPr>
          <p:cNvPr id="16" name="Google Shape;16;p44" descr="A close up of a logo&#10;&#10;Description automatically generated"/>
          <p:cNvPicPr preferRelativeResize="0"/>
          <p:nvPr/>
        </p:nvPicPr>
        <p:blipFill rotWithShape="1">
          <a:blip r:embed="rId16">
            <a:alphaModFix/>
          </a:blip>
          <a:srcRect/>
          <a:stretch/>
        </p:blipFill>
        <p:spPr>
          <a:xfrm>
            <a:off x="0" y="0"/>
            <a:ext cx="12192000" cy="6858000"/>
          </a:xfrm>
          <a:prstGeom prst="rect">
            <a:avLst/>
          </a:prstGeom>
          <a:noFill/>
          <a:ln>
            <a:noFill/>
          </a:ln>
        </p:spPr>
      </p:pic>
      <p:pic>
        <p:nvPicPr>
          <p:cNvPr id="17" name="Google Shape;17;p44" descr="A close up of a logo&#10;&#10;Description automatically generated"/>
          <p:cNvPicPr preferRelativeResize="0"/>
          <p:nvPr/>
        </p:nvPicPr>
        <p:blipFill rotWithShape="1">
          <a:blip r:embed="rId17">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arxiv.org/abs/2410.13070"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mailto:michaelwacey@msn.com"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437BA-2E84-3549-8B00-4D6E2E7C8053}"/>
              </a:ext>
            </a:extLst>
          </p:cNvPr>
          <p:cNvSpPr>
            <a:spLocks noGrp="1"/>
          </p:cNvSpPr>
          <p:nvPr>
            <p:ph type="ctrTitle"/>
          </p:nvPr>
        </p:nvSpPr>
        <p:spPr>
          <a:xfrm>
            <a:off x="3150704" y="1880928"/>
            <a:ext cx="8389575" cy="1055319"/>
          </a:xfrm>
        </p:spPr>
        <p:txBody>
          <a:bodyPr>
            <a:normAutofit/>
          </a:bodyPr>
          <a:lstStyle/>
          <a:p>
            <a:pPr algn="ctr"/>
            <a:r>
              <a:rPr lang="en-US" sz="6000" dirty="0"/>
              <a:t>Mnemosyne</a:t>
            </a:r>
          </a:p>
        </p:txBody>
      </p:sp>
      <p:pic>
        <p:nvPicPr>
          <p:cNvPr id="6" name="Google Shape;189;p5" descr="Graphical user interface, text&#10;&#10;Description automatically generated with medium confidence">
            <a:extLst>
              <a:ext uri="{FF2B5EF4-FFF2-40B4-BE49-F238E27FC236}">
                <a16:creationId xmlns:a16="http://schemas.microsoft.com/office/drawing/2014/main" id="{144EF13A-4A0A-9C45-93FC-D5245FFD541B}"/>
              </a:ext>
            </a:extLst>
          </p:cNvPr>
          <p:cNvPicPr preferRelativeResize="0"/>
          <p:nvPr/>
        </p:nvPicPr>
        <p:blipFill rotWithShape="1">
          <a:blip r:embed="rId3">
            <a:alphaModFix/>
          </a:blip>
          <a:srcRect/>
          <a:stretch/>
        </p:blipFill>
        <p:spPr>
          <a:xfrm>
            <a:off x="0" y="5560418"/>
            <a:ext cx="5196113" cy="1163929"/>
          </a:xfrm>
          <a:prstGeom prst="rect">
            <a:avLst/>
          </a:prstGeom>
          <a:noFill/>
          <a:ln>
            <a:noFill/>
          </a:ln>
        </p:spPr>
      </p:pic>
      <p:sp>
        <p:nvSpPr>
          <p:cNvPr id="4" name="TextBox 3">
            <a:extLst>
              <a:ext uri="{FF2B5EF4-FFF2-40B4-BE49-F238E27FC236}">
                <a16:creationId xmlns:a16="http://schemas.microsoft.com/office/drawing/2014/main" id="{B792A8EA-F1BC-39CC-CAA4-3B97FA31E969}"/>
              </a:ext>
            </a:extLst>
          </p:cNvPr>
          <p:cNvSpPr txBox="1"/>
          <p:nvPr/>
        </p:nvSpPr>
        <p:spPr>
          <a:xfrm>
            <a:off x="3150704" y="4960409"/>
            <a:ext cx="8389575" cy="307777"/>
          </a:xfrm>
          <a:prstGeom prst="rect">
            <a:avLst/>
          </a:prstGeom>
          <a:noFill/>
        </p:spPr>
        <p:txBody>
          <a:bodyPr wrap="square" rtlCol="0">
            <a:spAutoFit/>
          </a:bodyPr>
          <a:lstStyle/>
          <a:p>
            <a:pPr algn="ctr"/>
            <a:r>
              <a:rPr lang="en-US" dirty="0">
                <a:solidFill>
                  <a:schemeClr val="bg1"/>
                </a:solidFill>
              </a:rPr>
              <a:t>Michael Wacey | Presented to: Amir Etemadi, Mohamed </a:t>
            </a:r>
            <a:r>
              <a:rPr lang="en-US" dirty="0" err="1">
                <a:solidFill>
                  <a:schemeClr val="bg1"/>
                </a:solidFill>
              </a:rPr>
              <a:t>Elbasheer</a:t>
            </a:r>
            <a:r>
              <a:rPr lang="en-US" dirty="0">
                <a:solidFill>
                  <a:schemeClr val="bg1"/>
                </a:solidFill>
              </a:rPr>
              <a:t>, Johnathon Ng | November 24, 2025</a:t>
            </a:r>
          </a:p>
        </p:txBody>
      </p:sp>
      <p:sp>
        <p:nvSpPr>
          <p:cNvPr id="8" name="TextBox 7">
            <a:extLst>
              <a:ext uri="{FF2B5EF4-FFF2-40B4-BE49-F238E27FC236}">
                <a16:creationId xmlns:a16="http://schemas.microsoft.com/office/drawing/2014/main" id="{21EA2652-3258-4B77-B889-6C59B0C0A2F3}"/>
              </a:ext>
            </a:extLst>
          </p:cNvPr>
          <p:cNvSpPr txBox="1"/>
          <p:nvPr/>
        </p:nvSpPr>
        <p:spPr>
          <a:xfrm>
            <a:off x="3150704" y="3044858"/>
            <a:ext cx="8389575" cy="646331"/>
          </a:xfrm>
          <a:prstGeom prst="rect">
            <a:avLst/>
          </a:prstGeom>
          <a:noFill/>
        </p:spPr>
        <p:txBody>
          <a:bodyPr wrap="square" rtlCol="0">
            <a:spAutoFit/>
          </a:bodyPr>
          <a:lstStyle/>
          <a:p>
            <a:pPr algn="ctr"/>
            <a:r>
              <a:rPr lang="en-US" sz="1800" dirty="0">
                <a:solidFill>
                  <a:schemeClr val="bg1"/>
                </a:solidFill>
              </a:rPr>
              <a:t>Using Large Language Models to Convert Documents to Knowledge Graphs to Check for Completeness and Consistency</a:t>
            </a:r>
          </a:p>
        </p:txBody>
      </p:sp>
    </p:spTree>
    <p:extLst>
      <p:ext uri="{BB962C8B-B14F-4D97-AF65-F5344CB8AC3E}">
        <p14:creationId xmlns:p14="http://schemas.microsoft.com/office/powerpoint/2010/main" val="3770498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5BD123E2-3732-9BA0-D49D-DA874FD332E5}"/>
              </a:ext>
            </a:extLst>
          </p:cNvPr>
          <p:cNvSpPr txBox="1">
            <a:spLocks/>
          </p:cNvSpPr>
          <p:nvPr/>
        </p:nvSpPr>
        <p:spPr>
          <a:xfrm>
            <a:off x="854337" y="715617"/>
            <a:ext cx="10483326" cy="97507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dirty="0"/>
              <a:t>Agenda</a:t>
            </a:r>
          </a:p>
        </p:txBody>
      </p:sp>
      <p:graphicFrame>
        <p:nvGraphicFramePr>
          <p:cNvPr id="5" name="Table 4">
            <a:extLst>
              <a:ext uri="{FF2B5EF4-FFF2-40B4-BE49-F238E27FC236}">
                <a16:creationId xmlns:a16="http://schemas.microsoft.com/office/drawing/2014/main" id="{4EBFA503-9695-1357-2B19-F45920881453}"/>
              </a:ext>
            </a:extLst>
          </p:cNvPr>
          <p:cNvGraphicFramePr>
            <a:graphicFrameLocks noGrp="1"/>
          </p:cNvGraphicFramePr>
          <p:nvPr>
            <p:extLst>
              <p:ext uri="{D42A27DB-BD31-4B8C-83A1-F6EECF244321}">
                <p14:modId xmlns:p14="http://schemas.microsoft.com/office/powerpoint/2010/main" val="864911335"/>
              </p:ext>
            </p:extLst>
          </p:nvPr>
        </p:nvGraphicFramePr>
        <p:xfrm>
          <a:off x="854337" y="1661323"/>
          <a:ext cx="10483326" cy="3017520"/>
        </p:xfrm>
        <a:graphic>
          <a:graphicData uri="http://schemas.openxmlformats.org/drawingml/2006/table">
            <a:tbl>
              <a:tblPr/>
              <a:tblGrid>
                <a:gridCol w="554236">
                  <a:extLst>
                    <a:ext uri="{9D8B030D-6E8A-4147-A177-3AD203B41FA5}">
                      <a16:colId xmlns:a16="http://schemas.microsoft.com/office/drawing/2014/main" val="1572393645"/>
                    </a:ext>
                  </a:extLst>
                </a:gridCol>
                <a:gridCol w="1706329">
                  <a:extLst>
                    <a:ext uri="{9D8B030D-6E8A-4147-A177-3AD203B41FA5}">
                      <a16:colId xmlns:a16="http://schemas.microsoft.com/office/drawing/2014/main" val="4249571766"/>
                    </a:ext>
                  </a:extLst>
                </a:gridCol>
                <a:gridCol w="8222761">
                  <a:extLst>
                    <a:ext uri="{9D8B030D-6E8A-4147-A177-3AD203B41FA5}">
                      <a16:colId xmlns:a16="http://schemas.microsoft.com/office/drawing/2014/main" val="215766141"/>
                    </a:ext>
                  </a:extLst>
                </a:gridCol>
              </a:tblGrid>
              <a:tr h="370840">
                <a:tc>
                  <a:txBody>
                    <a:bodyPr/>
                    <a:lstStyle/>
                    <a:p>
                      <a:r>
                        <a:rPr lang="en-US"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Introduction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Defining the "Context Window" limit in current LLMs and the multi-billion dollar risk of document inconsistencies (the NDA Case Study). Outlining the Research Questions and Scope.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6179425"/>
                  </a:ext>
                </a:extLst>
              </a:tr>
              <a:tr h="370840">
                <a:tc>
                  <a:txBody>
                    <a:bodyPr/>
                    <a:lstStyle/>
                    <a:p>
                      <a:r>
                        <a:rPr lang="en-US" dirty="0"/>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Foundation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Reviewing the theoretical basis in Knowledge Representation (Minsky) and Graphs (Noy/Fensel). detailing the </a:t>
                      </a:r>
                      <a:r>
                        <a:rPr lang="en-US" b="1" dirty="0"/>
                        <a:t>Mnemosyne</a:t>
                      </a:r>
                      <a:r>
                        <a:rPr lang="en-US" dirty="0"/>
                        <a:t> pipeline architecture, specifically the "Short Term" vs. "Long Term" memory consolidation methodology.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6339738"/>
                  </a:ext>
                </a:extLst>
              </a:tr>
              <a:tr h="370840">
                <a:tc>
                  <a:txBody>
                    <a:bodyPr/>
                    <a:lstStyle/>
                    <a:p>
                      <a:r>
                        <a:rPr lang="en-US" dirty="0"/>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Key Findings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Presenting experimental results from the PA Township Laws corpus. Analyzing the system's performance via F1 scores and the "Controlled Error Injection" experiment to validate consistency checking.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7968884"/>
                  </a:ext>
                </a:extLst>
              </a:tr>
              <a:tr h="370840">
                <a:tc>
                  <a:txBody>
                    <a:bodyPr/>
                    <a:lstStyle/>
                    <a:p>
                      <a:r>
                        <a:rPr lang="en-US" dirty="0"/>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Discussion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Interpreting the results: How semantic enrichment overcomes token-limitations. Analyzing the distinction between "Internal Consistency" (verifiable) vs. "External Completeness“.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6859370"/>
                  </a:ext>
                </a:extLst>
              </a:tr>
              <a:tr h="370840">
                <a:tc>
                  <a:txBody>
                    <a:bodyPr/>
                    <a:lstStyle/>
                    <a:p>
                      <a:r>
                        <a:rPr lang="en-US"/>
                        <a:t>5</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Conclusion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Summarizing the contributions to the field and revisiting the initial NDA problem to demonstrate how the Mnemosyne pipeline solves the fatal contradiction.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5245579"/>
                  </a:ext>
                </a:extLst>
              </a:tr>
            </a:tbl>
          </a:graphicData>
        </a:graphic>
      </p:graphicFrame>
      <p:sp>
        <p:nvSpPr>
          <p:cNvPr id="6" name="TextBox 5">
            <a:extLst>
              <a:ext uri="{FF2B5EF4-FFF2-40B4-BE49-F238E27FC236}">
                <a16:creationId xmlns:a16="http://schemas.microsoft.com/office/drawing/2014/main" id="{B193961F-E334-46D7-1EF5-668B461E89C0}"/>
              </a:ext>
            </a:extLst>
          </p:cNvPr>
          <p:cNvSpPr txBox="1"/>
          <p:nvPr/>
        </p:nvSpPr>
        <p:spPr>
          <a:xfrm>
            <a:off x="6685364" y="0"/>
            <a:ext cx="5506636" cy="307777"/>
          </a:xfrm>
          <a:prstGeom prst="rect">
            <a:avLst/>
          </a:prstGeom>
          <a:noFill/>
        </p:spPr>
        <p:txBody>
          <a:bodyPr wrap="none" rtlCol="0">
            <a:spAutoFit/>
          </a:bodyPr>
          <a:lstStyle/>
          <a:p>
            <a:pPr algn="r"/>
            <a:r>
              <a:rPr lang="en-US" b="1" dirty="0"/>
              <a:t>Introduction</a:t>
            </a:r>
            <a:r>
              <a:rPr lang="en-US" dirty="0"/>
              <a:t>   Foundation   Key Findings   Discussion   Conclusion</a:t>
            </a:r>
          </a:p>
        </p:txBody>
      </p:sp>
    </p:spTree>
    <p:extLst>
      <p:ext uri="{BB962C8B-B14F-4D97-AF65-F5344CB8AC3E}">
        <p14:creationId xmlns:p14="http://schemas.microsoft.com/office/powerpoint/2010/main" val="2673455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BD37DBF-E614-3FB0-3DB4-A55E8B14484F}"/>
              </a:ext>
            </a:extLst>
          </p:cNvPr>
          <p:cNvSpPr>
            <a:spLocks noGrp="1"/>
          </p:cNvSpPr>
          <p:nvPr>
            <p:ph type="body" idx="1"/>
          </p:nvPr>
        </p:nvSpPr>
        <p:spPr>
          <a:xfrm>
            <a:off x="310897" y="1030097"/>
            <a:ext cx="5708902" cy="3434474"/>
          </a:xfrm>
        </p:spPr>
        <p:txBody>
          <a:bodyPr>
            <a:noAutofit/>
          </a:bodyPr>
          <a:lstStyle/>
          <a:p>
            <a:pPr marL="101600" indent="0">
              <a:buNone/>
            </a:pPr>
            <a:r>
              <a:rPr lang="en-US" sz="1600" b="1" dirty="0"/>
              <a:t>The Problem &amp; Challenge</a:t>
            </a:r>
          </a:p>
          <a:p>
            <a:pPr marL="101600" indent="0">
              <a:buNone/>
            </a:pPr>
            <a:r>
              <a:rPr lang="en-US" sz="1600" dirty="0"/>
              <a:t>Large-scale documents (10k-100k+ pages), such as New Drug Applications (NDAs) or complex legal texts, often contain critical, hard-to-detect inconsistencies and omissions.</a:t>
            </a:r>
          </a:p>
          <a:p>
            <a:pPr marL="101600" indent="0">
              <a:buNone/>
            </a:pPr>
            <a:r>
              <a:rPr lang="en-US" sz="1600" dirty="0"/>
              <a:t>Existing automated analysis methods, including those using Large Language Models (LLMs), fail to address this problem at scale due to the fundamental limitation of the "context window."</a:t>
            </a:r>
          </a:p>
          <a:p>
            <a:pPr marL="101600" indent="0">
              <a:buNone/>
            </a:pPr>
            <a:endParaRPr lang="en-US" sz="1600" dirty="0"/>
          </a:p>
        </p:txBody>
      </p:sp>
      <p:sp>
        <p:nvSpPr>
          <p:cNvPr id="6" name="Text Placeholder 5">
            <a:extLst>
              <a:ext uri="{FF2B5EF4-FFF2-40B4-BE49-F238E27FC236}">
                <a16:creationId xmlns:a16="http://schemas.microsoft.com/office/drawing/2014/main" id="{15427405-80A6-178E-E2CD-C8E3EE557976}"/>
              </a:ext>
            </a:extLst>
          </p:cNvPr>
          <p:cNvSpPr>
            <a:spLocks noGrp="1"/>
          </p:cNvSpPr>
          <p:nvPr>
            <p:ph type="body" idx="2"/>
          </p:nvPr>
        </p:nvSpPr>
        <p:spPr>
          <a:xfrm>
            <a:off x="6172199" y="1030097"/>
            <a:ext cx="5708902" cy="3434474"/>
          </a:xfrm>
        </p:spPr>
        <p:txBody>
          <a:bodyPr>
            <a:noAutofit/>
          </a:bodyPr>
          <a:lstStyle/>
          <a:p>
            <a:pPr marL="101600" indent="0">
              <a:buNone/>
            </a:pPr>
            <a:r>
              <a:rPr lang="en-US" sz="1600" b="1" dirty="0"/>
              <a:t>The Solution &amp; Key Findings</a:t>
            </a:r>
          </a:p>
          <a:p>
            <a:pPr marL="101600" indent="0">
              <a:buNone/>
            </a:pPr>
            <a:r>
              <a:rPr lang="en-US" sz="1600" dirty="0"/>
              <a:t>This research presents </a:t>
            </a:r>
            <a:r>
              <a:rPr lang="en-US" sz="1600" b="1" dirty="0"/>
              <a:t>Mnemosyne</a:t>
            </a:r>
            <a:r>
              <a:rPr lang="en-US" sz="1600" dirty="0"/>
              <a:t>, a novel pipeline that uses LLMs to incrementally convert large documents into attributed Knowledge Graphs (KGs).</a:t>
            </a:r>
          </a:p>
          <a:p>
            <a:pPr marL="101600" indent="0">
              <a:buNone/>
            </a:pPr>
            <a:r>
              <a:rPr lang="en-US" sz="1600" dirty="0"/>
              <a:t>The system merges these local KGs and uses an LLM to perform </a:t>
            </a:r>
            <a:r>
              <a:rPr lang="en-US" sz="1600" i="1" dirty="0"/>
              <a:t>semantic enrichment</a:t>
            </a:r>
            <a:r>
              <a:rPr lang="en-US" sz="1600" dirty="0"/>
              <a:t>, creating typed clusters that capture deep meaning.</a:t>
            </a:r>
          </a:p>
          <a:p>
            <a:pPr marL="101600" indent="0">
              <a:buNone/>
            </a:pPr>
            <a:r>
              <a:rPr lang="en-US" sz="1600" dirty="0"/>
              <a:t>This enriched, unified graph can then be queried to identify contradictions (consistency) and undefined elements (completeness), effectively overcoming the context window barrier.</a:t>
            </a:r>
          </a:p>
        </p:txBody>
      </p:sp>
      <p:sp>
        <p:nvSpPr>
          <p:cNvPr id="4" name="Title 3">
            <a:extLst>
              <a:ext uri="{FF2B5EF4-FFF2-40B4-BE49-F238E27FC236}">
                <a16:creationId xmlns:a16="http://schemas.microsoft.com/office/drawing/2014/main" id="{8DCE2919-7823-2592-C38A-4B37CD4DB0B9}"/>
              </a:ext>
            </a:extLst>
          </p:cNvPr>
          <p:cNvSpPr>
            <a:spLocks noGrp="1"/>
          </p:cNvSpPr>
          <p:nvPr>
            <p:ph type="title"/>
          </p:nvPr>
        </p:nvSpPr>
        <p:spPr>
          <a:xfrm>
            <a:off x="854337" y="194409"/>
            <a:ext cx="10483326" cy="975070"/>
          </a:xfrm>
        </p:spPr>
        <p:txBody>
          <a:bodyPr/>
          <a:lstStyle/>
          <a:p>
            <a:r>
              <a:rPr lang="en-US" dirty="0"/>
              <a:t>Abstract</a:t>
            </a:r>
          </a:p>
        </p:txBody>
      </p:sp>
      <p:sp>
        <p:nvSpPr>
          <p:cNvPr id="2" name="TextBox 1">
            <a:extLst>
              <a:ext uri="{FF2B5EF4-FFF2-40B4-BE49-F238E27FC236}">
                <a16:creationId xmlns:a16="http://schemas.microsoft.com/office/drawing/2014/main" id="{4ED8E9ED-0D09-7CFD-FF0F-3191F5497B77}"/>
              </a:ext>
            </a:extLst>
          </p:cNvPr>
          <p:cNvSpPr txBox="1"/>
          <p:nvPr/>
        </p:nvSpPr>
        <p:spPr>
          <a:xfrm>
            <a:off x="6685364" y="0"/>
            <a:ext cx="5506636" cy="307777"/>
          </a:xfrm>
          <a:prstGeom prst="rect">
            <a:avLst/>
          </a:prstGeom>
          <a:noFill/>
        </p:spPr>
        <p:txBody>
          <a:bodyPr wrap="none" rtlCol="0">
            <a:spAutoFit/>
          </a:bodyPr>
          <a:lstStyle/>
          <a:p>
            <a:pPr algn="r"/>
            <a:r>
              <a:rPr lang="en-US" b="1" dirty="0"/>
              <a:t>Introduction</a:t>
            </a:r>
            <a:r>
              <a:rPr lang="en-US" dirty="0"/>
              <a:t>   Foundation   Key Findings   Discussion   Conclusion</a:t>
            </a:r>
          </a:p>
        </p:txBody>
      </p:sp>
      <p:sp>
        <p:nvSpPr>
          <p:cNvPr id="3" name="TextBox 2">
            <a:extLst>
              <a:ext uri="{FF2B5EF4-FFF2-40B4-BE49-F238E27FC236}">
                <a16:creationId xmlns:a16="http://schemas.microsoft.com/office/drawing/2014/main" id="{0B96F531-B281-9CA5-95C1-7CAA99C0AC19}"/>
              </a:ext>
            </a:extLst>
          </p:cNvPr>
          <p:cNvSpPr txBox="1"/>
          <p:nvPr/>
        </p:nvSpPr>
        <p:spPr>
          <a:xfrm>
            <a:off x="310897" y="4464571"/>
            <a:ext cx="11563459" cy="646331"/>
          </a:xfrm>
          <a:prstGeom prst="rect">
            <a:avLst/>
          </a:prstGeom>
          <a:noFill/>
        </p:spPr>
        <p:txBody>
          <a:bodyPr wrap="square" rtlCol="0">
            <a:spAutoFit/>
          </a:bodyPr>
          <a:lstStyle/>
          <a:p>
            <a:pPr algn="ctr"/>
            <a:r>
              <a:rPr lang="en-US" sz="1800" b="1" dirty="0"/>
              <a:t>Mnemosyne was developed and tested using the laws of Pennsylvania as they are publicly available. But its architecture and design are intended to work in any domain that has large complex documents.</a:t>
            </a:r>
          </a:p>
        </p:txBody>
      </p:sp>
    </p:spTree>
    <p:extLst>
      <p:ext uri="{BB962C8B-B14F-4D97-AF65-F5344CB8AC3E}">
        <p14:creationId xmlns:p14="http://schemas.microsoft.com/office/powerpoint/2010/main" val="3409475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4" name="Text Placeholder 3">
            <a:extLst>
              <a:ext uri="{FF2B5EF4-FFF2-40B4-BE49-F238E27FC236}">
                <a16:creationId xmlns:a16="http://schemas.microsoft.com/office/drawing/2014/main" id="{091E6D14-31BF-C14C-ACB7-783B6ECA29F6}"/>
              </a:ext>
            </a:extLst>
          </p:cNvPr>
          <p:cNvSpPr>
            <a:spLocks noGrp="1"/>
          </p:cNvSpPr>
          <p:nvPr>
            <p:ph type="body" idx="1"/>
          </p:nvPr>
        </p:nvSpPr>
        <p:spPr>
          <a:xfrm>
            <a:off x="838200" y="1278870"/>
            <a:ext cx="10515600" cy="3474508"/>
          </a:xfrm>
        </p:spPr>
        <p:txBody>
          <a:bodyPr>
            <a:noAutofit/>
          </a:bodyPr>
          <a:lstStyle/>
          <a:p>
            <a:pPr algn="ctr"/>
            <a:r>
              <a:rPr lang="en-US" sz="3000" dirty="0"/>
              <a:t>Illustrative example: Imagine that your New Drug Application (NDA) to the FDA has just been rejected. It is over 100,000 pages long. On page 727 it stated that Octreotide must not be taken with your new drug due to risk of death. But on page 32,434 it stated that there are no known side effects with any Somatostatin Analog. Octreotide is a Somatostatin Analog. This inconsistency sunk the whole application. None of your human or automated checks found the contradiction. </a:t>
            </a:r>
          </a:p>
          <a:p>
            <a:pPr algn="r"/>
            <a:r>
              <a:rPr lang="en-US" sz="1600" dirty="0"/>
              <a:t>- A critical failure in complex document analysis</a:t>
            </a:r>
          </a:p>
        </p:txBody>
      </p:sp>
      <p:sp>
        <p:nvSpPr>
          <p:cNvPr id="2" name="Google Shape;153;g1223c012a97_0_20">
            <a:extLst>
              <a:ext uri="{FF2B5EF4-FFF2-40B4-BE49-F238E27FC236}">
                <a16:creationId xmlns:a16="http://schemas.microsoft.com/office/drawing/2014/main" id="{3AB09C38-36D1-45AC-6C7A-95EA3C38D42B}"/>
              </a:ext>
            </a:extLst>
          </p:cNvPr>
          <p:cNvSpPr txBox="1">
            <a:spLocks noGrp="1"/>
          </p:cNvSpPr>
          <p:nvPr>
            <p:ph type="title"/>
          </p:nvPr>
        </p:nvSpPr>
        <p:spPr>
          <a:xfrm>
            <a:off x="854337" y="451661"/>
            <a:ext cx="10483326" cy="97507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F3F3F"/>
              </a:buClr>
              <a:buSzPts val="6000"/>
              <a:buFont typeface="Arial"/>
              <a:buNone/>
            </a:pPr>
            <a:r>
              <a:rPr lang="en-US" sz="5400" dirty="0"/>
              <a:t>The Multi Billion Dollar Problem</a:t>
            </a:r>
            <a:endParaRPr sz="5400" dirty="0"/>
          </a:p>
        </p:txBody>
      </p:sp>
      <p:sp>
        <p:nvSpPr>
          <p:cNvPr id="3" name="TextBox 2">
            <a:extLst>
              <a:ext uri="{FF2B5EF4-FFF2-40B4-BE49-F238E27FC236}">
                <a16:creationId xmlns:a16="http://schemas.microsoft.com/office/drawing/2014/main" id="{3F5EF72C-B019-CE22-4CD6-29E14B4C5F62}"/>
              </a:ext>
            </a:extLst>
          </p:cNvPr>
          <p:cNvSpPr txBox="1"/>
          <p:nvPr/>
        </p:nvSpPr>
        <p:spPr>
          <a:xfrm>
            <a:off x="6685364" y="0"/>
            <a:ext cx="5506636" cy="307777"/>
          </a:xfrm>
          <a:prstGeom prst="rect">
            <a:avLst/>
          </a:prstGeom>
          <a:noFill/>
        </p:spPr>
        <p:txBody>
          <a:bodyPr wrap="none" rtlCol="0">
            <a:spAutoFit/>
          </a:bodyPr>
          <a:lstStyle/>
          <a:p>
            <a:pPr algn="r"/>
            <a:r>
              <a:rPr lang="en-US" b="1" dirty="0"/>
              <a:t>Introduction</a:t>
            </a:r>
            <a:r>
              <a:rPr lang="en-US" dirty="0"/>
              <a:t>   Foundation   Key Findings   Discussion   Conclusion</a:t>
            </a:r>
          </a:p>
        </p:txBody>
      </p:sp>
    </p:spTree>
    <p:extLst>
      <p:ext uri="{BB962C8B-B14F-4D97-AF65-F5344CB8AC3E}">
        <p14:creationId xmlns:p14="http://schemas.microsoft.com/office/powerpoint/2010/main" val="2784664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F763F19-AC4A-59EC-5B24-7B76EEE8C2B2}"/>
              </a:ext>
            </a:extLst>
          </p:cNvPr>
          <p:cNvSpPr>
            <a:spLocks noGrp="1"/>
          </p:cNvSpPr>
          <p:nvPr>
            <p:ph type="body" idx="1"/>
          </p:nvPr>
        </p:nvSpPr>
        <p:spPr>
          <a:xfrm>
            <a:off x="838200" y="1825625"/>
            <a:ext cx="10515600" cy="1724971"/>
          </a:xfrm>
          <a:solidFill>
            <a:schemeClr val="bg2"/>
          </a:solidFill>
        </p:spPr>
        <p:txBody>
          <a:bodyPr>
            <a:normAutofit fontScale="77500" lnSpcReduction="20000"/>
          </a:bodyPr>
          <a:lstStyle/>
          <a:p>
            <a:r>
              <a:rPr lang="en-US" b="1" dirty="0">
                <a:solidFill>
                  <a:schemeClr val="bg1"/>
                </a:solidFill>
              </a:rPr>
              <a:t>RQ1: </a:t>
            </a:r>
            <a:r>
              <a:rPr lang="en-US" dirty="0">
                <a:solidFill>
                  <a:schemeClr val="bg1"/>
                </a:solidFill>
              </a:rPr>
              <a:t>Can an LLM be used to convert a large document into a knowledge graph?</a:t>
            </a:r>
          </a:p>
          <a:p>
            <a:r>
              <a:rPr lang="en-US" b="1" dirty="0">
                <a:solidFill>
                  <a:schemeClr val="bg1"/>
                </a:solidFill>
              </a:rPr>
              <a:t>RQ2: </a:t>
            </a:r>
            <a:r>
              <a:rPr lang="en-US" dirty="0">
                <a:solidFill>
                  <a:schemeClr val="bg1"/>
                </a:solidFill>
              </a:rPr>
              <a:t>Can an LLM be used to process multiple knowledge graphs into a typed cluster of knowledge graphs?</a:t>
            </a:r>
          </a:p>
          <a:p>
            <a:r>
              <a:rPr lang="en-US" b="1" dirty="0">
                <a:solidFill>
                  <a:schemeClr val="bg1"/>
                </a:solidFill>
              </a:rPr>
              <a:t>RQ3: </a:t>
            </a:r>
            <a:r>
              <a:rPr lang="en-US" dirty="0">
                <a:solidFill>
                  <a:schemeClr val="bg1"/>
                </a:solidFill>
              </a:rPr>
              <a:t>Can a typed cluster of knowledge graphs be used to check a source document for consistency and completeness?</a:t>
            </a:r>
          </a:p>
        </p:txBody>
      </p:sp>
      <p:sp>
        <p:nvSpPr>
          <p:cNvPr id="5" name="Title 4">
            <a:extLst>
              <a:ext uri="{FF2B5EF4-FFF2-40B4-BE49-F238E27FC236}">
                <a16:creationId xmlns:a16="http://schemas.microsoft.com/office/drawing/2014/main" id="{3E4610B5-E229-938C-5F9E-7063062669EB}"/>
              </a:ext>
            </a:extLst>
          </p:cNvPr>
          <p:cNvSpPr>
            <a:spLocks noGrp="1"/>
          </p:cNvSpPr>
          <p:nvPr>
            <p:ph type="title"/>
          </p:nvPr>
        </p:nvSpPr>
        <p:spPr/>
        <p:txBody>
          <a:bodyPr/>
          <a:lstStyle/>
          <a:p>
            <a:r>
              <a:rPr lang="en-US" dirty="0"/>
              <a:t>Research Questions and Hypothesis</a:t>
            </a:r>
          </a:p>
        </p:txBody>
      </p:sp>
      <p:sp>
        <p:nvSpPr>
          <p:cNvPr id="8" name="TextBox 7">
            <a:extLst>
              <a:ext uri="{FF2B5EF4-FFF2-40B4-BE49-F238E27FC236}">
                <a16:creationId xmlns:a16="http://schemas.microsoft.com/office/drawing/2014/main" id="{4810B453-841C-3892-29CB-D462A898FF4A}"/>
              </a:ext>
            </a:extLst>
          </p:cNvPr>
          <p:cNvSpPr txBox="1"/>
          <p:nvPr/>
        </p:nvSpPr>
        <p:spPr>
          <a:xfrm>
            <a:off x="6685364" y="0"/>
            <a:ext cx="5506636" cy="307777"/>
          </a:xfrm>
          <a:prstGeom prst="rect">
            <a:avLst/>
          </a:prstGeom>
          <a:noFill/>
        </p:spPr>
        <p:txBody>
          <a:bodyPr wrap="none" rtlCol="0">
            <a:spAutoFit/>
          </a:bodyPr>
          <a:lstStyle/>
          <a:p>
            <a:pPr algn="r"/>
            <a:r>
              <a:rPr lang="en-US" b="1" dirty="0"/>
              <a:t>Introduction</a:t>
            </a:r>
            <a:r>
              <a:rPr lang="en-US" dirty="0"/>
              <a:t>   Foundation   Key Findings   Discussion   Conclusion</a:t>
            </a:r>
          </a:p>
        </p:txBody>
      </p:sp>
      <p:sp>
        <p:nvSpPr>
          <p:cNvPr id="2" name="Text Placeholder 5">
            <a:extLst>
              <a:ext uri="{FF2B5EF4-FFF2-40B4-BE49-F238E27FC236}">
                <a16:creationId xmlns:a16="http://schemas.microsoft.com/office/drawing/2014/main" id="{27E19047-3BC3-0278-AACE-325959072C95}"/>
              </a:ext>
            </a:extLst>
          </p:cNvPr>
          <p:cNvSpPr txBox="1">
            <a:spLocks/>
          </p:cNvSpPr>
          <p:nvPr/>
        </p:nvSpPr>
        <p:spPr>
          <a:xfrm>
            <a:off x="838200" y="3667395"/>
            <a:ext cx="10515600" cy="1724971"/>
          </a:xfrm>
          <a:prstGeom prst="rect">
            <a:avLst/>
          </a:prstGeom>
          <a:solidFill>
            <a:schemeClr val="bg2"/>
          </a:solidFill>
          <a:ln>
            <a:noFill/>
          </a:ln>
        </p:spPr>
        <p:txBody>
          <a:bodyPr spcFirstLastPara="1" wrap="square" lIns="91425" tIns="45700" rIns="91425" bIns="45700" anchor="t" anchorCtr="0">
            <a:normAutofit fontScale="77500" lnSpcReduction="20000"/>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595959"/>
              </a:buClr>
              <a:buSzPts val="2800"/>
              <a:buFont typeface="Arial"/>
              <a:buNone/>
              <a:defRPr sz="2800" b="0" i="0" u="none" strike="noStrike" cap="none">
                <a:solidFill>
                  <a:srgbClr val="595959"/>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b="1" dirty="0">
                <a:solidFill>
                  <a:schemeClr val="bg1"/>
                </a:solidFill>
              </a:rPr>
              <a:t>H1:</a:t>
            </a:r>
            <a:r>
              <a:rPr lang="en-US" dirty="0">
                <a:solidFill>
                  <a:schemeClr val="bg1"/>
                </a:solidFill>
              </a:rPr>
              <a:t> An LLM can be used to convert a large document into a knowledge graph.</a:t>
            </a:r>
          </a:p>
          <a:p>
            <a:r>
              <a:rPr lang="en-US" b="1" dirty="0">
                <a:solidFill>
                  <a:schemeClr val="bg1"/>
                </a:solidFill>
              </a:rPr>
              <a:t>H2:</a:t>
            </a:r>
            <a:r>
              <a:rPr lang="en-US" dirty="0">
                <a:solidFill>
                  <a:schemeClr val="bg1"/>
                </a:solidFill>
              </a:rPr>
              <a:t> An LLM can be used to process multiple knowledge graphs into a cluster of typed knowledge graphs.</a:t>
            </a:r>
          </a:p>
          <a:p>
            <a:r>
              <a:rPr lang="en-US" b="1" dirty="0">
                <a:solidFill>
                  <a:schemeClr val="bg1"/>
                </a:solidFill>
              </a:rPr>
              <a:t>H3:</a:t>
            </a:r>
            <a:r>
              <a:rPr lang="en-US" dirty="0">
                <a:solidFill>
                  <a:schemeClr val="bg1"/>
                </a:solidFill>
              </a:rPr>
              <a:t> A typed cluster of knowledge graphs can be used to verify the consistency and completeness of the source document.</a:t>
            </a:r>
          </a:p>
        </p:txBody>
      </p:sp>
    </p:spTree>
    <p:extLst>
      <p:ext uri="{BB962C8B-B14F-4D97-AF65-F5344CB8AC3E}">
        <p14:creationId xmlns:p14="http://schemas.microsoft.com/office/powerpoint/2010/main" val="1645475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15B55-5186-4B15-FB69-D0CD6ED72D81}"/>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1FE0FDBB-060F-E6C6-3A79-92029AC28C59}"/>
              </a:ext>
            </a:extLst>
          </p:cNvPr>
          <p:cNvSpPr>
            <a:spLocks noGrp="1"/>
          </p:cNvSpPr>
          <p:nvPr>
            <p:ph type="body" idx="1"/>
          </p:nvPr>
        </p:nvSpPr>
        <p:spPr>
          <a:xfrm>
            <a:off x="838200" y="1825625"/>
            <a:ext cx="10515600" cy="1724971"/>
          </a:xfrm>
          <a:solidFill>
            <a:schemeClr val="bg2"/>
          </a:solidFill>
        </p:spPr>
        <p:txBody>
          <a:bodyPr>
            <a:normAutofit fontScale="70000" lnSpcReduction="20000"/>
          </a:bodyPr>
          <a:lstStyle/>
          <a:p>
            <a:r>
              <a:rPr lang="en-US" b="1" dirty="0">
                <a:solidFill>
                  <a:schemeClr val="bg1"/>
                </a:solidFill>
              </a:rPr>
              <a:t>In Scope</a:t>
            </a:r>
          </a:p>
          <a:p>
            <a:pPr marL="685800" indent="-457200">
              <a:buFont typeface="Arial" panose="020B0604020202020204" pitchFamily="34" charset="0"/>
              <a:buChar char="•"/>
            </a:pPr>
            <a:r>
              <a:rPr lang="en-US" dirty="0">
                <a:solidFill>
                  <a:schemeClr val="bg1"/>
                </a:solidFill>
              </a:rPr>
              <a:t>Accepting a document in Word format</a:t>
            </a:r>
          </a:p>
          <a:p>
            <a:pPr marL="685800" indent="-457200">
              <a:buFont typeface="Arial" panose="020B0604020202020204" pitchFamily="34" charset="0"/>
              <a:buChar char="•"/>
            </a:pPr>
            <a:r>
              <a:rPr lang="en-US" dirty="0">
                <a:solidFill>
                  <a:schemeClr val="bg1"/>
                </a:solidFill>
              </a:rPr>
              <a:t>Converting the document to a semantically rich format (Knowledge Graph)</a:t>
            </a:r>
          </a:p>
          <a:p>
            <a:pPr marL="685800" indent="-457200">
              <a:buFont typeface="Arial" panose="020B0604020202020204" pitchFamily="34" charset="0"/>
              <a:buChar char="•"/>
            </a:pPr>
            <a:r>
              <a:rPr lang="en-US" dirty="0">
                <a:solidFill>
                  <a:schemeClr val="bg1"/>
                </a:solidFill>
              </a:rPr>
              <a:t>Validation that the knowledge graph can be used to check consistency and completeness</a:t>
            </a:r>
          </a:p>
        </p:txBody>
      </p:sp>
      <p:sp>
        <p:nvSpPr>
          <p:cNvPr id="5" name="Title 4">
            <a:extLst>
              <a:ext uri="{FF2B5EF4-FFF2-40B4-BE49-F238E27FC236}">
                <a16:creationId xmlns:a16="http://schemas.microsoft.com/office/drawing/2014/main" id="{3CBC0903-FCA7-F372-B155-0AEF55A606F1}"/>
              </a:ext>
            </a:extLst>
          </p:cNvPr>
          <p:cNvSpPr>
            <a:spLocks noGrp="1"/>
          </p:cNvSpPr>
          <p:nvPr>
            <p:ph type="title"/>
          </p:nvPr>
        </p:nvSpPr>
        <p:spPr/>
        <p:txBody>
          <a:bodyPr/>
          <a:lstStyle/>
          <a:p>
            <a:r>
              <a:rPr lang="en-US" dirty="0"/>
              <a:t>Scope</a:t>
            </a:r>
          </a:p>
        </p:txBody>
      </p:sp>
      <p:sp>
        <p:nvSpPr>
          <p:cNvPr id="8" name="TextBox 7">
            <a:extLst>
              <a:ext uri="{FF2B5EF4-FFF2-40B4-BE49-F238E27FC236}">
                <a16:creationId xmlns:a16="http://schemas.microsoft.com/office/drawing/2014/main" id="{5F54C948-63CB-2F38-A7D9-2C166F4E6C3C}"/>
              </a:ext>
            </a:extLst>
          </p:cNvPr>
          <p:cNvSpPr txBox="1"/>
          <p:nvPr/>
        </p:nvSpPr>
        <p:spPr>
          <a:xfrm>
            <a:off x="6685364" y="0"/>
            <a:ext cx="5506636" cy="307777"/>
          </a:xfrm>
          <a:prstGeom prst="rect">
            <a:avLst/>
          </a:prstGeom>
          <a:noFill/>
        </p:spPr>
        <p:txBody>
          <a:bodyPr wrap="none" rtlCol="0">
            <a:spAutoFit/>
          </a:bodyPr>
          <a:lstStyle/>
          <a:p>
            <a:pPr algn="r"/>
            <a:r>
              <a:rPr lang="en-US" b="1" dirty="0"/>
              <a:t>Introduction</a:t>
            </a:r>
            <a:r>
              <a:rPr lang="en-US" dirty="0"/>
              <a:t>   Foundation   Key Findings   Discussion   Conclusion</a:t>
            </a:r>
          </a:p>
        </p:txBody>
      </p:sp>
      <p:sp>
        <p:nvSpPr>
          <p:cNvPr id="2" name="Text Placeholder 5">
            <a:extLst>
              <a:ext uri="{FF2B5EF4-FFF2-40B4-BE49-F238E27FC236}">
                <a16:creationId xmlns:a16="http://schemas.microsoft.com/office/drawing/2014/main" id="{1123B929-ECB0-54B2-204C-6F093157185C}"/>
              </a:ext>
            </a:extLst>
          </p:cNvPr>
          <p:cNvSpPr txBox="1">
            <a:spLocks/>
          </p:cNvSpPr>
          <p:nvPr/>
        </p:nvSpPr>
        <p:spPr>
          <a:xfrm>
            <a:off x="838200" y="3667396"/>
            <a:ext cx="10515600" cy="1478536"/>
          </a:xfrm>
          <a:prstGeom prst="rect">
            <a:avLst/>
          </a:prstGeom>
          <a:solidFill>
            <a:schemeClr val="bg2"/>
          </a:solid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595959"/>
              </a:buClr>
              <a:buSzPts val="2800"/>
              <a:buFont typeface="Arial"/>
              <a:buNone/>
              <a:defRPr sz="2800" b="0" i="0" u="none" strike="noStrike" cap="none">
                <a:solidFill>
                  <a:srgbClr val="595959"/>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b="1" dirty="0">
                <a:solidFill>
                  <a:schemeClr val="bg1"/>
                </a:solidFill>
              </a:rPr>
              <a:t>Out of Scope</a:t>
            </a:r>
          </a:p>
          <a:p>
            <a:pPr marL="685800" indent="-457200">
              <a:buFont typeface="Arial" panose="020B0604020202020204" pitchFamily="34" charset="0"/>
              <a:buChar char="•"/>
            </a:pPr>
            <a:r>
              <a:rPr lang="en-US" dirty="0">
                <a:solidFill>
                  <a:schemeClr val="bg1"/>
                </a:solidFill>
              </a:rPr>
              <a:t>Accepting a document in any format other than Word</a:t>
            </a:r>
          </a:p>
          <a:p>
            <a:pPr marL="685800" indent="-457200">
              <a:buFont typeface="Arial" panose="020B0604020202020204" pitchFamily="34" charset="0"/>
              <a:buChar char="•"/>
            </a:pPr>
            <a:r>
              <a:rPr lang="en-US" dirty="0">
                <a:solidFill>
                  <a:schemeClr val="bg1"/>
                </a:solidFill>
              </a:rPr>
              <a:t>Accepting questions from the user about the document</a:t>
            </a:r>
          </a:p>
          <a:p>
            <a:pPr marL="685800" indent="-457200">
              <a:buFont typeface="Arial" panose="020B0604020202020204" pitchFamily="34" charset="0"/>
              <a:buChar char="•"/>
            </a:pPr>
            <a:r>
              <a:rPr lang="en-US" dirty="0">
                <a:solidFill>
                  <a:schemeClr val="bg1"/>
                </a:solidFill>
              </a:rPr>
              <a:t>Answering questions about the document</a:t>
            </a:r>
          </a:p>
        </p:txBody>
      </p:sp>
    </p:spTree>
    <p:extLst>
      <p:ext uri="{BB962C8B-B14F-4D97-AF65-F5344CB8AC3E}">
        <p14:creationId xmlns:p14="http://schemas.microsoft.com/office/powerpoint/2010/main" val="4270725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12;p16" descr="image.png">
            <a:extLst>
              <a:ext uri="{FF2B5EF4-FFF2-40B4-BE49-F238E27FC236}">
                <a16:creationId xmlns:a16="http://schemas.microsoft.com/office/drawing/2014/main" id="{E8147990-8284-E0F0-18C3-225A83A28B5E}"/>
              </a:ext>
            </a:extLst>
          </p:cNvPr>
          <p:cNvPicPr preferRelativeResize="0"/>
          <p:nvPr/>
        </p:nvPicPr>
        <p:blipFill rotWithShape="1">
          <a:blip r:embed="rId3">
            <a:alphaModFix/>
          </a:blip>
          <a:srcRect/>
          <a:stretch/>
        </p:blipFill>
        <p:spPr>
          <a:xfrm>
            <a:off x="571500" y="1597306"/>
            <a:ext cx="3429000" cy="2831449"/>
          </a:xfrm>
          <a:prstGeom prst="rect">
            <a:avLst/>
          </a:prstGeom>
          <a:noFill/>
          <a:ln>
            <a:noFill/>
          </a:ln>
        </p:spPr>
      </p:pic>
      <p:pic>
        <p:nvPicPr>
          <p:cNvPr id="5" name="Google Shape;113;p16" descr="image.png">
            <a:extLst>
              <a:ext uri="{FF2B5EF4-FFF2-40B4-BE49-F238E27FC236}">
                <a16:creationId xmlns:a16="http://schemas.microsoft.com/office/drawing/2014/main" id="{FABF11A1-1AF2-E1EC-95BF-33C967713E44}"/>
              </a:ext>
            </a:extLst>
          </p:cNvPr>
          <p:cNvPicPr preferRelativeResize="0"/>
          <p:nvPr/>
        </p:nvPicPr>
        <p:blipFill rotWithShape="1">
          <a:blip r:embed="rId4">
            <a:alphaModFix/>
          </a:blip>
          <a:srcRect/>
          <a:stretch/>
        </p:blipFill>
        <p:spPr>
          <a:xfrm>
            <a:off x="4381500" y="1597306"/>
            <a:ext cx="3429000" cy="2831449"/>
          </a:xfrm>
          <a:prstGeom prst="rect">
            <a:avLst/>
          </a:prstGeom>
          <a:noFill/>
          <a:ln>
            <a:noFill/>
          </a:ln>
        </p:spPr>
      </p:pic>
      <p:pic>
        <p:nvPicPr>
          <p:cNvPr id="6" name="Google Shape;114;p16" descr="image.png">
            <a:extLst>
              <a:ext uri="{FF2B5EF4-FFF2-40B4-BE49-F238E27FC236}">
                <a16:creationId xmlns:a16="http://schemas.microsoft.com/office/drawing/2014/main" id="{EC524897-A213-9EB7-8A03-1F74F726B27D}"/>
              </a:ext>
            </a:extLst>
          </p:cNvPr>
          <p:cNvPicPr preferRelativeResize="0"/>
          <p:nvPr/>
        </p:nvPicPr>
        <p:blipFill rotWithShape="1">
          <a:blip r:embed="rId5">
            <a:alphaModFix/>
          </a:blip>
          <a:srcRect/>
          <a:stretch/>
        </p:blipFill>
        <p:spPr>
          <a:xfrm>
            <a:off x="8191500" y="1597306"/>
            <a:ext cx="3429000" cy="2831449"/>
          </a:xfrm>
          <a:prstGeom prst="rect">
            <a:avLst/>
          </a:prstGeom>
          <a:noFill/>
          <a:ln>
            <a:noFill/>
          </a:ln>
        </p:spPr>
      </p:pic>
      <p:sp>
        <p:nvSpPr>
          <p:cNvPr id="7" name="Google Shape;115;p16">
            <a:extLst>
              <a:ext uri="{FF2B5EF4-FFF2-40B4-BE49-F238E27FC236}">
                <a16:creationId xmlns:a16="http://schemas.microsoft.com/office/drawing/2014/main" id="{2BFD2C80-2FBA-A8DE-F505-3ABEDD8E7C3D}"/>
              </a:ext>
            </a:extLst>
          </p:cNvPr>
          <p:cNvSpPr txBox="1"/>
          <p:nvPr/>
        </p:nvSpPr>
        <p:spPr>
          <a:xfrm>
            <a:off x="795813" y="2239574"/>
            <a:ext cx="2980372"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rgbClr val="FFFFFF"/>
                </a:solidFill>
                <a:latin typeface="Poppins"/>
                <a:ea typeface="Poppins"/>
                <a:cs typeface="Poppins"/>
                <a:sym typeface="Poppins"/>
              </a:rPr>
              <a:t>Knowledge Representation</a:t>
            </a:r>
            <a:endParaRPr dirty="0"/>
          </a:p>
        </p:txBody>
      </p:sp>
      <p:sp>
        <p:nvSpPr>
          <p:cNvPr id="8" name="Google Shape;116;p16">
            <a:extLst>
              <a:ext uri="{FF2B5EF4-FFF2-40B4-BE49-F238E27FC236}">
                <a16:creationId xmlns:a16="http://schemas.microsoft.com/office/drawing/2014/main" id="{59CFF784-E538-BEAF-0E13-D3107E624B88}"/>
              </a:ext>
            </a:extLst>
          </p:cNvPr>
          <p:cNvSpPr txBox="1"/>
          <p:nvPr/>
        </p:nvSpPr>
        <p:spPr>
          <a:xfrm>
            <a:off x="866775" y="3190505"/>
            <a:ext cx="2838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E2E8F0"/>
                </a:solidFill>
                <a:latin typeface="Lato"/>
                <a:ea typeface="Lato"/>
                <a:cs typeface="Lato"/>
                <a:sym typeface="Lato"/>
              </a:rPr>
              <a:t>(Minsky '74) 'Frames' provide the foundational concept for structured knowledge representation.</a:t>
            </a:r>
            <a:endParaRPr/>
          </a:p>
        </p:txBody>
      </p:sp>
      <p:sp>
        <p:nvSpPr>
          <p:cNvPr id="9" name="Google Shape;117;p16">
            <a:extLst>
              <a:ext uri="{FF2B5EF4-FFF2-40B4-BE49-F238E27FC236}">
                <a16:creationId xmlns:a16="http://schemas.microsoft.com/office/drawing/2014/main" id="{FC4D2421-352F-7B82-0092-23C2E0725C49}"/>
              </a:ext>
            </a:extLst>
          </p:cNvPr>
          <p:cNvSpPr txBox="1"/>
          <p:nvPr/>
        </p:nvSpPr>
        <p:spPr>
          <a:xfrm>
            <a:off x="4620815" y="2239574"/>
            <a:ext cx="2950368"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rgbClr val="FFFFFF"/>
                </a:solidFill>
                <a:latin typeface="Poppins"/>
                <a:ea typeface="Poppins"/>
                <a:cs typeface="Poppins"/>
                <a:sym typeface="Poppins"/>
              </a:rPr>
              <a:t>Knowledge Graphs</a:t>
            </a:r>
            <a:endParaRPr dirty="0"/>
          </a:p>
        </p:txBody>
      </p:sp>
      <p:sp>
        <p:nvSpPr>
          <p:cNvPr id="10" name="Google Shape;118;p16">
            <a:extLst>
              <a:ext uri="{FF2B5EF4-FFF2-40B4-BE49-F238E27FC236}">
                <a16:creationId xmlns:a16="http://schemas.microsoft.com/office/drawing/2014/main" id="{108F8BCE-BC65-0FB4-224A-DEA439E63E45}"/>
              </a:ext>
            </a:extLst>
          </p:cNvPr>
          <p:cNvSpPr txBox="1"/>
          <p:nvPr/>
        </p:nvSpPr>
        <p:spPr>
          <a:xfrm>
            <a:off x="4676775" y="3153974"/>
            <a:ext cx="2838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E2E8F0"/>
                </a:solidFill>
                <a:latin typeface="Lato"/>
                <a:ea typeface="Lato"/>
                <a:cs typeface="Lato"/>
                <a:sym typeface="Lato"/>
              </a:rPr>
              <a:t>(Noy '01, Fensel '20) A methodology for constructing semantically-rich ontologies to capture meaning.</a:t>
            </a:r>
            <a:endParaRPr dirty="0"/>
          </a:p>
        </p:txBody>
      </p:sp>
      <p:sp>
        <p:nvSpPr>
          <p:cNvPr id="11" name="Google Shape;119;p16">
            <a:extLst>
              <a:ext uri="{FF2B5EF4-FFF2-40B4-BE49-F238E27FC236}">
                <a16:creationId xmlns:a16="http://schemas.microsoft.com/office/drawing/2014/main" id="{C1CDD576-FF5B-DF06-C1C9-2D26331FFE97}"/>
              </a:ext>
            </a:extLst>
          </p:cNvPr>
          <p:cNvSpPr txBox="1"/>
          <p:nvPr/>
        </p:nvSpPr>
        <p:spPr>
          <a:xfrm>
            <a:off x="8415813" y="2227025"/>
            <a:ext cx="2980372"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rgbClr val="FFFFFF"/>
                </a:solidFill>
                <a:latin typeface="Poppins"/>
                <a:ea typeface="Poppins"/>
                <a:cs typeface="Poppins"/>
                <a:sym typeface="Poppins"/>
              </a:rPr>
              <a:t>The Scaling Problem</a:t>
            </a:r>
            <a:endParaRPr dirty="0"/>
          </a:p>
        </p:txBody>
      </p:sp>
      <p:sp>
        <p:nvSpPr>
          <p:cNvPr id="12" name="Google Shape;120;p16">
            <a:extLst>
              <a:ext uri="{FF2B5EF4-FFF2-40B4-BE49-F238E27FC236}">
                <a16:creationId xmlns:a16="http://schemas.microsoft.com/office/drawing/2014/main" id="{DC27EE91-25C3-5071-5B99-8672828E8C3E}"/>
              </a:ext>
            </a:extLst>
          </p:cNvPr>
          <p:cNvSpPr txBox="1"/>
          <p:nvPr/>
        </p:nvSpPr>
        <p:spPr>
          <a:xfrm>
            <a:off x="8486775" y="3190505"/>
            <a:ext cx="2838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E2E8F0"/>
                </a:solidFill>
                <a:latin typeface="Lato"/>
                <a:ea typeface="Lato"/>
                <a:cs typeface="Lato"/>
                <a:sym typeface="Lato"/>
              </a:rPr>
              <a:t>(Vaswani '17) The 'Context Window' limit of transformers is the key challenge for large-scale documents.</a:t>
            </a:r>
            <a:endParaRPr/>
          </a:p>
        </p:txBody>
      </p:sp>
      <p:pic>
        <p:nvPicPr>
          <p:cNvPr id="13" name="Google Shape;121;p16" descr="image.png">
            <a:extLst>
              <a:ext uri="{FF2B5EF4-FFF2-40B4-BE49-F238E27FC236}">
                <a16:creationId xmlns:a16="http://schemas.microsoft.com/office/drawing/2014/main" id="{F4CCE8EB-70D2-05E3-9479-B0D5018CDBC2}"/>
              </a:ext>
            </a:extLst>
          </p:cNvPr>
          <p:cNvPicPr preferRelativeResize="0"/>
          <p:nvPr/>
        </p:nvPicPr>
        <p:blipFill rotWithShape="1">
          <a:blip r:embed="rId6">
            <a:alphaModFix/>
          </a:blip>
          <a:srcRect/>
          <a:stretch/>
        </p:blipFill>
        <p:spPr>
          <a:xfrm>
            <a:off x="2057400" y="1741017"/>
            <a:ext cx="457200" cy="457200"/>
          </a:xfrm>
          <a:prstGeom prst="rect">
            <a:avLst/>
          </a:prstGeom>
          <a:noFill/>
          <a:ln>
            <a:noFill/>
          </a:ln>
        </p:spPr>
      </p:pic>
      <p:pic>
        <p:nvPicPr>
          <p:cNvPr id="14" name="Google Shape;122;p16" descr="image.png">
            <a:extLst>
              <a:ext uri="{FF2B5EF4-FFF2-40B4-BE49-F238E27FC236}">
                <a16:creationId xmlns:a16="http://schemas.microsoft.com/office/drawing/2014/main" id="{84066F11-4FDB-ADEE-0CF5-4EB19ED9F089}"/>
              </a:ext>
            </a:extLst>
          </p:cNvPr>
          <p:cNvPicPr preferRelativeResize="0"/>
          <p:nvPr/>
        </p:nvPicPr>
        <p:blipFill rotWithShape="1">
          <a:blip r:embed="rId7">
            <a:alphaModFix/>
          </a:blip>
          <a:srcRect/>
          <a:stretch/>
        </p:blipFill>
        <p:spPr>
          <a:xfrm>
            <a:off x="5838825" y="1752598"/>
            <a:ext cx="514350" cy="457200"/>
          </a:xfrm>
          <a:prstGeom prst="rect">
            <a:avLst/>
          </a:prstGeom>
          <a:noFill/>
          <a:ln>
            <a:noFill/>
          </a:ln>
        </p:spPr>
      </p:pic>
      <p:pic>
        <p:nvPicPr>
          <p:cNvPr id="15" name="Google Shape;123;p16" descr="image.png">
            <a:extLst>
              <a:ext uri="{FF2B5EF4-FFF2-40B4-BE49-F238E27FC236}">
                <a16:creationId xmlns:a16="http://schemas.microsoft.com/office/drawing/2014/main" id="{EB7BFB74-C6BE-4B2B-F52C-EB419D717E30}"/>
              </a:ext>
            </a:extLst>
          </p:cNvPr>
          <p:cNvPicPr preferRelativeResize="0"/>
          <p:nvPr/>
        </p:nvPicPr>
        <p:blipFill rotWithShape="1">
          <a:blip r:embed="rId8">
            <a:alphaModFix/>
          </a:blip>
          <a:srcRect/>
          <a:stretch/>
        </p:blipFill>
        <p:spPr>
          <a:xfrm>
            <a:off x="9677400" y="1720745"/>
            <a:ext cx="457200" cy="457200"/>
          </a:xfrm>
          <a:prstGeom prst="rect">
            <a:avLst/>
          </a:prstGeom>
          <a:noFill/>
          <a:ln>
            <a:noFill/>
          </a:ln>
        </p:spPr>
      </p:pic>
      <p:sp>
        <p:nvSpPr>
          <p:cNvPr id="16" name="TextBox 15">
            <a:extLst>
              <a:ext uri="{FF2B5EF4-FFF2-40B4-BE49-F238E27FC236}">
                <a16:creationId xmlns:a16="http://schemas.microsoft.com/office/drawing/2014/main" id="{1D282E65-D85D-B8EB-3A3D-A56151DE871C}"/>
              </a:ext>
            </a:extLst>
          </p:cNvPr>
          <p:cNvSpPr txBox="1"/>
          <p:nvPr/>
        </p:nvSpPr>
        <p:spPr>
          <a:xfrm>
            <a:off x="6685364" y="0"/>
            <a:ext cx="5506636" cy="307777"/>
          </a:xfrm>
          <a:prstGeom prst="rect">
            <a:avLst/>
          </a:prstGeom>
          <a:noFill/>
        </p:spPr>
        <p:txBody>
          <a:bodyPr wrap="none" rtlCol="0">
            <a:spAutoFit/>
          </a:bodyPr>
          <a:lstStyle/>
          <a:p>
            <a:pPr algn="r"/>
            <a:r>
              <a:rPr lang="en-US" dirty="0"/>
              <a:t>Introduction   </a:t>
            </a:r>
            <a:r>
              <a:rPr lang="en-US" b="1" dirty="0"/>
              <a:t>Foundation </a:t>
            </a:r>
            <a:r>
              <a:rPr lang="en-US" dirty="0"/>
              <a:t>  Key Findings   Discussion   Conclusion</a:t>
            </a:r>
          </a:p>
        </p:txBody>
      </p:sp>
      <p:sp>
        <p:nvSpPr>
          <p:cNvPr id="2" name="TextBox 1">
            <a:extLst>
              <a:ext uri="{FF2B5EF4-FFF2-40B4-BE49-F238E27FC236}">
                <a16:creationId xmlns:a16="http://schemas.microsoft.com/office/drawing/2014/main" id="{817AA5F8-B78E-EB09-2ED1-D9A7D6C1F536}"/>
              </a:ext>
            </a:extLst>
          </p:cNvPr>
          <p:cNvSpPr txBox="1"/>
          <p:nvPr/>
        </p:nvSpPr>
        <p:spPr>
          <a:xfrm>
            <a:off x="0" y="5590959"/>
            <a:ext cx="11089895" cy="1077218"/>
          </a:xfrm>
          <a:prstGeom prst="rect">
            <a:avLst/>
          </a:prstGeom>
          <a:noFill/>
        </p:spPr>
        <p:txBody>
          <a:bodyPr wrap="square" rtlCol="0">
            <a:spAutoFit/>
          </a:bodyPr>
          <a:lstStyle/>
          <a:p>
            <a:r>
              <a:rPr lang="en-US" sz="1000" dirty="0">
                <a:solidFill>
                  <a:schemeClr val="bg1"/>
                </a:solidFill>
              </a:rPr>
              <a:t>Fensel, D., Şimşek, U., Angele, K., Huaman, E., </a:t>
            </a:r>
            <a:r>
              <a:rPr lang="en-US" sz="1000" dirty="0" err="1">
                <a:solidFill>
                  <a:schemeClr val="bg1"/>
                </a:solidFill>
              </a:rPr>
              <a:t>Kärle</a:t>
            </a:r>
            <a:r>
              <a:rPr lang="en-US" sz="1000" dirty="0">
                <a:solidFill>
                  <a:schemeClr val="bg1"/>
                </a:solidFill>
              </a:rPr>
              <a:t>, E., Panasiuk, O., Toma, I., Umbrich, J., &amp; Wahler, A. (2020). </a:t>
            </a:r>
            <a:r>
              <a:rPr lang="en-US" sz="1000" i="1" dirty="0">
                <a:solidFill>
                  <a:schemeClr val="bg1"/>
                </a:solidFill>
              </a:rPr>
              <a:t>Knowledge graphs : Methodology, tools and selected use cases </a:t>
            </a:r>
            <a:r>
              <a:rPr lang="en-US" sz="1000" dirty="0">
                <a:solidFill>
                  <a:schemeClr val="bg1"/>
                </a:solidFill>
              </a:rPr>
              <a:t>(Anonymous, Trans.; 1st ed.) Springer International Publishing. https://doi.org/10.1007/978-3-030-37439-6</a:t>
            </a:r>
          </a:p>
          <a:p>
            <a:r>
              <a:rPr lang="en-US" sz="1000" dirty="0">
                <a:solidFill>
                  <a:schemeClr val="bg1"/>
                </a:solidFill>
              </a:rPr>
              <a:t>Minsky, M. (1974). </a:t>
            </a:r>
            <a:r>
              <a:rPr lang="en-US" sz="1000" i="1" dirty="0">
                <a:solidFill>
                  <a:schemeClr val="bg1"/>
                </a:solidFill>
              </a:rPr>
              <a:t>A framework for representing knowledge</a:t>
            </a:r>
            <a:r>
              <a:rPr lang="en-US" sz="1000" dirty="0">
                <a:solidFill>
                  <a:schemeClr val="bg1"/>
                </a:solidFill>
              </a:rPr>
              <a:t>. http : / / hdl.handle.net/1721.1/6089</a:t>
            </a:r>
          </a:p>
          <a:p>
            <a:r>
              <a:rPr lang="en-US" sz="1000" dirty="0">
                <a:solidFill>
                  <a:schemeClr val="bg1"/>
                </a:solidFill>
              </a:rPr>
              <a:t>Noy, N. F., &amp; McGuinness, D. L. (2001). Ontology development 101 : A guide to creating your first ontology. </a:t>
            </a:r>
            <a:r>
              <a:rPr lang="en-US" sz="1000" i="1" dirty="0">
                <a:solidFill>
                  <a:schemeClr val="bg1"/>
                </a:solidFill>
              </a:rPr>
              <a:t>Stanford Knowledge Systems Laboratory Technical Report</a:t>
            </a:r>
            <a:r>
              <a:rPr lang="en-US" sz="1000" dirty="0">
                <a:solidFill>
                  <a:schemeClr val="bg1"/>
                </a:solidFill>
              </a:rPr>
              <a:t>.</a:t>
            </a:r>
          </a:p>
          <a:p>
            <a:r>
              <a:rPr lang="en-US" sz="1000" dirty="0">
                <a:solidFill>
                  <a:schemeClr val="bg1"/>
                </a:solidFill>
              </a:rPr>
              <a:t>Vaswani, A., </a:t>
            </a:r>
            <a:r>
              <a:rPr lang="en-US" sz="1000" dirty="0" err="1">
                <a:solidFill>
                  <a:schemeClr val="bg1"/>
                </a:solidFill>
              </a:rPr>
              <a:t>Shazeer</a:t>
            </a:r>
            <a:r>
              <a:rPr lang="en-US" sz="1000" dirty="0">
                <a:solidFill>
                  <a:schemeClr val="bg1"/>
                </a:solidFill>
              </a:rPr>
              <a:t>, N., Brain, G., Parmar, N., </a:t>
            </a:r>
            <a:r>
              <a:rPr lang="en-US" sz="1000" dirty="0" err="1">
                <a:solidFill>
                  <a:schemeClr val="bg1"/>
                </a:solidFill>
              </a:rPr>
              <a:t>Uszkoreit</a:t>
            </a:r>
            <a:r>
              <a:rPr lang="en-US" sz="1000" dirty="0">
                <a:solidFill>
                  <a:schemeClr val="bg1"/>
                </a:solidFill>
              </a:rPr>
              <a:t>, J., Jones, L., Gomez, A. N., &amp; Kaiser, Ł. (2017). Attention is all you need. </a:t>
            </a:r>
            <a:r>
              <a:rPr lang="en-US" sz="1000" i="1" dirty="0">
                <a:solidFill>
                  <a:schemeClr val="bg1"/>
                </a:solidFill>
              </a:rPr>
              <a:t>Advances in Neural Information Processing Systems</a:t>
            </a:r>
            <a:r>
              <a:rPr lang="en-US" sz="1000" dirty="0">
                <a:solidFill>
                  <a:schemeClr val="bg1"/>
                </a:solidFill>
              </a:rPr>
              <a:t>.</a:t>
            </a:r>
          </a:p>
          <a:p>
            <a:endParaRPr lang="en-US" dirty="0"/>
          </a:p>
        </p:txBody>
      </p:sp>
      <p:sp>
        <p:nvSpPr>
          <p:cNvPr id="3" name="Title 4">
            <a:extLst>
              <a:ext uri="{FF2B5EF4-FFF2-40B4-BE49-F238E27FC236}">
                <a16:creationId xmlns:a16="http://schemas.microsoft.com/office/drawing/2014/main" id="{83082278-94A4-B938-E9A7-164D58971FCD}"/>
              </a:ext>
            </a:extLst>
          </p:cNvPr>
          <p:cNvSpPr txBox="1">
            <a:spLocks/>
          </p:cNvSpPr>
          <p:nvPr/>
        </p:nvSpPr>
        <p:spPr>
          <a:xfrm>
            <a:off x="854337" y="715617"/>
            <a:ext cx="10483326" cy="97507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dirty="0"/>
              <a:t>Theoretical Foundations</a:t>
            </a:r>
          </a:p>
        </p:txBody>
      </p:sp>
    </p:spTree>
    <p:extLst>
      <p:ext uri="{BB962C8B-B14F-4D97-AF65-F5344CB8AC3E}">
        <p14:creationId xmlns:p14="http://schemas.microsoft.com/office/powerpoint/2010/main" val="3524197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8138-2812-B002-4306-0252EFCDAD13}"/>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E9CB4EDC-6C2B-2197-86FD-3235DB6BB42C}"/>
              </a:ext>
            </a:extLst>
          </p:cNvPr>
          <p:cNvSpPr>
            <a:spLocks noGrp="1"/>
          </p:cNvSpPr>
          <p:nvPr>
            <p:ph type="body" idx="1"/>
          </p:nvPr>
        </p:nvSpPr>
        <p:spPr/>
        <p:txBody>
          <a:bodyPr>
            <a:normAutofit/>
          </a:bodyPr>
          <a:lstStyle/>
          <a:p>
            <a:r>
              <a:rPr lang="en-US" dirty="0"/>
              <a:t>To date, research in this area has been constrained by</a:t>
            </a:r>
          </a:p>
          <a:p>
            <a:pPr marL="685800" lvl="1" indent="0"/>
            <a:r>
              <a:rPr lang="en-US" dirty="0"/>
              <a:t>The processing time</a:t>
            </a:r>
          </a:p>
          <a:p>
            <a:pPr marL="685800" lvl="1" indent="0"/>
            <a:r>
              <a:rPr lang="en-US" dirty="0"/>
              <a:t>The context window</a:t>
            </a:r>
          </a:p>
          <a:p>
            <a:pPr marL="685800" lvl="1" indent="0"/>
            <a:r>
              <a:rPr lang="en-US" dirty="0"/>
              <a:t>The resources needed</a:t>
            </a:r>
          </a:p>
          <a:p>
            <a:r>
              <a:rPr lang="en-US" dirty="0"/>
              <a:t>Researchers have focused on smaller documents.</a:t>
            </a:r>
          </a:p>
          <a:p>
            <a:pPr marL="228600" indent="0"/>
            <a:endParaRPr lang="en-US" dirty="0"/>
          </a:p>
        </p:txBody>
      </p:sp>
      <p:sp>
        <p:nvSpPr>
          <p:cNvPr id="6" name="Title 5">
            <a:extLst>
              <a:ext uri="{FF2B5EF4-FFF2-40B4-BE49-F238E27FC236}">
                <a16:creationId xmlns:a16="http://schemas.microsoft.com/office/drawing/2014/main" id="{96B9E87A-2B29-23F2-5FBC-701CDECFA10B}"/>
              </a:ext>
            </a:extLst>
          </p:cNvPr>
          <p:cNvSpPr>
            <a:spLocks noGrp="1"/>
          </p:cNvSpPr>
          <p:nvPr>
            <p:ph type="title"/>
          </p:nvPr>
        </p:nvSpPr>
        <p:spPr/>
        <p:txBody>
          <a:bodyPr/>
          <a:lstStyle/>
          <a:p>
            <a:r>
              <a:rPr lang="en-US" dirty="0"/>
              <a:t>Literature Review Notes</a:t>
            </a:r>
          </a:p>
        </p:txBody>
      </p:sp>
      <p:sp>
        <p:nvSpPr>
          <p:cNvPr id="2" name="TextBox 1">
            <a:extLst>
              <a:ext uri="{FF2B5EF4-FFF2-40B4-BE49-F238E27FC236}">
                <a16:creationId xmlns:a16="http://schemas.microsoft.com/office/drawing/2014/main" id="{98D19B3A-5726-C996-6E88-835469C43FA3}"/>
              </a:ext>
            </a:extLst>
          </p:cNvPr>
          <p:cNvSpPr txBox="1"/>
          <p:nvPr/>
        </p:nvSpPr>
        <p:spPr>
          <a:xfrm>
            <a:off x="6629259" y="0"/>
            <a:ext cx="5562741" cy="307777"/>
          </a:xfrm>
          <a:prstGeom prst="rect">
            <a:avLst/>
          </a:prstGeom>
          <a:noFill/>
        </p:spPr>
        <p:txBody>
          <a:bodyPr wrap="none" rtlCol="0">
            <a:spAutoFit/>
          </a:bodyPr>
          <a:lstStyle/>
          <a:p>
            <a:pPr algn="r"/>
            <a:r>
              <a:rPr lang="en-US" dirty="0"/>
              <a:t>Introduction   </a:t>
            </a:r>
            <a:r>
              <a:rPr lang="en-US" b="1" dirty="0"/>
              <a:t>Foundation</a:t>
            </a:r>
            <a:r>
              <a:rPr lang="en-US" dirty="0"/>
              <a:t>   Key Findings   Discussion   Conclusion</a:t>
            </a:r>
          </a:p>
        </p:txBody>
      </p:sp>
    </p:spTree>
    <p:extLst>
      <p:ext uri="{BB962C8B-B14F-4D97-AF65-F5344CB8AC3E}">
        <p14:creationId xmlns:p14="http://schemas.microsoft.com/office/powerpoint/2010/main" val="180101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24F3AD1-4408-86EA-8DD4-2493983FF4E7}"/>
              </a:ext>
            </a:extLst>
          </p:cNvPr>
          <p:cNvSpPr/>
          <p:nvPr/>
        </p:nvSpPr>
        <p:spPr>
          <a:xfrm>
            <a:off x="185461" y="1366377"/>
            <a:ext cx="2064774" cy="13672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Divide the document into overlapping chunks based on paragraphs (Qu et al., 2024)</a:t>
            </a:r>
          </a:p>
        </p:txBody>
      </p:sp>
      <p:sp>
        <p:nvSpPr>
          <p:cNvPr id="7" name="Rectangle: Rounded Corners 6">
            <a:extLst>
              <a:ext uri="{FF2B5EF4-FFF2-40B4-BE49-F238E27FC236}">
                <a16:creationId xmlns:a16="http://schemas.microsoft.com/office/drawing/2014/main" id="{E6A4F1AD-F61F-FC87-1067-0EAA9D08CC91}"/>
              </a:ext>
            </a:extLst>
          </p:cNvPr>
          <p:cNvSpPr/>
          <p:nvPr/>
        </p:nvSpPr>
        <p:spPr>
          <a:xfrm>
            <a:off x="2614336" y="1366377"/>
            <a:ext cx="2064774" cy="13672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Have the LLM extract entities and relationships to build a local knowledge graph (</a:t>
            </a:r>
            <a:r>
              <a:rPr lang="en-US" dirty="0" err="1"/>
              <a:t>Benjira</a:t>
            </a:r>
            <a:r>
              <a:rPr lang="en-US" dirty="0"/>
              <a:t> et al.,2025).</a:t>
            </a:r>
          </a:p>
        </p:txBody>
      </p:sp>
      <p:sp>
        <p:nvSpPr>
          <p:cNvPr id="8" name="Rectangle: Rounded Corners 7">
            <a:extLst>
              <a:ext uri="{FF2B5EF4-FFF2-40B4-BE49-F238E27FC236}">
                <a16:creationId xmlns:a16="http://schemas.microsoft.com/office/drawing/2014/main" id="{0601CD8A-490D-0328-6E45-B80EA2307B19}"/>
              </a:ext>
            </a:extLst>
          </p:cNvPr>
          <p:cNvSpPr/>
          <p:nvPr/>
        </p:nvSpPr>
        <p:spPr>
          <a:xfrm>
            <a:off x="5043211" y="1366375"/>
            <a:ext cx="2064774" cy="1371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Syntactically merge the knowledge graphs from the chunks into a single knowledge graph (</a:t>
            </a:r>
            <a:r>
              <a:rPr lang="en-US" dirty="0" err="1"/>
              <a:t>Benjira</a:t>
            </a:r>
            <a:r>
              <a:rPr lang="en-US" dirty="0"/>
              <a:t> et al.,2025)</a:t>
            </a:r>
          </a:p>
        </p:txBody>
      </p:sp>
      <p:sp>
        <p:nvSpPr>
          <p:cNvPr id="9" name="Rectangle: Rounded Corners 8">
            <a:extLst>
              <a:ext uri="{FF2B5EF4-FFF2-40B4-BE49-F238E27FC236}">
                <a16:creationId xmlns:a16="http://schemas.microsoft.com/office/drawing/2014/main" id="{E34F2131-D647-966F-5E08-3AF5006D133F}"/>
              </a:ext>
            </a:extLst>
          </p:cNvPr>
          <p:cNvSpPr/>
          <p:nvPr/>
        </p:nvSpPr>
        <p:spPr>
          <a:xfrm>
            <a:off x="7472086" y="1366377"/>
            <a:ext cx="2064774" cy="1371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Have the LLM review small sections of the knowledge graph to make it semantically rich (new contribution)</a:t>
            </a:r>
          </a:p>
        </p:txBody>
      </p:sp>
      <p:sp>
        <p:nvSpPr>
          <p:cNvPr id="10" name="Rectangle: Rounded Corners 9">
            <a:extLst>
              <a:ext uri="{FF2B5EF4-FFF2-40B4-BE49-F238E27FC236}">
                <a16:creationId xmlns:a16="http://schemas.microsoft.com/office/drawing/2014/main" id="{EFB2BBE3-6086-086F-E002-087BD25CDD44}"/>
              </a:ext>
            </a:extLst>
          </p:cNvPr>
          <p:cNvSpPr/>
          <p:nvPr/>
        </p:nvSpPr>
        <p:spPr>
          <a:xfrm>
            <a:off x="9900961" y="1366377"/>
            <a:ext cx="2064774" cy="1371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Verify that this knowledge graph could be used to check for consistency and completeness (new contribution)</a:t>
            </a:r>
          </a:p>
        </p:txBody>
      </p:sp>
      <p:sp>
        <p:nvSpPr>
          <p:cNvPr id="11" name="Title 4">
            <a:extLst>
              <a:ext uri="{FF2B5EF4-FFF2-40B4-BE49-F238E27FC236}">
                <a16:creationId xmlns:a16="http://schemas.microsoft.com/office/drawing/2014/main" id="{31981677-1B06-C8D9-D9E8-753D470D88E3}"/>
              </a:ext>
            </a:extLst>
          </p:cNvPr>
          <p:cNvSpPr txBox="1">
            <a:spLocks/>
          </p:cNvSpPr>
          <p:nvPr/>
        </p:nvSpPr>
        <p:spPr>
          <a:xfrm>
            <a:off x="322621" y="440161"/>
            <a:ext cx="10483326" cy="97507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dirty="0"/>
              <a:t>Mnemosyne pipeline based on research</a:t>
            </a:r>
          </a:p>
        </p:txBody>
      </p:sp>
      <p:sp>
        <p:nvSpPr>
          <p:cNvPr id="12" name="TextBox 11">
            <a:extLst>
              <a:ext uri="{FF2B5EF4-FFF2-40B4-BE49-F238E27FC236}">
                <a16:creationId xmlns:a16="http://schemas.microsoft.com/office/drawing/2014/main" id="{E726DC11-3E53-9EC6-33A8-4CA6D6509A6F}"/>
              </a:ext>
            </a:extLst>
          </p:cNvPr>
          <p:cNvSpPr txBox="1"/>
          <p:nvPr/>
        </p:nvSpPr>
        <p:spPr>
          <a:xfrm>
            <a:off x="6629259" y="0"/>
            <a:ext cx="5562741" cy="307777"/>
          </a:xfrm>
          <a:prstGeom prst="rect">
            <a:avLst/>
          </a:prstGeom>
          <a:noFill/>
        </p:spPr>
        <p:txBody>
          <a:bodyPr wrap="none" rtlCol="0">
            <a:spAutoFit/>
          </a:bodyPr>
          <a:lstStyle/>
          <a:p>
            <a:pPr algn="r"/>
            <a:r>
              <a:rPr lang="en-US" dirty="0"/>
              <a:t>Introduction   </a:t>
            </a:r>
            <a:r>
              <a:rPr lang="en-US" b="1" dirty="0"/>
              <a:t>Foundation </a:t>
            </a:r>
            <a:r>
              <a:rPr lang="en-US" dirty="0"/>
              <a:t>  Key Findings   Discussion   Conclusion</a:t>
            </a:r>
          </a:p>
        </p:txBody>
      </p:sp>
      <p:sp>
        <p:nvSpPr>
          <p:cNvPr id="13" name="Flowchart: Document 12">
            <a:extLst>
              <a:ext uri="{FF2B5EF4-FFF2-40B4-BE49-F238E27FC236}">
                <a16:creationId xmlns:a16="http://schemas.microsoft.com/office/drawing/2014/main" id="{672AAF25-982B-BF1C-1E35-E16911A0DB00}"/>
              </a:ext>
            </a:extLst>
          </p:cNvPr>
          <p:cNvSpPr/>
          <p:nvPr/>
        </p:nvSpPr>
        <p:spPr>
          <a:xfrm>
            <a:off x="332994" y="3662172"/>
            <a:ext cx="552450" cy="65722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A6E3232-747F-2265-9D0F-7BB9B3BC8D8F}"/>
              </a:ext>
            </a:extLst>
          </p:cNvPr>
          <p:cNvSpPr/>
          <p:nvPr/>
        </p:nvSpPr>
        <p:spPr>
          <a:xfrm>
            <a:off x="2981325" y="3335988"/>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33D318F-E144-FAB2-9082-4A5E5198EBB0}"/>
              </a:ext>
            </a:extLst>
          </p:cNvPr>
          <p:cNvSpPr/>
          <p:nvPr/>
        </p:nvSpPr>
        <p:spPr>
          <a:xfrm>
            <a:off x="3454516" y="3139618"/>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FF5F80F-B1EE-C02F-FCDC-3A89C1FFF7BF}"/>
              </a:ext>
            </a:extLst>
          </p:cNvPr>
          <p:cNvSpPr/>
          <p:nvPr/>
        </p:nvSpPr>
        <p:spPr>
          <a:xfrm>
            <a:off x="3950439" y="3226139"/>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112429F6-D99A-660D-5B94-C1FA77F2240E}"/>
              </a:ext>
            </a:extLst>
          </p:cNvPr>
          <p:cNvCxnSpPr>
            <a:cxnSpLocks/>
            <a:stCxn id="15" idx="7"/>
            <a:endCxn id="16" idx="2"/>
          </p:cNvCxnSpPr>
          <p:nvPr/>
        </p:nvCxnSpPr>
        <p:spPr>
          <a:xfrm flipV="1">
            <a:off x="3257748" y="3296781"/>
            <a:ext cx="196768" cy="85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933C167-6BB9-7BD5-80BE-7AF0EA454933}"/>
              </a:ext>
            </a:extLst>
          </p:cNvPr>
          <p:cNvCxnSpPr>
            <a:cxnSpLocks/>
            <a:stCxn id="19" idx="1"/>
            <a:endCxn id="16" idx="6"/>
          </p:cNvCxnSpPr>
          <p:nvPr/>
        </p:nvCxnSpPr>
        <p:spPr>
          <a:xfrm flipH="1">
            <a:off x="3778366" y="3272171"/>
            <a:ext cx="219500" cy="24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9132ED40-F1BD-756A-0643-F07F67C66BEF}"/>
              </a:ext>
            </a:extLst>
          </p:cNvPr>
          <p:cNvSpPr/>
          <p:nvPr/>
        </p:nvSpPr>
        <p:spPr>
          <a:xfrm>
            <a:off x="5626676" y="3103557"/>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8715BF8-9CEA-0C68-4B60-4AA1D36E8C62}"/>
              </a:ext>
            </a:extLst>
          </p:cNvPr>
          <p:cNvSpPr/>
          <p:nvPr/>
        </p:nvSpPr>
        <p:spPr>
          <a:xfrm>
            <a:off x="6048848" y="3440452"/>
            <a:ext cx="323850" cy="31432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E40E651-871A-B0A2-3961-7F1E6637A27F}"/>
              </a:ext>
            </a:extLst>
          </p:cNvPr>
          <p:cNvSpPr/>
          <p:nvPr/>
        </p:nvSpPr>
        <p:spPr>
          <a:xfrm>
            <a:off x="5769551" y="3856033"/>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14A6F42-D562-D088-54BE-CF92A8C88C9D}"/>
              </a:ext>
            </a:extLst>
          </p:cNvPr>
          <p:cNvSpPr/>
          <p:nvPr/>
        </p:nvSpPr>
        <p:spPr>
          <a:xfrm>
            <a:off x="6305409" y="4170358"/>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50BA3F3-F643-3A31-2D14-9F5C8410A49F}"/>
              </a:ext>
            </a:extLst>
          </p:cNvPr>
          <p:cNvSpPr/>
          <p:nvPr/>
        </p:nvSpPr>
        <p:spPr>
          <a:xfrm>
            <a:off x="6585321" y="3160707"/>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811B639C-2C75-E5D6-45EA-C7EC60A717E5}"/>
              </a:ext>
            </a:extLst>
          </p:cNvPr>
          <p:cNvCxnSpPr>
            <a:cxnSpLocks/>
            <a:stCxn id="35" idx="6"/>
            <a:endCxn id="36" idx="1"/>
          </p:cNvCxnSpPr>
          <p:nvPr/>
        </p:nvCxnSpPr>
        <p:spPr>
          <a:xfrm>
            <a:off x="5950526" y="3260720"/>
            <a:ext cx="145749" cy="225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4DCAE02-7212-E494-D944-9446C49F2C6A}"/>
              </a:ext>
            </a:extLst>
          </p:cNvPr>
          <p:cNvCxnSpPr>
            <a:cxnSpLocks/>
            <a:stCxn id="39" idx="3"/>
            <a:endCxn id="36" idx="6"/>
          </p:cNvCxnSpPr>
          <p:nvPr/>
        </p:nvCxnSpPr>
        <p:spPr>
          <a:xfrm flipH="1">
            <a:off x="6372698" y="3429000"/>
            <a:ext cx="260050" cy="168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1E599BD-B784-72C9-A867-2869729CFCAC}"/>
              </a:ext>
            </a:extLst>
          </p:cNvPr>
          <p:cNvCxnSpPr>
            <a:cxnSpLocks/>
            <a:stCxn id="36" idx="4"/>
            <a:endCxn id="38" idx="0"/>
          </p:cNvCxnSpPr>
          <p:nvPr/>
        </p:nvCxnSpPr>
        <p:spPr>
          <a:xfrm>
            <a:off x="6210773" y="3754777"/>
            <a:ext cx="256561" cy="415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C66961E4-9295-4E69-4149-9B0783FD926D}"/>
              </a:ext>
            </a:extLst>
          </p:cNvPr>
          <p:cNvCxnSpPr>
            <a:cxnSpLocks/>
            <a:stCxn id="36" idx="3"/>
            <a:endCxn id="37" idx="7"/>
          </p:cNvCxnSpPr>
          <p:nvPr/>
        </p:nvCxnSpPr>
        <p:spPr>
          <a:xfrm flipH="1">
            <a:off x="6045974" y="3708745"/>
            <a:ext cx="50301" cy="19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F603FDD6-0744-2ED9-35F2-12B5F16E6B1C}"/>
              </a:ext>
            </a:extLst>
          </p:cNvPr>
          <p:cNvSpPr txBox="1"/>
          <p:nvPr/>
        </p:nvSpPr>
        <p:spPr>
          <a:xfrm>
            <a:off x="10227045" y="3141681"/>
            <a:ext cx="1787519" cy="1178528"/>
          </a:xfrm>
          <a:prstGeom prst="rect">
            <a:avLst/>
          </a:prstGeom>
          <a:noFill/>
        </p:spPr>
        <p:txBody>
          <a:bodyPr wrap="square">
            <a:spAutoFit/>
          </a:bodyPr>
          <a:lstStyle/>
          <a:p>
            <a:pPr>
              <a:lnSpc>
                <a:spcPts val="1425"/>
              </a:lnSpc>
              <a:buNone/>
            </a:pPr>
            <a:r>
              <a:rPr lang="en-US" b="0" dirty="0">
                <a:solidFill>
                  <a:srgbClr val="000000"/>
                </a:solidFill>
                <a:effectLst/>
                <a:latin typeface="Courier New" panose="02070309020205020404" pitchFamily="49" charset="0"/>
              </a:rPr>
              <a:t>query=</a:t>
            </a:r>
            <a:r>
              <a:rPr lang="en-US" b="0" dirty="0">
                <a:solidFill>
                  <a:srgbClr val="0000FF"/>
                </a:solidFill>
                <a:effectLst/>
                <a:latin typeface="Courier New" panose="02070309020205020404" pitchFamily="49" charset="0"/>
              </a:rPr>
              <a:t>f</a:t>
            </a:r>
            <a:r>
              <a:rPr lang="en-US" b="0" dirty="0">
                <a:solidFill>
                  <a:srgbClr val="A31515"/>
                </a:solidFill>
                <a:effectLst/>
                <a:latin typeface="Courier New" panose="02070309020205020404" pitchFamily="49" charset="0"/>
              </a:rPr>
              <a:t>"""</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A31515"/>
                </a:solidFill>
                <a:effectLst/>
                <a:latin typeface="Courier New" panose="02070309020205020404" pitchFamily="49" charset="0"/>
              </a:rPr>
              <a:t> MATCH (</a:t>
            </a:r>
            <a:r>
              <a:rPr lang="en-US" b="0" dirty="0" err="1">
                <a:solidFill>
                  <a:srgbClr val="A31515"/>
                </a:solidFill>
                <a:effectLst/>
                <a:latin typeface="Courier New" panose="02070309020205020404" pitchFamily="49" charset="0"/>
              </a:rPr>
              <a:t>i:Instance</a:t>
            </a:r>
            <a:r>
              <a:rPr lang="en-US" b="0" dirty="0">
                <a:solidFill>
                  <a:srgbClr val="000000"/>
                </a:solidFill>
                <a:effectLst/>
                <a:latin typeface="Courier New" panose="02070309020205020404" pitchFamily="49" charset="0"/>
              </a:rPr>
              <a:t>{</a:t>
            </a:r>
            <a:r>
              <a:rPr lang="en-US" b="0" dirty="0" err="1">
                <a:solidFill>
                  <a:srgbClr val="001080"/>
                </a:solidFill>
                <a:effectLst/>
                <a:latin typeface="Courier New" panose="02070309020205020404" pitchFamily="49" charset="0"/>
              </a:rPr>
              <a:t>self</a:t>
            </a:r>
            <a:r>
              <a:rPr lang="en-US" b="0" dirty="0" err="1">
                <a:solidFill>
                  <a:srgbClr val="000000"/>
                </a:solidFill>
                <a:effectLst/>
                <a:latin typeface="Courier New" panose="02070309020205020404" pitchFamily="49" charset="0"/>
              </a:rPr>
              <a:t>.scoped_label</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)-[:IS_A]-&gt;(</a:t>
            </a:r>
            <a:r>
              <a:rPr lang="en-US" b="0" dirty="0" err="1">
                <a:solidFill>
                  <a:srgbClr val="A31515"/>
                </a:solidFill>
                <a:effectLst/>
                <a:latin typeface="Courier New" panose="02070309020205020404" pitchFamily="49" charset="0"/>
              </a:rPr>
              <a:t>t:Type</a:t>
            </a:r>
            <a:r>
              <a:rPr lang="en-US" b="0" dirty="0">
                <a:solidFill>
                  <a:srgbClr val="A31515"/>
                </a:solidFill>
                <a:effectLst/>
                <a:latin typeface="Courier New" panose="02070309020205020404" pitchFamily="49" charset="0"/>
              </a:rPr>
              <a:t>)…</a:t>
            </a:r>
            <a:endParaRPr lang="en-US" b="0" dirty="0">
              <a:solidFill>
                <a:srgbClr val="000000"/>
              </a:solidFill>
              <a:effectLst/>
              <a:latin typeface="Courier New" panose="02070309020205020404" pitchFamily="49" charset="0"/>
            </a:endParaRPr>
          </a:p>
        </p:txBody>
      </p:sp>
      <p:sp>
        <p:nvSpPr>
          <p:cNvPr id="68" name="Oval 67">
            <a:extLst>
              <a:ext uri="{FF2B5EF4-FFF2-40B4-BE49-F238E27FC236}">
                <a16:creationId xmlns:a16="http://schemas.microsoft.com/office/drawing/2014/main" id="{3C568991-C04C-EE66-23C3-FE79C17D3056}"/>
              </a:ext>
            </a:extLst>
          </p:cNvPr>
          <p:cNvSpPr/>
          <p:nvPr/>
        </p:nvSpPr>
        <p:spPr>
          <a:xfrm>
            <a:off x="2936881" y="3732892"/>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F7197EC0-1DAF-0F6D-9061-B199CD444D82}"/>
              </a:ext>
            </a:extLst>
          </p:cNvPr>
          <p:cNvSpPr/>
          <p:nvPr/>
        </p:nvSpPr>
        <p:spPr>
          <a:xfrm>
            <a:off x="3359053" y="4069787"/>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1E12773-3E43-2807-F179-EA792ACDC634}"/>
              </a:ext>
            </a:extLst>
          </p:cNvPr>
          <p:cNvSpPr/>
          <p:nvPr/>
        </p:nvSpPr>
        <p:spPr>
          <a:xfrm>
            <a:off x="3079756" y="4485368"/>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Arrow Connector 72">
            <a:extLst>
              <a:ext uri="{FF2B5EF4-FFF2-40B4-BE49-F238E27FC236}">
                <a16:creationId xmlns:a16="http://schemas.microsoft.com/office/drawing/2014/main" id="{0AACEB07-3A43-79F5-A6DA-478D13E75066}"/>
              </a:ext>
            </a:extLst>
          </p:cNvPr>
          <p:cNvCxnSpPr>
            <a:cxnSpLocks/>
            <a:stCxn id="68" idx="6"/>
            <a:endCxn id="69" idx="1"/>
          </p:cNvCxnSpPr>
          <p:nvPr/>
        </p:nvCxnSpPr>
        <p:spPr>
          <a:xfrm>
            <a:off x="3260731" y="3890055"/>
            <a:ext cx="145749" cy="225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0CD7950B-0E76-D031-0FF0-0222AD4F6CF7}"/>
              </a:ext>
            </a:extLst>
          </p:cNvPr>
          <p:cNvCxnSpPr>
            <a:cxnSpLocks/>
            <a:stCxn id="69" idx="4"/>
            <a:endCxn id="70" idx="7"/>
          </p:cNvCxnSpPr>
          <p:nvPr/>
        </p:nvCxnSpPr>
        <p:spPr>
          <a:xfrm flipH="1">
            <a:off x="3356179" y="4384112"/>
            <a:ext cx="164799" cy="147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66988836-8F61-F3A8-7FBA-766ECDA8D1CB}"/>
              </a:ext>
            </a:extLst>
          </p:cNvPr>
          <p:cNvSpPr/>
          <p:nvPr/>
        </p:nvSpPr>
        <p:spPr>
          <a:xfrm>
            <a:off x="3821983" y="3780183"/>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2C3826F-9050-DBF0-8313-590466B5D6CD}"/>
              </a:ext>
            </a:extLst>
          </p:cNvPr>
          <p:cNvSpPr/>
          <p:nvPr/>
        </p:nvSpPr>
        <p:spPr>
          <a:xfrm>
            <a:off x="4244155" y="4117078"/>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F26FFD8D-85E8-9042-052F-7976FC689561}"/>
              </a:ext>
            </a:extLst>
          </p:cNvPr>
          <p:cNvSpPr/>
          <p:nvPr/>
        </p:nvSpPr>
        <p:spPr>
          <a:xfrm>
            <a:off x="3964858" y="4532659"/>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Arrow Connector 86">
            <a:extLst>
              <a:ext uri="{FF2B5EF4-FFF2-40B4-BE49-F238E27FC236}">
                <a16:creationId xmlns:a16="http://schemas.microsoft.com/office/drawing/2014/main" id="{A8772D2D-A170-4AEA-D4B3-0E701AC8A348}"/>
              </a:ext>
            </a:extLst>
          </p:cNvPr>
          <p:cNvCxnSpPr>
            <a:cxnSpLocks/>
            <a:stCxn id="85" idx="1"/>
            <a:endCxn id="84" idx="6"/>
          </p:cNvCxnSpPr>
          <p:nvPr/>
        </p:nvCxnSpPr>
        <p:spPr>
          <a:xfrm flipH="1" flipV="1">
            <a:off x="4145833" y="3937346"/>
            <a:ext cx="145749" cy="225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AF385FEE-0715-D06D-26AD-ADBCA8DCB29A}"/>
              </a:ext>
            </a:extLst>
          </p:cNvPr>
          <p:cNvCxnSpPr>
            <a:cxnSpLocks/>
            <a:stCxn id="85" idx="4"/>
            <a:endCxn id="86" idx="7"/>
          </p:cNvCxnSpPr>
          <p:nvPr/>
        </p:nvCxnSpPr>
        <p:spPr>
          <a:xfrm flipH="1">
            <a:off x="4241281" y="4431403"/>
            <a:ext cx="164799" cy="147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AB4C1D4E-CE17-7AAE-5DC9-56261223F0F9}"/>
              </a:ext>
            </a:extLst>
          </p:cNvPr>
          <p:cNvSpPr/>
          <p:nvPr/>
        </p:nvSpPr>
        <p:spPr>
          <a:xfrm>
            <a:off x="5283487" y="4398958"/>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Arrow Connector 92">
            <a:extLst>
              <a:ext uri="{FF2B5EF4-FFF2-40B4-BE49-F238E27FC236}">
                <a16:creationId xmlns:a16="http://schemas.microsoft.com/office/drawing/2014/main" id="{B9FC8E77-608B-718B-3D51-914616B40890}"/>
              </a:ext>
            </a:extLst>
          </p:cNvPr>
          <p:cNvCxnSpPr>
            <a:cxnSpLocks/>
            <a:stCxn id="37" idx="3"/>
            <a:endCxn id="92" idx="7"/>
          </p:cNvCxnSpPr>
          <p:nvPr/>
        </p:nvCxnSpPr>
        <p:spPr>
          <a:xfrm flipH="1">
            <a:off x="5559910" y="4124326"/>
            <a:ext cx="257068" cy="320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DDE48B29-F43C-722F-53A9-B1BAAFA13EE6}"/>
              </a:ext>
            </a:extLst>
          </p:cNvPr>
          <p:cNvSpPr/>
          <p:nvPr/>
        </p:nvSpPr>
        <p:spPr>
          <a:xfrm>
            <a:off x="6648706" y="3828421"/>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Arrow Connector 95">
            <a:extLst>
              <a:ext uri="{FF2B5EF4-FFF2-40B4-BE49-F238E27FC236}">
                <a16:creationId xmlns:a16="http://schemas.microsoft.com/office/drawing/2014/main" id="{0A6A4ADA-EBBA-C9DC-EAB8-E6A0B034B61B}"/>
              </a:ext>
            </a:extLst>
          </p:cNvPr>
          <p:cNvCxnSpPr>
            <a:cxnSpLocks/>
            <a:stCxn id="36" idx="5"/>
            <a:endCxn id="95" idx="1"/>
          </p:cNvCxnSpPr>
          <p:nvPr/>
        </p:nvCxnSpPr>
        <p:spPr>
          <a:xfrm>
            <a:off x="6325271" y="3708745"/>
            <a:ext cx="370862" cy="16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4746436D-186A-F506-C9D8-90AD27BA0CF3}"/>
              </a:ext>
            </a:extLst>
          </p:cNvPr>
          <p:cNvSpPr/>
          <p:nvPr/>
        </p:nvSpPr>
        <p:spPr>
          <a:xfrm>
            <a:off x="7433283" y="3428999"/>
            <a:ext cx="323850" cy="31432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3D20DF05-137A-86C8-FA58-5083805DC09D}"/>
              </a:ext>
            </a:extLst>
          </p:cNvPr>
          <p:cNvSpPr/>
          <p:nvPr/>
        </p:nvSpPr>
        <p:spPr>
          <a:xfrm>
            <a:off x="8002010" y="3214687"/>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8D2858BD-9977-6EC2-2779-D38064B993CC}"/>
              </a:ext>
            </a:extLst>
          </p:cNvPr>
          <p:cNvSpPr/>
          <p:nvPr/>
        </p:nvSpPr>
        <p:spPr>
          <a:xfrm>
            <a:off x="8424182" y="3551582"/>
            <a:ext cx="323850" cy="31432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5B19D71C-F5E0-4483-11C2-996A1EA905B0}"/>
              </a:ext>
            </a:extLst>
          </p:cNvPr>
          <p:cNvSpPr/>
          <p:nvPr/>
        </p:nvSpPr>
        <p:spPr>
          <a:xfrm>
            <a:off x="8144885" y="3967163"/>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A3AAD7A2-45EB-8970-7571-274F94855EBC}"/>
              </a:ext>
            </a:extLst>
          </p:cNvPr>
          <p:cNvSpPr/>
          <p:nvPr/>
        </p:nvSpPr>
        <p:spPr>
          <a:xfrm>
            <a:off x="8680743" y="4281488"/>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93F2D44A-3984-52C7-DD84-071179A05674}"/>
              </a:ext>
            </a:extLst>
          </p:cNvPr>
          <p:cNvSpPr/>
          <p:nvPr/>
        </p:nvSpPr>
        <p:spPr>
          <a:xfrm>
            <a:off x="9189218" y="3418156"/>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Arrow Connector 107">
            <a:extLst>
              <a:ext uri="{FF2B5EF4-FFF2-40B4-BE49-F238E27FC236}">
                <a16:creationId xmlns:a16="http://schemas.microsoft.com/office/drawing/2014/main" id="{9D00C807-CAA9-B5CA-6702-EAF01888F40D}"/>
              </a:ext>
            </a:extLst>
          </p:cNvPr>
          <p:cNvCxnSpPr>
            <a:cxnSpLocks/>
            <a:stCxn id="103" idx="6"/>
            <a:endCxn id="104" idx="1"/>
          </p:cNvCxnSpPr>
          <p:nvPr/>
        </p:nvCxnSpPr>
        <p:spPr>
          <a:xfrm>
            <a:off x="8325860" y="3371850"/>
            <a:ext cx="145749" cy="225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A427A060-BE74-F1AB-13EF-FD08B380F1A0}"/>
              </a:ext>
            </a:extLst>
          </p:cNvPr>
          <p:cNvCxnSpPr>
            <a:cxnSpLocks/>
            <a:stCxn id="107" idx="3"/>
            <a:endCxn id="104" idx="6"/>
          </p:cNvCxnSpPr>
          <p:nvPr/>
        </p:nvCxnSpPr>
        <p:spPr>
          <a:xfrm flipH="1">
            <a:off x="8748032" y="3686449"/>
            <a:ext cx="488613" cy="22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53BA49EF-CB30-1D05-4944-4B7976899796}"/>
              </a:ext>
            </a:extLst>
          </p:cNvPr>
          <p:cNvCxnSpPr>
            <a:cxnSpLocks/>
            <a:stCxn id="104" idx="4"/>
            <a:endCxn id="106" idx="0"/>
          </p:cNvCxnSpPr>
          <p:nvPr/>
        </p:nvCxnSpPr>
        <p:spPr>
          <a:xfrm>
            <a:off x="8586107" y="3865907"/>
            <a:ext cx="256561" cy="415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3B457487-9969-F28F-0F1C-A16C008496F5}"/>
              </a:ext>
            </a:extLst>
          </p:cNvPr>
          <p:cNvCxnSpPr>
            <a:cxnSpLocks/>
            <a:stCxn id="104" idx="3"/>
            <a:endCxn id="105" idx="7"/>
          </p:cNvCxnSpPr>
          <p:nvPr/>
        </p:nvCxnSpPr>
        <p:spPr>
          <a:xfrm flipH="1">
            <a:off x="8421308" y="3819875"/>
            <a:ext cx="50301" cy="19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7A256D02-C54B-310B-801A-20C0CA00A9D5}"/>
              </a:ext>
            </a:extLst>
          </p:cNvPr>
          <p:cNvSpPr/>
          <p:nvPr/>
        </p:nvSpPr>
        <p:spPr>
          <a:xfrm>
            <a:off x="7658821" y="4510088"/>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Arrow Connector 112">
            <a:extLst>
              <a:ext uri="{FF2B5EF4-FFF2-40B4-BE49-F238E27FC236}">
                <a16:creationId xmlns:a16="http://schemas.microsoft.com/office/drawing/2014/main" id="{F159CE13-11D8-6E3F-D656-03578018EBB6}"/>
              </a:ext>
            </a:extLst>
          </p:cNvPr>
          <p:cNvCxnSpPr>
            <a:cxnSpLocks/>
            <a:stCxn id="105" idx="3"/>
            <a:endCxn id="112" idx="7"/>
          </p:cNvCxnSpPr>
          <p:nvPr/>
        </p:nvCxnSpPr>
        <p:spPr>
          <a:xfrm flipH="1">
            <a:off x="7935244" y="4235456"/>
            <a:ext cx="257068" cy="320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F6F2509D-83D6-1B7C-BC5E-687FA90AE3DD}"/>
              </a:ext>
            </a:extLst>
          </p:cNvPr>
          <p:cNvSpPr/>
          <p:nvPr/>
        </p:nvSpPr>
        <p:spPr>
          <a:xfrm>
            <a:off x="9024040" y="3939551"/>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 name="Straight Arrow Connector 114">
            <a:extLst>
              <a:ext uri="{FF2B5EF4-FFF2-40B4-BE49-F238E27FC236}">
                <a16:creationId xmlns:a16="http://schemas.microsoft.com/office/drawing/2014/main" id="{B8807B79-2F17-EE47-FAB8-5CD53D238C26}"/>
              </a:ext>
            </a:extLst>
          </p:cNvPr>
          <p:cNvCxnSpPr>
            <a:cxnSpLocks/>
            <a:stCxn id="104" idx="5"/>
            <a:endCxn id="114" idx="1"/>
          </p:cNvCxnSpPr>
          <p:nvPr/>
        </p:nvCxnSpPr>
        <p:spPr>
          <a:xfrm>
            <a:off x="8700605" y="3819875"/>
            <a:ext cx="370862" cy="16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E63224FF-6437-F3F6-3AE1-FBB1E165E438}"/>
              </a:ext>
            </a:extLst>
          </p:cNvPr>
          <p:cNvCxnSpPr>
            <a:cxnSpLocks/>
            <a:stCxn id="112" idx="0"/>
            <a:endCxn id="102" idx="4"/>
          </p:cNvCxnSpPr>
          <p:nvPr/>
        </p:nvCxnSpPr>
        <p:spPr>
          <a:xfrm flipH="1" flipV="1">
            <a:off x="7595208" y="3743324"/>
            <a:ext cx="225538" cy="766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3C4AB566-9277-CCA9-29E5-7F338D75FD8B}"/>
              </a:ext>
            </a:extLst>
          </p:cNvPr>
          <p:cNvCxnSpPr>
            <a:cxnSpLocks/>
            <a:stCxn id="103" idx="3"/>
            <a:endCxn id="102" idx="7"/>
          </p:cNvCxnSpPr>
          <p:nvPr/>
        </p:nvCxnSpPr>
        <p:spPr>
          <a:xfrm flipH="1" flipV="1">
            <a:off x="7709706" y="3475031"/>
            <a:ext cx="339731" cy="7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1B5B87C6-8070-CBFE-8CF8-BDDE3115F77F}"/>
              </a:ext>
            </a:extLst>
          </p:cNvPr>
          <p:cNvCxnSpPr>
            <a:cxnSpLocks/>
            <a:stCxn id="105" idx="5"/>
            <a:endCxn id="106" idx="2"/>
          </p:cNvCxnSpPr>
          <p:nvPr/>
        </p:nvCxnSpPr>
        <p:spPr>
          <a:xfrm>
            <a:off x="8421308" y="4235456"/>
            <a:ext cx="259435" cy="203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40984D17-60B3-82D8-DF96-B98C1C3B4AF0}"/>
              </a:ext>
            </a:extLst>
          </p:cNvPr>
          <p:cNvCxnSpPr>
            <a:cxnSpLocks/>
            <a:stCxn id="114" idx="0"/>
            <a:endCxn id="107" idx="5"/>
          </p:cNvCxnSpPr>
          <p:nvPr/>
        </p:nvCxnSpPr>
        <p:spPr>
          <a:xfrm flipV="1">
            <a:off x="9185965" y="3686449"/>
            <a:ext cx="279676" cy="253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C8453656-B922-C4E2-0078-F571F94BAA0C}"/>
              </a:ext>
            </a:extLst>
          </p:cNvPr>
          <p:cNvSpPr/>
          <p:nvPr/>
        </p:nvSpPr>
        <p:spPr>
          <a:xfrm>
            <a:off x="8715987" y="3061990"/>
            <a:ext cx="323850" cy="31432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Arrow Connector 141">
            <a:extLst>
              <a:ext uri="{FF2B5EF4-FFF2-40B4-BE49-F238E27FC236}">
                <a16:creationId xmlns:a16="http://schemas.microsoft.com/office/drawing/2014/main" id="{D8342336-C6BB-0C37-1434-BD605DAF2F16}"/>
              </a:ext>
            </a:extLst>
          </p:cNvPr>
          <p:cNvCxnSpPr>
            <a:cxnSpLocks/>
            <a:stCxn id="107" idx="0"/>
            <a:endCxn id="141" idx="6"/>
          </p:cNvCxnSpPr>
          <p:nvPr/>
        </p:nvCxnSpPr>
        <p:spPr>
          <a:xfrm flipH="1" flipV="1">
            <a:off x="9039837" y="3219153"/>
            <a:ext cx="311306" cy="199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1692BCF2-8245-3C7D-56D0-E75BEF1FCAC1}"/>
              </a:ext>
            </a:extLst>
          </p:cNvPr>
          <p:cNvCxnSpPr>
            <a:cxnSpLocks/>
            <a:stCxn id="104" idx="0"/>
            <a:endCxn id="141" idx="3"/>
          </p:cNvCxnSpPr>
          <p:nvPr/>
        </p:nvCxnSpPr>
        <p:spPr>
          <a:xfrm flipV="1">
            <a:off x="8586107" y="3330283"/>
            <a:ext cx="177307" cy="221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8" name="Arrow: Right 147">
            <a:extLst>
              <a:ext uri="{FF2B5EF4-FFF2-40B4-BE49-F238E27FC236}">
                <a16:creationId xmlns:a16="http://schemas.microsoft.com/office/drawing/2014/main" id="{DF955C09-54C2-6A69-EE15-F5BACB5C76DE}"/>
              </a:ext>
            </a:extLst>
          </p:cNvPr>
          <p:cNvSpPr/>
          <p:nvPr/>
        </p:nvSpPr>
        <p:spPr>
          <a:xfrm>
            <a:off x="322621" y="4799693"/>
            <a:ext cx="11691943" cy="6203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FC08EDB2-1FC1-6984-F1C3-388B607E21D7}"/>
              </a:ext>
            </a:extLst>
          </p:cNvPr>
          <p:cNvSpPr/>
          <p:nvPr/>
        </p:nvSpPr>
        <p:spPr>
          <a:xfrm>
            <a:off x="185461" y="2745715"/>
            <a:ext cx="2064774" cy="274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Chunking</a:t>
            </a:r>
          </a:p>
        </p:txBody>
      </p:sp>
      <p:sp>
        <p:nvSpPr>
          <p:cNvPr id="3" name="Rectangle: Rounded Corners 2">
            <a:extLst>
              <a:ext uri="{FF2B5EF4-FFF2-40B4-BE49-F238E27FC236}">
                <a16:creationId xmlns:a16="http://schemas.microsoft.com/office/drawing/2014/main" id="{42353CE0-B7D4-9C4A-50A5-55F22765AED7}"/>
              </a:ext>
            </a:extLst>
          </p:cNvPr>
          <p:cNvSpPr/>
          <p:nvPr/>
        </p:nvSpPr>
        <p:spPr>
          <a:xfrm>
            <a:off x="2627671" y="2743512"/>
            <a:ext cx="2064774" cy="274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Short Term Memory</a:t>
            </a:r>
          </a:p>
        </p:txBody>
      </p:sp>
      <p:sp>
        <p:nvSpPr>
          <p:cNvPr id="4" name="Rectangle: Rounded Corners 3">
            <a:extLst>
              <a:ext uri="{FF2B5EF4-FFF2-40B4-BE49-F238E27FC236}">
                <a16:creationId xmlns:a16="http://schemas.microsoft.com/office/drawing/2014/main" id="{B225AAD4-78CE-D389-0F34-FAE48D79507C}"/>
              </a:ext>
            </a:extLst>
          </p:cNvPr>
          <p:cNvSpPr/>
          <p:nvPr/>
        </p:nvSpPr>
        <p:spPr>
          <a:xfrm>
            <a:off x="5038737" y="2740703"/>
            <a:ext cx="2064774" cy="274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Long Term Memory</a:t>
            </a:r>
          </a:p>
        </p:txBody>
      </p:sp>
      <p:sp>
        <p:nvSpPr>
          <p:cNvPr id="5" name="Rectangle: Rounded Corners 4">
            <a:extLst>
              <a:ext uri="{FF2B5EF4-FFF2-40B4-BE49-F238E27FC236}">
                <a16:creationId xmlns:a16="http://schemas.microsoft.com/office/drawing/2014/main" id="{985337D4-99CF-2F31-B61F-7DBF3C0FC519}"/>
              </a:ext>
            </a:extLst>
          </p:cNvPr>
          <p:cNvSpPr/>
          <p:nvPr/>
        </p:nvSpPr>
        <p:spPr>
          <a:xfrm>
            <a:off x="7468151" y="2727046"/>
            <a:ext cx="2064774" cy="274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Refinement</a:t>
            </a:r>
          </a:p>
        </p:txBody>
      </p:sp>
      <p:sp>
        <p:nvSpPr>
          <p:cNvPr id="30" name="Rectangle: Rounded Corners 29">
            <a:extLst>
              <a:ext uri="{FF2B5EF4-FFF2-40B4-BE49-F238E27FC236}">
                <a16:creationId xmlns:a16="http://schemas.microsoft.com/office/drawing/2014/main" id="{63210821-4312-9EE7-41F3-75965DB004CD}"/>
              </a:ext>
            </a:extLst>
          </p:cNvPr>
          <p:cNvSpPr/>
          <p:nvPr/>
        </p:nvSpPr>
        <p:spPr>
          <a:xfrm>
            <a:off x="9899884" y="2722559"/>
            <a:ext cx="2064774" cy="274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Validation</a:t>
            </a:r>
          </a:p>
        </p:txBody>
      </p:sp>
      <p:sp>
        <p:nvSpPr>
          <p:cNvPr id="31" name="Arrow: Right 30">
            <a:extLst>
              <a:ext uri="{FF2B5EF4-FFF2-40B4-BE49-F238E27FC236}">
                <a16:creationId xmlns:a16="http://schemas.microsoft.com/office/drawing/2014/main" id="{7834299B-F152-1010-7100-B763BB4E311B}"/>
              </a:ext>
            </a:extLst>
          </p:cNvPr>
          <p:cNvSpPr/>
          <p:nvPr/>
        </p:nvSpPr>
        <p:spPr>
          <a:xfrm>
            <a:off x="1014984" y="3860779"/>
            <a:ext cx="337799" cy="3344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888D5F0C-3E1C-7CAD-0862-10FB6F5F9264}"/>
              </a:ext>
            </a:extLst>
          </p:cNvPr>
          <p:cNvGrpSpPr/>
          <p:nvPr/>
        </p:nvGrpSpPr>
        <p:grpSpPr>
          <a:xfrm>
            <a:off x="1487578" y="3590534"/>
            <a:ext cx="687110" cy="851946"/>
            <a:chOff x="1409754" y="3532166"/>
            <a:chExt cx="687110" cy="851946"/>
          </a:xfrm>
        </p:grpSpPr>
        <p:sp>
          <p:nvSpPr>
            <p:cNvPr id="17" name="Flowchart: Document 16">
              <a:extLst>
                <a:ext uri="{FF2B5EF4-FFF2-40B4-BE49-F238E27FC236}">
                  <a16:creationId xmlns:a16="http://schemas.microsoft.com/office/drawing/2014/main" id="{32696EC2-1B9D-0DE0-6933-4C4C258D3A1F}"/>
                </a:ext>
              </a:extLst>
            </p:cNvPr>
            <p:cNvSpPr/>
            <p:nvPr/>
          </p:nvSpPr>
          <p:spPr>
            <a:xfrm>
              <a:off x="1544414" y="3532166"/>
              <a:ext cx="552450" cy="657225"/>
            </a:xfrm>
            <a:prstGeom prst="flowChartDocumen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Document 17">
              <a:extLst>
                <a:ext uri="{FF2B5EF4-FFF2-40B4-BE49-F238E27FC236}">
                  <a16:creationId xmlns:a16="http://schemas.microsoft.com/office/drawing/2014/main" id="{67F2EE9D-8CA6-4B1B-F606-FDA5D6CECB58}"/>
                </a:ext>
              </a:extLst>
            </p:cNvPr>
            <p:cNvSpPr/>
            <p:nvPr/>
          </p:nvSpPr>
          <p:spPr>
            <a:xfrm>
              <a:off x="1478805" y="3631303"/>
              <a:ext cx="552450" cy="65722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Document 19">
              <a:extLst>
                <a:ext uri="{FF2B5EF4-FFF2-40B4-BE49-F238E27FC236}">
                  <a16:creationId xmlns:a16="http://schemas.microsoft.com/office/drawing/2014/main" id="{0254DD5E-23D2-6B65-0E25-C2A05B65DEA6}"/>
                </a:ext>
              </a:extLst>
            </p:cNvPr>
            <p:cNvSpPr/>
            <p:nvPr/>
          </p:nvSpPr>
          <p:spPr>
            <a:xfrm>
              <a:off x="1409754" y="3726887"/>
              <a:ext cx="552450" cy="657225"/>
            </a:xfrm>
            <a:prstGeom prst="flowChartDocument">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0F3D2602-2706-3D6E-9C0A-D63AF8631335}"/>
              </a:ext>
            </a:extLst>
          </p:cNvPr>
          <p:cNvSpPr txBox="1"/>
          <p:nvPr/>
        </p:nvSpPr>
        <p:spPr>
          <a:xfrm>
            <a:off x="0" y="5683559"/>
            <a:ext cx="11089895" cy="553998"/>
          </a:xfrm>
          <a:prstGeom prst="rect">
            <a:avLst/>
          </a:prstGeom>
          <a:noFill/>
        </p:spPr>
        <p:txBody>
          <a:bodyPr wrap="square" rtlCol="0">
            <a:spAutoFit/>
          </a:bodyPr>
          <a:lstStyle/>
          <a:p>
            <a:r>
              <a:rPr lang="en-US" sz="1000" dirty="0">
                <a:solidFill>
                  <a:schemeClr val="bg1"/>
                </a:solidFill>
              </a:rPr>
              <a:t>Qu, R., Tu, R., &amp; Bao, F. (2024). Is semantic chunking worth the computational cost? </a:t>
            </a:r>
            <a:r>
              <a:rPr lang="en-US" sz="1000" dirty="0">
                <a:solidFill>
                  <a:schemeClr val="bg1"/>
                </a:solidFill>
                <a:hlinkClick r:id="rId3"/>
              </a:rPr>
              <a:t>http://arxiv.org/abs/2410.13070</a:t>
            </a:r>
            <a:endParaRPr lang="en-US" sz="1000" dirty="0">
              <a:solidFill>
                <a:schemeClr val="bg1"/>
              </a:solidFill>
            </a:endParaRPr>
          </a:p>
          <a:p>
            <a:r>
              <a:rPr lang="fr-FR" sz="1000" dirty="0" err="1">
                <a:solidFill>
                  <a:schemeClr val="bg1"/>
                </a:solidFill>
              </a:rPr>
              <a:t>Benjira</a:t>
            </a:r>
            <a:r>
              <a:rPr lang="fr-FR" sz="1000" dirty="0">
                <a:solidFill>
                  <a:schemeClr val="bg1"/>
                </a:solidFill>
              </a:rPr>
              <a:t>, W., </a:t>
            </a:r>
            <a:r>
              <a:rPr lang="fr-FR" sz="1000" dirty="0" err="1">
                <a:solidFill>
                  <a:schemeClr val="bg1"/>
                </a:solidFill>
              </a:rPr>
              <a:t>Atigui</a:t>
            </a:r>
            <a:r>
              <a:rPr lang="fr-FR" sz="1000" dirty="0">
                <a:solidFill>
                  <a:schemeClr val="bg1"/>
                </a:solidFill>
              </a:rPr>
              <a:t>, F., Bucher, B., </a:t>
            </a:r>
            <a:r>
              <a:rPr lang="fr-FR" sz="1000" dirty="0" err="1">
                <a:solidFill>
                  <a:schemeClr val="bg1"/>
                </a:solidFill>
              </a:rPr>
              <a:t>Grim-Yefsah</a:t>
            </a:r>
            <a:r>
              <a:rPr lang="fr-FR" sz="1000" dirty="0">
                <a:solidFill>
                  <a:schemeClr val="bg1"/>
                </a:solidFill>
              </a:rPr>
              <a:t>, M., &amp; Travers, N. (2025). </a:t>
            </a:r>
            <a:r>
              <a:rPr lang="en-US" sz="1000" dirty="0">
                <a:solidFill>
                  <a:schemeClr val="bg1"/>
                </a:solidFill>
              </a:rPr>
              <a:t>Automated mapping between </a:t>
            </a:r>
            <a:r>
              <a:rPr lang="en-US" sz="1000" dirty="0" err="1">
                <a:solidFill>
                  <a:schemeClr val="bg1"/>
                </a:solidFill>
              </a:rPr>
              <a:t>sdg</a:t>
            </a:r>
            <a:r>
              <a:rPr lang="en-US" sz="1000" dirty="0">
                <a:solidFill>
                  <a:schemeClr val="bg1"/>
                </a:solidFill>
              </a:rPr>
              <a:t> indicators and open data: An </a:t>
            </a:r>
            <a:r>
              <a:rPr lang="en-US" sz="1000" dirty="0" err="1">
                <a:solidFill>
                  <a:schemeClr val="bg1"/>
                </a:solidFill>
              </a:rPr>
              <a:t>llm</a:t>
            </a:r>
            <a:r>
              <a:rPr lang="en-US" sz="1000" dirty="0">
                <a:solidFill>
                  <a:schemeClr val="bg1"/>
                </a:solidFill>
              </a:rPr>
              <a:t> augmented knowledge graph approach. </a:t>
            </a:r>
            <a:r>
              <a:rPr lang="en-US" sz="1000" i="1" dirty="0">
                <a:solidFill>
                  <a:schemeClr val="bg1"/>
                </a:solidFill>
              </a:rPr>
              <a:t>Data &amp; knowledge engineering</a:t>
            </a:r>
            <a:r>
              <a:rPr lang="en-US" sz="1000" dirty="0">
                <a:solidFill>
                  <a:schemeClr val="bg1"/>
                </a:solidFill>
              </a:rPr>
              <a:t>, </a:t>
            </a:r>
            <a:r>
              <a:rPr lang="en-US" sz="1000" i="1" dirty="0">
                <a:solidFill>
                  <a:schemeClr val="bg1"/>
                </a:solidFill>
              </a:rPr>
              <a:t>156</a:t>
            </a:r>
            <a:r>
              <a:rPr lang="en-US" sz="1000" dirty="0">
                <a:solidFill>
                  <a:schemeClr val="bg1"/>
                </a:solidFill>
              </a:rPr>
              <a:t>, 102405. https://doi.org/10.1016/j.datak.2024.102405</a:t>
            </a:r>
          </a:p>
        </p:txBody>
      </p:sp>
    </p:spTree>
    <p:extLst>
      <p:ext uri="{BB962C8B-B14F-4D97-AF65-F5344CB8AC3E}">
        <p14:creationId xmlns:p14="http://schemas.microsoft.com/office/powerpoint/2010/main" val="414878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E26BCE6C-1731-4765-F9A5-3B091FAC1AB9}"/>
              </a:ext>
            </a:extLst>
          </p:cNvPr>
          <p:cNvSpPr txBox="1">
            <a:spLocks/>
          </p:cNvSpPr>
          <p:nvPr/>
        </p:nvSpPr>
        <p:spPr>
          <a:xfrm>
            <a:off x="322621" y="440161"/>
            <a:ext cx="10483326" cy="97507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dirty="0"/>
              <a:t>Chunking</a:t>
            </a:r>
          </a:p>
        </p:txBody>
      </p:sp>
      <p:sp>
        <p:nvSpPr>
          <p:cNvPr id="4" name="TextBox 3">
            <a:extLst>
              <a:ext uri="{FF2B5EF4-FFF2-40B4-BE49-F238E27FC236}">
                <a16:creationId xmlns:a16="http://schemas.microsoft.com/office/drawing/2014/main" id="{0359C5AC-A0F7-D681-3992-19341BFA0C68}"/>
              </a:ext>
            </a:extLst>
          </p:cNvPr>
          <p:cNvSpPr txBox="1"/>
          <p:nvPr/>
        </p:nvSpPr>
        <p:spPr>
          <a:xfrm>
            <a:off x="6685364" y="0"/>
            <a:ext cx="5506636" cy="307777"/>
          </a:xfrm>
          <a:prstGeom prst="rect">
            <a:avLst/>
          </a:prstGeom>
          <a:noFill/>
        </p:spPr>
        <p:txBody>
          <a:bodyPr wrap="none" rtlCol="0">
            <a:spAutoFit/>
          </a:bodyPr>
          <a:lstStyle/>
          <a:p>
            <a:pPr algn="r"/>
            <a:r>
              <a:rPr lang="en-US" dirty="0"/>
              <a:t>Introduction   </a:t>
            </a:r>
            <a:r>
              <a:rPr lang="en-US" b="1" dirty="0"/>
              <a:t>Foundation </a:t>
            </a:r>
            <a:r>
              <a:rPr lang="en-US" dirty="0"/>
              <a:t>  Key Findings   Discussion   Conclusion</a:t>
            </a:r>
          </a:p>
        </p:txBody>
      </p:sp>
      <p:pic>
        <p:nvPicPr>
          <p:cNvPr id="6" name="Picture 5" descr="Text, letter&#10;&#10;AI-generated content may be incorrect.">
            <a:extLst>
              <a:ext uri="{FF2B5EF4-FFF2-40B4-BE49-F238E27FC236}">
                <a16:creationId xmlns:a16="http://schemas.microsoft.com/office/drawing/2014/main" id="{C001F877-020A-E772-B307-6A81D9B38662}"/>
              </a:ext>
            </a:extLst>
          </p:cNvPr>
          <p:cNvPicPr>
            <a:picLocks noChangeAspect="1"/>
          </p:cNvPicPr>
          <p:nvPr/>
        </p:nvPicPr>
        <p:blipFill>
          <a:blip r:embed="rId3"/>
          <a:stretch>
            <a:fillRect/>
          </a:stretch>
        </p:blipFill>
        <p:spPr>
          <a:xfrm>
            <a:off x="972767" y="1161586"/>
            <a:ext cx="3397664" cy="3818975"/>
          </a:xfrm>
          <a:prstGeom prst="rect">
            <a:avLst/>
          </a:prstGeom>
        </p:spPr>
      </p:pic>
      <p:graphicFrame>
        <p:nvGraphicFramePr>
          <p:cNvPr id="2" name="Table 1">
            <a:extLst>
              <a:ext uri="{FF2B5EF4-FFF2-40B4-BE49-F238E27FC236}">
                <a16:creationId xmlns:a16="http://schemas.microsoft.com/office/drawing/2014/main" id="{F908348F-2269-60F4-81F4-6650C2DB4E20}"/>
              </a:ext>
            </a:extLst>
          </p:cNvPr>
          <p:cNvGraphicFramePr>
            <a:graphicFrameLocks noGrp="1"/>
          </p:cNvGraphicFramePr>
          <p:nvPr>
            <p:extLst>
              <p:ext uri="{D42A27DB-BD31-4B8C-83A1-F6EECF244321}">
                <p14:modId xmlns:p14="http://schemas.microsoft.com/office/powerpoint/2010/main" val="1161061872"/>
              </p:ext>
            </p:extLst>
          </p:nvPr>
        </p:nvGraphicFramePr>
        <p:xfrm>
          <a:off x="4953693" y="558579"/>
          <a:ext cx="6502400" cy="4663440"/>
        </p:xfrm>
        <a:graphic>
          <a:graphicData uri="http://schemas.openxmlformats.org/drawingml/2006/table">
            <a:tbl>
              <a:tblPr firstRow="1">
                <a:tableStyleId>{5C22544A-7EE6-4342-B048-85BDC9FD1C3A}</a:tableStyleId>
              </a:tblPr>
              <a:tblGrid>
                <a:gridCol w="1625600">
                  <a:extLst>
                    <a:ext uri="{9D8B030D-6E8A-4147-A177-3AD203B41FA5}">
                      <a16:colId xmlns:a16="http://schemas.microsoft.com/office/drawing/2014/main" val="726848916"/>
                    </a:ext>
                  </a:extLst>
                </a:gridCol>
                <a:gridCol w="1625600">
                  <a:extLst>
                    <a:ext uri="{9D8B030D-6E8A-4147-A177-3AD203B41FA5}">
                      <a16:colId xmlns:a16="http://schemas.microsoft.com/office/drawing/2014/main" val="1122751018"/>
                    </a:ext>
                  </a:extLst>
                </a:gridCol>
                <a:gridCol w="1625600">
                  <a:extLst>
                    <a:ext uri="{9D8B030D-6E8A-4147-A177-3AD203B41FA5}">
                      <a16:colId xmlns:a16="http://schemas.microsoft.com/office/drawing/2014/main" val="2946868297"/>
                    </a:ext>
                  </a:extLst>
                </a:gridCol>
                <a:gridCol w="1625600">
                  <a:extLst>
                    <a:ext uri="{9D8B030D-6E8A-4147-A177-3AD203B41FA5}">
                      <a16:colId xmlns:a16="http://schemas.microsoft.com/office/drawing/2014/main" val="1173732129"/>
                    </a:ext>
                  </a:extLst>
                </a:gridCol>
              </a:tblGrid>
              <a:tr h="370840">
                <a:tc>
                  <a:txBody>
                    <a:bodyPr/>
                    <a:lstStyle/>
                    <a:p>
                      <a:r>
                        <a:rPr lang="en-US" sz="1200" dirty="0"/>
                        <a:t>Strategy</a:t>
                      </a:r>
                    </a:p>
                  </a:txBody>
                  <a:tcPr/>
                </a:tc>
                <a:tc>
                  <a:txBody>
                    <a:bodyPr/>
                    <a:lstStyle/>
                    <a:p>
                      <a:r>
                        <a:rPr lang="en-US" sz="1200" dirty="0"/>
                        <a:t>Context Preservation</a:t>
                      </a:r>
                    </a:p>
                  </a:txBody>
                  <a:tcPr/>
                </a:tc>
                <a:tc>
                  <a:txBody>
                    <a:bodyPr/>
                    <a:lstStyle/>
                    <a:p>
                      <a:r>
                        <a:rPr lang="en-US" sz="1200" dirty="0"/>
                        <a:t>Implementation Difficulty</a:t>
                      </a:r>
                    </a:p>
                  </a:txBody>
                  <a:tcPr/>
                </a:tc>
                <a:tc>
                  <a:txBody>
                    <a:bodyPr/>
                    <a:lstStyle/>
                    <a:p>
                      <a:r>
                        <a:rPr lang="en-US" sz="1200" dirty="0"/>
                        <a:t>Verdict</a:t>
                      </a:r>
                    </a:p>
                  </a:txBody>
                  <a:tcPr/>
                </a:tc>
                <a:extLst>
                  <a:ext uri="{0D108BD9-81ED-4DB2-BD59-A6C34878D82A}">
                    <a16:rowId xmlns:a16="http://schemas.microsoft.com/office/drawing/2014/main" val="25941251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Fixed Number of Characters</a:t>
                      </a:r>
                    </a:p>
                  </a:txBody>
                  <a:tcPr/>
                </a:tc>
                <a:tc>
                  <a:txBody>
                    <a:bodyPr/>
                    <a:lstStyle/>
                    <a:p>
                      <a:pPr marL="285750" indent="-285750">
                        <a:buFont typeface="Arial" panose="020B0604020202020204" pitchFamily="34" charset="0"/>
                        <a:buChar char="•"/>
                      </a:pPr>
                      <a:r>
                        <a:rPr lang="en-US" sz="1200" dirty="0"/>
                        <a:t>No context</a:t>
                      </a:r>
                    </a:p>
                    <a:p>
                      <a:pPr marL="285750" indent="-285750">
                        <a:buFont typeface="Arial" panose="020B0604020202020204" pitchFamily="34" charset="0"/>
                        <a:buChar char="•"/>
                      </a:pPr>
                      <a:r>
                        <a:rPr lang="en-US" sz="1200" dirty="0"/>
                        <a:t>Breaks could be meaningless</a:t>
                      </a:r>
                    </a:p>
                  </a:txBody>
                  <a:tcPr/>
                </a:tc>
                <a:tc>
                  <a:txBody>
                    <a:bodyPr/>
                    <a:lstStyle/>
                    <a:p>
                      <a:pPr marL="285750" indent="-285750">
                        <a:buFont typeface="Arial" panose="020B0604020202020204" pitchFamily="34" charset="0"/>
                        <a:buChar char="•"/>
                      </a:pPr>
                      <a:r>
                        <a:rPr lang="en-US" sz="1200" dirty="0"/>
                        <a:t>Easy</a:t>
                      </a:r>
                    </a:p>
                    <a:p>
                      <a:pPr marL="285750" indent="-285750">
                        <a:buFont typeface="Arial" panose="020B0604020202020204" pitchFamily="34" charset="0"/>
                        <a:buChar char="•"/>
                      </a:pPr>
                      <a:r>
                        <a:rPr lang="en-US" sz="1200" dirty="0"/>
                        <a:t>Size can match the context window</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0" i="0" u="none" strike="noStrike" cap="none" dirty="0">
                          <a:solidFill>
                            <a:schemeClr val="dk1"/>
                          </a:solidFill>
                          <a:latin typeface="+mn-lt"/>
                          <a:ea typeface="+mn-ea"/>
                          <a:cs typeface="+mn-cs"/>
                          <a:sym typeface="Arial"/>
                        </a:rPr>
                        <a:t>Too much loss of context</a:t>
                      </a:r>
                    </a:p>
                    <a:p>
                      <a:pPr marL="285750" marR="0" indent="-285750" algn="l" rtl="0">
                        <a:lnSpc>
                          <a:spcPct val="100000"/>
                        </a:lnSpc>
                        <a:spcBef>
                          <a:spcPts val="0"/>
                        </a:spcBef>
                        <a:spcAft>
                          <a:spcPts val="0"/>
                        </a:spcAft>
                        <a:buClr>
                          <a:srgbClr val="000000"/>
                        </a:buClr>
                        <a:buFont typeface="Arial" panose="020B0604020202020204" pitchFamily="34" charset="0"/>
                        <a:buChar char="•"/>
                      </a:pPr>
                      <a:endParaRPr lang="en-US" sz="1200" b="0" i="0" u="none" strike="noStrike" cap="none" dirty="0">
                        <a:solidFill>
                          <a:schemeClr val="dk1"/>
                        </a:solidFill>
                        <a:latin typeface="+mn-lt"/>
                        <a:ea typeface="+mn-ea"/>
                        <a:cs typeface="+mn-cs"/>
                        <a:sym typeface="Arial"/>
                      </a:endParaRPr>
                    </a:p>
                  </a:txBody>
                  <a:tcPr/>
                </a:tc>
                <a:extLst>
                  <a:ext uri="{0D108BD9-81ED-4DB2-BD59-A6C34878D82A}">
                    <a16:rowId xmlns:a16="http://schemas.microsoft.com/office/drawing/2014/main" val="281866367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Fixed Number of Sentences</a:t>
                      </a:r>
                    </a:p>
                  </a:txBody>
                  <a:tcPr/>
                </a:tc>
                <a:tc>
                  <a:txBody>
                    <a:bodyPr/>
                    <a:lstStyle/>
                    <a:p>
                      <a:pPr marL="285750" indent="-285750">
                        <a:buFont typeface="Arial" panose="020B0604020202020204" pitchFamily="34" charset="0"/>
                        <a:buChar char="•"/>
                      </a:pPr>
                      <a:r>
                        <a:rPr lang="en-US" sz="1200" dirty="0"/>
                        <a:t>Can lose context</a:t>
                      </a:r>
                    </a:p>
                    <a:p>
                      <a:pPr marL="285750" indent="-285750">
                        <a:buFont typeface="Arial" panose="020B0604020202020204" pitchFamily="34" charset="0"/>
                        <a:buChar char="•"/>
                      </a:pPr>
                      <a:r>
                        <a:rPr lang="en-US" sz="1200" dirty="0"/>
                        <a:t>Breaks could be meaningless</a:t>
                      </a:r>
                    </a:p>
                  </a:txBody>
                  <a:tcPr/>
                </a:tc>
                <a:tc>
                  <a:txBody>
                    <a:bodyPr/>
                    <a:lstStyle/>
                    <a:p>
                      <a:pPr marL="285750" indent="-285750">
                        <a:buFont typeface="Arial" panose="020B0604020202020204" pitchFamily="34" charset="0"/>
                        <a:buChar char="•"/>
                      </a:pPr>
                      <a:r>
                        <a:rPr lang="en-US" sz="1200" dirty="0"/>
                        <a:t>Small units</a:t>
                      </a:r>
                    </a:p>
                    <a:p>
                      <a:pPr marL="285750" indent="-285750">
                        <a:buFont typeface="Arial" panose="020B0604020202020204" pitchFamily="34" charset="0"/>
                        <a:buChar char="•"/>
                      </a:pPr>
                      <a:r>
                        <a:rPr lang="en-US" sz="1200" dirty="0"/>
                        <a:t>Easy</a:t>
                      </a:r>
                    </a:p>
                    <a:p>
                      <a:pPr marL="285750" indent="-285750">
                        <a:buFont typeface="Arial" panose="020B0604020202020204" pitchFamily="34" charset="0"/>
                        <a:buChar char="•"/>
                      </a:pPr>
                      <a:r>
                        <a:rPr lang="en-US" sz="1200" dirty="0"/>
                        <a:t>Size needs to be adjusted to fit in Context window</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0" i="0" u="none" strike="noStrike" cap="none" dirty="0">
                          <a:solidFill>
                            <a:schemeClr val="dk1"/>
                          </a:solidFill>
                          <a:latin typeface="+mn-lt"/>
                          <a:ea typeface="+mn-ea"/>
                          <a:cs typeface="+mn-cs"/>
                          <a:sym typeface="Arial"/>
                        </a:rPr>
                        <a:t>Context can still be lost</a:t>
                      </a:r>
                    </a:p>
                    <a:p>
                      <a:pPr marL="285750" marR="0" indent="-285750" algn="l" rtl="0">
                        <a:lnSpc>
                          <a:spcPct val="100000"/>
                        </a:lnSpc>
                        <a:spcBef>
                          <a:spcPts val="0"/>
                        </a:spcBef>
                        <a:spcAft>
                          <a:spcPts val="0"/>
                        </a:spcAft>
                        <a:buClr>
                          <a:srgbClr val="000000"/>
                        </a:buClr>
                        <a:buFont typeface="Arial" panose="020B0604020202020204" pitchFamily="34" charset="0"/>
                        <a:buChar char="•"/>
                      </a:pPr>
                      <a:endParaRPr lang="en-US" sz="1200" b="0" i="0" u="none" strike="noStrike" cap="none" dirty="0">
                        <a:solidFill>
                          <a:schemeClr val="dk1"/>
                        </a:solidFill>
                        <a:latin typeface="+mn-lt"/>
                        <a:ea typeface="+mn-ea"/>
                        <a:cs typeface="+mn-cs"/>
                        <a:sym typeface="Arial"/>
                      </a:endParaRPr>
                    </a:p>
                  </a:txBody>
                  <a:tcPr/>
                </a:tc>
                <a:extLst>
                  <a:ext uri="{0D108BD9-81ED-4DB2-BD59-A6C34878D82A}">
                    <a16:rowId xmlns:a16="http://schemas.microsoft.com/office/drawing/2014/main" val="308333643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Fixed Number of Paragraphs</a:t>
                      </a:r>
                    </a:p>
                  </a:txBody>
                  <a:tcPr>
                    <a:solidFill>
                      <a:schemeClr val="accent6"/>
                    </a:solidFill>
                  </a:tcPr>
                </a:tc>
                <a:tc>
                  <a:txBody>
                    <a:bodyPr/>
                    <a:lstStyle/>
                    <a:p>
                      <a:pPr marL="285750" indent="-285750">
                        <a:buFont typeface="Arial" panose="020B0604020202020204" pitchFamily="34" charset="0"/>
                        <a:buChar char="•"/>
                      </a:pPr>
                      <a:r>
                        <a:rPr lang="en-US" sz="1200" dirty="0"/>
                        <a:t>Good Context Boundaries</a:t>
                      </a:r>
                    </a:p>
                    <a:p>
                      <a:pPr marL="285750" indent="-285750">
                        <a:buFont typeface="Arial" panose="020B0604020202020204" pitchFamily="34" charset="0"/>
                        <a:buChar char="•"/>
                      </a:pPr>
                      <a:r>
                        <a:rPr lang="en-US" sz="1200" dirty="0"/>
                        <a:t>Larger Units</a:t>
                      </a:r>
                    </a:p>
                  </a:txBody>
                  <a:tcPr>
                    <a:solidFill>
                      <a:schemeClr val="accent6"/>
                    </a:solidFill>
                  </a:tcPr>
                </a:tc>
                <a:tc>
                  <a:txBody>
                    <a:bodyPr/>
                    <a:lstStyle/>
                    <a:p>
                      <a:pPr marL="285750" indent="-285750">
                        <a:buFont typeface="Arial" panose="020B0604020202020204" pitchFamily="34" charset="0"/>
                        <a:buChar char="•"/>
                      </a:pPr>
                      <a:r>
                        <a:rPr lang="en-US" sz="1200" dirty="0"/>
                        <a:t>Easy</a:t>
                      </a:r>
                    </a:p>
                    <a:p>
                      <a:pPr marL="285750" indent="-285750">
                        <a:buFont typeface="Arial" panose="020B0604020202020204" pitchFamily="34" charset="0"/>
                        <a:buChar char="•"/>
                      </a:pPr>
                      <a:r>
                        <a:rPr lang="en-US" sz="1200" dirty="0"/>
                        <a:t>Size needs to be adjusted to fit in Context windows</a:t>
                      </a:r>
                    </a:p>
                  </a:txBody>
                  <a:tcPr>
                    <a:solidFill>
                      <a:schemeClr val="accent6"/>
                    </a:solidFill>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0" i="0" u="none" strike="noStrike" cap="none" dirty="0">
                          <a:solidFill>
                            <a:schemeClr val="dk1"/>
                          </a:solidFill>
                          <a:latin typeface="+mn-lt"/>
                          <a:ea typeface="+mn-ea"/>
                          <a:cs typeface="+mn-cs"/>
                          <a:sym typeface="Arial"/>
                        </a:rPr>
                        <a:t>Good balance of context</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0" i="0" u="none" strike="noStrike" cap="none" dirty="0">
                          <a:solidFill>
                            <a:schemeClr val="dk1"/>
                          </a:solidFill>
                          <a:latin typeface="+mn-lt"/>
                          <a:ea typeface="+mn-ea"/>
                          <a:cs typeface="+mn-cs"/>
                          <a:sym typeface="Arial"/>
                        </a:rPr>
                        <a:t>Selected Approach</a:t>
                      </a:r>
                    </a:p>
                    <a:p>
                      <a:pPr marL="285750" marR="0" indent="-285750" algn="l" rtl="0">
                        <a:lnSpc>
                          <a:spcPct val="100000"/>
                        </a:lnSpc>
                        <a:spcBef>
                          <a:spcPts val="0"/>
                        </a:spcBef>
                        <a:spcAft>
                          <a:spcPts val="0"/>
                        </a:spcAft>
                        <a:buClr>
                          <a:srgbClr val="000000"/>
                        </a:buClr>
                        <a:buFont typeface="Arial" panose="020B0604020202020204" pitchFamily="34" charset="0"/>
                        <a:buChar char="•"/>
                      </a:pPr>
                      <a:endParaRPr lang="en-US" sz="1200" b="0" i="0" u="none" strike="noStrike" cap="none" dirty="0">
                        <a:solidFill>
                          <a:schemeClr val="dk1"/>
                        </a:solidFill>
                        <a:latin typeface="+mn-lt"/>
                        <a:ea typeface="+mn-ea"/>
                        <a:cs typeface="+mn-cs"/>
                        <a:sym typeface="Arial"/>
                      </a:endParaRPr>
                    </a:p>
                  </a:txBody>
                  <a:tcPr>
                    <a:solidFill>
                      <a:schemeClr val="accent6"/>
                    </a:solidFill>
                  </a:tcPr>
                </a:tc>
                <a:extLst>
                  <a:ext uri="{0D108BD9-81ED-4DB2-BD59-A6C34878D82A}">
                    <a16:rowId xmlns:a16="http://schemas.microsoft.com/office/drawing/2014/main" val="2268472724"/>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Meaningful Groups</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0" i="0" u="none" strike="noStrike" cap="none" dirty="0">
                          <a:solidFill>
                            <a:schemeClr val="dk1"/>
                          </a:solidFill>
                          <a:latin typeface="+mn-lt"/>
                          <a:ea typeface="+mn-ea"/>
                          <a:cs typeface="+mn-cs"/>
                          <a:sym typeface="Arial"/>
                        </a:rPr>
                        <a:t>Only Context Boundaries</a:t>
                      </a:r>
                    </a:p>
                  </a:txBody>
                  <a:tcPr/>
                </a:tc>
                <a:tc>
                  <a:txBody>
                    <a:bodyPr/>
                    <a:lstStyle/>
                    <a:p>
                      <a:pPr marL="285750" indent="-285750">
                        <a:buFont typeface="Arial" panose="020B0604020202020204" pitchFamily="34" charset="0"/>
                        <a:buChar char="•"/>
                      </a:pPr>
                      <a:r>
                        <a:rPr lang="en-US" sz="1200" dirty="0"/>
                        <a:t>Requires Manual Effort or LLM</a:t>
                      </a:r>
                    </a:p>
                    <a:p>
                      <a:pPr marL="285750" indent="-285750">
                        <a:buFont typeface="Arial" panose="020B0604020202020204" pitchFamily="34" charset="0"/>
                        <a:buChar char="•"/>
                      </a:pPr>
                      <a:r>
                        <a:rPr lang="en-US" sz="1200" dirty="0"/>
                        <a:t>Size needs to be adjusted to fit in Context windows </a:t>
                      </a:r>
                      <a:r>
                        <a:rPr lang="en-US" sz="1200" dirty="0">
                          <a:sym typeface="Wingdings" panose="05000000000000000000" pitchFamily="2" charset="2"/>
                        </a:rPr>
                        <a:t> may require splitting</a:t>
                      </a:r>
                      <a:endParaRPr lang="en-US" sz="1200" dirty="0"/>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0" i="0" u="none" strike="noStrike" cap="none" dirty="0">
                          <a:solidFill>
                            <a:schemeClr val="dk1"/>
                          </a:solidFill>
                          <a:latin typeface="+mn-lt"/>
                          <a:ea typeface="+mn-ea"/>
                          <a:cs typeface="+mn-cs"/>
                          <a:sym typeface="Arial"/>
                        </a:rPr>
                        <a:t>Too much of a performance penalty</a:t>
                      </a:r>
                    </a:p>
                    <a:p>
                      <a:pPr marL="285750" marR="0" indent="-285750" algn="l" rtl="0">
                        <a:lnSpc>
                          <a:spcPct val="100000"/>
                        </a:lnSpc>
                        <a:spcBef>
                          <a:spcPts val="0"/>
                        </a:spcBef>
                        <a:spcAft>
                          <a:spcPts val="0"/>
                        </a:spcAft>
                        <a:buClr>
                          <a:srgbClr val="000000"/>
                        </a:buClr>
                        <a:buFont typeface="Arial" panose="020B0604020202020204" pitchFamily="34" charset="0"/>
                        <a:buChar char="•"/>
                      </a:pPr>
                      <a:endParaRPr lang="en-US" sz="1200" b="0" i="0" u="none" strike="noStrike" cap="none" dirty="0">
                        <a:solidFill>
                          <a:schemeClr val="dk1"/>
                        </a:solidFill>
                        <a:latin typeface="+mn-lt"/>
                        <a:ea typeface="+mn-ea"/>
                        <a:cs typeface="+mn-cs"/>
                        <a:sym typeface="Arial"/>
                      </a:endParaRPr>
                    </a:p>
                  </a:txBody>
                  <a:tcPr/>
                </a:tc>
                <a:extLst>
                  <a:ext uri="{0D108BD9-81ED-4DB2-BD59-A6C34878D82A}">
                    <a16:rowId xmlns:a16="http://schemas.microsoft.com/office/drawing/2014/main" val="339495028"/>
                  </a:ext>
                </a:extLst>
              </a:tr>
            </a:tbl>
          </a:graphicData>
        </a:graphic>
      </p:graphicFrame>
    </p:spTree>
    <p:extLst>
      <p:ext uri="{BB962C8B-B14F-4D97-AF65-F5344CB8AC3E}">
        <p14:creationId xmlns:p14="http://schemas.microsoft.com/office/powerpoint/2010/main" val="2732733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1682F-F3B8-80FE-BCB7-99837A76F1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1CE225-4090-FE94-EAE6-FB6331F1DBE5}"/>
              </a:ext>
            </a:extLst>
          </p:cNvPr>
          <p:cNvSpPr txBox="1"/>
          <p:nvPr/>
        </p:nvSpPr>
        <p:spPr>
          <a:xfrm>
            <a:off x="6685364" y="0"/>
            <a:ext cx="5506636" cy="307777"/>
          </a:xfrm>
          <a:prstGeom prst="rect">
            <a:avLst/>
          </a:prstGeom>
          <a:noFill/>
        </p:spPr>
        <p:txBody>
          <a:bodyPr wrap="none" rtlCol="0">
            <a:spAutoFit/>
          </a:bodyPr>
          <a:lstStyle/>
          <a:p>
            <a:pPr algn="r"/>
            <a:r>
              <a:rPr lang="en-US" dirty="0"/>
              <a:t>Introduction   </a:t>
            </a:r>
            <a:r>
              <a:rPr lang="en-US" b="1" dirty="0"/>
              <a:t>Foundation </a:t>
            </a:r>
            <a:r>
              <a:rPr lang="en-US" dirty="0"/>
              <a:t>  Key Findings   Discussion   Conclusion</a:t>
            </a:r>
          </a:p>
        </p:txBody>
      </p:sp>
      <p:sp>
        <p:nvSpPr>
          <p:cNvPr id="21" name="Text Placeholder 20">
            <a:extLst>
              <a:ext uri="{FF2B5EF4-FFF2-40B4-BE49-F238E27FC236}">
                <a16:creationId xmlns:a16="http://schemas.microsoft.com/office/drawing/2014/main" id="{BD72E74C-C164-B984-A8C8-AC5822956CF2}"/>
              </a:ext>
            </a:extLst>
          </p:cNvPr>
          <p:cNvSpPr>
            <a:spLocks noGrp="1"/>
          </p:cNvSpPr>
          <p:nvPr>
            <p:ph type="body" idx="1"/>
          </p:nvPr>
        </p:nvSpPr>
        <p:spPr>
          <a:xfrm>
            <a:off x="800533" y="4033922"/>
            <a:ext cx="5990560" cy="1060704"/>
          </a:xfrm>
        </p:spPr>
        <p:txBody>
          <a:bodyPr>
            <a:normAutofit fontScale="85000" lnSpcReduction="20000"/>
          </a:bodyPr>
          <a:lstStyle/>
          <a:p>
            <a:pPr marL="101600" indent="0">
              <a:buNone/>
            </a:pPr>
            <a:r>
              <a:rPr lang="en-US" sz="2400" b="1" dirty="0"/>
              <a:t>Source: </a:t>
            </a:r>
            <a:r>
              <a:rPr lang="en-US" sz="2400" dirty="0"/>
              <a:t>New Drug is a Calcium channel blocker.</a:t>
            </a:r>
          </a:p>
          <a:p>
            <a:pPr marL="101600" indent="0">
              <a:buNone/>
            </a:pPr>
            <a:r>
              <a:rPr lang="en-US" sz="2400" b="1" dirty="0"/>
              <a:t>Derived:</a:t>
            </a:r>
            <a:r>
              <a:rPr lang="en-US" sz="2400" dirty="0"/>
              <a:t> Calcium channel blockers are a Drug Class.</a:t>
            </a:r>
          </a:p>
        </p:txBody>
      </p:sp>
      <p:sp>
        <p:nvSpPr>
          <p:cNvPr id="4" name="Title 3">
            <a:extLst>
              <a:ext uri="{FF2B5EF4-FFF2-40B4-BE49-F238E27FC236}">
                <a16:creationId xmlns:a16="http://schemas.microsoft.com/office/drawing/2014/main" id="{8A836A1D-3CAB-FE1C-3804-AFADA0C60E75}"/>
              </a:ext>
            </a:extLst>
          </p:cNvPr>
          <p:cNvSpPr>
            <a:spLocks noGrp="1"/>
          </p:cNvSpPr>
          <p:nvPr>
            <p:ph type="title"/>
          </p:nvPr>
        </p:nvSpPr>
        <p:spPr/>
        <p:txBody>
          <a:bodyPr/>
          <a:lstStyle/>
          <a:p>
            <a:pPr algn="l"/>
            <a:r>
              <a:rPr lang="en-US" b="0" dirty="0"/>
              <a:t>Knowledge</a:t>
            </a:r>
            <a:r>
              <a:rPr lang="en-US" dirty="0"/>
              <a:t> Graph Example</a:t>
            </a:r>
          </a:p>
        </p:txBody>
      </p:sp>
      <p:sp>
        <p:nvSpPr>
          <p:cNvPr id="29" name="Oval 28">
            <a:extLst>
              <a:ext uri="{FF2B5EF4-FFF2-40B4-BE49-F238E27FC236}">
                <a16:creationId xmlns:a16="http://schemas.microsoft.com/office/drawing/2014/main" id="{B63B3469-8798-4E22-EE2D-FBAFB23BEDF8}"/>
              </a:ext>
            </a:extLst>
          </p:cNvPr>
          <p:cNvSpPr/>
          <p:nvPr/>
        </p:nvSpPr>
        <p:spPr>
          <a:xfrm>
            <a:off x="7860792" y="4229121"/>
            <a:ext cx="2926630" cy="10607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Drug</a:t>
            </a:r>
          </a:p>
          <a:p>
            <a:pPr algn="ctr"/>
            <a:r>
              <a:rPr lang="en-US" dirty="0" err="1"/>
              <a:t>creationStage</a:t>
            </a:r>
            <a:r>
              <a:rPr lang="en-US" dirty="0"/>
              <a:t>: source</a:t>
            </a:r>
            <a:br>
              <a:rPr lang="en-US" dirty="0"/>
            </a:br>
            <a:r>
              <a:rPr lang="en-US" dirty="0"/>
              <a:t>type: Drug</a:t>
            </a:r>
          </a:p>
          <a:p>
            <a:pPr algn="ctr"/>
            <a:r>
              <a:rPr lang="en-US" dirty="0"/>
              <a:t>Source: page 727</a:t>
            </a:r>
          </a:p>
        </p:txBody>
      </p:sp>
      <p:sp>
        <p:nvSpPr>
          <p:cNvPr id="30" name="Oval 29">
            <a:extLst>
              <a:ext uri="{FF2B5EF4-FFF2-40B4-BE49-F238E27FC236}">
                <a16:creationId xmlns:a16="http://schemas.microsoft.com/office/drawing/2014/main" id="{C7DB554D-B2CA-2E1B-1D74-0709E90A932A}"/>
              </a:ext>
            </a:extLst>
          </p:cNvPr>
          <p:cNvSpPr/>
          <p:nvPr/>
        </p:nvSpPr>
        <p:spPr>
          <a:xfrm>
            <a:off x="7860792" y="920770"/>
            <a:ext cx="2926630" cy="10607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Calcium channel blocker</a:t>
            </a:r>
          </a:p>
          <a:p>
            <a:pPr algn="ctr"/>
            <a:r>
              <a:rPr lang="en-US" dirty="0" err="1"/>
              <a:t>creationStage</a:t>
            </a:r>
            <a:r>
              <a:rPr lang="en-US" dirty="0"/>
              <a:t>: source</a:t>
            </a:r>
          </a:p>
        </p:txBody>
      </p:sp>
      <p:sp>
        <p:nvSpPr>
          <p:cNvPr id="32" name="Arrow: Down 31">
            <a:extLst>
              <a:ext uri="{FF2B5EF4-FFF2-40B4-BE49-F238E27FC236}">
                <a16:creationId xmlns:a16="http://schemas.microsoft.com/office/drawing/2014/main" id="{A96DA5F0-D60E-C91B-2E3D-77349FF82B60}"/>
              </a:ext>
            </a:extLst>
          </p:cNvPr>
          <p:cNvSpPr/>
          <p:nvPr/>
        </p:nvSpPr>
        <p:spPr>
          <a:xfrm rot="10800000">
            <a:off x="8800668" y="2098527"/>
            <a:ext cx="1276027" cy="20391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t>IS_A</a:t>
            </a:r>
            <a:br>
              <a:rPr lang="en-US" dirty="0"/>
            </a:br>
            <a:r>
              <a:rPr lang="en-US" dirty="0" err="1"/>
              <a:t>creationStage</a:t>
            </a:r>
            <a:r>
              <a:rPr lang="en-US" dirty="0"/>
              <a:t>: source</a:t>
            </a:r>
          </a:p>
        </p:txBody>
      </p:sp>
      <p:sp>
        <p:nvSpPr>
          <p:cNvPr id="2" name="TextBox 1">
            <a:extLst>
              <a:ext uri="{FF2B5EF4-FFF2-40B4-BE49-F238E27FC236}">
                <a16:creationId xmlns:a16="http://schemas.microsoft.com/office/drawing/2014/main" id="{1B17EF44-68CC-C22A-F35B-9C484B672078}"/>
              </a:ext>
            </a:extLst>
          </p:cNvPr>
          <p:cNvSpPr txBox="1"/>
          <p:nvPr/>
        </p:nvSpPr>
        <p:spPr>
          <a:xfrm>
            <a:off x="10953750" y="2057400"/>
            <a:ext cx="612668" cy="307777"/>
          </a:xfrm>
          <a:prstGeom prst="rect">
            <a:avLst/>
          </a:prstGeom>
          <a:noFill/>
        </p:spPr>
        <p:txBody>
          <a:bodyPr wrap="none" rtlCol="0">
            <a:spAutoFit/>
          </a:bodyPr>
          <a:lstStyle/>
          <a:p>
            <a:r>
              <a:rPr lang="en-US" dirty="0"/>
              <a:t>Node</a:t>
            </a:r>
          </a:p>
        </p:txBody>
      </p:sp>
      <p:sp>
        <p:nvSpPr>
          <p:cNvPr id="5" name="TextBox 4">
            <a:extLst>
              <a:ext uri="{FF2B5EF4-FFF2-40B4-BE49-F238E27FC236}">
                <a16:creationId xmlns:a16="http://schemas.microsoft.com/office/drawing/2014/main" id="{D21221E1-7DAA-6244-285C-0F1EEE0C24A7}"/>
              </a:ext>
            </a:extLst>
          </p:cNvPr>
          <p:cNvSpPr txBox="1"/>
          <p:nvPr/>
        </p:nvSpPr>
        <p:spPr>
          <a:xfrm>
            <a:off x="10953750" y="4605584"/>
            <a:ext cx="914400" cy="738664"/>
          </a:xfrm>
          <a:prstGeom prst="rect">
            <a:avLst/>
          </a:prstGeom>
          <a:noFill/>
        </p:spPr>
        <p:txBody>
          <a:bodyPr wrap="square" rtlCol="0">
            <a:spAutoFit/>
          </a:bodyPr>
          <a:lstStyle/>
          <a:p>
            <a:r>
              <a:rPr lang="en-US" dirty="0"/>
              <a:t>Node with attributes</a:t>
            </a:r>
          </a:p>
        </p:txBody>
      </p:sp>
      <p:sp>
        <p:nvSpPr>
          <p:cNvPr id="6" name="TextBox 5">
            <a:extLst>
              <a:ext uri="{FF2B5EF4-FFF2-40B4-BE49-F238E27FC236}">
                <a16:creationId xmlns:a16="http://schemas.microsoft.com/office/drawing/2014/main" id="{DB67E6BE-1DB3-ABED-C1DF-4CDC4806773F}"/>
              </a:ext>
            </a:extLst>
          </p:cNvPr>
          <p:cNvSpPr txBox="1"/>
          <p:nvPr/>
        </p:nvSpPr>
        <p:spPr>
          <a:xfrm>
            <a:off x="10956664" y="3331492"/>
            <a:ext cx="1168662" cy="523220"/>
          </a:xfrm>
          <a:prstGeom prst="rect">
            <a:avLst/>
          </a:prstGeom>
          <a:noFill/>
        </p:spPr>
        <p:txBody>
          <a:bodyPr wrap="square" rtlCol="0">
            <a:spAutoFit/>
          </a:bodyPr>
          <a:lstStyle/>
          <a:p>
            <a:r>
              <a:rPr lang="en-US" dirty="0"/>
              <a:t>Relationship - Directed</a:t>
            </a:r>
          </a:p>
        </p:txBody>
      </p:sp>
      <p:sp>
        <p:nvSpPr>
          <p:cNvPr id="7" name="Oval 6">
            <a:extLst>
              <a:ext uri="{FF2B5EF4-FFF2-40B4-BE49-F238E27FC236}">
                <a16:creationId xmlns:a16="http://schemas.microsoft.com/office/drawing/2014/main" id="{CE096697-5B76-7D4A-7F19-B7285C475A16}"/>
              </a:ext>
            </a:extLst>
          </p:cNvPr>
          <p:cNvSpPr/>
          <p:nvPr/>
        </p:nvSpPr>
        <p:spPr>
          <a:xfrm>
            <a:off x="2903995" y="2041745"/>
            <a:ext cx="3332439" cy="10607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Drug Class</a:t>
            </a:r>
          </a:p>
          <a:p>
            <a:pPr algn="ctr"/>
            <a:r>
              <a:rPr lang="en-US" dirty="0" err="1"/>
              <a:t>creationStage</a:t>
            </a:r>
            <a:r>
              <a:rPr lang="en-US" dirty="0"/>
              <a:t>: consolidation</a:t>
            </a:r>
          </a:p>
        </p:txBody>
      </p:sp>
      <p:sp>
        <p:nvSpPr>
          <p:cNvPr id="8" name="Arrow: Down 7">
            <a:extLst>
              <a:ext uri="{FF2B5EF4-FFF2-40B4-BE49-F238E27FC236}">
                <a16:creationId xmlns:a16="http://schemas.microsoft.com/office/drawing/2014/main" id="{65D650A1-53E4-309A-A028-5A8A7176E2D1}"/>
              </a:ext>
            </a:extLst>
          </p:cNvPr>
          <p:cNvSpPr/>
          <p:nvPr/>
        </p:nvSpPr>
        <p:spPr>
          <a:xfrm rot="3527302">
            <a:off x="6559044" y="1358888"/>
            <a:ext cx="1276027" cy="20391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dirty="0"/>
              <a:t>IS_A</a:t>
            </a:r>
            <a:br>
              <a:rPr lang="en-US" dirty="0"/>
            </a:br>
            <a:r>
              <a:rPr lang="en-US" dirty="0" err="1"/>
              <a:t>creationStage</a:t>
            </a:r>
            <a:r>
              <a:rPr lang="en-US" dirty="0"/>
              <a:t>: consolidation</a:t>
            </a:r>
          </a:p>
        </p:txBody>
      </p:sp>
    </p:spTree>
    <p:extLst>
      <p:ext uri="{BB962C8B-B14F-4D97-AF65-F5344CB8AC3E}">
        <p14:creationId xmlns:p14="http://schemas.microsoft.com/office/powerpoint/2010/main" val="635055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065AED43-C7AF-C15A-408A-5C2343644768}"/>
              </a:ext>
            </a:extLst>
          </p:cNvPr>
          <p:cNvSpPr txBox="1">
            <a:spLocks/>
          </p:cNvSpPr>
          <p:nvPr/>
        </p:nvSpPr>
        <p:spPr>
          <a:xfrm>
            <a:off x="854337" y="715617"/>
            <a:ext cx="10483326" cy="97507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dirty="0"/>
              <a:t>Memory</a:t>
            </a:r>
          </a:p>
        </p:txBody>
      </p:sp>
      <p:sp>
        <p:nvSpPr>
          <p:cNvPr id="6" name="TextBox 5">
            <a:extLst>
              <a:ext uri="{FF2B5EF4-FFF2-40B4-BE49-F238E27FC236}">
                <a16:creationId xmlns:a16="http://schemas.microsoft.com/office/drawing/2014/main" id="{CE442667-9520-A15E-41A7-058052F5445D}"/>
              </a:ext>
            </a:extLst>
          </p:cNvPr>
          <p:cNvSpPr txBox="1"/>
          <p:nvPr/>
        </p:nvSpPr>
        <p:spPr>
          <a:xfrm>
            <a:off x="747251" y="2259447"/>
            <a:ext cx="3657600" cy="1828800"/>
          </a:xfrm>
          <a:prstGeom prst="rect">
            <a:avLst/>
          </a:prstGeom>
          <a:solidFill>
            <a:schemeClr val="accent1"/>
          </a:solidFill>
        </p:spPr>
        <p:txBody>
          <a:bodyPr wrap="square" rtlCol="0">
            <a:noAutofit/>
          </a:bodyPr>
          <a:lstStyle/>
          <a:p>
            <a:r>
              <a:rPr lang="en-US" b="1" dirty="0">
                <a:solidFill>
                  <a:schemeClr val="bg1"/>
                </a:solidFill>
              </a:rPr>
              <a:t>Short Term Memory</a:t>
            </a:r>
          </a:p>
          <a:p>
            <a:pPr marL="285750" indent="-285750">
              <a:buFont typeface="Arial" panose="020B0604020202020204" pitchFamily="34" charset="0"/>
              <a:buChar char="•"/>
            </a:pPr>
            <a:r>
              <a:rPr lang="en-US" dirty="0">
                <a:solidFill>
                  <a:schemeClr val="bg1"/>
                </a:solidFill>
              </a:rPr>
              <a:t>Quick load</a:t>
            </a:r>
          </a:p>
          <a:p>
            <a:pPr marL="285750" indent="-285750">
              <a:buFont typeface="Arial" panose="020B0604020202020204" pitchFamily="34" charset="0"/>
              <a:buChar char="•"/>
            </a:pPr>
            <a:r>
              <a:rPr lang="en-US" dirty="0">
                <a:solidFill>
                  <a:schemeClr val="bg1"/>
                </a:solidFill>
              </a:rPr>
              <a:t>No consolidation</a:t>
            </a:r>
          </a:p>
          <a:p>
            <a:pPr marL="285750" indent="-285750">
              <a:buFont typeface="Arial" panose="020B0604020202020204" pitchFamily="34" charset="0"/>
              <a:buChar char="•"/>
            </a:pPr>
            <a:r>
              <a:rPr lang="en-US" dirty="0">
                <a:solidFill>
                  <a:schemeClr val="bg1"/>
                </a:solidFill>
              </a:rPr>
              <a:t>Holding place</a:t>
            </a:r>
          </a:p>
          <a:p>
            <a:pPr marL="285750" indent="-285750">
              <a:buFont typeface="Arial" panose="020B0604020202020204" pitchFamily="34" charset="0"/>
              <a:buChar char="•"/>
            </a:pPr>
            <a:r>
              <a:rPr lang="en-US" dirty="0">
                <a:solidFill>
                  <a:schemeClr val="bg1"/>
                </a:solidFill>
              </a:rPr>
              <a:t>In memory KG in JSON designed for load to Neo4j</a:t>
            </a:r>
          </a:p>
        </p:txBody>
      </p:sp>
      <p:sp>
        <p:nvSpPr>
          <p:cNvPr id="7" name="TextBox 6">
            <a:extLst>
              <a:ext uri="{FF2B5EF4-FFF2-40B4-BE49-F238E27FC236}">
                <a16:creationId xmlns:a16="http://schemas.microsoft.com/office/drawing/2014/main" id="{3BC0EEB4-EC14-5A75-E11B-6911F24DC2DF}"/>
              </a:ext>
            </a:extLst>
          </p:cNvPr>
          <p:cNvSpPr txBox="1"/>
          <p:nvPr/>
        </p:nvSpPr>
        <p:spPr>
          <a:xfrm>
            <a:off x="4510548" y="2259447"/>
            <a:ext cx="3657600" cy="1828800"/>
          </a:xfrm>
          <a:prstGeom prst="rect">
            <a:avLst/>
          </a:prstGeom>
          <a:solidFill>
            <a:schemeClr val="accent1"/>
          </a:solidFill>
        </p:spPr>
        <p:txBody>
          <a:bodyPr wrap="square" rtlCol="0">
            <a:noAutofit/>
          </a:bodyPr>
          <a:lstStyle/>
          <a:p>
            <a:r>
              <a:rPr lang="en-US" b="1" dirty="0">
                <a:solidFill>
                  <a:schemeClr val="bg1"/>
                </a:solidFill>
              </a:rPr>
              <a:t>Long Term Memory</a:t>
            </a:r>
          </a:p>
          <a:p>
            <a:pPr marL="285750" indent="-285750">
              <a:buFont typeface="Arial" panose="020B0604020202020204" pitchFamily="34" charset="0"/>
              <a:buChar char="•"/>
            </a:pPr>
            <a:r>
              <a:rPr lang="en-US" dirty="0">
                <a:solidFill>
                  <a:schemeClr val="bg1"/>
                </a:solidFill>
              </a:rPr>
              <a:t>Integration from short term memory</a:t>
            </a:r>
          </a:p>
          <a:p>
            <a:pPr marL="285750" indent="-285750">
              <a:buFont typeface="Arial" panose="020B0604020202020204" pitchFamily="34" charset="0"/>
              <a:buChar char="•"/>
            </a:pPr>
            <a:r>
              <a:rPr lang="en-US" dirty="0">
                <a:solidFill>
                  <a:schemeClr val="bg1"/>
                </a:solidFill>
              </a:rPr>
              <a:t>Simple syntactic consolidation from STM</a:t>
            </a:r>
          </a:p>
          <a:p>
            <a:pPr marL="285750" indent="-285750">
              <a:buFont typeface="Arial" panose="020B0604020202020204" pitchFamily="34" charset="0"/>
              <a:buChar char="•"/>
            </a:pPr>
            <a:r>
              <a:rPr lang="en-US" dirty="0">
                <a:solidFill>
                  <a:schemeClr val="bg1"/>
                </a:solidFill>
              </a:rPr>
              <a:t>Can hold data from multiple sources</a:t>
            </a:r>
          </a:p>
          <a:p>
            <a:pPr marL="285750" indent="-285750">
              <a:buFont typeface="Arial" panose="020B0604020202020204" pitchFamily="34" charset="0"/>
              <a:buChar char="•"/>
            </a:pPr>
            <a:r>
              <a:rPr lang="en-US" dirty="0">
                <a:solidFill>
                  <a:schemeClr val="bg1"/>
                </a:solidFill>
              </a:rPr>
              <a:t>Attributed KG in Neo4j</a:t>
            </a:r>
          </a:p>
          <a:p>
            <a:pPr marL="285750" indent="-285750">
              <a:buFont typeface="Arial" panose="020B0604020202020204" pitchFamily="34" charset="0"/>
              <a:buChar char="•"/>
            </a:pPr>
            <a:endParaRPr lang="en-US" dirty="0">
              <a:solidFill>
                <a:schemeClr val="bg1"/>
              </a:solidFill>
            </a:endParaRPr>
          </a:p>
        </p:txBody>
      </p:sp>
      <p:sp>
        <p:nvSpPr>
          <p:cNvPr id="8" name="TextBox 7">
            <a:extLst>
              <a:ext uri="{FF2B5EF4-FFF2-40B4-BE49-F238E27FC236}">
                <a16:creationId xmlns:a16="http://schemas.microsoft.com/office/drawing/2014/main" id="{493C8DB8-11A2-E0CD-4AB1-AE96171326ED}"/>
              </a:ext>
            </a:extLst>
          </p:cNvPr>
          <p:cNvSpPr txBox="1"/>
          <p:nvPr/>
        </p:nvSpPr>
        <p:spPr>
          <a:xfrm>
            <a:off x="8273845" y="2259447"/>
            <a:ext cx="3657600" cy="1828800"/>
          </a:xfrm>
          <a:prstGeom prst="rect">
            <a:avLst/>
          </a:prstGeom>
          <a:solidFill>
            <a:schemeClr val="accent1"/>
          </a:solidFill>
        </p:spPr>
        <p:txBody>
          <a:bodyPr wrap="square" rtlCol="0">
            <a:noAutofit/>
          </a:bodyPr>
          <a:lstStyle/>
          <a:p>
            <a:r>
              <a:rPr lang="en-US" b="1" dirty="0">
                <a:solidFill>
                  <a:schemeClr val="bg1"/>
                </a:solidFill>
              </a:rPr>
              <a:t>Refinement</a:t>
            </a:r>
          </a:p>
          <a:p>
            <a:pPr marL="285750" indent="-285750">
              <a:buFont typeface="Arial" panose="020B0604020202020204" pitchFamily="34" charset="0"/>
              <a:buChar char="•"/>
            </a:pPr>
            <a:r>
              <a:rPr lang="en-US" dirty="0">
                <a:solidFill>
                  <a:schemeClr val="bg1"/>
                </a:solidFill>
              </a:rPr>
              <a:t>Works on Long Term Memory</a:t>
            </a:r>
          </a:p>
          <a:p>
            <a:pPr marL="285750" indent="-285750">
              <a:buFont typeface="Arial" panose="020B0604020202020204" pitchFamily="34" charset="0"/>
              <a:buChar char="•"/>
            </a:pPr>
            <a:r>
              <a:rPr lang="en-US" dirty="0">
                <a:solidFill>
                  <a:schemeClr val="bg1"/>
                </a:solidFill>
              </a:rPr>
              <a:t>Selects a random sample</a:t>
            </a:r>
          </a:p>
          <a:p>
            <a:pPr marL="285750" indent="-285750">
              <a:buFont typeface="Arial" panose="020B0604020202020204" pitchFamily="34" charset="0"/>
              <a:buChar char="•"/>
            </a:pPr>
            <a:r>
              <a:rPr lang="en-US" dirty="0">
                <a:solidFill>
                  <a:schemeClr val="bg1"/>
                </a:solidFill>
              </a:rPr>
              <a:t>Looks for IS_A and PART_OF relationships</a:t>
            </a:r>
          </a:p>
          <a:p>
            <a:pPr marL="285750" indent="-285750">
              <a:buFont typeface="Arial" panose="020B0604020202020204" pitchFamily="34" charset="0"/>
              <a:buChar char="•"/>
            </a:pPr>
            <a:r>
              <a:rPr lang="en-US" dirty="0">
                <a:solidFill>
                  <a:schemeClr val="bg1"/>
                </a:solidFill>
              </a:rPr>
              <a:t>Looks to reorganize existing nodes and relationships</a:t>
            </a:r>
          </a:p>
          <a:p>
            <a:pPr marL="285750" indent="-285750">
              <a:buFont typeface="Arial" panose="020B0604020202020204" pitchFamily="34" charset="0"/>
              <a:buChar char="•"/>
            </a:pPr>
            <a:r>
              <a:rPr lang="en-US" dirty="0">
                <a:solidFill>
                  <a:schemeClr val="bg1"/>
                </a:solidFill>
              </a:rPr>
              <a:t>Requires multiple iterations</a:t>
            </a:r>
          </a:p>
          <a:p>
            <a:pPr marL="285750" indent="-285750">
              <a:buFont typeface="Arial" panose="020B0604020202020204" pitchFamily="34" charset="0"/>
              <a:buChar char="•"/>
            </a:pPr>
            <a:endParaRPr lang="en-US" dirty="0">
              <a:solidFill>
                <a:schemeClr val="bg1"/>
              </a:solidFill>
            </a:endParaRPr>
          </a:p>
        </p:txBody>
      </p:sp>
      <p:sp>
        <p:nvSpPr>
          <p:cNvPr id="9" name="TextBox 8">
            <a:extLst>
              <a:ext uri="{FF2B5EF4-FFF2-40B4-BE49-F238E27FC236}">
                <a16:creationId xmlns:a16="http://schemas.microsoft.com/office/drawing/2014/main" id="{AD3795AA-7AD5-2A33-FF36-8A3D9C48E380}"/>
              </a:ext>
            </a:extLst>
          </p:cNvPr>
          <p:cNvSpPr txBox="1"/>
          <p:nvPr/>
        </p:nvSpPr>
        <p:spPr>
          <a:xfrm>
            <a:off x="6685364" y="0"/>
            <a:ext cx="5506636" cy="307777"/>
          </a:xfrm>
          <a:prstGeom prst="rect">
            <a:avLst/>
          </a:prstGeom>
          <a:noFill/>
        </p:spPr>
        <p:txBody>
          <a:bodyPr wrap="none" rtlCol="0">
            <a:spAutoFit/>
          </a:bodyPr>
          <a:lstStyle/>
          <a:p>
            <a:pPr algn="r"/>
            <a:r>
              <a:rPr lang="en-US" dirty="0"/>
              <a:t>Introduction   </a:t>
            </a:r>
            <a:r>
              <a:rPr lang="en-US" b="1" dirty="0"/>
              <a:t>Foundation </a:t>
            </a:r>
            <a:r>
              <a:rPr lang="en-US" dirty="0"/>
              <a:t>  Key Findings   Discussion   Conclusion</a:t>
            </a:r>
          </a:p>
        </p:txBody>
      </p:sp>
    </p:spTree>
    <p:extLst>
      <p:ext uri="{BB962C8B-B14F-4D97-AF65-F5344CB8AC3E}">
        <p14:creationId xmlns:p14="http://schemas.microsoft.com/office/powerpoint/2010/main" val="1318755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0FB74-CD32-A7B7-C243-6131D4D567F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7A82E007-3190-BF07-1D3E-61684FA3F91E}"/>
              </a:ext>
            </a:extLst>
          </p:cNvPr>
          <p:cNvSpPr>
            <a:spLocks noGrp="1"/>
          </p:cNvSpPr>
          <p:nvPr>
            <p:ph type="body" idx="1"/>
          </p:nvPr>
        </p:nvSpPr>
        <p:spPr>
          <a:xfrm>
            <a:off x="838200" y="1825625"/>
            <a:ext cx="7405688" cy="3474508"/>
          </a:xfrm>
        </p:spPr>
        <p:txBody>
          <a:bodyPr>
            <a:normAutofit fontScale="62500" lnSpcReduction="20000"/>
          </a:bodyPr>
          <a:lstStyle/>
          <a:p>
            <a:pPr marL="228600" indent="0"/>
            <a:r>
              <a:rPr lang="en-US" dirty="0"/>
              <a:t>Development Corpus: Handwritten stories and ground truth.</a:t>
            </a:r>
          </a:p>
          <a:p>
            <a:pPr marL="685800" lvl="1" indent="0"/>
            <a:r>
              <a:rPr lang="en-US" b="1" dirty="0"/>
              <a:t>Handwritten stories</a:t>
            </a:r>
            <a:r>
              <a:rPr lang="en-US" dirty="0"/>
              <a:t> for 'ground truth' because they are small and manually verifiable.</a:t>
            </a:r>
          </a:p>
          <a:p>
            <a:pPr marL="228600" indent="0"/>
            <a:r>
              <a:rPr lang="en-US" dirty="0"/>
              <a:t>Test Corpus: Laws of Pennsylvania Townships</a:t>
            </a:r>
          </a:p>
          <a:p>
            <a:pPr marL="685800" lvl="1" indent="0"/>
            <a:r>
              <a:rPr lang="en-US" b="1" dirty="0"/>
              <a:t>Laws of PA Townships</a:t>
            </a:r>
            <a:r>
              <a:rPr lang="en-US" dirty="0"/>
              <a:t> for a 'real-world test' because they are large, complex, and full of the exact cross-references and inconsistencies I was looking for.</a:t>
            </a:r>
          </a:p>
          <a:p>
            <a:pPr marL="685800" lvl="1" indent="0"/>
            <a:r>
              <a:rPr lang="en-US" dirty="0"/>
              <a:t>Both domains share isomorphic logical structures: hierarchical definitions, conditional constraints, and extensive cross-referencing, making PA Laws a valid structural proxy for NDAs.</a:t>
            </a:r>
          </a:p>
          <a:p>
            <a:pPr marL="228600" indent="0"/>
            <a:r>
              <a:rPr lang="en-US" dirty="0"/>
              <a:t>Hand-coded Cypher queries were used to determine if the Neo4j Attributed KG could be used to test for consistency and completeness</a:t>
            </a:r>
          </a:p>
          <a:p>
            <a:pPr marL="228600" indent="0"/>
            <a:r>
              <a:rPr lang="en-US" dirty="0"/>
              <a:t>Google </a:t>
            </a:r>
            <a:r>
              <a:rPr lang="en-US" dirty="0" err="1"/>
              <a:t>LangExtract</a:t>
            </a:r>
            <a:r>
              <a:rPr lang="en-US" dirty="0"/>
              <a:t> was used to generate ground truth</a:t>
            </a:r>
          </a:p>
          <a:p>
            <a:pPr marL="228600" indent="0"/>
            <a:endParaRPr lang="en-US" dirty="0"/>
          </a:p>
        </p:txBody>
      </p:sp>
      <p:sp>
        <p:nvSpPr>
          <p:cNvPr id="6" name="Title 5">
            <a:extLst>
              <a:ext uri="{FF2B5EF4-FFF2-40B4-BE49-F238E27FC236}">
                <a16:creationId xmlns:a16="http://schemas.microsoft.com/office/drawing/2014/main" id="{E7DC8A37-8B11-05FB-4DCF-5FFD33D951E1}"/>
              </a:ext>
            </a:extLst>
          </p:cNvPr>
          <p:cNvSpPr>
            <a:spLocks noGrp="1"/>
          </p:cNvSpPr>
          <p:nvPr>
            <p:ph type="title"/>
          </p:nvPr>
        </p:nvSpPr>
        <p:spPr/>
        <p:txBody>
          <a:bodyPr>
            <a:normAutofit/>
          </a:bodyPr>
          <a:lstStyle/>
          <a:p>
            <a:r>
              <a:rPr lang="en-US" dirty="0"/>
              <a:t>Corpus &amp; Validation</a:t>
            </a:r>
          </a:p>
        </p:txBody>
      </p:sp>
      <p:sp>
        <p:nvSpPr>
          <p:cNvPr id="2" name="TextBox 1">
            <a:extLst>
              <a:ext uri="{FF2B5EF4-FFF2-40B4-BE49-F238E27FC236}">
                <a16:creationId xmlns:a16="http://schemas.microsoft.com/office/drawing/2014/main" id="{DA1435F8-FD59-D5F4-F9A3-283D725C8D5A}"/>
              </a:ext>
            </a:extLst>
          </p:cNvPr>
          <p:cNvSpPr txBox="1"/>
          <p:nvPr/>
        </p:nvSpPr>
        <p:spPr>
          <a:xfrm>
            <a:off x="6685364" y="0"/>
            <a:ext cx="5506636" cy="307777"/>
          </a:xfrm>
          <a:prstGeom prst="rect">
            <a:avLst/>
          </a:prstGeom>
          <a:noFill/>
        </p:spPr>
        <p:txBody>
          <a:bodyPr wrap="none" rtlCol="0">
            <a:spAutoFit/>
          </a:bodyPr>
          <a:lstStyle/>
          <a:p>
            <a:pPr algn="r"/>
            <a:r>
              <a:rPr lang="en-US" dirty="0"/>
              <a:t>Introduction   </a:t>
            </a:r>
            <a:r>
              <a:rPr lang="en-US" b="1" dirty="0"/>
              <a:t>Foundation </a:t>
            </a:r>
            <a:r>
              <a:rPr lang="en-US" dirty="0"/>
              <a:t>  Key Findings   Discussion   Conclusion</a:t>
            </a:r>
          </a:p>
        </p:txBody>
      </p:sp>
      <p:graphicFrame>
        <p:nvGraphicFramePr>
          <p:cNvPr id="3" name="Table 2">
            <a:extLst>
              <a:ext uri="{FF2B5EF4-FFF2-40B4-BE49-F238E27FC236}">
                <a16:creationId xmlns:a16="http://schemas.microsoft.com/office/drawing/2014/main" id="{FD98F933-2B39-BE73-DBFE-830D76C17EFF}"/>
              </a:ext>
            </a:extLst>
          </p:cNvPr>
          <p:cNvGraphicFramePr>
            <a:graphicFrameLocks noGrp="1"/>
          </p:cNvGraphicFramePr>
          <p:nvPr>
            <p:extLst>
              <p:ext uri="{D42A27DB-BD31-4B8C-83A1-F6EECF244321}">
                <p14:modId xmlns:p14="http://schemas.microsoft.com/office/powerpoint/2010/main" val="4084106374"/>
              </p:ext>
            </p:extLst>
          </p:nvPr>
        </p:nvGraphicFramePr>
        <p:xfrm>
          <a:off x="8486776" y="2098527"/>
          <a:ext cx="3371850" cy="2199640"/>
        </p:xfrm>
        <a:graphic>
          <a:graphicData uri="http://schemas.openxmlformats.org/drawingml/2006/table">
            <a:tbl>
              <a:tblPr firstRow="1" bandRow="1">
                <a:tableStyleId>{5C22544A-7EE6-4342-B048-85BDC9FD1C3A}</a:tableStyleId>
              </a:tblPr>
              <a:tblGrid>
                <a:gridCol w="1123950">
                  <a:extLst>
                    <a:ext uri="{9D8B030D-6E8A-4147-A177-3AD203B41FA5}">
                      <a16:colId xmlns:a16="http://schemas.microsoft.com/office/drawing/2014/main" val="4193832484"/>
                    </a:ext>
                  </a:extLst>
                </a:gridCol>
                <a:gridCol w="1123950">
                  <a:extLst>
                    <a:ext uri="{9D8B030D-6E8A-4147-A177-3AD203B41FA5}">
                      <a16:colId xmlns:a16="http://schemas.microsoft.com/office/drawing/2014/main" val="2087025557"/>
                    </a:ext>
                  </a:extLst>
                </a:gridCol>
                <a:gridCol w="1123950">
                  <a:extLst>
                    <a:ext uri="{9D8B030D-6E8A-4147-A177-3AD203B41FA5}">
                      <a16:colId xmlns:a16="http://schemas.microsoft.com/office/drawing/2014/main" val="3085698631"/>
                    </a:ext>
                  </a:extLst>
                </a:gridCol>
              </a:tblGrid>
              <a:tr h="370840">
                <a:tc>
                  <a:txBody>
                    <a:bodyPr/>
                    <a:lstStyle/>
                    <a:p>
                      <a:endParaRPr lang="en-US" sz="1200" dirty="0"/>
                    </a:p>
                  </a:txBody>
                  <a:tcPr/>
                </a:tc>
                <a:tc>
                  <a:txBody>
                    <a:bodyPr/>
                    <a:lstStyle/>
                    <a:p>
                      <a:r>
                        <a:rPr lang="en-US" sz="1200" dirty="0"/>
                        <a:t>NDA</a:t>
                      </a:r>
                    </a:p>
                  </a:txBody>
                  <a:tcPr/>
                </a:tc>
                <a:tc>
                  <a:txBody>
                    <a:bodyPr/>
                    <a:lstStyle/>
                    <a:p>
                      <a:r>
                        <a:rPr lang="en-US" sz="1200" dirty="0"/>
                        <a:t>Laws</a:t>
                      </a:r>
                    </a:p>
                  </a:txBody>
                  <a:tcPr/>
                </a:tc>
                <a:extLst>
                  <a:ext uri="{0D108BD9-81ED-4DB2-BD59-A6C34878D82A}">
                    <a16:rowId xmlns:a16="http://schemas.microsoft.com/office/drawing/2014/main" val="3730384145"/>
                  </a:ext>
                </a:extLst>
              </a:tr>
              <a:tr h="370840">
                <a:tc>
                  <a:txBody>
                    <a:bodyPr/>
                    <a:lstStyle/>
                    <a:p>
                      <a:r>
                        <a:rPr lang="en-US" sz="1200" dirty="0"/>
                        <a:t>Logic</a:t>
                      </a:r>
                    </a:p>
                  </a:txBody>
                  <a:tcPr/>
                </a:tc>
                <a:tc>
                  <a:txBody>
                    <a:bodyPr/>
                    <a:lstStyle/>
                    <a:p>
                      <a:r>
                        <a:rPr lang="en-US" sz="1200" dirty="0"/>
                        <a:t>Drug Interactions</a:t>
                      </a:r>
                    </a:p>
                  </a:txBody>
                  <a:tcPr/>
                </a:tc>
                <a:tc>
                  <a:txBody>
                    <a:bodyPr/>
                    <a:lstStyle/>
                    <a:p>
                      <a:r>
                        <a:rPr lang="en-US" sz="1200" dirty="0"/>
                        <a:t>Zoning Constraints</a:t>
                      </a:r>
                    </a:p>
                  </a:txBody>
                  <a:tcPr/>
                </a:tc>
                <a:extLst>
                  <a:ext uri="{0D108BD9-81ED-4DB2-BD59-A6C34878D82A}">
                    <a16:rowId xmlns:a16="http://schemas.microsoft.com/office/drawing/2014/main" val="966471063"/>
                  </a:ext>
                </a:extLst>
              </a:tr>
              <a:tr h="370840">
                <a:tc>
                  <a:txBody>
                    <a:bodyPr/>
                    <a:lstStyle/>
                    <a:p>
                      <a:r>
                        <a:rPr lang="en-US" sz="1200" dirty="0"/>
                        <a:t>Structure</a:t>
                      </a:r>
                    </a:p>
                  </a:txBody>
                  <a:tcPr/>
                </a:tc>
                <a:tc>
                  <a:txBody>
                    <a:bodyPr/>
                    <a:lstStyle/>
                    <a:p>
                      <a:r>
                        <a:rPr lang="en-US" sz="1200" dirty="0"/>
                        <a:t>Definitions &amp; Labels</a:t>
                      </a:r>
                    </a:p>
                  </a:txBody>
                  <a:tcPr/>
                </a:tc>
                <a:tc>
                  <a:txBody>
                    <a:bodyPr/>
                    <a:lstStyle/>
                    <a:p>
                      <a:r>
                        <a:rPr lang="en-US" sz="1200" dirty="0"/>
                        <a:t>Definitions &amp; Articles</a:t>
                      </a:r>
                    </a:p>
                  </a:txBody>
                  <a:tcPr/>
                </a:tc>
                <a:extLst>
                  <a:ext uri="{0D108BD9-81ED-4DB2-BD59-A6C34878D82A}">
                    <a16:rowId xmlns:a16="http://schemas.microsoft.com/office/drawing/2014/main" val="1385928461"/>
                  </a:ext>
                </a:extLst>
              </a:tr>
              <a:tr h="370840">
                <a:tc>
                  <a:txBody>
                    <a:bodyPr/>
                    <a:lstStyle/>
                    <a:p>
                      <a:r>
                        <a:rPr lang="en-US" sz="1200" dirty="0"/>
                        <a:t>Failure Mode</a:t>
                      </a:r>
                    </a:p>
                  </a:txBody>
                  <a:tcPr/>
                </a:tc>
                <a:tc>
                  <a:txBody>
                    <a:bodyPr/>
                    <a:lstStyle/>
                    <a:p>
                      <a:r>
                        <a:rPr lang="en-US" sz="1200" dirty="0"/>
                        <a:t>Contradictory Claims</a:t>
                      </a:r>
                    </a:p>
                  </a:txBody>
                  <a:tcPr/>
                </a:tc>
                <a:tc>
                  <a:txBody>
                    <a:bodyPr/>
                    <a:lstStyle/>
                    <a:p>
                      <a:r>
                        <a:rPr lang="en-US" sz="1200" dirty="0"/>
                        <a:t>Conflicting Ordinances</a:t>
                      </a:r>
                    </a:p>
                  </a:txBody>
                  <a:tcPr/>
                </a:tc>
                <a:extLst>
                  <a:ext uri="{0D108BD9-81ED-4DB2-BD59-A6C34878D82A}">
                    <a16:rowId xmlns:a16="http://schemas.microsoft.com/office/drawing/2014/main" val="2750188605"/>
                  </a:ext>
                </a:extLst>
              </a:tr>
              <a:tr h="370840">
                <a:tc>
                  <a:txBody>
                    <a:bodyPr/>
                    <a:lstStyle/>
                    <a:p>
                      <a:r>
                        <a:rPr lang="en-US" sz="1200" dirty="0"/>
                        <a:t>Accessibility</a:t>
                      </a:r>
                    </a:p>
                  </a:txBody>
                  <a:tcPr/>
                </a:tc>
                <a:tc>
                  <a:txBody>
                    <a:bodyPr/>
                    <a:lstStyle/>
                    <a:p>
                      <a:r>
                        <a:rPr lang="en-US" sz="1200" dirty="0"/>
                        <a:t>Proprietary &amp; Confidential </a:t>
                      </a:r>
                    </a:p>
                  </a:txBody>
                  <a:tcPr/>
                </a:tc>
                <a:tc>
                  <a:txBody>
                    <a:bodyPr/>
                    <a:lstStyle/>
                    <a:p>
                      <a:r>
                        <a:rPr lang="en-US" sz="1200" dirty="0"/>
                        <a:t>Public Domain</a:t>
                      </a:r>
                    </a:p>
                  </a:txBody>
                  <a:tcPr/>
                </a:tc>
                <a:extLst>
                  <a:ext uri="{0D108BD9-81ED-4DB2-BD59-A6C34878D82A}">
                    <a16:rowId xmlns:a16="http://schemas.microsoft.com/office/drawing/2014/main" val="1564171946"/>
                  </a:ext>
                </a:extLst>
              </a:tr>
            </a:tbl>
          </a:graphicData>
        </a:graphic>
      </p:graphicFrame>
    </p:spTree>
    <p:extLst>
      <p:ext uri="{BB962C8B-B14F-4D97-AF65-F5344CB8AC3E}">
        <p14:creationId xmlns:p14="http://schemas.microsoft.com/office/powerpoint/2010/main" val="3720306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D5D2B-98B1-1FEB-330B-5BE12F79B82C}"/>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E38AB167-627F-9A93-4230-D2341545A73B}"/>
              </a:ext>
            </a:extLst>
          </p:cNvPr>
          <p:cNvSpPr>
            <a:spLocks noGrp="1"/>
          </p:cNvSpPr>
          <p:nvPr>
            <p:ph type="body" idx="1"/>
          </p:nvPr>
        </p:nvSpPr>
        <p:spPr/>
        <p:txBody>
          <a:bodyPr>
            <a:normAutofit/>
          </a:bodyPr>
          <a:lstStyle/>
          <a:p>
            <a:pPr marL="228600" indent="0"/>
            <a:r>
              <a:rPr lang="en-US" dirty="0"/>
              <a:t>Quantitative Analysis</a:t>
            </a:r>
          </a:p>
          <a:p>
            <a:pPr marL="228600" indent="0"/>
            <a:r>
              <a:rPr lang="en-US" dirty="0"/>
              <a:t>Qualitative Validation</a:t>
            </a:r>
          </a:p>
          <a:p>
            <a:pPr marL="228600" indent="0"/>
            <a:endParaRPr lang="en-US" dirty="0"/>
          </a:p>
        </p:txBody>
      </p:sp>
      <p:sp>
        <p:nvSpPr>
          <p:cNvPr id="6" name="Title 5">
            <a:extLst>
              <a:ext uri="{FF2B5EF4-FFF2-40B4-BE49-F238E27FC236}">
                <a16:creationId xmlns:a16="http://schemas.microsoft.com/office/drawing/2014/main" id="{4E7CD4B0-E9DF-3913-3784-E879D6C59930}"/>
              </a:ext>
            </a:extLst>
          </p:cNvPr>
          <p:cNvSpPr>
            <a:spLocks noGrp="1"/>
          </p:cNvSpPr>
          <p:nvPr>
            <p:ph type="title"/>
          </p:nvPr>
        </p:nvSpPr>
        <p:spPr/>
        <p:txBody>
          <a:bodyPr/>
          <a:lstStyle/>
          <a:p>
            <a:r>
              <a:rPr lang="en-US" dirty="0"/>
              <a:t>Key Findings</a:t>
            </a:r>
          </a:p>
        </p:txBody>
      </p:sp>
      <p:sp>
        <p:nvSpPr>
          <p:cNvPr id="2" name="TextBox 1">
            <a:extLst>
              <a:ext uri="{FF2B5EF4-FFF2-40B4-BE49-F238E27FC236}">
                <a16:creationId xmlns:a16="http://schemas.microsoft.com/office/drawing/2014/main" id="{8DCE920B-77B3-3FB3-7C62-452470225B70}"/>
              </a:ext>
            </a:extLst>
          </p:cNvPr>
          <p:cNvSpPr txBox="1"/>
          <p:nvPr/>
        </p:nvSpPr>
        <p:spPr>
          <a:xfrm>
            <a:off x="6685364" y="0"/>
            <a:ext cx="5506636" cy="307777"/>
          </a:xfrm>
          <a:prstGeom prst="rect">
            <a:avLst/>
          </a:prstGeom>
          <a:noFill/>
        </p:spPr>
        <p:txBody>
          <a:bodyPr wrap="none" rtlCol="0">
            <a:spAutoFit/>
          </a:bodyPr>
          <a:lstStyle/>
          <a:p>
            <a:pPr algn="r"/>
            <a:r>
              <a:rPr lang="en-US" dirty="0"/>
              <a:t>Introduction   Foundation</a:t>
            </a:r>
            <a:r>
              <a:rPr lang="en-US" b="1" dirty="0"/>
              <a:t> </a:t>
            </a:r>
            <a:r>
              <a:rPr lang="en-US" dirty="0"/>
              <a:t>  </a:t>
            </a:r>
            <a:r>
              <a:rPr lang="en-US" b="1" dirty="0"/>
              <a:t>Key Findings   </a:t>
            </a:r>
            <a:r>
              <a:rPr lang="en-US" dirty="0"/>
              <a:t>Discussion   Conclusion</a:t>
            </a:r>
          </a:p>
        </p:txBody>
      </p:sp>
    </p:spTree>
    <p:extLst>
      <p:ext uri="{BB962C8B-B14F-4D97-AF65-F5344CB8AC3E}">
        <p14:creationId xmlns:p14="http://schemas.microsoft.com/office/powerpoint/2010/main" val="3069894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1C84054-F4D6-1E47-1841-1079837ACE38}"/>
              </a:ext>
            </a:extLst>
          </p:cNvPr>
          <p:cNvSpPr/>
          <p:nvPr/>
        </p:nvSpPr>
        <p:spPr>
          <a:xfrm>
            <a:off x="9613707" y="1478611"/>
            <a:ext cx="2326886" cy="237835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575DD2F-75AF-25DF-ABBA-AA3A39A9A798}"/>
              </a:ext>
            </a:extLst>
          </p:cNvPr>
          <p:cNvSpPr>
            <a:spLocks noGrp="1"/>
          </p:cNvSpPr>
          <p:nvPr>
            <p:ph type="title"/>
          </p:nvPr>
        </p:nvSpPr>
        <p:spPr/>
        <p:txBody>
          <a:bodyPr/>
          <a:lstStyle/>
          <a:p>
            <a:r>
              <a:rPr lang="en-US" dirty="0"/>
              <a:t>Semantic Depth vs Standard Extraction</a:t>
            </a:r>
          </a:p>
        </p:txBody>
      </p:sp>
      <p:graphicFrame>
        <p:nvGraphicFramePr>
          <p:cNvPr id="6" name="Table 5">
            <a:extLst>
              <a:ext uri="{FF2B5EF4-FFF2-40B4-BE49-F238E27FC236}">
                <a16:creationId xmlns:a16="http://schemas.microsoft.com/office/drawing/2014/main" id="{A1ED27EC-6EA7-BCA8-8000-A43D7BDE8661}"/>
              </a:ext>
            </a:extLst>
          </p:cNvPr>
          <p:cNvGraphicFramePr>
            <a:graphicFrameLocks noGrp="1"/>
          </p:cNvGraphicFramePr>
          <p:nvPr>
            <p:extLst>
              <p:ext uri="{D42A27DB-BD31-4B8C-83A1-F6EECF244321}">
                <p14:modId xmlns:p14="http://schemas.microsoft.com/office/powerpoint/2010/main" val="4074830029"/>
              </p:ext>
            </p:extLst>
          </p:nvPr>
        </p:nvGraphicFramePr>
        <p:xfrm>
          <a:off x="2965358" y="1997095"/>
          <a:ext cx="6441408" cy="1407160"/>
        </p:xfrm>
        <a:graphic>
          <a:graphicData uri="http://schemas.openxmlformats.org/drawingml/2006/table">
            <a:tbl>
              <a:tblPr firstRow="1" bandRow="1">
                <a:tableStyleId>{5C22544A-7EE6-4342-B048-85BDC9FD1C3A}</a:tableStyleId>
              </a:tblPr>
              <a:tblGrid>
                <a:gridCol w="1610352">
                  <a:extLst>
                    <a:ext uri="{9D8B030D-6E8A-4147-A177-3AD203B41FA5}">
                      <a16:colId xmlns:a16="http://schemas.microsoft.com/office/drawing/2014/main" val="92536714"/>
                    </a:ext>
                  </a:extLst>
                </a:gridCol>
                <a:gridCol w="1436102">
                  <a:extLst>
                    <a:ext uri="{9D8B030D-6E8A-4147-A177-3AD203B41FA5}">
                      <a16:colId xmlns:a16="http://schemas.microsoft.com/office/drawing/2014/main" val="1936455144"/>
                    </a:ext>
                  </a:extLst>
                </a:gridCol>
                <a:gridCol w="1624520">
                  <a:extLst>
                    <a:ext uri="{9D8B030D-6E8A-4147-A177-3AD203B41FA5}">
                      <a16:colId xmlns:a16="http://schemas.microsoft.com/office/drawing/2014/main" val="785315213"/>
                    </a:ext>
                  </a:extLst>
                </a:gridCol>
                <a:gridCol w="1770434">
                  <a:extLst>
                    <a:ext uri="{9D8B030D-6E8A-4147-A177-3AD203B41FA5}">
                      <a16:colId xmlns:a16="http://schemas.microsoft.com/office/drawing/2014/main" val="3094398178"/>
                    </a:ext>
                  </a:extLst>
                </a:gridCol>
              </a:tblGrid>
              <a:tr h="370840">
                <a:tc>
                  <a:txBody>
                    <a:bodyPr/>
                    <a:lstStyle/>
                    <a:p>
                      <a:r>
                        <a:rPr lang="en-US" dirty="0"/>
                        <a:t> </a:t>
                      </a:r>
                      <a:r>
                        <a:rPr lang="en-US" sz="1400" b="1" i="0" u="none" strike="noStrike" cap="none" baseline="0" dirty="0">
                          <a:solidFill>
                            <a:schemeClr val="lt1"/>
                          </a:solidFill>
                          <a:latin typeface="+mn-lt"/>
                          <a:ea typeface="+mn-ea"/>
                          <a:cs typeface="+mn-cs"/>
                          <a:sym typeface="Arial"/>
                        </a:rPr>
                        <a:t>Ground Truth Source</a:t>
                      </a:r>
                    </a:p>
                  </a:txBody>
                  <a:tcPr/>
                </a:tc>
                <a:tc>
                  <a:txBody>
                    <a:bodyPr/>
                    <a:lstStyle/>
                    <a:p>
                      <a:r>
                        <a:rPr lang="en-US" sz="1400" b="1" i="0" u="none" strike="noStrike" cap="none" baseline="0" dirty="0">
                          <a:solidFill>
                            <a:schemeClr val="lt1"/>
                          </a:solidFill>
                          <a:latin typeface="+mn-lt"/>
                          <a:ea typeface="+mn-ea"/>
                          <a:cs typeface="+mn-cs"/>
                          <a:sym typeface="Arial"/>
                        </a:rPr>
                        <a:t>Avg. Entity F1</a:t>
                      </a:r>
                    </a:p>
                  </a:txBody>
                  <a:tcPr/>
                </a:tc>
                <a:tc>
                  <a:txBody>
                    <a:bodyPr/>
                    <a:lstStyle/>
                    <a:p>
                      <a:r>
                        <a:rPr lang="en-US" sz="1400" b="1" i="0" u="none" strike="noStrike" cap="none" baseline="0" dirty="0">
                          <a:solidFill>
                            <a:schemeClr val="lt1"/>
                          </a:solidFill>
                          <a:latin typeface="+mn-lt"/>
                          <a:ea typeface="+mn-ea"/>
                          <a:cs typeface="+mn-cs"/>
                          <a:sym typeface="Arial"/>
                        </a:rPr>
                        <a:t>Avg. Relationship F1</a:t>
                      </a:r>
                    </a:p>
                  </a:txBody>
                  <a:tcPr/>
                </a:tc>
                <a:tc>
                  <a:txBody>
                    <a:bodyPr/>
                    <a:lstStyle/>
                    <a:p>
                      <a:r>
                        <a:rPr lang="en-US" sz="1400" b="1" i="0" u="none" strike="noStrike" cap="none" baseline="0" dirty="0">
                          <a:solidFill>
                            <a:schemeClr val="lt1"/>
                          </a:solidFill>
                          <a:latin typeface="+mn-lt"/>
                          <a:ea typeface="+mn-ea"/>
                          <a:cs typeface="+mn-cs"/>
                          <a:sym typeface="Arial"/>
                        </a:rPr>
                        <a:t>Avg. Overall F1</a:t>
                      </a:r>
                    </a:p>
                  </a:txBody>
                  <a:tcPr/>
                </a:tc>
                <a:extLst>
                  <a:ext uri="{0D108BD9-81ED-4DB2-BD59-A6C34878D82A}">
                    <a16:rowId xmlns:a16="http://schemas.microsoft.com/office/drawing/2014/main" val="3916370952"/>
                  </a:ext>
                </a:extLst>
              </a:tr>
              <a:tr h="370840">
                <a:tc>
                  <a:txBody>
                    <a:bodyPr/>
                    <a:lstStyle/>
                    <a:p>
                      <a:r>
                        <a:rPr lang="en-US" sz="1400" b="1" i="0" u="none" strike="noStrike" cap="none" baseline="0" dirty="0">
                          <a:solidFill>
                            <a:schemeClr val="tx1"/>
                          </a:solidFill>
                          <a:latin typeface="+mn-lt"/>
                          <a:ea typeface="+mn-ea"/>
                          <a:cs typeface="+mn-cs"/>
                          <a:sym typeface="Arial"/>
                        </a:rPr>
                        <a:t>Manual Curation </a:t>
                      </a:r>
                      <a:endParaRPr 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baseline="0" dirty="0">
                          <a:solidFill>
                            <a:schemeClr val="tx1"/>
                          </a:solidFill>
                          <a:latin typeface="+mn-lt"/>
                          <a:ea typeface="+mn-ea"/>
                          <a:cs typeface="+mn-cs"/>
                          <a:sym typeface="Arial"/>
                        </a:rPr>
                        <a:t>71.19%</a:t>
                      </a:r>
                    </a:p>
                  </a:txBody>
                  <a:tcPr/>
                </a:tc>
                <a:tc>
                  <a:txBody>
                    <a:bodyPr/>
                    <a:lstStyle/>
                    <a:p>
                      <a:r>
                        <a:rPr lang="en-US" sz="1400" b="0" i="0" u="none" strike="noStrike" cap="none" baseline="0" dirty="0">
                          <a:solidFill>
                            <a:schemeClr val="tx1"/>
                          </a:solidFill>
                          <a:latin typeface="+mn-lt"/>
                          <a:ea typeface="+mn-ea"/>
                          <a:cs typeface="+mn-cs"/>
                          <a:sym typeface="Arial"/>
                        </a:rPr>
                        <a:t>12.09%</a:t>
                      </a:r>
                      <a:endParaRPr lang="en-US" dirty="0">
                        <a:solidFill>
                          <a:schemeClr val="tx1"/>
                        </a:solidFill>
                      </a:endParaRPr>
                    </a:p>
                  </a:txBody>
                  <a:tcPr/>
                </a:tc>
                <a:tc>
                  <a:txBody>
                    <a:bodyPr/>
                    <a:lstStyle/>
                    <a:p>
                      <a:r>
                        <a:rPr lang="en-US" sz="1400" b="0" i="0" u="none" strike="noStrike" cap="none" baseline="0" dirty="0">
                          <a:solidFill>
                            <a:schemeClr val="tx1"/>
                          </a:solidFill>
                          <a:latin typeface="+mn-lt"/>
                          <a:ea typeface="+mn-ea"/>
                          <a:cs typeface="+mn-cs"/>
                          <a:sym typeface="Arial"/>
                        </a:rPr>
                        <a:t>41.64%</a:t>
                      </a:r>
                      <a:endParaRPr lang="en-US" dirty="0">
                        <a:solidFill>
                          <a:schemeClr val="tx1"/>
                        </a:solidFill>
                      </a:endParaRPr>
                    </a:p>
                  </a:txBody>
                  <a:tcPr/>
                </a:tc>
                <a:extLst>
                  <a:ext uri="{0D108BD9-81ED-4DB2-BD59-A6C34878D82A}">
                    <a16:rowId xmlns:a16="http://schemas.microsoft.com/office/drawing/2014/main" val="2193565889"/>
                  </a:ext>
                </a:extLst>
              </a:tr>
              <a:tr h="370840">
                <a:tc>
                  <a:txBody>
                    <a:bodyPr/>
                    <a:lstStyle/>
                    <a:p>
                      <a:r>
                        <a:rPr lang="nl-NL" sz="1400" b="1" i="0" u="none" strike="noStrike" cap="none" baseline="0" dirty="0">
                          <a:solidFill>
                            <a:schemeClr val="tx1"/>
                          </a:solidFill>
                          <a:latin typeface="+mn-lt"/>
                          <a:ea typeface="+mn-ea"/>
                          <a:cs typeface="+mn-cs"/>
                          <a:sym typeface="Arial"/>
                        </a:rPr>
                        <a:t>Google LangExtract </a:t>
                      </a:r>
                      <a:endParaRPr 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nl-NL" sz="1400" b="0" i="0" u="none" strike="noStrike" cap="none" baseline="0" dirty="0">
                          <a:solidFill>
                            <a:schemeClr val="tx1"/>
                          </a:solidFill>
                          <a:latin typeface="+mn-lt"/>
                          <a:ea typeface="+mn-ea"/>
                          <a:cs typeface="+mn-cs"/>
                          <a:sym typeface="Arial"/>
                        </a:rPr>
                        <a:t>32.53%</a:t>
                      </a:r>
                      <a:endParaRPr lang="en-US" dirty="0">
                        <a:solidFill>
                          <a:schemeClr val="tx1"/>
                        </a:solidFill>
                      </a:endParaRPr>
                    </a:p>
                  </a:txBody>
                  <a:tcPr/>
                </a:tc>
                <a:tc>
                  <a:txBody>
                    <a:bodyPr/>
                    <a:lstStyle/>
                    <a:p>
                      <a:r>
                        <a:rPr lang="nl-NL" sz="1400" b="0" i="0" u="none" strike="noStrike" cap="none" baseline="0" dirty="0">
                          <a:solidFill>
                            <a:schemeClr val="tx1"/>
                          </a:solidFill>
                          <a:latin typeface="+mn-lt"/>
                          <a:ea typeface="+mn-ea"/>
                          <a:cs typeface="+mn-cs"/>
                          <a:sym typeface="Arial"/>
                        </a:rPr>
                        <a:t>2.70%</a:t>
                      </a:r>
                      <a:endParaRPr lang="en-US" dirty="0">
                        <a:solidFill>
                          <a:schemeClr val="tx1"/>
                        </a:solidFill>
                      </a:endParaRPr>
                    </a:p>
                  </a:txBody>
                  <a:tcPr/>
                </a:tc>
                <a:tc>
                  <a:txBody>
                    <a:bodyPr/>
                    <a:lstStyle/>
                    <a:p>
                      <a:r>
                        <a:rPr lang="nl-NL" sz="1400" b="0" i="0" u="none" strike="noStrike" cap="none" baseline="0" dirty="0">
                          <a:solidFill>
                            <a:schemeClr val="tx1"/>
                          </a:solidFill>
                          <a:latin typeface="+mn-lt"/>
                          <a:ea typeface="+mn-ea"/>
                          <a:cs typeface="+mn-cs"/>
                          <a:sym typeface="Arial"/>
                        </a:rPr>
                        <a:t>17.62%</a:t>
                      </a:r>
                      <a:endParaRPr lang="en-US" dirty="0">
                        <a:solidFill>
                          <a:schemeClr val="tx1"/>
                        </a:solidFill>
                      </a:endParaRPr>
                    </a:p>
                  </a:txBody>
                  <a:tcPr/>
                </a:tc>
                <a:extLst>
                  <a:ext uri="{0D108BD9-81ED-4DB2-BD59-A6C34878D82A}">
                    <a16:rowId xmlns:a16="http://schemas.microsoft.com/office/drawing/2014/main" val="1718076765"/>
                  </a:ext>
                </a:extLst>
              </a:tr>
            </a:tbl>
          </a:graphicData>
        </a:graphic>
      </p:graphicFrame>
      <p:sp>
        <p:nvSpPr>
          <p:cNvPr id="7" name="TextBox 6">
            <a:extLst>
              <a:ext uri="{FF2B5EF4-FFF2-40B4-BE49-F238E27FC236}">
                <a16:creationId xmlns:a16="http://schemas.microsoft.com/office/drawing/2014/main" id="{67DD1626-5FE2-2CE8-0D0E-0B5ED9B71D65}"/>
              </a:ext>
            </a:extLst>
          </p:cNvPr>
          <p:cNvSpPr txBox="1"/>
          <p:nvPr/>
        </p:nvSpPr>
        <p:spPr>
          <a:xfrm>
            <a:off x="854337" y="4115073"/>
            <a:ext cx="10483326" cy="954107"/>
          </a:xfrm>
          <a:prstGeom prst="rect">
            <a:avLst/>
          </a:prstGeom>
          <a:noFill/>
        </p:spPr>
        <p:txBody>
          <a:bodyPr wrap="square" rtlCol="0">
            <a:spAutoFit/>
          </a:bodyPr>
          <a:lstStyle/>
          <a:p>
            <a:r>
              <a:rPr lang="en-US" dirty="0"/>
              <a:t>Mnemosyne provided acceptable F1 scores against the manual ground truth for the four hand crafted documents. It did not do as well with the </a:t>
            </a:r>
            <a:r>
              <a:rPr lang="en-US" dirty="0" err="1"/>
              <a:t>LangExtract</a:t>
            </a:r>
            <a:r>
              <a:rPr lang="en-US" dirty="0"/>
              <a:t> created ground truth. Manual observation showed that a large part of the discrepancy was that Mnemosyne created a rich semantic network. Whereas both the manual and </a:t>
            </a:r>
            <a:r>
              <a:rPr lang="en-US" dirty="0" err="1"/>
              <a:t>LangExtract</a:t>
            </a:r>
            <a:r>
              <a:rPr lang="en-US" dirty="0"/>
              <a:t> ground truths were flatter. Low F1 scores indicate Mnemosyne detected relationships the Ground Truth did not include, not an error.</a:t>
            </a:r>
          </a:p>
        </p:txBody>
      </p:sp>
      <p:grpSp>
        <p:nvGrpSpPr>
          <p:cNvPr id="46" name="Group 45">
            <a:extLst>
              <a:ext uri="{FF2B5EF4-FFF2-40B4-BE49-F238E27FC236}">
                <a16:creationId xmlns:a16="http://schemas.microsoft.com/office/drawing/2014/main" id="{D31104C9-3240-AFBE-812E-341D5E7301AD}"/>
              </a:ext>
            </a:extLst>
          </p:cNvPr>
          <p:cNvGrpSpPr/>
          <p:nvPr/>
        </p:nvGrpSpPr>
        <p:grpSpPr>
          <a:xfrm>
            <a:off x="712585" y="1500349"/>
            <a:ext cx="1993321" cy="2378356"/>
            <a:chOff x="7461111" y="1478613"/>
            <a:chExt cx="1993321" cy="2378356"/>
          </a:xfrm>
        </p:grpSpPr>
        <p:sp>
          <p:nvSpPr>
            <p:cNvPr id="42" name="Rectangle 41">
              <a:extLst>
                <a:ext uri="{FF2B5EF4-FFF2-40B4-BE49-F238E27FC236}">
                  <a16:creationId xmlns:a16="http://schemas.microsoft.com/office/drawing/2014/main" id="{15C16F44-B41C-4A6A-B000-02305DA0D4A8}"/>
                </a:ext>
              </a:extLst>
            </p:cNvPr>
            <p:cNvSpPr/>
            <p:nvPr/>
          </p:nvSpPr>
          <p:spPr>
            <a:xfrm>
              <a:off x="7461111" y="1478613"/>
              <a:ext cx="1993321" cy="237835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2D61F7E4-FADB-5C57-CC8E-5C5E397EBB88}"/>
                </a:ext>
              </a:extLst>
            </p:cNvPr>
            <p:cNvSpPr/>
            <p:nvPr/>
          </p:nvSpPr>
          <p:spPr>
            <a:xfrm>
              <a:off x="7736385" y="1744268"/>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9FF10A00-DCBD-7C58-A597-721DF2B29174}"/>
                </a:ext>
              </a:extLst>
            </p:cNvPr>
            <p:cNvSpPr/>
            <p:nvPr/>
          </p:nvSpPr>
          <p:spPr>
            <a:xfrm>
              <a:off x="8209576" y="1547898"/>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CB775BA-865F-6C7C-BD46-E631BE90C382}"/>
                </a:ext>
              </a:extLst>
            </p:cNvPr>
            <p:cNvSpPr/>
            <p:nvPr/>
          </p:nvSpPr>
          <p:spPr>
            <a:xfrm>
              <a:off x="8705499" y="1634419"/>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80FA374C-B788-0A13-5440-DD9D2A0D1570}"/>
                </a:ext>
              </a:extLst>
            </p:cNvPr>
            <p:cNvCxnSpPr>
              <a:cxnSpLocks/>
              <a:stCxn id="2" idx="7"/>
              <a:endCxn id="3" idx="2"/>
            </p:cNvCxnSpPr>
            <p:nvPr/>
          </p:nvCxnSpPr>
          <p:spPr>
            <a:xfrm flipV="1">
              <a:off x="8012808" y="1705061"/>
              <a:ext cx="196768" cy="85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00F1B82-BC58-900B-62B1-B3FD275833BD}"/>
                </a:ext>
              </a:extLst>
            </p:cNvPr>
            <p:cNvCxnSpPr>
              <a:cxnSpLocks/>
              <a:stCxn id="5" idx="1"/>
              <a:endCxn id="3" idx="6"/>
            </p:cNvCxnSpPr>
            <p:nvPr/>
          </p:nvCxnSpPr>
          <p:spPr>
            <a:xfrm flipH="1">
              <a:off x="8533426" y="1680451"/>
              <a:ext cx="219500" cy="24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94076AE-2D09-5050-4BCB-D7494BACC3FA}"/>
                </a:ext>
              </a:extLst>
            </p:cNvPr>
            <p:cNvSpPr/>
            <p:nvPr/>
          </p:nvSpPr>
          <p:spPr>
            <a:xfrm>
              <a:off x="7691941" y="2141172"/>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6C593B9-6A9F-F2B1-6BFE-4FFFC3B3F3A4}"/>
                </a:ext>
              </a:extLst>
            </p:cNvPr>
            <p:cNvSpPr/>
            <p:nvPr/>
          </p:nvSpPr>
          <p:spPr>
            <a:xfrm>
              <a:off x="8114113" y="2478067"/>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7A8A4CA-C103-D185-8D72-D85150F56E19}"/>
                </a:ext>
              </a:extLst>
            </p:cNvPr>
            <p:cNvSpPr/>
            <p:nvPr/>
          </p:nvSpPr>
          <p:spPr>
            <a:xfrm>
              <a:off x="7834816" y="2893648"/>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84E06419-2E9B-39D7-92A0-0F2204446B15}"/>
                </a:ext>
              </a:extLst>
            </p:cNvPr>
            <p:cNvCxnSpPr>
              <a:cxnSpLocks/>
              <a:stCxn id="10" idx="6"/>
              <a:endCxn id="11" idx="1"/>
            </p:cNvCxnSpPr>
            <p:nvPr/>
          </p:nvCxnSpPr>
          <p:spPr>
            <a:xfrm>
              <a:off x="8015791" y="2298335"/>
              <a:ext cx="145749" cy="225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FDECC02-4B55-58F0-D61D-F1EAB15A3DB4}"/>
                </a:ext>
              </a:extLst>
            </p:cNvPr>
            <p:cNvCxnSpPr>
              <a:cxnSpLocks/>
              <a:stCxn id="11" idx="4"/>
              <a:endCxn id="12" idx="7"/>
            </p:cNvCxnSpPr>
            <p:nvPr/>
          </p:nvCxnSpPr>
          <p:spPr>
            <a:xfrm flipH="1">
              <a:off x="8111239" y="2792392"/>
              <a:ext cx="164799" cy="147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3FD9FA3C-8E96-ACD7-8D94-AF5FDECD1019}"/>
                </a:ext>
              </a:extLst>
            </p:cNvPr>
            <p:cNvSpPr/>
            <p:nvPr/>
          </p:nvSpPr>
          <p:spPr>
            <a:xfrm>
              <a:off x="8577043" y="2188463"/>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E328A89-D7A8-BBE4-B0D7-C1681BEF09F5}"/>
                </a:ext>
              </a:extLst>
            </p:cNvPr>
            <p:cNvSpPr/>
            <p:nvPr/>
          </p:nvSpPr>
          <p:spPr>
            <a:xfrm>
              <a:off x="8999215" y="2525358"/>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04D8E52-808E-B4D6-9ED6-927F78416568}"/>
                </a:ext>
              </a:extLst>
            </p:cNvPr>
            <p:cNvSpPr/>
            <p:nvPr/>
          </p:nvSpPr>
          <p:spPr>
            <a:xfrm>
              <a:off x="8719918" y="2940939"/>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658A68B3-8EF9-66A6-E1D4-40676A537A7E}"/>
                </a:ext>
              </a:extLst>
            </p:cNvPr>
            <p:cNvCxnSpPr>
              <a:cxnSpLocks/>
              <a:stCxn id="16" idx="1"/>
              <a:endCxn id="15" idx="6"/>
            </p:cNvCxnSpPr>
            <p:nvPr/>
          </p:nvCxnSpPr>
          <p:spPr>
            <a:xfrm flipH="1" flipV="1">
              <a:off x="8900893" y="2345626"/>
              <a:ext cx="145749" cy="225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710A0C9-2FCC-38A0-36E0-F2102F03F52E}"/>
                </a:ext>
              </a:extLst>
            </p:cNvPr>
            <p:cNvCxnSpPr>
              <a:cxnSpLocks/>
              <a:stCxn id="16" idx="4"/>
              <a:endCxn id="17" idx="7"/>
            </p:cNvCxnSpPr>
            <p:nvPr/>
          </p:nvCxnSpPr>
          <p:spPr>
            <a:xfrm flipH="1">
              <a:off x="8996341" y="2839683"/>
              <a:ext cx="164799" cy="147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E24B975-8E0D-9DCC-0463-D5E5607FA0D1}"/>
                </a:ext>
              </a:extLst>
            </p:cNvPr>
            <p:cNvSpPr txBox="1"/>
            <p:nvPr/>
          </p:nvSpPr>
          <p:spPr>
            <a:xfrm>
              <a:off x="7461111" y="3268142"/>
              <a:ext cx="1993321" cy="523220"/>
            </a:xfrm>
            <a:prstGeom prst="rect">
              <a:avLst/>
            </a:prstGeom>
            <a:noFill/>
          </p:spPr>
          <p:txBody>
            <a:bodyPr wrap="square" rtlCol="0">
              <a:spAutoFit/>
            </a:bodyPr>
            <a:lstStyle/>
            <a:p>
              <a:pPr algn="ctr"/>
              <a:r>
                <a:rPr lang="en-US" dirty="0" err="1"/>
                <a:t>LangExtract</a:t>
              </a:r>
              <a:r>
                <a:rPr lang="en-US" dirty="0"/>
                <a:t> Ground Truth: Flat Extraction</a:t>
              </a:r>
            </a:p>
          </p:txBody>
        </p:sp>
      </p:grpSp>
      <p:sp>
        <p:nvSpPr>
          <p:cNvPr id="21" name="Oval 20">
            <a:extLst>
              <a:ext uri="{FF2B5EF4-FFF2-40B4-BE49-F238E27FC236}">
                <a16:creationId xmlns:a16="http://schemas.microsoft.com/office/drawing/2014/main" id="{37CE88CA-B053-3175-6D4D-B5542E120486}"/>
              </a:ext>
            </a:extLst>
          </p:cNvPr>
          <p:cNvSpPr/>
          <p:nvPr/>
        </p:nvSpPr>
        <p:spPr>
          <a:xfrm>
            <a:off x="9670645" y="2420929"/>
            <a:ext cx="323850" cy="31432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2CFCB37-0CFF-40B8-0174-F64EDDE9263D}"/>
              </a:ext>
            </a:extLst>
          </p:cNvPr>
          <p:cNvSpPr/>
          <p:nvPr/>
        </p:nvSpPr>
        <p:spPr>
          <a:xfrm>
            <a:off x="10239372" y="2206617"/>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720CF43-09B7-CF94-082E-7EC1415E9043}"/>
              </a:ext>
            </a:extLst>
          </p:cNvPr>
          <p:cNvSpPr/>
          <p:nvPr/>
        </p:nvSpPr>
        <p:spPr>
          <a:xfrm>
            <a:off x="10661544" y="2543512"/>
            <a:ext cx="323850" cy="31432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44E78AC-05DE-8788-30BC-B15652F3BE0B}"/>
              </a:ext>
            </a:extLst>
          </p:cNvPr>
          <p:cNvSpPr/>
          <p:nvPr/>
        </p:nvSpPr>
        <p:spPr>
          <a:xfrm>
            <a:off x="10382247" y="2959093"/>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816979D-F1E1-8EE2-6E12-7FBA4A634685}"/>
              </a:ext>
            </a:extLst>
          </p:cNvPr>
          <p:cNvSpPr/>
          <p:nvPr/>
        </p:nvSpPr>
        <p:spPr>
          <a:xfrm>
            <a:off x="10918105" y="3273418"/>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AD951AB-BDDC-6184-F063-1FC47C76D983}"/>
              </a:ext>
            </a:extLst>
          </p:cNvPr>
          <p:cNvSpPr/>
          <p:nvPr/>
        </p:nvSpPr>
        <p:spPr>
          <a:xfrm>
            <a:off x="11426580" y="2410086"/>
            <a:ext cx="323850" cy="31432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AF8922D7-975F-1874-2CEA-BBCCBA5808AB}"/>
              </a:ext>
            </a:extLst>
          </p:cNvPr>
          <p:cNvCxnSpPr>
            <a:cxnSpLocks/>
            <a:stCxn id="22" idx="6"/>
            <a:endCxn id="23" idx="1"/>
          </p:cNvCxnSpPr>
          <p:nvPr/>
        </p:nvCxnSpPr>
        <p:spPr>
          <a:xfrm>
            <a:off x="10563222" y="2363780"/>
            <a:ext cx="145749" cy="225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688E8EC-4003-C164-DBE3-6689CC511BD6}"/>
              </a:ext>
            </a:extLst>
          </p:cNvPr>
          <p:cNvCxnSpPr>
            <a:cxnSpLocks/>
            <a:stCxn id="26" idx="3"/>
            <a:endCxn id="23" idx="6"/>
          </p:cNvCxnSpPr>
          <p:nvPr/>
        </p:nvCxnSpPr>
        <p:spPr>
          <a:xfrm flipH="1">
            <a:off x="10985394" y="2678379"/>
            <a:ext cx="488613" cy="22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2AC8679-509D-9A7C-3588-224AF5B42215}"/>
              </a:ext>
            </a:extLst>
          </p:cNvPr>
          <p:cNvCxnSpPr>
            <a:cxnSpLocks/>
            <a:stCxn id="23" idx="4"/>
            <a:endCxn id="25" idx="0"/>
          </p:cNvCxnSpPr>
          <p:nvPr/>
        </p:nvCxnSpPr>
        <p:spPr>
          <a:xfrm>
            <a:off x="10823469" y="2857837"/>
            <a:ext cx="256561" cy="415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23DE783-41F9-0FC7-1880-1A0D18C00491}"/>
              </a:ext>
            </a:extLst>
          </p:cNvPr>
          <p:cNvCxnSpPr>
            <a:cxnSpLocks/>
            <a:stCxn id="23" idx="3"/>
            <a:endCxn id="24" idx="7"/>
          </p:cNvCxnSpPr>
          <p:nvPr/>
        </p:nvCxnSpPr>
        <p:spPr>
          <a:xfrm flipH="1">
            <a:off x="10658670" y="2811805"/>
            <a:ext cx="50301" cy="19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E3E43771-F009-F8FA-A7C7-B7B16936069E}"/>
              </a:ext>
            </a:extLst>
          </p:cNvPr>
          <p:cNvSpPr/>
          <p:nvPr/>
        </p:nvSpPr>
        <p:spPr>
          <a:xfrm>
            <a:off x="9896183" y="3502018"/>
            <a:ext cx="323850" cy="3143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3B1DB33C-D5BE-6AB8-F5D9-05194FC70BC6}"/>
              </a:ext>
            </a:extLst>
          </p:cNvPr>
          <p:cNvCxnSpPr>
            <a:cxnSpLocks/>
            <a:stCxn id="24" idx="3"/>
            <a:endCxn id="31" idx="7"/>
          </p:cNvCxnSpPr>
          <p:nvPr/>
        </p:nvCxnSpPr>
        <p:spPr>
          <a:xfrm flipH="1">
            <a:off x="10172606" y="3227386"/>
            <a:ext cx="257068" cy="320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8D504752-D3A3-ED08-B858-6141D6A9EA57}"/>
              </a:ext>
            </a:extLst>
          </p:cNvPr>
          <p:cNvSpPr/>
          <p:nvPr/>
        </p:nvSpPr>
        <p:spPr>
          <a:xfrm>
            <a:off x="11261402" y="2931481"/>
            <a:ext cx="323850" cy="314325"/>
          </a:xfrm>
          <a:prstGeom prst="ellipse">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2E2D0439-8F37-705D-2B8B-44EF815E93D9}"/>
              </a:ext>
            </a:extLst>
          </p:cNvPr>
          <p:cNvCxnSpPr>
            <a:cxnSpLocks/>
            <a:stCxn id="23" idx="5"/>
            <a:endCxn id="33" idx="1"/>
          </p:cNvCxnSpPr>
          <p:nvPr/>
        </p:nvCxnSpPr>
        <p:spPr>
          <a:xfrm>
            <a:off x="10937967" y="2811805"/>
            <a:ext cx="370862" cy="16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FB996F6-C4F8-B4CC-C475-2019FFDB126D}"/>
              </a:ext>
            </a:extLst>
          </p:cNvPr>
          <p:cNvCxnSpPr>
            <a:cxnSpLocks/>
            <a:stCxn id="31" idx="0"/>
            <a:endCxn id="21" idx="4"/>
          </p:cNvCxnSpPr>
          <p:nvPr/>
        </p:nvCxnSpPr>
        <p:spPr>
          <a:xfrm flipH="1" flipV="1">
            <a:off x="9832570" y="2735254"/>
            <a:ext cx="225538" cy="766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092A32B-14D3-858B-E404-AF74A18AB567}"/>
              </a:ext>
            </a:extLst>
          </p:cNvPr>
          <p:cNvCxnSpPr>
            <a:cxnSpLocks/>
            <a:stCxn id="22" idx="3"/>
            <a:endCxn id="21" idx="7"/>
          </p:cNvCxnSpPr>
          <p:nvPr/>
        </p:nvCxnSpPr>
        <p:spPr>
          <a:xfrm flipH="1" flipV="1">
            <a:off x="9947068" y="2466961"/>
            <a:ext cx="339731" cy="7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E062A5E-91DC-0A0D-B83D-752E34E06FFD}"/>
              </a:ext>
            </a:extLst>
          </p:cNvPr>
          <p:cNvCxnSpPr>
            <a:cxnSpLocks/>
            <a:stCxn id="24" idx="5"/>
            <a:endCxn id="25" idx="2"/>
          </p:cNvCxnSpPr>
          <p:nvPr/>
        </p:nvCxnSpPr>
        <p:spPr>
          <a:xfrm>
            <a:off x="10658670" y="3227386"/>
            <a:ext cx="259435" cy="203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52784A0-591A-5A74-6B63-70E6052F79CB}"/>
              </a:ext>
            </a:extLst>
          </p:cNvPr>
          <p:cNvCxnSpPr>
            <a:cxnSpLocks/>
            <a:stCxn id="33" idx="0"/>
            <a:endCxn id="26" idx="5"/>
          </p:cNvCxnSpPr>
          <p:nvPr/>
        </p:nvCxnSpPr>
        <p:spPr>
          <a:xfrm flipV="1">
            <a:off x="11423327" y="2678379"/>
            <a:ext cx="279676" cy="253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69C525E1-7192-8182-FA41-8AE650D13E20}"/>
              </a:ext>
            </a:extLst>
          </p:cNvPr>
          <p:cNvSpPr/>
          <p:nvPr/>
        </p:nvSpPr>
        <p:spPr>
          <a:xfrm>
            <a:off x="10953349" y="2053920"/>
            <a:ext cx="323850" cy="31432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2F7A1075-A0AC-5887-ACEA-A05AE133918F}"/>
              </a:ext>
            </a:extLst>
          </p:cNvPr>
          <p:cNvCxnSpPr>
            <a:cxnSpLocks/>
            <a:stCxn id="26" idx="0"/>
            <a:endCxn id="39" idx="6"/>
          </p:cNvCxnSpPr>
          <p:nvPr/>
        </p:nvCxnSpPr>
        <p:spPr>
          <a:xfrm flipH="1" flipV="1">
            <a:off x="11277199" y="2211083"/>
            <a:ext cx="311306" cy="199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6B24765-1F98-984D-01D0-9A0508DE9ECA}"/>
              </a:ext>
            </a:extLst>
          </p:cNvPr>
          <p:cNvCxnSpPr>
            <a:cxnSpLocks/>
            <a:stCxn id="23" idx="0"/>
            <a:endCxn id="39" idx="3"/>
          </p:cNvCxnSpPr>
          <p:nvPr/>
        </p:nvCxnSpPr>
        <p:spPr>
          <a:xfrm flipV="1">
            <a:off x="10823469" y="2322213"/>
            <a:ext cx="177307" cy="221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5DBC675-0221-DE30-3063-B2CA2943CF62}"/>
              </a:ext>
            </a:extLst>
          </p:cNvPr>
          <p:cNvSpPr txBox="1"/>
          <p:nvPr/>
        </p:nvSpPr>
        <p:spPr>
          <a:xfrm>
            <a:off x="9626505" y="1465082"/>
            <a:ext cx="2314088" cy="523220"/>
          </a:xfrm>
          <a:prstGeom prst="rect">
            <a:avLst/>
          </a:prstGeom>
          <a:noFill/>
        </p:spPr>
        <p:txBody>
          <a:bodyPr wrap="square" rtlCol="0">
            <a:spAutoFit/>
          </a:bodyPr>
          <a:lstStyle/>
          <a:p>
            <a:pPr algn="ctr"/>
            <a:r>
              <a:rPr lang="en-US" dirty="0"/>
              <a:t>Mnemosyne: Deep Semantic Enhancement</a:t>
            </a:r>
          </a:p>
        </p:txBody>
      </p:sp>
      <p:sp>
        <p:nvSpPr>
          <p:cNvPr id="45" name="TextBox 44">
            <a:extLst>
              <a:ext uri="{FF2B5EF4-FFF2-40B4-BE49-F238E27FC236}">
                <a16:creationId xmlns:a16="http://schemas.microsoft.com/office/drawing/2014/main" id="{3F356E64-2B71-A09B-3B8C-E80F95E69A1C}"/>
              </a:ext>
            </a:extLst>
          </p:cNvPr>
          <p:cNvSpPr txBox="1"/>
          <p:nvPr/>
        </p:nvSpPr>
        <p:spPr>
          <a:xfrm>
            <a:off x="6685364" y="0"/>
            <a:ext cx="5506636" cy="307777"/>
          </a:xfrm>
          <a:prstGeom prst="rect">
            <a:avLst/>
          </a:prstGeom>
          <a:noFill/>
        </p:spPr>
        <p:txBody>
          <a:bodyPr wrap="none" rtlCol="0">
            <a:spAutoFit/>
          </a:bodyPr>
          <a:lstStyle/>
          <a:p>
            <a:pPr algn="r"/>
            <a:r>
              <a:rPr lang="en-US" dirty="0"/>
              <a:t>Introduction   Foundation</a:t>
            </a:r>
            <a:r>
              <a:rPr lang="en-US" b="1" dirty="0"/>
              <a:t> </a:t>
            </a:r>
            <a:r>
              <a:rPr lang="en-US" dirty="0"/>
              <a:t>  </a:t>
            </a:r>
            <a:r>
              <a:rPr lang="en-US" b="1" dirty="0"/>
              <a:t>Key Findings   </a:t>
            </a:r>
            <a:r>
              <a:rPr lang="en-US" dirty="0"/>
              <a:t>Discussion   Conclusion</a:t>
            </a:r>
          </a:p>
        </p:txBody>
      </p:sp>
    </p:spTree>
    <p:extLst>
      <p:ext uri="{BB962C8B-B14F-4D97-AF65-F5344CB8AC3E}">
        <p14:creationId xmlns:p14="http://schemas.microsoft.com/office/powerpoint/2010/main" val="2980078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93510-CA42-C076-D062-BF190A19D49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0961DD9-D8CF-33D5-775E-90F413F8714B}"/>
              </a:ext>
            </a:extLst>
          </p:cNvPr>
          <p:cNvSpPr>
            <a:spLocks noGrp="1"/>
          </p:cNvSpPr>
          <p:nvPr>
            <p:ph type="title"/>
          </p:nvPr>
        </p:nvSpPr>
        <p:spPr/>
        <p:txBody>
          <a:bodyPr>
            <a:normAutofit/>
          </a:bodyPr>
          <a:lstStyle/>
          <a:p>
            <a:r>
              <a:rPr lang="en-US" dirty="0"/>
              <a:t>Traceability</a:t>
            </a:r>
          </a:p>
        </p:txBody>
      </p:sp>
      <p:sp>
        <p:nvSpPr>
          <p:cNvPr id="2" name="TextBox 1">
            <a:extLst>
              <a:ext uri="{FF2B5EF4-FFF2-40B4-BE49-F238E27FC236}">
                <a16:creationId xmlns:a16="http://schemas.microsoft.com/office/drawing/2014/main" id="{65D8E73C-A776-80BC-1643-46CB45E5DE73}"/>
              </a:ext>
            </a:extLst>
          </p:cNvPr>
          <p:cNvSpPr txBox="1"/>
          <p:nvPr/>
        </p:nvSpPr>
        <p:spPr>
          <a:xfrm>
            <a:off x="6685364" y="0"/>
            <a:ext cx="5506636" cy="307777"/>
          </a:xfrm>
          <a:prstGeom prst="rect">
            <a:avLst/>
          </a:prstGeom>
          <a:noFill/>
        </p:spPr>
        <p:txBody>
          <a:bodyPr wrap="none" rtlCol="0">
            <a:spAutoFit/>
          </a:bodyPr>
          <a:lstStyle/>
          <a:p>
            <a:pPr algn="r"/>
            <a:r>
              <a:rPr lang="en-US" dirty="0"/>
              <a:t>Introduction   Foundation</a:t>
            </a:r>
            <a:r>
              <a:rPr lang="en-US" b="1" dirty="0"/>
              <a:t> </a:t>
            </a:r>
            <a:r>
              <a:rPr lang="en-US" dirty="0"/>
              <a:t>  </a:t>
            </a:r>
            <a:r>
              <a:rPr lang="en-US" b="1" dirty="0"/>
              <a:t>Key Findings   </a:t>
            </a:r>
            <a:r>
              <a:rPr lang="en-US" dirty="0"/>
              <a:t>Discussion   Conclusion</a:t>
            </a:r>
          </a:p>
        </p:txBody>
      </p:sp>
      <p:graphicFrame>
        <p:nvGraphicFramePr>
          <p:cNvPr id="3" name="Table 2">
            <a:extLst>
              <a:ext uri="{FF2B5EF4-FFF2-40B4-BE49-F238E27FC236}">
                <a16:creationId xmlns:a16="http://schemas.microsoft.com/office/drawing/2014/main" id="{9E88231F-3606-A794-5F67-6AA5FCB52772}"/>
              </a:ext>
            </a:extLst>
          </p:cNvPr>
          <p:cNvGraphicFramePr>
            <a:graphicFrameLocks noGrp="1"/>
          </p:cNvGraphicFramePr>
          <p:nvPr>
            <p:extLst>
              <p:ext uri="{D42A27DB-BD31-4B8C-83A1-F6EECF244321}">
                <p14:modId xmlns:p14="http://schemas.microsoft.com/office/powerpoint/2010/main" val="2118992121"/>
              </p:ext>
            </p:extLst>
          </p:nvPr>
        </p:nvGraphicFramePr>
        <p:xfrm>
          <a:off x="854337" y="1459771"/>
          <a:ext cx="10483326" cy="3083560"/>
        </p:xfrm>
        <a:graphic>
          <a:graphicData uri="http://schemas.openxmlformats.org/drawingml/2006/table">
            <a:tbl>
              <a:tblPr firstRow="1" bandRow="1">
                <a:tableStyleId>{5C22544A-7EE6-4342-B048-85BDC9FD1C3A}</a:tableStyleId>
              </a:tblPr>
              <a:tblGrid>
                <a:gridCol w="3251741">
                  <a:extLst>
                    <a:ext uri="{9D8B030D-6E8A-4147-A177-3AD203B41FA5}">
                      <a16:colId xmlns:a16="http://schemas.microsoft.com/office/drawing/2014/main" val="3743191342"/>
                    </a:ext>
                  </a:extLst>
                </a:gridCol>
                <a:gridCol w="7231585">
                  <a:extLst>
                    <a:ext uri="{9D8B030D-6E8A-4147-A177-3AD203B41FA5}">
                      <a16:colId xmlns:a16="http://schemas.microsoft.com/office/drawing/2014/main" val="1320768874"/>
                    </a:ext>
                  </a:extLst>
                </a:gridCol>
              </a:tblGrid>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39642226"/>
                  </a:ext>
                </a:extLst>
              </a:tr>
              <a:tr h="370840">
                <a:tc>
                  <a:txBody>
                    <a:bodyPr/>
                    <a:lstStyle/>
                    <a:p>
                      <a:r>
                        <a:rPr lang="en-US" sz="2000" b="1" dirty="0"/>
                        <a:t>Traceability</a:t>
                      </a:r>
                    </a:p>
                  </a:txBody>
                  <a:tcPr/>
                </a:tc>
                <a:tc>
                  <a:txBody>
                    <a:bodyPr/>
                    <a:lstStyle/>
                    <a:p>
                      <a:r>
                        <a:rPr lang="en-US" sz="2000" dirty="0"/>
                        <a:t>Manual review showed that over 95% of the nodes could be traced back to the point in the source document.</a:t>
                      </a:r>
                    </a:p>
                  </a:txBody>
                  <a:tcPr/>
                </a:tc>
                <a:extLst>
                  <a:ext uri="{0D108BD9-81ED-4DB2-BD59-A6C34878D82A}">
                    <a16:rowId xmlns:a16="http://schemas.microsoft.com/office/drawing/2014/main" val="998824593"/>
                  </a:ext>
                </a:extLst>
              </a:tr>
              <a:tr h="370840">
                <a:tc>
                  <a:txBody>
                    <a:bodyPr/>
                    <a:lstStyle/>
                    <a:p>
                      <a:r>
                        <a:rPr lang="en-US" sz="2000" b="1" dirty="0"/>
                        <a:t>Coverage</a:t>
                      </a:r>
                    </a:p>
                  </a:txBody>
                  <a:tcPr/>
                </a:tc>
                <a:tc>
                  <a:txBody>
                    <a:bodyPr/>
                    <a:lstStyle/>
                    <a:p>
                      <a:r>
                        <a:rPr lang="en-US" sz="2000" dirty="0"/>
                        <a:t>It was observed that the words used in the document based on word counts appeared in the Knowledge Graph.</a:t>
                      </a:r>
                    </a:p>
                  </a:txBody>
                  <a:tcPr/>
                </a:tc>
                <a:extLst>
                  <a:ext uri="{0D108BD9-81ED-4DB2-BD59-A6C34878D82A}">
                    <a16:rowId xmlns:a16="http://schemas.microsoft.com/office/drawing/2014/main" val="81339047"/>
                  </a:ext>
                </a:extLst>
              </a:tr>
              <a:tr h="370840">
                <a:tc>
                  <a:txBody>
                    <a:bodyPr/>
                    <a:lstStyle/>
                    <a:p>
                      <a:r>
                        <a:rPr lang="en-US" sz="2000" b="1" dirty="0"/>
                        <a:t>Structural Integrity</a:t>
                      </a:r>
                    </a:p>
                  </a:txBody>
                  <a:tcPr/>
                </a:tc>
                <a:tc>
                  <a:txBody>
                    <a:bodyPr/>
                    <a:lstStyle/>
                    <a:p>
                      <a:r>
                        <a:rPr lang="en-US" sz="2000" dirty="0"/>
                        <a:t>In the base document, node grew (1,091 to 1,256) much more slowly than relationships (2,017 to 3,268) during refinement. This shows that it was building semantic richness. This was confirmed during random sampling.</a:t>
                      </a:r>
                    </a:p>
                  </a:txBody>
                  <a:tcPr/>
                </a:tc>
                <a:extLst>
                  <a:ext uri="{0D108BD9-81ED-4DB2-BD59-A6C34878D82A}">
                    <a16:rowId xmlns:a16="http://schemas.microsoft.com/office/drawing/2014/main" val="808395819"/>
                  </a:ext>
                </a:extLst>
              </a:tr>
            </a:tbl>
          </a:graphicData>
        </a:graphic>
      </p:graphicFrame>
      <p:sp>
        <p:nvSpPr>
          <p:cNvPr id="4" name="TextBox 3">
            <a:extLst>
              <a:ext uri="{FF2B5EF4-FFF2-40B4-BE49-F238E27FC236}">
                <a16:creationId xmlns:a16="http://schemas.microsoft.com/office/drawing/2014/main" id="{BC389C31-9B51-377D-BD24-32717E426687}"/>
              </a:ext>
            </a:extLst>
          </p:cNvPr>
          <p:cNvSpPr txBox="1"/>
          <p:nvPr/>
        </p:nvSpPr>
        <p:spPr>
          <a:xfrm>
            <a:off x="854337" y="5090452"/>
            <a:ext cx="6859570" cy="307777"/>
          </a:xfrm>
          <a:prstGeom prst="rect">
            <a:avLst/>
          </a:prstGeom>
          <a:noFill/>
        </p:spPr>
        <p:txBody>
          <a:bodyPr wrap="none" rtlCol="0">
            <a:spAutoFit/>
          </a:bodyPr>
          <a:lstStyle/>
          <a:p>
            <a:r>
              <a:rPr lang="en-US" dirty="0"/>
              <a:t>Note: Refinement logic was executed synchronously for experimental measurement.</a:t>
            </a:r>
          </a:p>
        </p:txBody>
      </p:sp>
    </p:spTree>
    <p:extLst>
      <p:ext uri="{BB962C8B-B14F-4D97-AF65-F5344CB8AC3E}">
        <p14:creationId xmlns:p14="http://schemas.microsoft.com/office/powerpoint/2010/main" val="1276104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15A17-66CE-FDF1-8470-4F967941760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8E6D457-D85B-4B52-1FD5-D0F652BA8AF6}"/>
              </a:ext>
            </a:extLst>
          </p:cNvPr>
          <p:cNvSpPr>
            <a:spLocks noGrp="1"/>
          </p:cNvSpPr>
          <p:nvPr>
            <p:ph type="title"/>
          </p:nvPr>
        </p:nvSpPr>
        <p:spPr>
          <a:xfrm>
            <a:off x="854337" y="715617"/>
            <a:ext cx="3996443" cy="975070"/>
          </a:xfrm>
        </p:spPr>
        <p:txBody>
          <a:bodyPr>
            <a:normAutofit fontScale="90000"/>
          </a:bodyPr>
          <a:lstStyle/>
          <a:p>
            <a:r>
              <a:rPr lang="en-US" dirty="0"/>
              <a:t>Response to Removal</a:t>
            </a:r>
          </a:p>
        </p:txBody>
      </p:sp>
      <p:sp>
        <p:nvSpPr>
          <p:cNvPr id="2" name="TextBox 1">
            <a:extLst>
              <a:ext uri="{FF2B5EF4-FFF2-40B4-BE49-F238E27FC236}">
                <a16:creationId xmlns:a16="http://schemas.microsoft.com/office/drawing/2014/main" id="{E22F7E4A-CF17-F361-193B-E9A93645C80F}"/>
              </a:ext>
            </a:extLst>
          </p:cNvPr>
          <p:cNvSpPr txBox="1"/>
          <p:nvPr/>
        </p:nvSpPr>
        <p:spPr>
          <a:xfrm>
            <a:off x="6685364" y="0"/>
            <a:ext cx="5506636" cy="307777"/>
          </a:xfrm>
          <a:prstGeom prst="rect">
            <a:avLst/>
          </a:prstGeom>
          <a:noFill/>
        </p:spPr>
        <p:txBody>
          <a:bodyPr wrap="none" rtlCol="0">
            <a:spAutoFit/>
          </a:bodyPr>
          <a:lstStyle/>
          <a:p>
            <a:pPr algn="r"/>
            <a:r>
              <a:rPr lang="en-US" dirty="0"/>
              <a:t>Introduction   Foundation</a:t>
            </a:r>
            <a:r>
              <a:rPr lang="en-US" b="1" dirty="0"/>
              <a:t> </a:t>
            </a:r>
            <a:r>
              <a:rPr lang="en-US" dirty="0"/>
              <a:t>  </a:t>
            </a:r>
            <a:r>
              <a:rPr lang="en-US" b="1" dirty="0"/>
              <a:t>Key Findings   </a:t>
            </a:r>
            <a:r>
              <a:rPr lang="en-US" dirty="0"/>
              <a:t>Discussion   Conclusion</a:t>
            </a:r>
          </a:p>
        </p:txBody>
      </p:sp>
      <p:sp>
        <p:nvSpPr>
          <p:cNvPr id="3" name="TextBox 2">
            <a:extLst>
              <a:ext uri="{FF2B5EF4-FFF2-40B4-BE49-F238E27FC236}">
                <a16:creationId xmlns:a16="http://schemas.microsoft.com/office/drawing/2014/main" id="{E1C1B173-5F41-7130-DCCF-2620DBEBD0A3}"/>
              </a:ext>
            </a:extLst>
          </p:cNvPr>
          <p:cNvSpPr txBox="1"/>
          <p:nvPr/>
        </p:nvSpPr>
        <p:spPr>
          <a:xfrm>
            <a:off x="854337" y="4134255"/>
            <a:ext cx="10483326" cy="738664"/>
          </a:xfrm>
          <a:prstGeom prst="rect">
            <a:avLst/>
          </a:prstGeom>
          <a:noFill/>
        </p:spPr>
        <p:txBody>
          <a:bodyPr wrap="square" rtlCol="0">
            <a:spAutoFit/>
          </a:bodyPr>
          <a:lstStyle/>
          <a:p>
            <a:r>
              <a:rPr lang="en-US" dirty="0"/>
              <a:t>I validated that the graph generation is sensitive to the source text. As shown here, removing a section of the laws resulted in a corresponding drop in graph density, confirming the system is accurately reflecting the source material rather than hallucinating filler.</a:t>
            </a:r>
          </a:p>
        </p:txBody>
      </p:sp>
      <p:graphicFrame>
        <p:nvGraphicFramePr>
          <p:cNvPr id="4" name="Chart 3">
            <a:extLst>
              <a:ext uri="{FF2B5EF4-FFF2-40B4-BE49-F238E27FC236}">
                <a16:creationId xmlns:a16="http://schemas.microsoft.com/office/drawing/2014/main" id="{7514328D-DBB1-1BFF-5CAE-896847B96677}"/>
              </a:ext>
            </a:extLst>
          </p:cNvPr>
          <p:cNvGraphicFramePr/>
          <p:nvPr>
            <p:extLst>
              <p:ext uri="{D42A27DB-BD31-4B8C-83A1-F6EECF244321}">
                <p14:modId xmlns:p14="http://schemas.microsoft.com/office/powerpoint/2010/main" val="348816930"/>
              </p:ext>
            </p:extLst>
          </p:nvPr>
        </p:nvGraphicFramePr>
        <p:xfrm>
          <a:off x="4965539" y="616968"/>
          <a:ext cx="5856790" cy="342259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62716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3D9EC-407C-0322-B6A5-A046C222219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2FCC337-9504-3C1F-8410-90A61FD554E2}"/>
              </a:ext>
            </a:extLst>
          </p:cNvPr>
          <p:cNvSpPr>
            <a:spLocks noGrp="1"/>
          </p:cNvSpPr>
          <p:nvPr>
            <p:ph type="title"/>
          </p:nvPr>
        </p:nvSpPr>
        <p:spPr/>
        <p:txBody>
          <a:bodyPr>
            <a:normAutofit fontScale="90000"/>
          </a:bodyPr>
          <a:lstStyle/>
          <a:p>
            <a:r>
              <a:rPr lang="en-US" dirty="0"/>
              <a:t>Suitability for Consistency and Completeness (C&amp;C) Analysis</a:t>
            </a:r>
          </a:p>
        </p:txBody>
      </p:sp>
      <p:sp>
        <p:nvSpPr>
          <p:cNvPr id="2" name="TextBox 1">
            <a:extLst>
              <a:ext uri="{FF2B5EF4-FFF2-40B4-BE49-F238E27FC236}">
                <a16:creationId xmlns:a16="http://schemas.microsoft.com/office/drawing/2014/main" id="{65AF55D1-C314-08EB-C78C-F03EA770EE44}"/>
              </a:ext>
            </a:extLst>
          </p:cNvPr>
          <p:cNvSpPr txBox="1"/>
          <p:nvPr/>
        </p:nvSpPr>
        <p:spPr>
          <a:xfrm>
            <a:off x="6685364" y="0"/>
            <a:ext cx="5506636" cy="307777"/>
          </a:xfrm>
          <a:prstGeom prst="rect">
            <a:avLst/>
          </a:prstGeom>
          <a:noFill/>
        </p:spPr>
        <p:txBody>
          <a:bodyPr wrap="none" rtlCol="0">
            <a:spAutoFit/>
          </a:bodyPr>
          <a:lstStyle/>
          <a:p>
            <a:pPr algn="r"/>
            <a:r>
              <a:rPr lang="en-US" dirty="0"/>
              <a:t>Introduction   Foundation</a:t>
            </a:r>
            <a:r>
              <a:rPr lang="en-US" b="1" dirty="0"/>
              <a:t> </a:t>
            </a:r>
            <a:r>
              <a:rPr lang="en-US" dirty="0"/>
              <a:t>  </a:t>
            </a:r>
            <a:r>
              <a:rPr lang="en-US" b="1" dirty="0"/>
              <a:t>Key Findings   </a:t>
            </a:r>
            <a:r>
              <a:rPr lang="en-US" dirty="0"/>
              <a:t>Discussion   Conclusion</a:t>
            </a:r>
          </a:p>
        </p:txBody>
      </p:sp>
      <p:graphicFrame>
        <p:nvGraphicFramePr>
          <p:cNvPr id="3" name="Table 2">
            <a:extLst>
              <a:ext uri="{FF2B5EF4-FFF2-40B4-BE49-F238E27FC236}">
                <a16:creationId xmlns:a16="http://schemas.microsoft.com/office/drawing/2014/main" id="{C0D1D263-E151-22CE-2862-B284BC41F345}"/>
              </a:ext>
            </a:extLst>
          </p:cNvPr>
          <p:cNvGraphicFramePr>
            <a:graphicFrameLocks noGrp="1"/>
          </p:cNvGraphicFramePr>
          <p:nvPr>
            <p:extLst>
              <p:ext uri="{D42A27DB-BD31-4B8C-83A1-F6EECF244321}">
                <p14:modId xmlns:p14="http://schemas.microsoft.com/office/powerpoint/2010/main" val="3585882616"/>
              </p:ext>
            </p:extLst>
          </p:nvPr>
        </p:nvGraphicFramePr>
        <p:xfrm>
          <a:off x="854336" y="2003717"/>
          <a:ext cx="10483326" cy="2270760"/>
        </p:xfrm>
        <a:graphic>
          <a:graphicData uri="http://schemas.openxmlformats.org/drawingml/2006/table">
            <a:tbl>
              <a:tblPr firstRow="1" bandRow="1">
                <a:tableStyleId>{5C22544A-7EE6-4342-B048-85BDC9FD1C3A}</a:tableStyleId>
              </a:tblPr>
              <a:tblGrid>
                <a:gridCol w="5241663">
                  <a:extLst>
                    <a:ext uri="{9D8B030D-6E8A-4147-A177-3AD203B41FA5}">
                      <a16:colId xmlns:a16="http://schemas.microsoft.com/office/drawing/2014/main" val="2148432756"/>
                    </a:ext>
                  </a:extLst>
                </a:gridCol>
                <a:gridCol w="5241663">
                  <a:extLst>
                    <a:ext uri="{9D8B030D-6E8A-4147-A177-3AD203B41FA5}">
                      <a16:colId xmlns:a16="http://schemas.microsoft.com/office/drawing/2014/main" val="1354365760"/>
                    </a:ext>
                  </a:extLst>
                </a:gridCol>
              </a:tblGrid>
              <a:tr h="370840">
                <a:tc>
                  <a:txBody>
                    <a:bodyPr/>
                    <a:lstStyle/>
                    <a:p>
                      <a:endParaRPr lang="en-US"/>
                    </a:p>
                  </a:txBody>
                  <a:tcPr/>
                </a:tc>
                <a:tc>
                  <a:txBody>
                    <a:bodyPr/>
                    <a:lstStyle/>
                    <a:p>
                      <a:endParaRPr lang="en-US"/>
                    </a:p>
                  </a:txBody>
                  <a:tcPr/>
                </a:tc>
                <a:extLst>
                  <a:ext uri="{0D108BD9-81ED-4DB2-BD59-A6C34878D82A}">
                    <a16:rowId xmlns:a16="http://schemas.microsoft.com/office/drawing/2014/main" val="3525172236"/>
                  </a:ext>
                </a:extLst>
              </a:tr>
              <a:tr h="370840">
                <a:tc>
                  <a:txBody>
                    <a:bodyPr/>
                    <a:lstStyle/>
                    <a:p>
                      <a:r>
                        <a:rPr lang="en-US" sz="1400" b="1" i="0" u="none" strike="noStrike" cap="none" baseline="0" dirty="0">
                          <a:solidFill>
                            <a:schemeClr val="dk1"/>
                          </a:solidFill>
                          <a:latin typeface="+mn-lt"/>
                          <a:ea typeface="+mn-ea"/>
                          <a:cs typeface="+mn-cs"/>
                          <a:sym typeface="Arial"/>
                        </a:rPr>
                        <a:t>Consistency (Internally Verifiable)</a:t>
                      </a:r>
                      <a:endParaRPr lang="en-US" dirty="0"/>
                    </a:p>
                  </a:txBody>
                  <a:tcPr/>
                </a:tc>
                <a:tc>
                  <a:txBody>
                    <a:bodyPr/>
                    <a:lstStyle/>
                    <a:p>
                      <a:r>
                        <a:rPr lang="en-US" sz="1400" b="0" i="0" u="none" strike="noStrike" cap="none" baseline="0" dirty="0">
                          <a:solidFill>
                            <a:schemeClr val="dk1"/>
                          </a:solidFill>
                          <a:latin typeface="+mn-lt"/>
                          <a:ea typeface="+mn-ea"/>
                          <a:cs typeface="+mn-cs"/>
                          <a:sym typeface="Arial"/>
                        </a:rPr>
                        <a:t>The results strongly support the hypothesis that consistency can be assessed as an internal property of a document. The error injection experiment with the dissimilar ”Driveways” section</a:t>
                      </a:r>
                    </a:p>
                    <a:p>
                      <a:r>
                        <a:rPr lang="en-US" sz="1400" b="0" i="0" u="none" strike="noStrike" cap="none" baseline="0" dirty="0">
                          <a:solidFill>
                            <a:schemeClr val="dk1"/>
                          </a:solidFill>
                          <a:latin typeface="+mn-lt"/>
                          <a:ea typeface="+mn-ea"/>
                          <a:cs typeface="+mn-cs"/>
                          <a:sym typeface="Arial"/>
                        </a:rPr>
                        <a:t>demonstrated that semantically inconsistent content can be observed.</a:t>
                      </a:r>
                      <a:endParaRPr lang="en-US" dirty="0"/>
                    </a:p>
                  </a:txBody>
                  <a:tcPr/>
                </a:tc>
                <a:extLst>
                  <a:ext uri="{0D108BD9-81ED-4DB2-BD59-A6C34878D82A}">
                    <a16:rowId xmlns:a16="http://schemas.microsoft.com/office/drawing/2014/main" val="1752825909"/>
                  </a:ext>
                </a:extLst>
              </a:tr>
              <a:tr h="370840">
                <a:tc>
                  <a:txBody>
                    <a:bodyPr/>
                    <a:lstStyle/>
                    <a:p>
                      <a:r>
                        <a:rPr lang="en-US" sz="1400" b="1" i="0" u="none" strike="noStrike" cap="none" baseline="0" dirty="0">
                          <a:solidFill>
                            <a:schemeClr val="dk1"/>
                          </a:solidFill>
                          <a:latin typeface="+mn-lt"/>
                          <a:ea typeface="+mn-ea"/>
                          <a:cs typeface="+mn-cs"/>
                          <a:sym typeface="Arial"/>
                        </a:rPr>
                        <a:t>Internal Completeness</a:t>
                      </a:r>
                      <a:endParaRPr lang="en-US" dirty="0"/>
                    </a:p>
                  </a:txBody>
                  <a:tcPr/>
                </a:tc>
                <a:tc>
                  <a:txBody>
                    <a:bodyPr/>
                    <a:lstStyle/>
                    <a:p>
                      <a:r>
                        <a:rPr lang="en-US" dirty="0"/>
                        <a:t>Was detected through Cypher queries.</a:t>
                      </a:r>
                    </a:p>
                  </a:txBody>
                  <a:tcPr/>
                </a:tc>
                <a:extLst>
                  <a:ext uri="{0D108BD9-81ED-4DB2-BD59-A6C34878D82A}">
                    <a16:rowId xmlns:a16="http://schemas.microsoft.com/office/drawing/2014/main" val="4170605268"/>
                  </a:ext>
                </a:extLst>
              </a:tr>
              <a:tr h="370840">
                <a:tc>
                  <a:txBody>
                    <a:bodyPr/>
                    <a:lstStyle/>
                    <a:p>
                      <a:r>
                        <a:rPr lang="en-US" sz="1400" b="1" i="0" u="none" strike="noStrike" cap="none" baseline="0" dirty="0">
                          <a:solidFill>
                            <a:schemeClr val="dk1"/>
                          </a:solidFill>
                          <a:latin typeface="+mn-lt"/>
                          <a:ea typeface="+mn-ea"/>
                          <a:cs typeface="+mn-cs"/>
                          <a:sym typeface="Arial"/>
                        </a:rPr>
                        <a:t>External Completeness</a:t>
                      </a:r>
                      <a:endParaRPr lang="en-US" dirty="0"/>
                    </a:p>
                  </a:txBody>
                  <a:tcPr/>
                </a:tc>
                <a:tc>
                  <a:txBody>
                    <a:bodyPr/>
                    <a:lstStyle/>
                    <a:p>
                      <a:r>
                        <a:rPr lang="en-US" dirty="0"/>
                        <a:t>Required knowledge outside of the document.</a:t>
                      </a:r>
                    </a:p>
                  </a:txBody>
                  <a:tcPr/>
                </a:tc>
                <a:extLst>
                  <a:ext uri="{0D108BD9-81ED-4DB2-BD59-A6C34878D82A}">
                    <a16:rowId xmlns:a16="http://schemas.microsoft.com/office/drawing/2014/main" val="1783492774"/>
                  </a:ext>
                </a:extLst>
              </a:tr>
            </a:tbl>
          </a:graphicData>
        </a:graphic>
      </p:graphicFrame>
    </p:spTree>
    <p:extLst>
      <p:ext uri="{BB962C8B-B14F-4D97-AF65-F5344CB8AC3E}">
        <p14:creationId xmlns:p14="http://schemas.microsoft.com/office/powerpoint/2010/main" val="3690137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B5CDD26B-59E1-3898-F565-6FA7C2E20A29}"/>
              </a:ext>
            </a:extLst>
          </p:cNvPr>
          <p:cNvSpPr txBox="1"/>
          <p:nvPr/>
        </p:nvSpPr>
        <p:spPr>
          <a:xfrm>
            <a:off x="6685364" y="0"/>
            <a:ext cx="5506636" cy="307777"/>
          </a:xfrm>
          <a:prstGeom prst="rect">
            <a:avLst/>
          </a:prstGeom>
          <a:noFill/>
        </p:spPr>
        <p:txBody>
          <a:bodyPr wrap="none" rtlCol="0">
            <a:spAutoFit/>
          </a:bodyPr>
          <a:lstStyle/>
          <a:p>
            <a:pPr algn="r"/>
            <a:r>
              <a:rPr lang="en-US" dirty="0"/>
              <a:t>Introduction   Foundation</a:t>
            </a:r>
            <a:r>
              <a:rPr lang="en-US" b="1" dirty="0"/>
              <a:t> </a:t>
            </a:r>
            <a:r>
              <a:rPr lang="en-US" dirty="0"/>
              <a:t>  </a:t>
            </a:r>
            <a:r>
              <a:rPr lang="en-US" b="1" dirty="0"/>
              <a:t>Key Findings   </a:t>
            </a:r>
            <a:r>
              <a:rPr lang="en-US" dirty="0"/>
              <a:t>Discussion   Conclusion</a:t>
            </a:r>
          </a:p>
        </p:txBody>
      </p:sp>
      <p:pic>
        <p:nvPicPr>
          <p:cNvPr id="3" name="Picture 2">
            <a:extLst>
              <a:ext uri="{FF2B5EF4-FFF2-40B4-BE49-F238E27FC236}">
                <a16:creationId xmlns:a16="http://schemas.microsoft.com/office/drawing/2014/main" id="{6B0FF1BC-8325-ADBD-F068-C93EC493D134}"/>
              </a:ext>
            </a:extLst>
          </p:cNvPr>
          <p:cNvPicPr>
            <a:picLocks noChangeAspect="1"/>
          </p:cNvPicPr>
          <p:nvPr/>
        </p:nvPicPr>
        <p:blipFill>
          <a:blip r:embed="rId3"/>
          <a:srcRect l="23842"/>
          <a:stretch>
            <a:fillRect/>
          </a:stretch>
        </p:blipFill>
        <p:spPr>
          <a:xfrm>
            <a:off x="5102352" y="755523"/>
            <a:ext cx="6992874" cy="4743450"/>
          </a:xfrm>
          <a:prstGeom prst="rect">
            <a:avLst/>
          </a:prstGeom>
        </p:spPr>
      </p:pic>
      <p:sp>
        <p:nvSpPr>
          <p:cNvPr id="4" name="TextBox 3">
            <a:extLst>
              <a:ext uri="{FF2B5EF4-FFF2-40B4-BE49-F238E27FC236}">
                <a16:creationId xmlns:a16="http://schemas.microsoft.com/office/drawing/2014/main" id="{E288F2AF-D9C6-CC4D-77AD-B8DF28368F55}"/>
              </a:ext>
            </a:extLst>
          </p:cNvPr>
          <p:cNvSpPr txBox="1"/>
          <p:nvPr/>
        </p:nvSpPr>
        <p:spPr>
          <a:xfrm>
            <a:off x="658368" y="1528655"/>
            <a:ext cx="3813048" cy="3754874"/>
          </a:xfrm>
          <a:prstGeom prst="rect">
            <a:avLst/>
          </a:prstGeom>
          <a:noFill/>
        </p:spPr>
        <p:txBody>
          <a:bodyPr wrap="square" rtlCol="0">
            <a:spAutoFit/>
          </a:bodyPr>
          <a:lstStyle/>
          <a:p>
            <a:r>
              <a:rPr lang="en-US" dirty="0"/>
              <a:t>This graph, generated from the PA Township corpus, was queried for undefined terms. This is the </a:t>
            </a:r>
            <a:r>
              <a:rPr lang="en-US" i="1" dirty="0"/>
              <a:t>exact same principle</a:t>
            </a:r>
            <a:r>
              <a:rPr lang="en-US" dirty="0"/>
              <a:t> that would have found the Octreotide conflict.</a:t>
            </a:r>
          </a:p>
          <a:p>
            <a:endParaRPr lang="en-US" dirty="0"/>
          </a:p>
          <a:p>
            <a:r>
              <a:rPr lang="en-US" b="1" dirty="0"/>
              <a:t>Query:</a:t>
            </a:r>
          </a:p>
          <a:p>
            <a:r>
              <a:rPr lang="en-US" dirty="0">
                <a:latin typeface="Courier New" panose="02070309020205020404" pitchFamily="49" charset="0"/>
                <a:cs typeface="Courier New" panose="02070309020205020404" pitchFamily="49" charset="0"/>
              </a:rPr>
              <a:t>MATCH (a)-[:USED_IN]-&gt;(b)WHERE NOT EXISTS (()-[:DEFINES]-&gt;;(b))RETURN a.id AS </a:t>
            </a:r>
            <a:r>
              <a:rPr lang="en-US" dirty="0" err="1">
                <a:latin typeface="Courier New" panose="02070309020205020404" pitchFamily="49" charset="0"/>
                <a:cs typeface="Courier New" panose="02070309020205020404" pitchFamily="49" charset="0"/>
              </a:rPr>
              <a:t>sourceNode</a:t>
            </a:r>
            <a:r>
              <a:rPr lang="en-US" dirty="0">
                <a:latin typeface="Courier New" panose="02070309020205020404" pitchFamily="49" charset="0"/>
                <a:cs typeface="Courier New" panose="02070309020205020404" pitchFamily="49" charset="0"/>
              </a:rPr>
              <a:t>, b.id AS </a:t>
            </a:r>
            <a:r>
              <a:rPr lang="en-US" dirty="0" err="1">
                <a:latin typeface="Courier New" panose="02070309020205020404" pitchFamily="49" charset="0"/>
                <a:cs typeface="Courier New" panose="02070309020205020404" pitchFamily="49" charset="0"/>
              </a:rPr>
              <a:t>targetNode</a:t>
            </a:r>
            <a:r>
              <a:rPr lang="en-US" dirty="0">
                <a:latin typeface="Courier New" panose="02070309020205020404" pitchFamily="49" charset="0"/>
                <a:cs typeface="Courier New" panose="02070309020205020404" pitchFamily="49" charset="0"/>
              </a:rPr>
              <a:t>,'Undefined Term Used’ AS </a:t>
            </a:r>
            <a:r>
              <a:rPr lang="en-US" dirty="0" err="1">
                <a:latin typeface="Courier New" panose="02070309020205020404" pitchFamily="49" charset="0"/>
                <a:cs typeface="Courier New" panose="02070309020205020404" pitchFamily="49" charset="0"/>
              </a:rPr>
              <a:t>incompletenessType</a:t>
            </a:r>
            <a:endParaRPr lang="en-US" dirty="0">
              <a:latin typeface="Courier New" panose="02070309020205020404" pitchFamily="49" charset="0"/>
              <a:cs typeface="Courier New" panose="02070309020205020404" pitchFamily="49" charset="0"/>
            </a:endParaRPr>
          </a:p>
          <a:p>
            <a:endParaRPr lang="en-US" dirty="0"/>
          </a:p>
          <a:p>
            <a:r>
              <a:rPr lang="en-US" b="1" dirty="0"/>
              <a:t>Result: </a:t>
            </a:r>
          </a:p>
          <a:p>
            <a:r>
              <a:rPr lang="en-US" dirty="0"/>
              <a:t>Found "Portable Flow Meter" used as a node, but missing a definition. This was manually verified. This directly answers RQ3: Yes, the KG can be used to check for completeness.</a:t>
            </a:r>
          </a:p>
        </p:txBody>
      </p:sp>
      <p:sp>
        <p:nvSpPr>
          <p:cNvPr id="2" name="Title 5">
            <a:extLst>
              <a:ext uri="{FF2B5EF4-FFF2-40B4-BE49-F238E27FC236}">
                <a16:creationId xmlns:a16="http://schemas.microsoft.com/office/drawing/2014/main" id="{8CFF1B84-3785-5FF1-7380-6F5B3FB41BCC}"/>
              </a:ext>
            </a:extLst>
          </p:cNvPr>
          <p:cNvSpPr txBox="1">
            <a:spLocks/>
          </p:cNvSpPr>
          <p:nvPr/>
        </p:nvSpPr>
        <p:spPr>
          <a:xfrm>
            <a:off x="854337" y="715617"/>
            <a:ext cx="10483326" cy="975070"/>
          </a:xfrm>
          <a:prstGeom prst="rect">
            <a:avLst/>
          </a:prstGeom>
        </p:spPr>
        <p:txBody>
          <a:bodyPr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b="1" dirty="0"/>
              <a:t>Inconsistency</a:t>
            </a:r>
          </a:p>
        </p:txBody>
      </p:sp>
    </p:spTree>
    <p:extLst>
      <p:ext uri="{BB962C8B-B14F-4D97-AF65-F5344CB8AC3E}">
        <p14:creationId xmlns:p14="http://schemas.microsoft.com/office/powerpoint/2010/main" val="908996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92517-6372-34EB-9EB5-CBC1EDB3A786}"/>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49B7031E-A6EE-56B1-EC5F-4ED985B45464}"/>
              </a:ext>
            </a:extLst>
          </p:cNvPr>
          <p:cNvSpPr>
            <a:spLocks noGrp="1"/>
          </p:cNvSpPr>
          <p:nvPr>
            <p:ph type="body" idx="1"/>
          </p:nvPr>
        </p:nvSpPr>
        <p:spPr>
          <a:xfrm>
            <a:off x="838200" y="1825625"/>
            <a:ext cx="6038088" cy="3474508"/>
          </a:xfrm>
        </p:spPr>
        <p:txBody>
          <a:bodyPr>
            <a:normAutofit fontScale="92500" lnSpcReduction="10000"/>
          </a:bodyPr>
          <a:lstStyle/>
          <a:p>
            <a:pPr marL="228600" indent="0"/>
            <a:r>
              <a:rPr lang="en-US" dirty="0"/>
              <a:t>Recall the 100,000-page NDA with the fatal contradiction.</a:t>
            </a:r>
          </a:p>
          <a:p>
            <a:pPr marL="228600" indent="0"/>
            <a:endParaRPr lang="en-US" dirty="0"/>
          </a:p>
          <a:p>
            <a:pPr marL="228600" indent="0"/>
            <a:endParaRPr lang="en-US" dirty="0"/>
          </a:p>
          <a:p>
            <a:pPr marL="228600" indent="0"/>
            <a:r>
              <a:rPr lang="en-US" dirty="0"/>
              <a:t>Mnemosyne's process for semantic enrichment (RQ2) and consistency checking (RQ3) would have automatically flagged this conflict, proving the value of this approach.</a:t>
            </a:r>
          </a:p>
        </p:txBody>
      </p:sp>
      <p:sp>
        <p:nvSpPr>
          <p:cNvPr id="6" name="Title 5">
            <a:extLst>
              <a:ext uri="{FF2B5EF4-FFF2-40B4-BE49-F238E27FC236}">
                <a16:creationId xmlns:a16="http://schemas.microsoft.com/office/drawing/2014/main" id="{8F43D8C0-2AEA-4F1F-4426-90D20F6B5668}"/>
              </a:ext>
            </a:extLst>
          </p:cNvPr>
          <p:cNvSpPr>
            <a:spLocks noGrp="1"/>
          </p:cNvSpPr>
          <p:nvPr>
            <p:ph type="title"/>
          </p:nvPr>
        </p:nvSpPr>
        <p:spPr>
          <a:xfrm>
            <a:off x="854337" y="715617"/>
            <a:ext cx="6181267" cy="975070"/>
          </a:xfrm>
        </p:spPr>
        <p:txBody>
          <a:bodyPr>
            <a:normAutofit fontScale="90000"/>
          </a:bodyPr>
          <a:lstStyle/>
          <a:p>
            <a:r>
              <a:rPr lang="en-US" dirty="0"/>
              <a:t>Revisiting the NDA Problem</a:t>
            </a:r>
          </a:p>
        </p:txBody>
      </p:sp>
      <p:sp>
        <p:nvSpPr>
          <p:cNvPr id="2" name="TextBox 1">
            <a:extLst>
              <a:ext uri="{FF2B5EF4-FFF2-40B4-BE49-F238E27FC236}">
                <a16:creationId xmlns:a16="http://schemas.microsoft.com/office/drawing/2014/main" id="{BAE9A87E-E294-15DE-DB60-E99F3B06A2E7}"/>
              </a:ext>
            </a:extLst>
          </p:cNvPr>
          <p:cNvSpPr txBox="1"/>
          <p:nvPr/>
        </p:nvSpPr>
        <p:spPr>
          <a:xfrm>
            <a:off x="6629259" y="0"/>
            <a:ext cx="5562741" cy="307777"/>
          </a:xfrm>
          <a:prstGeom prst="rect">
            <a:avLst/>
          </a:prstGeom>
          <a:noFill/>
        </p:spPr>
        <p:txBody>
          <a:bodyPr wrap="none" rtlCol="0">
            <a:spAutoFit/>
          </a:bodyPr>
          <a:lstStyle/>
          <a:p>
            <a:pPr algn="r"/>
            <a:r>
              <a:rPr lang="en-US" dirty="0"/>
              <a:t>Introduction   Foundation   Key Findings   Discussion   </a:t>
            </a:r>
            <a:r>
              <a:rPr lang="en-US" b="1" dirty="0"/>
              <a:t>Conclusion</a:t>
            </a:r>
          </a:p>
        </p:txBody>
      </p:sp>
      <p:sp>
        <p:nvSpPr>
          <p:cNvPr id="8" name="Oval 7">
            <a:extLst>
              <a:ext uri="{FF2B5EF4-FFF2-40B4-BE49-F238E27FC236}">
                <a16:creationId xmlns:a16="http://schemas.microsoft.com/office/drawing/2014/main" id="{87EF2E89-5119-BD47-0945-AFF86451212E}"/>
              </a:ext>
            </a:extLst>
          </p:cNvPr>
          <p:cNvSpPr/>
          <p:nvPr/>
        </p:nvSpPr>
        <p:spPr>
          <a:xfrm>
            <a:off x="9251507" y="3032527"/>
            <a:ext cx="2755390" cy="10607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Drug</a:t>
            </a:r>
          </a:p>
          <a:p>
            <a:pPr algn="ctr"/>
            <a:r>
              <a:rPr lang="en-US" dirty="0" err="1"/>
              <a:t>creationStage</a:t>
            </a:r>
            <a:r>
              <a:rPr lang="en-US" dirty="0"/>
              <a:t>: source</a:t>
            </a:r>
          </a:p>
          <a:p>
            <a:pPr algn="ctr"/>
            <a:r>
              <a:rPr lang="en-US" dirty="0"/>
              <a:t>type: Drug</a:t>
            </a:r>
          </a:p>
        </p:txBody>
      </p:sp>
      <p:sp>
        <p:nvSpPr>
          <p:cNvPr id="9" name="Arrow: Down 8">
            <a:extLst>
              <a:ext uri="{FF2B5EF4-FFF2-40B4-BE49-F238E27FC236}">
                <a16:creationId xmlns:a16="http://schemas.microsoft.com/office/drawing/2014/main" id="{46A7EC2F-23F9-4748-CE83-1D35DBE506D6}"/>
              </a:ext>
            </a:extLst>
          </p:cNvPr>
          <p:cNvSpPr/>
          <p:nvPr/>
        </p:nvSpPr>
        <p:spPr>
          <a:xfrm rot="3092898">
            <a:off x="9985537" y="4075267"/>
            <a:ext cx="664464" cy="7631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828B4217-029B-DF6E-9C05-CC4F6F8304D6}"/>
              </a:ext>
            </a:extLst>
          </p:cNvPr>
          <p:cNvSpPr/>
          <p:nvPr/>
        </p:nvSpPr>
        <p:spPr>
          <a:xfrm rot="7787835">
            <a:off x="10217581" y="2014640"/>
            <a:ext cx="664464" cy="97507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0B13A44-3441-D895-29B6-61946A94C803}"/>
              </a:ext>
            </a:extLst>
          </p:cNvPr>
          <p:cNvSpPr txBox="1"/>
          <p:nvPr/>
        </p:nvSpPr>
        <p:spPr>
          <a:xfrm>
            <a:off x="10848709" y="1663436"/>
            <a:ext cx="1043241" cy="954107"/>
          </a:xfrm>
          <a:prstGeom prst="rect">
            <a:avLst/>
          </a:prstGeom>
          <a:noFill/>
        </p:spPr>
        <p:txBody>
          <a:bodyPr wrap="square" rtlCol="0">
            <a:spAutoFit/>
          </a:bodyPr>
          <a:lstStyle/>
          <a:p>
            <a:r>
              <a:rPr lang="en-US" dirty="0"/>
              <a:t>Has no side effects with</a:t>
            </a:r>
          </a:p>
        </p:txBody>
      </p:sp>
      <p:sp>
        <p:nvSpPr>
          <p:cNvPr id="12" name="TextBox 11">
            <a:extLst>
              <a:ext uri="{FF2B5EF4-FFF2-40B4-BE49-F238E27FC236}">
                <a16:creationId xmlns:a16="http://schemas.microsoft.com/office/drawing/2014/main" id="{8EB65CCF-FF58-934A-D4BD-4EC00A1754B1}"/>
              </a:ext>
            </a:extLst>
          </p:cNvPr>
          <p:cNvSpPr txBox="1"/>
          <p:nvPr/>
        </p:nvSpPr>
        <p:spPr>
          <a:xfrm>
            <a:off x="10615425" y="4508215"/>
            <a:ext cx="1043241" cy="738664"/>
          </a:xfrm>
          <a:prstGeom prst="rect">
            <a:avLst/>
          </a:prstGeom>
          <a:noFill/>
        </p:spPr>
        <p:txBody>
          <a:bodyPr wrap="square" rtlCol="0">
            <a:spAutoFit/>
          </a:bodyPr>
          <a:lstStyle/>
          <a:p>
            <a:r>
              <a:rPr lang="en-US" dirty="0"/>
              <a:t>Risk of death if taken with</a:t>
            </a:r>
          </a:p>
        </p:txBody>
      </p:sp>
      <p:sp>
        <p:nvSpPr>
          <p:cNvPr id="13" name="Oval 12">
            <a:extLst>
              <a:ext uri="{FF2B5EF4-FFF2-40B4-BE49-F238E27FC236}">
                <a16:creationId xmlns:a16="http://schemas.microsoft.com/office/drawing/2014/main" id="{46C6F919-4510-47CB-1E0B-E457010F3554}"/>
              </a:ext>
            </a:extLst>
          </p:cNvPr>
          <p:cNvSpPr/>
          <p:nvPr/>
        </p:nvSpPr>
        <p:spPr>
          <a:xfrm>
            <a:off x="7035604" y="4229121"/>
            <a:ext cx="2926630" cy="10607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Octreotide</a:t>
            </a:r>
          </a:p>
          <a:p>
            <a:pPr algn="ctr"/>
            <a:r>
              <a:rPr lang="en-US" dirty="0" err="1"/>
              <a:t>creationStage</a:t>
            </a:r>
            <a:r>
              <a:rPr lang="en-US" dirty="0"/>
              <a:t>: source</a:t>
            </a:r>
            <a:br>
              <a:rPr lang="en-US" dirty="0"/>
            </a:br>
            <a:r>
              <a:rPr lang="en-US" dirty="0"/>
              <a:t>type: Drug</a:t>
            </a:r>
          </a:p>
          <a:p>
            <a:pPr algn="ctr"/>
            <a:r>
              <a:rPr lang="en-US" dirty="0"/>
              <a:t>Source: page 727</a:t>
            </a:r>
          </a:p>
        </p:txBody>
      </p:sp>
      <p:sp>
        <p:nvSpPr>
          <p:cNvPr id="14" name="Oval 13">
            <a:extLst>
              <a:ext uri="{FF2B5EF4-FFF2-40B4-BE49-F238E27FC236}">
                <a16:creationId xmlns:a16="http://schemas.microsoft.com/office/drawing/2014/main" id="{98DADF24-0D00-9669-4304-153840F567BD}"/>
              </a:ext>
            </a:extLst>
          </p:cNvPr>
          <p:cNvSpPr/>
          <p:nvPr/>
        </p:nvSpPr>
        <p:spPr>
          <a:xfrm>
            <a:off x="7035604" y="920770"/>
            <a:ext cx="2926630" cy="10607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Somatostatin Analog</a:t>
            </a:r>
          </a:p>
          <a:p>
            <a:pPr algn="ctr"/>
            <a:r>
              <a:rPr lang="en-US" dirty="0" err="1"/>
              <a:t>creationStage</a:t>
            </a:r>
            <a:r>
              <a:rPr lang="en-US" dirty="0"/>
              <a:t>: source</a:t>
            </a:r>
          </a:p>
        </p:txBody>
      </p:sp>
      <p:sp>
        <p:nvSpPr>
          <p:cNvPr id="15" name="Arrow: Down 14">
            <a:extLst>
              <a:ext uri="{FF2B5EF4-FFF2-40B4-BE49-F238E27FC236}">
                <a16:creationId xmlns:a16="http://schemas.microsoft.com/office/drawing/2014/main" id="{9E7336C1-9AD5-9A65-57F0-695E07B3764D}"/>
              </a:ext>
            </a:extLst>
          </p:cNvPr>
          <p:cNvSpPr/>
          <p:nvPr/>
        </p:nvSpPr>
        <p:spPr>
          <a:xfrm rot="10800000">
            <a:off x="7975480" y="2098527"/>
            <a:ext cx="1276027" cy="20391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t>IS_A</a:t>
            </a:r>
            <a:br>
              <a:rPr lang="en-US" dirty="0"/>
            </a:br>
            <a:r>
              <a:rPr lang="en-US" dirty="0" err="1"/>
              <a:t>creationStage</a:t>
            </a:r>
            <a:r>
              <a:rPr lang="en-US" dirty="0"/>
              <a:t>: consolidation</a:t>
            </a:r>
          </a:p>
        </p:txBody>
      </p:sp>
    </p:spTree>
    <p:extLst>
      <p:ext uri="{BB962C8B-B14F-4D97-AF65-F5344CB8AC3E}">
        <p14:creationId xmlns:p14="http://schemas.microsoft.com/office/powerpoint/2010/main" val="474474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4E66-1F3B-146E-5F10-E24B49EE786A}"/>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7F9F81D5-4FF9-2AFD-8AE2-F999B4772F9B}"/>
              </a:ext>
            </a:extLst>
          </p:cNvPr>
          <p:cNvSpPr>
            <a:spLocks noGrp="1"/>
          </p:cNvSpPr>
          <p:nvPr>
            <p:ph type="body" idx="1"/>
          </p:nvPr>
        </p:nvSpPr>
        <p:spPr/>
        <p:txBody>
          <a:bodyPr>
            <a:normAutofit fontScale="62500" lnSpcReduction="20000"/>
          </a:bodyPr>
          <a:lstStyle/>
          <a:p>
            <a:pPr marL="228600" indent="0">
              <a:spcBef>
                <a:spcPts val="600"/>
              </a:spcBef>
              <a:spcAft>
                <a:spcPts val="600"/>
              </a:spcAft>
            </a:pPr>
            <a:r>
              <a:rPr lang="en-US" dirty="0"/>
              <a:t>The raw knowledge graph from a source text is of limited use</a:t>
            </a:r>
          </a:p>
          <a:p>
            <a:pPr marL="228600" indent="0">
              <a:spcBef>
                <a:spcPts val="600"/>
              </a:spcBef>
              <a:spcAft>
                <a:spcPts val="600"/>
              </a:spcAft>
            </a:pPr>
            <a:r>
              <a:rPr lang="en-US" dirty="0"/>
              <a:t>Semantically enriching it provides deeper understanding</a:t>
            </a:r>
          </a:p>
          <a:p>
            <a:pPr marL="228600" indent="0">
              <a:spcBef>
                <a:spcPts val="600"/>
              </a:spcBef>
              <a:spcAft>
                <a:spcPts val="600"/>
              </a:spcAft>
            </a:pPr>
            <a:r>
              <a:rPr lang="en-US" dirty="0"/>
              <a:t>For example, knowing that a set of nodes are all of type Law</a:t>
            </a:r>
          </a:p>
          <a:p>
            <a:pPr marL="685800" indent="-457200">
              <a:spcBef>
                <a:spcPts val="600"/>
              </a:spcBef>
              <a:spcAft>
                <a:spcPts val="600"/>
              </a:spcAft>
              <a:buFont typeface="Arial" panose="020B0604020202020204" pitchFamily="34" charset="0"/>
              <a:buChar char="•"/>
            </a:pPr>
            <a:r>
              <a:rPr lang="en-US" dirty="0"/>
              <a:t>Creates a locality of reference </a:t>
            </a:r>
            <a:r>
              <a:rPr lang="en-US" dirty="0">
                <a:sym typeface="Wingdings" panose="05000000000000000000" pitchFamily="2" charset="2"/>
              </a:rPr>
              <a:t> </a:t>
            </a:r>
            <a:r>
              <a:rPr lang="en-US" dirty="0"/>
              <a:t>The ability to focus</a:t>
            </a:r>
          </a:p>
          <a:p>
            <a:pPr marL="685800" indent="-457200">
              <a:spcBef>
                <a:spcPts val="600"/>
              </a:spcBef>
              <a:spcAft>
                <a:spcPts val="600"/>
              </a:spcAft>
              <a:buFont typeface="Arial" panose="020B0604020202020204" pitchFamily="34" charset="0"/>
              <a:buChar char="•"/>
            </a:pPr>
            <a:r>
              <a:rPr lang="en-US" dirty="0"/>
              <a:t>Allows looking for missing attributes or relationships </a:t>
            </a:r>
            <a:r>
              <a:rPr lang="en-US" dirty="0">
                <a:sym typeface="Wingdings" panose="05000000000000000000" pitchFamily="2" charset="2"/>
              </a:rPr>
              <a:t></a:t>
            </a:r>
            <a:r>
              <a:rPr lang="en-US" dirty="0"/>
              <a:t> Does the DRAFTED_BY relationship appear on all laws?</a:t>
            </a:r>
          </a:p>
          <a:p>
            <a:pPr marL="228600" indent="0">
              <a:spcBef>
                <a:spcPts val="600"/>
              </a:spcBef>
              <a:spcAft>
                <a:spcPts val="600"/>
              </a:spcAft>
            </a:pPr>
            <a:r>
              <a:rPr lang="en-US" dirty="0"/>
              <a:t>Consistency could be determined within the Knowledge Graph</a:t>
            </a:r>
          </a:p>
          <a:p>
            <a:pPr marL="228600" indent="0">
              <a:spcBef>
                <a:spcPts val="600"/>
              </a:spcBef>
              <a:spcAft>
                <a:spcPts val="600"/>
              </a:spcAft>
            </a:pPr>
            <a:r>
              <a:rPr lang="en-US" dirty="0"/>
              <a:t>Some completeness checks require external information to detect</a:t>
            </a:r>
          </a:p>
          <a:p>
            <a:pPr marL="685800" indent="-457200">
              <a:spcBef>
                <a:spcPts val="600"/>
              </a:spcBef>
              <a:spcAft>
                <a:spcPts val="600"/>
              </a:spcAft>
              <a:buFont typeface="Arial" panose="020B0604020202020204" pitchFamily="34" charset="0"/>
              <a:buChar char="•"/>
            </a:pPr>
            <a:r>
              <a:rPr lang="en-US" dirty="0"/>
              <a:t>A topic that is not referenced within the document is missing</a:t>
            </a:r>
          </a:p>
          <a:p>
            <a:pPr marL="685800" indent="-457200">
              <a:spcBef>
                <a:spcPts val="600"/>
              </a:spcBef>
              <a:spcAft>
                <a:spcPts val="600"/>
              </a:spcAft>
              <a:buFont typeface="Arial" panose="020B0604020202020204" pitchFamily="34" charset="0"/>
              <a:buChar char="•"/>
            </a:pPr>
            <a:r>
              <a:rPr lang="en-US" dirty="0"/>
              <a:t>A common topic within the domain but not general knowledge</a:t>
            </a:r>
          </a:p>
          <a:p>
            <a:pPr marL="228600" indent="0"/>
            <a:endParaRPr lang="en-US" dirty="0"/>
          </a:p>
        </p:txBody>
      </p:sp>
      <p:sp>
        <p:nvSpPr>
          <p:cNvPr id="6" name="Title 5">
            <a:extLst>
              <a:ext uri="{FF2B5EF4-FFF2-40B4-BE49-F238E27FC236}">
                <a16:creationId xmlns:a16="http://schemas.microsoft.com/office/drawing/2014/main" id="{E5475539-CBD1-CFAF-8C0E-8DFBC642AD4E}"/>
              </a:ext>
            </a:extLst>
          </p:cNvPr>
          <p:cNvSpPr>
            <a:spLocks noGrp="1"/>
          </p:cNvSpPr>
          <p:nvPr>
            <p:ph type="title"/>
          </p:nvPr>
        </p:nvSpPr>
        <p:spPr/>
        <p:txBody>
          <a:bodyPr/>
          <a:lstStyle/>
          <a:p>
            <a:r>
              <a:rPr lang="en-US" dirty="0"/>
              <a:t>Key Findings Summary</a:t>
            </a:r>
          </a:p>
        </p:txBody>
      </p:sp>
      <p:sp>
        <p:nvSpPr>
          <p:cNvPr id="2" name="TextBox 1">
            <a:extLst>
              <a:ext uri="{FF2B5EF4-FFF2-40B4-BE49-F238E27FC236}">
                <a16:creationId xmlns:a16="http://schemas.microsoft.com/office/drawing/2014/main" id="{A34ED683-588A-04F7-1BEE-EBFDA9C60FD7}"/>
              </a:ext>
            </a:extLst>
          </p:cNvPr>
          <p:cNvSpPr txBox="1"/>
          <p:nvPr/>
        </p:nvSpPr>
        <p:spPr>
          <a:xfrm>
            <a:off x="6685364" y="0"/>
            <a:ext cx="5506636" cy="307777"/>
          </a:xfrm>
          <a:prstGeom prst="rect">
            <a:avLst/>
          </a:prstGeom>
          <a:noFill/>
        </p:spPr>
        <p:txBody>
          <a:bodyPr wrap="none" rtlCol="0">
            <a:spAutoFit/>
          </a:bodyPr>
          <a:lstStyle/>
          <a:p>
            <a:pPr algn="r"/>
            <a:r>
              <a:rPr lang="en-US" dirty="0"/>
              <a:t>Introduction   Foundation</a:t>
            </a:r>
            <a:r>
              <a:rPr lang="en-US" b="1" dirty="0"/>
              <a:t> </a:t>
            </a:r>
            <a:r>
              <a:rPr lang="en-US" dirty="0"/>
              <a:t>  </a:t>
            </a:r>
            <a:r>
              <a:rPr lang="en-US" b="1" dirty="0"/>
              <a:t>Key Findings   </a:t>
            </a:r>
            <a:r>
              <a:rPr lang="en-US" dirty="0"/>
              <a:t>Discussion   Conclusion</a:t>
            </a:r>
          </a:p>
        </p:txBody>
      </p:sp>
    </p:spTree>
    <p:extLst>
      <p:ext uri="{BB962C8B-B14F-4D97-AF65-F5344CB8AC3E}">
        <p14:creationId xmlns:p14="http://schemas.microsoft.com/office/powerpoint/2010/main" val="265187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C0C7D-4DB7-1162-A403-9FC925DB426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7282EE5E-0207-BA6D-F74A-86D29B06E863}"/>
              </a:ext>
            </a:extLst>
          </p:cNvPr>
          <p:cNvSpPr>
            <a:spLocks noGrp="1"/>
          </p:cNvSpPr>
          <p:nvPr>
            <p:ph type="body" idx="1"/>
          </p:nvPr>
        </p:nvSpPr>
        <p:spPr/>
        <p:txBody>
          <a:bodyPr>
            <a:normAutofit/>
          </a:bodyPr>
          <a:lstStyle/>
          <a:p>
            <a:pPr marL="228600" indent="0"/>
            <a:r>
              <a:rPr lang="en-US" dirty="0"/>
              <a:t>This research has shown</a:t>
            </a:r>
          </a:p>
          <a:p>
            <a:pPr marL="1028700" lvl="1" indent="-342900"/>
            <a:r>
              <a:rPr lang="en-US" dirty="0"/>
              <a:t>The context window is not an absolute limit</a:t>
            </a:r>
          </a:p>
          <a:p>
            <a:pPr marL="1028700" lvl="1" indent="-342900"/>
            <a:r>
              <a:rPr lang="en-US" dirty="0"/>
              <a:t>Focus is just as important as attention</a:t>
            </a:r>
          </a:p>
          <a:p>
            <a:pPr marL="1028700" lvl="1" indent="-342900"/>
            <a:r>
              <a:rPr lang="en-US" dirty="0"/>
              <a:t>An attributed knowledge graph has explainable knowledge</a:t>
            </a:r>
          </a:p>
          <a:p>
            <a:pPr marL="1028700" lvl="1" indent="-342900"/>
            <a:r>
              <a:rPr lang="en-US" dirty="0"/>
              <a:t>An attributed knowledge graph can be incrementally added to</a:t>
            </a:r>
          </a:p>
          <a:p>
            <a:pPr marL="1028700" lvl="1" indent="-342900"/>
            <a:r>
              <a:rPr lang="en-US" dirty="0"/>
              <a:t>Refining an attributed knowledge graph can make it more useful</a:t>
            </a:r>
          </a:p>
          <a:p>
            <a:pPr marL="228600" indent="0"/>
            <a:endParaRPr lang="en-US" dirty="0"/>
          </a:p>
        </p:txBody>
      </p:sp>
      <p:sp>
        <p:nvSpPr>
          <p:cNvPr id="6" name="Title 5">
            <a:extLst>
              <a:ext uri="{FF2B5EF4-FFF2-40B4-BE49-F238E27FC236}">
                <a16:creationId xmlns:a16="http://schemas.microsoft.com/office/drawing/2014/main" id="{27CBFF49-D43D-F806-D8BA-0872E299DDE4}"/>
              </a:ext>
            </a:extLst>
          </p:cNvPr>
          <p:cNvSpPr>
            <a:spLocks noGrp="1"/>
          </p:cNvSpPr>
          <p:nvPr>
            <p:ph type="title"/>
          </p:nvPr>
        </p:nvSpPr>
        <p:spPr/>
        <p:txBody>
          <a:bodyPr/>
          <a:lstStyle/>
          <a:p>
            <a:r>
              <a:rPr lang="en-US" dirty="0"/>
              <a:t>Significance</a:t>
            </a:r>
          </a:p>
        </p:txBody>
      </p:sp>
      <p:sp>
        <p:nvSpPr>
          <p:cNvPr id="2" name="TextBox 1">
            <a:extLst>
              <a:ext uri="{FF2B5EF4-FFF2-40B4-BE49-F238E27FC236}">
                <a16:creationId xmlns:a16="http://schemas.microsoft.com/office/drawing/2014/main" id="{0C50ED24-3378-9E3F-0693-B0BE9676030C}"/>
              </a:ext>
            </a:extLst>
          </p:cNvPr>
          <p:cNvSpPr txBox="1"/>
          <p:nvPr/>
        </p:nvSpPr>
        <p:spPr>
          <a:xfrm>
            <a:off x="6629259" y="0"/>
            <a:ext cx="5562741" cy="307777"/>
          </a:xfrm>
          <a:prstGeom prst="rect">
            <a:avLst/>
          </a:prstGeom>
          <a:noFill/>
        </p:spPr>
        <p:txBody>
          <a:bodyPr wrap="none" rtlCol="0">
            <a:spAutoFit/>
          </a:bodyPr>
          <a:lstStyle/>
          <a:p>
            <a:pPr algn="r"/>
            <a:r>
              <a:rPr lang="en-US" dirty="0"/>
              <a:t>Introduction   Foundation   Key Findings   </a:t>
            </a:r>
            <a:r>
              <a:rPr lang="en-US" b="1" dirty="0"/>
              <a:t>Discussion</a:t>
            </a:r>
            <a:r>
              <a:rPr lang="en-US" dirty="0"/>
              <a:t>   Conclusion</a:t>
            </a:r>
          </a:p>
        </p:txBody>
      </p:sp>
    </p:spTree>
    <p:extLst>
      <p:ext uri="{BB962C8B-B14F-4D97-AF65-F5344CB8AC3E}">
        <p14:creationId xmlns:p14="http://schemas.microsoft.com/office/powerpoint/2010/main" val="3302658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7DE11-52DF-68C4-DB75-22EA5FCB7C0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30294863-B439-34B9-D964-20755CA5F5D1}"/>
              </a:ext>
            </a:extLst>
          </p:cNvPr>
          <p:cNvSpPr>
            <a:spLocks noGrp="1"/>
          </p:cNvSpPr>
          <p:nvPr>
            <p:ph type="body" idx="1"/>
          </p:nvPr>
        </p:nvSpPr>
        <p:spPr/>
        <p:txBody>
          <a:bodyPr>
            <a:normAutofit/>
          </a:bodyPr>
          <a:lstStyle/>
          <a:p>
            <a:pPr marL="228600" indent="0"/>
            <a:r>
              <a:rPr lang="en-US" dirty="0"/>
              <a:t>This research offers a scalable path forward for analyzing large-scale documents.</a:t>
            </a:r>
          </a:p>
          <a:p>
            <a:pPr marL="228600" indent="0"/>
            <a:r>
              <a:rPr lang="en-US" dirty="0"/>
              <a:t>Anyone who works with large documents can use an LLM to ensure that their work is complete and consistent</a:t>
            </a:r>
          </a:p>
        </p:txBody>
      </p:sp>
      <p:sp>
        <p:nvSpPr>
          <p:cNvPr id="6" name="Title 5">
            <a:extLst>
              <a:ext uri="{FF2B5EF4-FFF2-40B4-BE49-F238E27FC236}">
                <a16:creationId xmlns:a16="http://schemas.microsoft.com/office/drawing/2014/main" id="{708F2687-8A3D-BF29-074F-75AB809AB1AA}"/>
              </a:ext>
            </a:extLst>
          </p:cNvPr>
          <p:cNvSpPr>
            <a:spLocks noGrp="1"/>
          </p:cNvSpPr>
          <p:nvPr>
            <p:ph type="title"/>
          </p:nvPr>
        </p:nvSpPr>
        <p:spPr/>
        <p:txBody>
          <a:bodyPr/>
          <a:lstStyle/>
          <a:p>
            <a:r>
              <a:rPr lang="en-US" dirty="0"/>
              <a:t>Implications</a:t>
            </a:r>
          </a:p>
        </p:txBody>
      </p:sp>
      <p:sp>
        <p:nvSpPr>
          <p:cNvPr id="2" name="TextBox 1">
            <a:extLst>
              <a:ext uri="{FF2B5EF4-FFF2-40B4-BE49-F238E27FC236}">
                <a16:creationId xmlns:a16="http://schemas.microsoft.com/office/drawing/2014/main" id="{FDE39A3D-4D3A-22D7-5AE9-58538F80DF6B}"/>
              </a:ext>
            </a:extLst>
          </p:cNvPr>
          <p:cNvSpPr txBox="1"/>
          <p:nvPr/>
        </p:nvSpPr>
        <p:spPr>
          <a:xfrm>
            <a:off x="6629259" y="0"/>
            <a:ext cx="5562741" cy="307777"/>
          </a:xfrm>
          <a:prstGeom prst="rect">
            <a:avLst/>
          </a:prstGeom>
          <a:noFill/>
        </p:spPr>
        <p:txBody>
          <a:bodyPr wrap="none" rtlCol="0">
            <a:spAutoFit/>
          </a:bodyPr>
          <a:lstStyle/>
          <a:p>
            <a:pPr algn="r"/>
            <a:r>
              <a:rPr lang="en-US" dirty="0"/>
              <a:t>Introduction   Foundation   Key Findings   </a:t>
            </a:r>
            <a:r>
              <a:rPr lang="en-US" b="1" dirty="0"/>
              <a:t>Discussion</a:t>
            </a:r>
            <a:r>
              <a:rPr lang="en-US" dirty="0"/>
              <a:t>   Conclusion</a:t>
            </a:r>
          </a:p>
        </p:txBody>
      </p:sp>
    </p:spTree>
    <p:extLst>
      <p:ext uri="{BB962C8B-B14F-4D97-AF65-F5344CB8AC3E}">
        <p14:creationId xmlns:p14="http://schemas.microsoft.com/office/powerpoint/2010/main" val="3533147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2571D-E4DA-9652-478E-5FA654A2423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DE959801-D72B-D9AC-72DC-BCE494806F50}"/>
              </a:ext>
            </a:extLst>
          </p:cNvPr>
          <p:cNvSpPr>
            <a:spLocks noGrp="1"/>
          </p:cNvSpPr>
          <p:nvPr>
            <p:ph type="body" idx="1"/>
          </p:nvPr>
        </p:nvSpPr>
        <p:spPr/>
        <p:txBody>
          <a:bodyPr>
            <a:normAutofit fontScale="92500" lnSpcReduction="20000"/>
          </a:bodyPr>
          <a:lstStyle/>
          <a:p>
            <a:pPr marL="228600" indent="0"/>
            <a:r>
              <a:rPr lang="en-US" dirty="0"/>
              <a:t>A multi layered knowledge graph structure – that included IS_A and PART_OF relationships.</a:t>
            </a:r>
          </a:p>
          <a:p>
            <a:pPr marL="228600" indent="0"/>
            <a:r>
              <a:rPr lang="en-US" dirty="0"/>
              <a:t>Iterative generative refinement – building the graph in small chunks through multiple refinement tasks</a:t>
            </a:r>
          </a:p>
          <a:p>
            <a:pPr marL="228600" indent="0"/>
            <a:r>
              <a:rPr lang="en-US" dirty="0"/>
              <a:t>An incremental framework for large documents – This ability is not needed for small documents but is desperately needed for large documents</a:t>
            </a:r>
          </a:p>
          <a:p>
            <a:pPr marL="228600" indent="0"/>
            <a:r>
              <a:rPr lang="en-US" dirty="0"/>
              <a:t>A refined conceptual framework for document completeness – Internal completeness is tractable within the document. External completeness requires additional knowledge.</a:t>
            </a:r>
          </a:p>
        </p:txBody>
      </p:sp>
      <p:sp>
        <p:nvSpPr>
          <p:cNvPr id="6" name="Title 5">
            <a:extLst>
              <a:ext uri="{FF2B5EF4-FFF2-40B4-BE49-F238E27FC236}">
                <a16:creationId xmlns:a16="http://schemas.microsoft.com/office/drawing/2014/main" id="{50541136-D794-8D82-636B-FFBAE4CE28D9}"/>
              </a:ext>
            </a:extLst>
          </p:cNvPr>
          <p:cNvSpPr>
            <a:spLocks noGrp="1"/>
          </p:cNvSpPr>
          <p:nvPr>
            <p:ph type="title"/>
          </p:nvPr>
        </p:nvSpPr>
        <p:spPr/>
        <p:txBody>
          <a:bodyPr/>
          <a:lstStyle/>
          <a:p>
            <a:r>
              <a:rPr lang="en-US" dirty="0"/>
              <a:t>Key Contributions</a:t>
            </a:r>
          </a:p>
        </p:txBody>
      </p:sp>
      <p:sp>
        <p:nvSpPr>
          <p:cNvPr id="2" name="TextBox 1">
            <a:extLst>
              <a:ext uri="{FF2B5EF4-FFF2-40B4-BE49-F238E27FC236}">
                <a16:creationId xmlns:a16="http://schemas.microsoft.com/office/drawing/2014/main" id="{2C91D751-8EB7-FF10-100C-2FA39D17DA84}"/>
              </a:ext>
            </a:extLst>
          </p:cNvPr>
          <p:cNvSpPr txBox="1"/>
          <p:nvPr/>
        </p:nvSpPr>
        <p:spPr>
          <a:xfrm>
            <a:off x="6629259" y="0"/>
            <a:ext cx="5562741" cy="307777"/>
          </a:xfrm>
          <a:prstGeom prst="rect">
            <a:avLst/>
          </a:prstGeom>
          <a:noFill/>
        </p:spPr>
        <p:txBody>
          <a:bodyPr wrap="none" rtlCol="0">
            <a:spAutoFit/>
          </a:bodyPr>
          <a:lstStyle/>
          <a:p>
            <a:pPr algn="r"/>
            <a:r>
              <a:rPr lang="en-US" dirty="0"/>
              <a:t>Introduction   Foundation   Key Findings   </a:t>
            </a:r>
            <a:r>
              <a:rPr lang="en-US" b="1" dirty="0"/>
              <a:t>Discussion</a:t>
            </a:r>
            <a:r>
              <a:rPr lang="en-US" dirty="0"/>
              <a:t>   Conclusion</a:t>
            </a:r>
          </a:p>
        </p:txBody>
      </p:sp>
    </p:spTree>
    <p:extLst>
      <p:ext uri="{BB962C8B-B14F-4D97-AF65-F5344CB8AC3E}">
        <p14:creationId xmlns:p14="http://schemas.microsoft.com/office/powerpoint/2010/main" val="4227370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6B1AC-8F7F-A47C-48B2-A66750BB6DF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9C3751F-3CDD-99CB-A169-4B7547062D71}"/>
              </a:ext>
            </a:extLst>
          </p:cNvPr>
          <p:cNvSpPr>
            <a:spLocks noGrp="1"/>
          </p:cNvSpPr>
          <p:nvPr>
            <p:ph type="title"/>
          </p:nvPr>
        </p:nvSpPr>
        <p:spPr/>
        <p:txBody>
          <a:bodyPr/>
          <a:lstStyle/>
          <a:p>
            <a:r>
              <a:rPr lang="en-US" dirty="0"/>
              <a:t>Future Research</a:t>
            </a:r>
          </a:p>
        </p:txBody>
      </p:sp>
      <p:sp>
        <p:nvSpPr>
          <p:cNvPr id="2" name="TextBox 1">
            <a:extLst>
              <a:ext uri="{FF2B5EF4-FFF2-40B4-BE49-F238E27FC236}">
                <a16:creationId xmlns:a16="http://schemas.microsoft.com/office/drawing/2014/main" id="{839E7E12-79A9-993E-BE01-D8D735787B58}"/>
              </a:ext>
            </a:extLst>
          </p:cNvPr>
          <p:cNvSpPr txBox="1"/>
          <p:nvPr/>
        </p:nvSpPr>
        <p:spPr>
          <a:xfrm>
            <a:off x="6629259" y="0"/>
            <a:ext cx="5562741" cy="307777"/>
          </a:xfrm>
          <a:prstGeom prst="rect">
            <a:avLst/>
          </a:prstGeom>
          <a:noFill/>
        </p:spPr>
        <p:txBody>
          <a:bodyPr wrap="none" rtlCol="0">
            <a:spAutoFit/>
          </a:bodyPr>
          <a:lstStyle/>
          <a:p>
            <a:pPr algn="r"/>
            <a:r>
              <a:rPr lang="en-US" dirty="0"/>
              <a:t>Introduction   Foundation   Key Findings   </a:t>
            </a:r>
            <a:r>
              <a:rPr lang="en-US" b="1" dirty="0"/>
              <a:t>Discussion</a:t>
            </a:r>
            <a:r>
              <a:rPr lang="en-US" dirty="0"/>
              <a:t>   Conclusion</a:t>
            </a:r>
          </a:p>
        </p:txBody>
      </p:sp>
      <p:sp>
        <p:nvSpPr>
          <p:cNvPr id="3" name="Rectangle 1">
            <a:extLst>
              <a:ext uri="{FF2B5EF4-FFF2-40B4-BE49-F238E27FC236}">
                <a16:creationId xmlns:a16="http://schemas.microsoft.com/office/drawing/2014/main" id="{772F5EBF-46F3-CE47-F267-F5BDBD3F9475}"/>
              </a:ext>
            </a:extLst>
          </p:cNvPr>
          <p:cNvSpPr>
            <a:spLocks noGrp="1" noChangeArrowheads="1"/>
          </p:cNvSpPr>
          <p:nvPr>
            <p:ph type="body" idx="1"/>
          </p:nvPr>
        </p:nvSpPr>
        <p:spPr bwMode="auto">
          <a:xfrm>
            <a:off x="838200" y="1962440"/>
            <a:ext cx="10483327"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Automated Query Generation (Automation)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lnSpc>
                <a:spcPct val="10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Arial" panose="020B0604020202020204" pitchFamily="34" charset="0"/>
              </a:rPr>
              <a:t>Current State:</a:t>
            </a:r>
            <a:r>
              <a:rPr kumimoji="0" lang="en-US" altLang="en-US" sz="1400" b="0" i="0" u="none" strike="noStrike" cap="none" normalizeH="0" baseline="0" dirty="0">
                <a:ln>
                  <a:noFill/>
                </a:ln>
                <a:solidFill>
                  <a:schemeClr val="tx1"/>
                </a:solidFill>
                <a:effectLst/>
                <a:latin typeface="Arial" panose="020B0604020202020204" pitchFamily="34" charset="0"/>
              </a:rPr>
              <a:t> Verification currently relies on hand-coded Cypher queries to detect specific inconsistency patterns.</a:t>
            </a:r>
          </a:p>
          <a:p>
            <a:pPr marL="742950" lvl="1" indent="-285750" eaLnBrk="0" fontAlgn="base" hangingPunct="0">
              <a:lnSpc>
                <a:spcPct val="10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Arial" panose="020B0604020202020204" pitchFamily="34" charset="0"/>
              </a:rPr>
              <a:t>Future Direction:</a:t>
            </a:r>
            <a:r>
              <a:rPr kumimoji="0" lang="en-US" altLang="en-US" sz="1400" b="0" i="0" u="none" strike="noStrike" cap="none" normalizeH="0" baseline="0" dirty="0">
                <a:ln>
                  <a:noFill/>
                </a:ln>
                <a:solidFill>
                  <a:schemeClr val="tx1"/>
                </a:solidFill>
                <a:effectLst/>
                <a:latin typeface="Arial" panose="020B0604020202020204" pitchFamily="34" charset="0"/>
              </a:rPr>
              <a:t> Developing an agentic layer that automatically generates verification queries based on the graph's ontology, removing the need for manual query construction.</a:t>
            </a:r>
          </a:p>
          <a:p>
            <a:pPr marL="342900" indent="-342900" eaLnBrk="0" fontAlgn="base" hangingPunct="0">
              <a:lnSpc>
                <a:spcPct val="100000"/>
              </a:lnSpc>
              <a:spcBef>
                <a:spcPct val="0"/>
              </a:spcBef>
              <a:spcAft>
                <a:spcPct val="0"/>
              </a:spcAft>
              <a:buClrTx/>
              <a:buSzTx/>
              <a:buFont typeface="+mj-lt"/>
              <a:buAutoNum type="arabicPeriod"/>
            </a:pPr>
            <a:r>
              <a:rPr lang="en-US" altLang="en-US" sz="1800" b="1" dirty="0">
                <a:solidFill>
                  <a:schemeClr val="tx1"/>
                </a:solidFill>
                <a:latin typeface="Arial" panose="020B0604020202020204" pitchFamily="34" charset="0"/>
              </a:rPr>
              <a:t>Specialized Model Fine-Tuning (Optimization)</a:t>
            </a:r>
          </a:p>
          <a:p>
            <a:pPr marL="742950" lvl="1" indent="-285750"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Current State:</a:t>
            </a:r>
            <a:r>
              <a:rPr kumimoji="0" lang="en-US" altLang="en-US" sz="1400" b="0" i="0" u="none" strike="noStrike" cap="none" normalizeH="0" baseline="0" dirty="0">
                <a:ln>
                  <a:noFill/>
                </a:ln>
                <a:solidFill>
                  <a:schemeClr val="tx1"/>
                </a:solidFill>
                <a:effectLst/>
                <a:latin typeface="Arial" panose="020B0604020202020204" pitchFamily="34" charset="0"/>
              </a:rPr>
              <a:t> The pipeline uses general-purpose LLMs for extraction and refinement.</a:t>
            </a:r>
          </a:p>
          <a:p>
            <a:pPr marL="742950" lvl="1" indent="-285750"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Future Direction:</a:t>
            </a:r>
            <a:r>
              <a:rPr kumimoji="0" lang="en-US" altLang="en-US" sz="1400" b="0" i="0" u="none" strike="noStrike" cap="none" normalizeH="0" baseline="0" dirty="0">
                <a:ln>
                  <a:noFill/>
                </a:ln>
                <a:solidFill>
                  <a:schemeClr val="tx1"/>
                </a:solidFill>
                <a:effectLst/>
                <a:latin typeface="Arial" panose="020B0604020202020204" pitchFamily="34" charset="0"/>
              </a:rPr>
              <a:t> Fine-tuning smaller LLMs specifically for the "Graph Extraction" and "Refinement" tasks to improve processing speed and potentially raise F1 scores against standard benchmarks.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Domain Expansion &amp; Validation (Generalization)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Current State:</a:t>
            </a:r>
            <a:r>
              <a:rPr kumimoji="0" lang="en-US" altLang="en-US" sz="1400" b="0" i="0" u="none" strike="noStrike" cap="none" normalizeH="0" baseline="0" dirty="0">
                <a:ln>
                  <a:noFill/>
                </a:ln>
                <a:solidFill>
                  <a:schemeClr val="tx1"/>
                </a:solidFill>
                <a:effectLst/>
                <a:latin typeface="Arial" panose="020B0604020202020204" pitchFamily="34" charset="0"/>
              </a:rPr>
              <a:t> Validated on "Handwritten Stories" and "PA Township Laws".</a:t>
            </a:r>
          </a:p>
          <a:p>
            <a:pPr marL="742950" lvl="1" indent="-285750"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Future Direction:</a:t>
            </a:r>
            <a:r>
              <a:rPr kumimoji="0" lang="en-US" altLang="en-US" sz="1400" b="0" i="0" u="none" strike="noStrike" cap="none" normalizeH="0" baseline="0" dirty="0">
                <a:ln>
                  <a:noFill/>
                </a:ln>
                <a:solidFill>
                  <a:schemeClr val="tx1"/>
                </a:solidFill>
                <a:effectLst/>
                <a:latin typeface="Arial" panose="020B0604020202020204" pitchFamily="34" charset="0"/>
              </a:rPr>
              <a:t> Applying Mnemosyne to the original target domain—FDA New Drug Applications (NDAs)—to empirically validate the "Fatal Contradiction" solution proposed in the introduction.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82223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5C9EB-36B6-0E64-4662-54AEA6A0EE0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304B4425-8FE9-273A-E0B8-EACB361AB758}"/>
              </a:ext>
            </a:extLst>
          </p:cNvPr>
          <p:cNvSpPr>
            <a:spLocks noGrp="1"/>
          </p:cNvSpPr>
          <p:nvPr>
            <p:ph type="body" idx="1"/>
          </p:nvPr>
        </p:nvSpPr>
        <p:spPr/>
        <p:txBody>
          <a:bodyPr>
            <a:normAutofit fontScale="92500"/>
          </a:bodyPr>
          <a:lstStyle/>
          <a:p>
            <a:pPr marL="228600" indent="0"/>
            <a:r>
              <a:rPr lang="en-US" dirty="0"/>
              <a:t>Attributed knowledge graphs can be built from long texts (RQ1, H1)</a:t>
            </a:r>
          </a:p>
          <a:p>
            <a:pPr marL="228600" indent="0"/>
            <a:r>
              <a:rPr lang="en-US" dirty="0"/>
              <a:t>The attributed knowledge graph can be enriched (RQ2, H2)</a:t>
            </a:r>
          </a:p>
          <a:p>
            <a:pPr marL="228600" indent="0"/>
            <a:r>
              <a:rPr lang="en-US" dirty="0"/>
              <a:t>The enriched attributed knowledge graph can be used to answer questions about the original document. At least correctness and completeness but other questions, too (RQ3, H3)</a:t>
            </a:r>
          </a:p>
          <a:p>
            <a:pPr marL="228600" indent="0"/>
            <a:r>
              <a:rPr lang="en-US" b="1" dirty="0"/>
              <a:t>This is a powerful technique to address source material that extends beyond the context window of LLMs.</a:t>
            </a:r>
          </a:p>
          <a:p>
            <a:pPr marL="228600" indent="0"/>
            <a:endParaRPr lang="en-US" dirty="0"/>
          </a:p>
          <a:p>
            <a:pPr marL="228600" indent="0"/>
            <a:endParaRPr lang="en-US" dirty="0"/>
          </a:p>
        </p:txBody>
      </p:sp>
      <p:sp>
        <p:nvSpPr>
          <p:cNvPr id="6" name="Title 5">
            <a:extLst>
              <a:ext uri="{FF2B5EF4-FFF2-40B4-BE49-F238E27FC236}">
                <a16:creationId xmlns:a16="http://schemas.microsoft.com/office/drawing/2014/main" id="{A2C6A84E-32DA-97D2-B504-BAFC014E8A16}"/>
              </a:ext>
            </a:extLst>
          </p:cNvPr>
          <p:cNvSpPr>
            <a:spLocks noGrp="1"/>
          </p:cNvSpPr>
          <p:nvPr>
            <p:ph type="title"/>
          </p:nvPr>
        </p:nvSpPr>
        <p:spPr/>
        <p:txBody>
          <a:bodyPr/>
          <a:lstStyle/>
          <a:p>
            <a:r>
              <a:rPr lang="en-US" dirty="0"/>
              <a:t>Conclusion</a:t>
            </a:r>
          </a:p>
        </p:txBody>
      </p:sp>
      <p:sp>
        <p:nvSpPr>
          <p:cNvPr id="2" name="TextBox 1">
            <a:extLst>
              <a:ext uri="{FF2B5EF4-FFF2-40B4-BE49-F238E27FC236}">
                <a16:creationId xmlns:a16="http://schemas.microsoft.com/office/drawing/2014/main" id="{9001441F-D9A7-D315-0956-FB6375D799F1}"/>
              </a:ext>
            </a:extLst>
          </p:cNvPr>
          <p:cNvSpPr txBox="1"/>
          <p:nvPr/>
        </p:nvSpPr>
        <p:spPr>
          <a:xfrm>
            <a:off x="6629259" y="0"/>
            <a:ext cx="5562741" cy="307777"/>
          </a:xfrm>
          <a:prstGeom prst="rect">
            <a:avLst/>
          </a:prstGeom>
          <a:noFill/>
        </p:spPr>
        <p:txBody>
          <a:bodyPr wrap="none" rtlCol="0">
            <a:spAutoFit/>
          </a:bodyPr>
          <a:lstStyle/>
          <a:p>
            <a:pPr algn="r"/>
            <a:r>
              <a:rPr lang="en-US" dirty="0"/>
              <a:t>Introduction   Foundation   Key Findings   Discussion   </a:t>
            </a:r>
            <a:r>
              <a:rPr lang="en-US" b="1" dirty="0"/>
              <a:t>Conclusion</a:t>
            </a:r>
          </a:p>
        </p:txBody>
      </p:sp>
    </p:spTree>
    <p:extLst>
      <p:ext uri="{BB962C8B-B14F-4D97-AF65-F5344CB8AC3E}">
        <p14:creationId xmlns:p14="http://schemas.microsoft.com/office/powerpoint/2010/main" val="2455261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7E50A-79E0-0E98-8FEE-CDC153AE06F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08D81557-7943-031F-D49B-361541C364AD}"/>
              </a:ext>
            </a:extLst>
          </p:cNvPr>
          <p:cNvSpPr>
            <a:spLocks noGrp="1"/>
          </p:cNvSpPr>
          <p:nvPr>
            <p:ph type="body" idx="1"/>
          </p:nvPr>
        </p:nvSpPr>
        <p:spPr>
          <a:xfrm>
            <a:off x="5047486" y="1825625"/>
            <a:ext cx="6306313" cy="3474508"/>
          </a:xfrm>
        </p:spPr>
        <p:txBody>
          <a:bodyPr>
            <a:normAutofit/>
          </a:bodyPr>
          <a:lstStyle/>
          <a:p>
            <a:pPr marL="228600" indent="0"/>
            <a:r>
              <a:rPr lang="en-US" dirty="0"/>
              <a:t>Michael Wacey</a:t>
            </a:r>
          </a:p>
          <a:p>
            <a:pPr marL="228600" indent="0"/>
            <a:r>
              <a:rPr lang="en-US" dirty="0"/>
              <a:t>610-608-4759</a:t>
            </a:r>
          </a:p>
          <a:p>
            <a:pPr marL="228600" indent="0"/>
            <a:r>
              <a:rPr lang="en-US" dirty="0">
                <a:hlinkClick r:id="rId3"/>
              </a:rPr>
              <a:t>michaelwacey@msn.com</a:t>
            </a:r>
            <a:endParaRPr lang="en-US" dirty="0"/>
          </a:p>
          <a:p>
            <a:pPr marL="228600" indent="0"/>
            <a:endParaRPr lang="en-US" dirty="0"/>
          </a:p>
          <a:p>
            <a:pPr marL="228600" indent="0"/>
            <a:r>
              <a:rPr lang="en-US" sz="4400" b="1" dirty="0"/>
              <a:t>Thank You</a:t>
            </a:r>
          </a:p>
          <a:p>
            <a:pPr marL="228600" indent="0"/>
            <a:endParaRPr lang="en-US" dirty="0"/>
          </a:p>
        </p:txBody>
      </p:sp>
      <p:sp>
        <p:nvSpPr>
          <p:cNvPr id="6" name="Title 5">
            <a:extLst>
              <a:ext uri="{FF2B5EF4-FFF2-40B4-BE49-F238E27FC236}">
                <a16:creationId xmlns:a16="http://schemas.microsoft.com/office/drawing/2014/main" id="{8BD56BE4-F5D4-4198-23EB-0F390B310C7C}"/>
              </a:ext>
            </a:extLst>
          </p:cNvPr>
          <p:cNvSpPr>
            <a:spLocks noGrp="1"/>
          </p:cNvSpPr>
          <p:nvPr>
            <p:ph type="title"/>
          </p:nvPr>
        </p:nvSpPr>
        <p:spPr>
          <a:xfrm>
            <a:off x="5047487" y="715617"/>
            <a:ext cx="6290175" cy="975070"/>
          </a:xfrm>
        </p:spPr>
        <p:txBody>
          <a:bodyPr/>
          <a:lstStyle/>
          <a:p>
            <a:r>
              <a:rPr lang="en-US" dirty="0"/>
              <a:t>Questions?</a:t>
            </a:r>
          </a:p>
        </p:txBody>
      </p:sp>
      <p:sp>
        <p:nvSpPr>
          <p:cNvPr id="2" name="TextBox 1">
            <a:extLst>
              <a:ext uri="{FF2B5EF4-FFF2-40B4-BE49-F238E27FC236}">
                <a16:creationId xmlns:a16="http://schemas.microsoft.com/office/drawing/2014/main" id="{90C399ED-8869-418F-D164-0805537136EB}"/>
              </a:ext>
            </a:extLst>
          </p:cNvPr>
          <p:cNvSpPr txBox="1"/>
          <p:nvPr/>
        </p:nvSpPr>
        <p:spPr>
          <a:xfrm>
            <a:off x="6629259" y="0"/>
            <a:ext cx="5562741" cy="307777"/>
          </a:xfrm>
          <a:prstGeom prst="rect">
            <a:avLst/>
          </a:prstGeom>
          <a:noFill/>
        </p:spPr>
        <p:txBody>
          <a:bodyPr wrap="none" rtlCol="0">
            <a:spAutoFit/>
          </a:bodyPr>
          <a:lstStyle/>
          <a:p>
            <a:pPr algn="r"/>
            <a:r>
              <a:rPr lang="en-US" dirty="0"/>
              <a:t>Introduction   Foundation   Key Findings   Discussion   </a:t>
            </a:r>
            <a:r>
              <a:rPr lang="en-US" b="1" dirty="0"/>
              <a:t>Conclusion</a:t>
            </a:r>
          </a:p>
        </p:txBody>
      </p:sp>
      <p:pic>
        <p:nvPicPr>
          <p:cNvPr id="4" name="Picture 3">
            <a:extLst>
              <a:ext uri="{FF2B5EF4-FFF2-40B4-BE49-F238E27FC236}">
                <a16:creationId xmlns:a16="http://schemas.microsoft.com/office/drawing/2014/main" id="{25EA817A-1283-D8B0-3E85-E855C283C4D8}"/>
              </a:ext>
            </a:extLst>
          </p:cNvPr>
          <p:cNvPicPr>
            <a:picLocks noChangeAspect="1"/>
          </p:cNvPicPr>
          <p:nvPr/>
        </p:nvPicPr>
        <p:blipFill>
          <a:blip r:embed="rId4"/>
          <a:stretch>
            <a:fillRect/>
          </a:stretch>
        </p:blipFill>
        <p:spPr>
          <a:xfrm>
            <a:off x="1039368" y="715617"/>
            <a:ext cx="3020568" cy="422879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611610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265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FEFC2-3CA4-8483-644B-B525DC443936}"/>
              </a:ext>
            </a:extLst>
          </p:cNvPr>
          <p:cNvSpPr>
            <a:spLocks noGrp="1"/>
          </p:cNvSpPr>
          <p:nvPr>
            <p:ph type="title"/>
          </p:nvPr>
        </p:nvSpPr>
        <p:spPr/>
        <p:txBody>
          <a:bodyPr/>
          <a:lstStyle/>
          <a:p>
            <a:r>
              <a:rPr lang="en-US" dirty="0"/>
              <a:t>Appendix</a:t>
            </a:r>
          </a:p>
        </p:txBody>
      </p:sp>
      <p:sp>
        <p:nvSpPr>
          <p:cNvPr id="3" name="Text Placeholder 2">
            <a:extLst>
              <a:ext uri="{FF2B5EF4-FFF2-40B4-BE49-F238E27FC236}">
                <a16:creationId xmlns:a16="http://schemas.microsoft.com/office/drawing/2014/main" id="{63ED4F62-1ACF-D9A3-B95E-3EE8AD508C3B}"/>
              </a:ext>
            </a:extLst>
          </p:cNvPr>
          <p:cNvSpPr>
            <a:spLocks noGrp="1"/>
          </p:cNvSpPr>
          <p:nvPr>
            <p:ph type="body" idx="1"/>
          </p:nvPr>
        </p:nvSpPr>
        <p:spPr/>
        <p:txBody>
          <a:bodyPr/>
          <a:lstStyle/>
          <a:p>
            <a:r>
              <a:rPr lang="en-US" dirty="0"/>
              <a:t>Details</a:t>
            </a:r>
          </a:p>
        </p:txBody>
      </p:sp>
    </p:spTree>
    <p:extLst>
      <p:ext uri="{BB962C8B-B14F-4D97-AF65-F5344CB8AC3E}">
        <p14:creationId xmlns:p14="http://schemas.microsoft.com/office/powerpoint/2010/main" val="3833947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F7487-A30C-6BF7-A725-DFBED60AE87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D17DC6F-8EA5-C758-2CA3-949073A5087A}"/>
              </a:ext>
            </a:extLst>
          </p:cNvPr>
          <p:cNvSpPr>
            <a:spLocks noGrp="1"/>
          </p:cNvSpPr>
          <p:nvPr>
            <p:ph type="title"/>
          </p:nvPr>
        </p:nvSpPr>
        <p:spPr/>
        <p:txBody>
          <a:bodyPr/>
          <a:lstStyle/>
          <a:p>
            <a:r>
              <a:rPr lang="en-US" dirty="0"/>
              <a:t>Knowledge Graph Fit Assessment</a:t>
            </a:r>
          </a:p>
        </p:txBody>
      </p:sp>
      <p:sp>
        <p:nvSpPr>
          <p:cNvPr id="2" name="TextBox 1">
            <a:extLst>
              <a:ext uri="{FF2B5EF4-FFF2-40B4-BE49-F238E27FC236}">
                <a16:creationId xmlns:a16="http://schemas.microsoft.com/office/drawing/2014/main" id="{ED94BE90-1127-D885-B605-DC072F59D72C}"/>
              </a:ext>
            </a:extLst>
          </p:cNvPr>
          <p:cNvSpPr txBox="1"/>
          <p:nvPr/>
        </p:nvSpPr>
        <p:spPr>
          <a:xfrm>
            <a:off x="6685364" y="0"/>
            <a:ext cx="5506636" cy="307777"/>
          </a:xfrm>
          <a:prstGeom prst="rect">
            <a:avLst/>
          </a:prstGeom>
          <a:noFill/>
        </p:spPr>
        <p:txBody>
          <a:bodyPr wrap="none" rtlCol="0">
            <a:spAutoFit/>
          </a:bodyPr>
          <a:lstStyle/>
          <a:p>
            <a:pPr algn="r"/>
            <a:r>
              <a:rPr lang="en-US" dirty="0"/>
              <a:t>Introduction   Foundation</a:t>
            </a:r>
            <a:r>
              <a:rPr lang="en-US" b="1" dirty="0"/>
              <a:t> </a:t>
            </a:r>
            <a:r>
              <a:rPr lang="en-US" dirty="0"/>
              <a:t>  </a:t>
            </a:r>
            <a:r>
              <a:rPr lang="en-US" b="1" dirty="0"/>
              <a:t>Key Findings   </a:t>
            </a:r>
            <a:r>
              <a:rPr lang="en-US" dirty="0"/>
              <a:t>Discussion   Conclusion</a:t>
            </a:r>
          </a:p>
        </p:txBody>
      </p:sp>
      <p:graphicFrame>
        <p:nvGraphicFramePr>
          <p:cNvPr id="5" name="Table 4">
            <a:extLst>
              <a:ext uri="{FF2B5EF4-FFF2-40B4-BE49-F238E27FC236}">
                <a16:creationId xmlns:a16="http://schemas.microsoft.com/office/drawing/2014/main" id="{5D5A1C4F-8777-8DAB-2E78-49498C090B66}"/>
              </a:ext>
            </a:extLst>
          </p:cNvPr>
          <p:cNvGraphicFramePr>
            <a:graphicFrameLocks noGrp="1"/>
          </p:cNvGraphicFramePr>
          <p:nvPr>
            <p:extLst>
              <p:ext uri="{D42A27DB-BD31-4B8C-83A1-F6EECF244321}">
                <p14:modId xmlns:p14="http://schemas.microsoft.com/office/powerpoint/2010/main" val="381595579"/>
              </p:ext>
            </p:extLst>
          </p:nvPr>
        </p:nvGraphicFramePr>
        <p:xfrm>
          <a:off x="1137055" y="1838347"/>
          <a:ext cx="8128000" cy="1854200"/>
        </p:xfrm>
        <a:graphic>
          <a:graphicData uri="http://schemas.openxmlformats.org/drawingml/2006/table">
            <a:tbl>
              <a:tblPr firstRow="1" bandRow="1">
                <a:tableStyleId>{5C22544A-7EE6-4342-B048-85BDC9FD1C3A}</a:tableStyleId>
              </a:tblPr>
              <a:tblGrid>
                <a:gridCol w="3045839">
                  <a:extLst>
                    <a:ext uri="{9D8B030D-6E8A-4147-A177-3AD203B41FA5}">
                      <a16:colId xmlns:a16="http://schemas.microsoft.com/office/drawing/2014/main" val="499650509"/>
                    </a:ext>
                  </a:extLst>
                </a:gridCol>
                <a:gridCol w="1566153">
                  <a:extLst>
                    <a:ext uri="{9D8B030D-6E8A-4147-A177-3AD203B41FA5}">
                      <a16:colId xmlns:a16="http://schemas.microsoft.com/office/drawing/2014/main" val="2902968836"/>
                    </a:ext>
                  </a:extLst>
                </a:gridCol>
                <a:gridCol w="1484008">
                  <a:extLst>
                    <a:ext uri="{9D8B030D-6E8A-4147-A177-3AD203B41FA5}">
                      <a16:colId xmlns:a16="http://schemas.microsoft.com/office/drawing/2014/main" val="2622767031"/>
                    </a:ext>
                  </a:extLst>
                </a:gridCol>
                <a:gridCol w="2032000">
                  <a:extLst>
                    <a:ext uri="{9D8B030D-6E8A-4147-A177-3AD203B41FA5}">
                      <a16:colId xmlns:a16="http://schemas.microsoft.com/office/drawing/2014/main" val="1485161157"/>
                    </a:ext>
                  </a:extLst>
                </a:gridCol>
              </a:tblGrid>
              <a:tr h="370840">
                <a:tc>
                  <a:txBody>
                    <a:bodyPr/>
                    <a:lstStyle/>
                    <a:p>
                      <a:r>
                        <a:rPr lang="en-US" dirty="0"/>
                        <a:t>Experiment Document</a:t>
                      </a:r>
                    </a:p>
                  </a:txBody>
                  <a:tcPr/>
                </a:tc>
                <a:tc>
                  <a:txBody>
                    <a:bodyPr/>
                    <a:lstStyle/>
                    <a:p>
                      <a:r>
                        <a:rPr lang="en-US" dirty="0"/>
                        <a:t>Overall F1 (%)</a:t>
                      </a:r>
                    </a:p>
                  </a:txBody>
                  <a:tcPr/>
                </a:tc>
                <a:tc>
                  <a:txBody>
                    <a:bodyPr/>
                    <a:lstStyle/>
                    <a:p>
                      <a:r>
                        <a:rPr lang="en-US" dirty="0"/>
                        <a:t>Entity F1 (%)</a:t>
                      </a:r>
                    </a:p>
                  </a:txBody>
                  <a:tcPr/>
                </a:tc>
                <a:tc>
                  <a:txBody>
                    <a:bodyPr/>
                    <a:lstStyle/>
                    <a:p>
                      <a:r>
                        <a:rPr lang="en-US" dirty="0"/>
                        <a:t>Relationship F1 (%)</a:t>
                      </a:r>
                    </a:p>
                  </a:txBody>
                  <a:tcPr/>
                </a:tc>
                <a:extLst>
                  <a:ext uri="{0D108BD9-81ED-4DB2-BD59-A6C34878D82A}">
                    <a16:rowId xmlns:a16="http://schemas.microsoft.com/office/drawing/2014/main" val="260302246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CTSA Base Document</a:t>
                      </a:r>
                    </a:p>
                  </a:txBody>
                  <a:tcPr/>
                </a:tc>
                <a:tc>
                  <a:txBody>
                    <a:bodyPr/>
                    <a:lstStyle/>
                    <a:p>
                      <a:pPr algn="r"/>
                      <a:r>
                        <a:rPr lang="en-US" dirty="0"/>
                        <a:t>7.95</a:t>
                      </a:r>
                    </a:p>
                  </a:txBody>
                  <a:tcPr/>
                </a:tc>
                <a:tc>
                  <a:txBody>
                    <a:bodyPr/>
                    <a:lstStyle/>
                    <a:p>
                      <a:pPr algn="r"/>
                      <a:r>
                        <a:rPr lang="en-US" dirty="0"/>
                        <a:t>15.90</a:t>
                      </a:r>
                    </a:p>
                  </a:txBody>
                  <a:tcPr/>
                </a:tc>
                <a:tc>
                  <a:txBody>
                    <a:bodyPr/>
                    <a:lstStyle/>
                    <a:p>
                      <a:pPr algn="r"/>
                      <a:r>
                        <a:rPr lang="en-US" dirty="0"/>
                        <a:t>0.00</a:t>
                      </a:r>
                    </a:p>
                  </a:txBody>
                  <a:tcPr/>
                </a:tc>
                <a:extLst>
                  <a:ext uri="{0D108BD9-81ED-4DB2-BD59-A6C34878D82A}">
                    <a16:rowId xmlns:a16="http://schemas.microsoft.com/office/drawing/2014/main" val="1258899857"/>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CTSA with Content Removed</a:t>
                      </a:r>
                    </a:p>
                  </a:txBody>
                  <a:tcPr/>
                </a:tc>
                <a:tc>
                  <a:txBody>
                    <a:bodyPr/>
                    <a:lstStyle/>
                    <a:p>
                      <a:pPr algn="r"/>
                      <a:r>
                        <a:rPr lang="en-US" dirty="0"/>
                        <a:t>7.85</a:t>
                      </a:r>
                    </a:p>
                  </a:txBody>
                  <a:tcPr/>
                </a:tc>
                <a:tc>
                  <a:txBody>
                    <a:bodyPr/>
                    <a:lstStyle/>
                    <a:p>
                      <a:pPr algn="r"/>
                      <a:r>
                        <a:rPr lang="en-US" dirty="0"/>
                        <a:t>15.33</a:t>
                      </a:r>
                    </a:p>
                  </a:txBody>
                  <a:tcPr/>
                </a:tc>
                <a:tc>
                  <a:txBody>
                    <a:bodyPr/>
                    <a:lstStyle/>
                    <a:p>
                      <a:pPr algn="r"/>
                      <a:r>
                        <a:rPr lang="en-US" dirty="0"/>
                        <a:t>0.36</a:t>
                      </a:r>
                    </a:p>
                  </a:txBody>
                  <a:tcPr/>
                </a:tc>
                <a:extLst>
                  <a:ext uri="{0D108BD9-81ED-4DB2-BD59-A6C34878D82A}">
                    <a16:rowId xmlns:a16="http://schemas.microsoft.com/office/drawing/2014/main" val="268288656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CTSA with Sewer Content Added</a:t>
                      </a:r>
                    </a:p>
                  </a:txBody>
                  <a:tcPr/>
                </a:tc>
                <a:tc>
                  <a:txBody>
                    <a:bodyPr/>
                    <a:lstStyle/>
                    <a:p>
                      <a:pPr algn="r"/>
                      <a:r>
                        <a:rPr lang="en-US" dirty="0"/>
                        <a:t>7.90</a:t>
                      </a:r>
                    </a:p>
                  </a:txBody>
                  <a:tcPr/>
                </a:tc>
                <a:tc>
                  <a:txBody>
                    <a:bodyPr/>
                    <a:lstStyle/>
                    <a:p>
                      <a:pPr algn="r"/>
                      <a:r>
                        <a:rPr lang="en-US" dirty="0"/>
                        <a:t>15.79</a:t>
                      </a:r>
                    </a:p>
                  </a:txBody>
                  <a:tcPr/>
                </a:tc>
                <a:tc>
                  <a:txBody>
                    <a:bodyPr/>
                    <a:lstStyle/>
                    <a:p>
                      <a:pPr algn="r"/>
                      <a:r>
                        <a:rPr lang="en-US" dirty="0"/>
                        <a:t>0.00</a:t>
                      </a:r>
                    </a:p>
                  </a:txBody>
                  <a:tcPr/>
                </a:tc>
                <a:extLst>
                  <a:ext uri="{0D108BD9-81ED-4DB2-BD59-A6C34878D82A}">
                    <a16:rowId xmlns:a16="http://schemas.microsoft.com/office/drawing/2014/main" val="757130771"/>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CTSA with Driveway Content Added</a:t>
                      </a:r>
                    </a:p>
                  </a:txBody>
                  <a:tcPr/>
                </a:tc>
                <a:tc>
                  <a:txBody>
                    <a:bodyPr/>
                    <a:lstStyle/>
                    <a:p>
                      <a:pPr algn="r"/>
                      <a:r>
                        <a:rPr lang="en-US" dirty="0"/>
                        <a:t>8.64</a:t>
                      </a:r>
                    </a:p>
                  </a:txBody>
                  <a:tcPr/>
                </a:tc>
                <a:tc>
                  <a:txBody>
                    <a:bodyPr/>
                    <a:lstStyle/>
                    <a:p>
                      <a:pPr algn="r"/>
                      <a:r>
                        <a:rPr lang="en-US" dirty="0"/>
                        <a:t>17.07</a:t>
                      </a:r>
                    </a:p>
                  </a:txBody>
                  <a:tcPr/>
                </a:tc>
                <a:tc>
                  <a:txBody>
                    <a:bodyPr/>
                    <a:lstStyle/>
                    <a:p>
                      <a:pPr algn="r"/>
                      <a:r>
                        <a:rPr lang="en-US" dirty="0"/>
                        <a:t>0.20</a:t>
                      </a:r>
                    </a:p>
                  </a:txBody>
                  <a:tcPr/>
                </a:tc>
                <a:extLst>
                  <a:ext uri="{0D108BD9-81ED-4DB2-BD59-A6C34878D82A}">
                    <a16:rowId xmlns:a16="http://schemas.microsoft.com/office/drawing/2014/main" val="3280586737"/>
                  </a:ext>
                </a:extLst>
              </a:tr>
            </a:tbl>
          </a:graphicData>
        </a:graphic>
      </p:graphicFrame>
      <p:sp>
        <p:nvSpPr>
          <p:cNvPr id="3" name="TextBox 2">
            <a:extLst>
              <a:ext uri="{FF2B5EF4-FFF2-40B4-BE49-F238E27FC236}">
                <a16:creationId xmlns:a16="http://schemas.microsoft.com/office/drawing/2014/main" id="{32E01FEC-FE73-85E0-92DE-F1B1ACCA4A6F}"/>
              </a:ext>
            </a:extLst>
          </p:cNvPr>
          <p:cNvSpPr txBox="1"/>
          <p:nvPr/>
        </p:nvSpPr>
        <p:spPr>
          <a:xfrm>
            <a:off x="1137055" y="4348264"/>
            <a:ext cx="8128000" cy="523220"/>
          </a:xfrm>
          <a:prstGeom prst="rect">
            <a:avLst/>
          </a:prstGeom>
          <a:noFill/>
        </p:spPr>
        <p:txBody>
          <a:bodyPr wrap="square" rtlCol="0">
            <a:spAutoFit/>
          </a:bodyPr>
          <a:lstStyle/>
          <a:p>
            <a:r>
              <a:rPr lang="en-US" dirty="0"/>
              <a:t>Values are low because </a:t>
            </a:r>
            <a:r>
              <a:rPr lang="en-US" dirty="0" err="1"/>
              <a:t>LangExtract</a:t>
            </a:r>
            <a:r>
              <a:rPr lang="en-US" dirty="0"/>
              <a:t> had to be used to create the ground truth and its flat graph does not match well with the semantically rich graph from Mnemosyne.</a:t>
            </a:r>
          </a:p>
        </p:txBody>
      </p:sp>
    </p:spTree>
    <p:extLst>
      <p:ext uri="{BB962C8B-B14F-4D97-AF65-F5344CB8AC3E}">
        <p14:creationId xmlns:p14="http://schemas.microsoft.com/office/powerpoint/2010/main" val="2571268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F04EA-7455-86A4-DD24-B1C84F6A5F5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9F18C2-4577-ACC7-F567-0C26F8CA0B00}"/>
              </a:ext>
            </a:extLst>
          </p:cNvPr>
          <p:cNvSpPr>
            <a:spLocks noGrp="1"/>
          </p:cNvSpPr>
          <p:nvPr>
            <p:ph type="title"/>
          </p:nvPr>
        </p:nvSpPr>
        <p:spPr/>
        <p:txBody>
          <a:bodyPr/>
          <a:lstStyle/>
          <a:p>
            <a:r>
              <a:rPr lang="en-US" dirty="0"/>
              <a:t>Key Findings</a:t>
            </a:r>
          </a:p>
        </p:txBody>
      </p:sp>
      <p:graphicFrame>
        <p:nvGraphicFramePr>
          <p:cNvPr id="5" name="Table 4">
            <a:extLst>
              <a:ext uri="{FF2B5EF4-FFF2-40B4-BE49-F238E27FC236}">
                <a16:creationId xmlns:a16="http://schemas.microsoft.com/office/drawing/2014/main" id="{8C8A9848-644F-004D-EE4A-E81FBB3ACBF8}"/>
              </a:ext>
            </a:extLst>
          </p:cNvPr>
          <p:cNvGraphicFramePr>
            <a:graphicFrameLocks noGrp="1"/>
          </p:cNvGraphicFramePr>
          <p:nvPr>
            <p:extLst>
              <p:ext uri="{D42A27DB-BD31-4B8C-83A1-F6EECF244321}">
                <p14:modId xmlns:p14="http://schemas.microsoft.com/office/powerpoint/2010/main" val="3040429871"/>
              </p:ext>
            </p:extLst>
          </p:nvPr>
        </p:nvGraphicFramePr>
        <p:xfrm>
          <a:off x="1127328" y="1485685"/>
          <a:ext cx="8532238" cy="4069080"/>
        </p:xfrm>
        <a:graphic>
          <a:graphicData uri="http://schemas.openxmlformats.org/drawingml/2006/table">
            <a:tbl>
              <a:tblPr firstRow="1" bandRow="1">
                <a:tableStyleId>{5C22544A-7EE6-4342-B048-85BDC9FD1C3A}</a:tableStyleId>
              </a:tblPr>
              <a:tblGrid>
                <a:gridCol w="2114905">
                  <a:extLst>
                    <a:ext uri="{9D8B030D-6E8A-4147-A177-3AD203B41FA5}">
                      <a16:colId xmlns:a16="http://schemas.microsoft.com/office/drawing/2014/main" val="3388187049"/>
                    </a:ext>
                  </a:extLst>
                </a:gridCol>
                <a:gridCol w="1290856">
                  <a:extLst>
                    <a:ext uri="{9D8B030D-6E8A-4147-A177-3AD203B41FA5}">
                      <a16:colId xmlns:a16="http://schemas.microsoft.com/office/drawing/2014/main" val="3276213425"/>
                    </a:ext>
                  </a:extLst>
                </a:gridCol>
                <a:gridCol w="1342417">
                  <a:extLst>
                    <a:ext uri="{9D8B030D-6E8A-4147-A177-3AD203B41FA5}">
                      <a16:colId xmlns:a16="http://schemas.microsoft.com/office/drawing/2014/main" val="3608817236"/>
                    </a:ext>
                  </a:extLst>
                </a:gridCol>
                <a:gridCol w="1536971">
                  <a:extLst>
                    <a:ext uri="{9D8B030D-6E8A-4147-A177-3AD203B41FA5}">
                      <a16:colId xmlns:a16="http://schemas.microsoft.com/office/drawing/2014/main" val="1363746767"/>
                    </a:ext>
                  </a:extLst>
                </a:gridCol>
                <a:gridCol w="836578">
                  <a:extLst>
                    <a:ext uri="{9D8B030D-6E8A-4147-A177-3AD203B41FA5}">
                      <a16:colId xmlns:a16="http://schemas.microsoft.com/office/drawing/2014/main" val="2236669962"/>
                    </a:ext>
                  </a:extLst>
                </a:gridCol>
                <a:gridCol w="1410511">
                  <a:extLst>
                    <a:ext uri="{9D8B030D-6E8A-4147-A177-3AD203B41FA5}">
                      <a16:colId xmlns:a16="http://schemas.microsoft.com/office/drawing/2014/main" val="630458090"/>
                    </a:ext>
                  </a:extLst>
                </a:gridCol>
              </a:tblGrid>
              <a:tr h="370840">
                <a:tc>
                  <a:txBody>
                    <a:bodyPr/>
                    <a:lstStyle/>
                    <a:p>
                      <a:r>
                        <a:rPr lang="en-US" dirty="0"/>
                        <a:t>Document</a:t>
                      </a:r>
                    </a:p>
                  </a:txBody>
                  <a:tcPr/>
                </a:tc>
                <a:tc>
                  <a:txBody>
                    <a:bodyPr/>
                    <a:lstStyle/>
                    <a:p>
                      <a:r>
                        <a:rPr lang="en-US" dirty="0"/>
                        <a:t>Total Paragraph Count</a:t>
                      </a:r>
                    </a:p>
                  </a:txBody>
                  <a:tcPr/>
                </a:tc>
                <a:tc>
                  <a:txBody>
                    <a:bodyPr/>
                    <a:lstStyle/>
                    <a:p>
                      <a:r>
                        <a:rPr lang="en-US" dirty="0"/>
                        <a:t>Discovered Nodes</a:t>
                      </a:r>
                    </a:p>
                  </a:txBody>
                  <a:tcPr/>
                </a:tc>
                <a:tc>
                  <a:txBody>
                    <a:bodyPr/>
                    <a:lstStyle/>
                    <a:p>
                      <a:r>
                        <a:rPr lang="en-US" dirty="0"/>
                        <a:t>Discovered Relationships</a:t>
                      </a:r>
                    </a:p>
                  </a:txBody>
                  <a:tcPr/>
                </a:tc>
                <a:tc>
                  <a:txBody>
                    <a:bodyPr/>
                    <a:lstStyle/>
                    <a:p>
                      <a:r>
                        <a:rPr lang="en-US" dirty="0"/>
                        <a:t>Final Nodes</a:t>
                      </a:r>
                    </a:p>
                  </a:txBody>
                  <a:tcPr/>
                </a:tc>
                <a:tc>
                  <a:txBody>
                    <a:bodyPr/>
                    <a:lstStyle/>
                    <a:p>
                      <a:r>
                        <a:rPr lang="en-US" dirty="0"/>
                        <a:t>Final Relationships</a:t>
                      </a:r>
                    </a:p>
                  </a:txBody>
                  <a:tcPr/>
                </a:tc>
                <a:extLst>
                  <a:ext uri="{0D108BD9-81ED-4DB2-BD59-A6C34878D82A}">
                    <a16:rowId xmlns:a16="http://schemas.microsoft.com/office/drawing/2014/main" val="3252975973"/>
                  </a:ext>
                </a:extLst>
              </a:tr>
              <a:tr h="370840">
                <a:tc>
                  <a:txBody>
                    <a:bodyPr/>
                    <a:lstStyle/>
                    <a:p>
                      <a:r>
                        <a:rPr lang="en-US" dirty="0"/>
                        <a:t>NER 1</a:t>
                      </a:r>
                    </a:p>
                  </a:txBody>
                  <a:tcPr/>
                </a:tc>
                <a:tc>
                  <a:txBody>
                    <a:bodyPr/>
                    <a:lstStyle/>
                    <a:p>
                      <a:pPr algn="r"/>
                      <a:r>
                        <a:rPr lang="en-US" dirty="0"/>
                        <a:t>21</a:t>
                      </a:r>
                    </a:p>
                  </a:txBody>
                  <a:tcPr/>
                </a:tc>
                <a:tc>
                  <a:txBody>
                    <a:bodyPr/>
                    <a:lstStyle/>
                    <a:p>
                      <a:pPr algn="r"/>
                      <a:r>
                        <a:rPr lang="en-US" dirty="0"/>
                        <a:t>67</a:t>
                      </a:r>
                    </a:p>
                  </a:txBody>
                  <a:tcPr/>
                </a:tc>
                <a:tc>
                  <a:txBody>
                    <a:bodyPr/>
                    <a:lstStyle/>
                    <a:p>
                      <a:pPr algn="r"/>
                      <a:r>
                        <a:rPr lang="en-US" dirty="0"/>
                        <a:t>133</a:t>
                      </a:r>
                    </a:p>
                  </a:txBody>
                  <a:tcPr/>
                </a:tc>
                <a:tc>
                  <a:txBody>
                    <a:bodyPr/>
                    <a:lstStyle/>
                    <a:p>
                      <a:pPr algn="r"/>
                      <a:r>
                        <a:rPr lang="en-US" dirty="0"/>
                        <a:t>84</a:t>
                      </a:r>
                    </a:p>
                  </a:txBody>
                  <a:tcPr/>
                </a:tc>
                <a:tc>
                  <a:txBody>
                    <a:bodyPr/>
                    <a:lstStyle/>
                    <a:p>
                      <a:pPr algn="r"/>
                      <a:r>
                        <a:rPr lang="en-US" dirty="0"/>
                        <a:t>228</a:t>
                      </a:r>
                    </a:p>
                  </a:txBody>
                  <a:tcPr/>
                </a:tc>
                <a:extLst>
                  <a:ext uri="{0D108BD9-81ED-4DB2-BD59-A6C34878D82A}">
                    <a16:rowId xmlns:a16="http://schemas.microsoft.com/office/drawing/2014/main" val="569132700"/>
                  </a:ext>
                </a:extLst>
              </a:tr>
              <a:tr h="370840">
                <a:tc>
                  <a:txBody>
                    <a:bodyPr/>
                    <a:lstStyle/>
                    <a:p>
                      <a:r>
                        <a:rPr lang="en-US" dirty="0"/>
                        <a:t>NER 2</a:t>
                      </a:r>
                    </a:p>
                  </a:txBody>
                  <a:tcPr/>
                </a:tc>
                <a:tc>
                  <a:txBody>
                    <a:bodyPr/>
                    <a:lstStyle/>
                    <a:p>
                      <a:pPr algn="r"/>
                      <a:r>
                        <a:rPr lang="en-US" dirty="0"/>
                        <a:t>20</a:t>
                      </a:r>
                    </a:p>
                  </a:txBody>
                  <a:tcPr/>
                </a:tc>
                <a:tc>
                  <a:txBody>
                    <a:bodyPr/>
                    <a:lstStyle/>
                    <a:p>
                      <a:pPr algn="r"/>
                      <a:r>
                        <a:rPr lang="en-US" dirty="0"/>
                        <a:t>63</a:t>
                      </a:r>
                    </a:p>
                  </a:txBody>
                  <a:tcPr/>
                </a:tc>
                <a:tc>
                  <a:txBody>
                    <a:bodyPr/>
                    <a:lstStyle/>
                    <a:p>
                      <a:pPr algn="r"/>
                      <a:r>
                        <a:rPr lang="en-US" dirty="0"/>
                        <a:t>124</a:t>
                      </a:r>
                    </a:p>
                  </a:txBody>
                  <a:tcPr/>
                </a:tc>
                <a:tc>
                  <a:txBody>
                    <a:bodyPr/>
                    <a:lstStyle/>
                    <a:p>
                      <a:pPr algn="r"/>
                      <a:r>
                        <a:rPr lang="en-US" dirty="0"/>
                        <a:t>90</a:t>
                      </a:r>
                    </a:p>
                  </a:txBody>
                  <a:tcPr/>
                </a:tc>
                <a:tc>
                  <a:txBody>
                    <a:bodyPr/>
                    <a:lstStyle/>
                    <a:p>
                      <a:pPr algn="r"/>
                      <a:r>
                        <a:rPr lang="en-US" dirty="0"/>
                        <a:t>233</a:t>
                      </a:r>
                    </a:p>
                  </a:txBody>
                  <a:tcPr/>
                </a:tc>
                <a:extLst>
                  <a:ext uri="{0D108BD9-81ED-4DB2-BD59-A6C34878D82A}">
                    <a16:rowId xmlns:a16="http://schemas.microsoft.com/office/drawing/2014/main" val="1644735533"/>
                  </a:ext>
                </a:extLst>
              </a:tr>
              <a:tr h="370840">
                <a:tc>
                  <a:txBody>
                    <a:bodyPr/>
                    <a:lstStyle/>
                    <a:p>
                      <a:r>
                        <a:rPr lang="en-US" dirty="0"/>
                        <a:t>NER 3</a:t>
                      </a:r>
                    </a:p>
                  </a:txBody>
                  <a:tcPr/>
                </a:tc>
                <a:tc>
                  <a:txBody>
                    <a:bodyPr/>
                    <a:lstStyle/>
                    <a:p>
                      <a:pPr algn="r"/>
                      <a:r>
                        <a:rPr lang="en-US" dirty="0"/>
                        <a:t>20</a:t>
                      </a:r>
                    </a:p>
                  </a:txBody>
                  <a:tcPr/>
                </a:tc>
                <a:tc>
                  <a:txBody>
                    <a:bodyPr/>
                    <a:lstStyle/>
                    <a:p>
                      <a:pPr algn="r"/>
                      <a:r>
                        <a:rPr lang="en-US" dirty="0"/>
                        <a:t>64</a:t>
                      </a:r>
                    </a:p>
                  </a:txBody>
                  <a:tcPr/>
                </a:tc>
                <a:tc>
                  <a:txBody>
                    <a:bodyPr/>
                    <a:lstStyle/>
                    <a:p>
                      <a:pPr algn="r"/>
                      <a:r>
                        <a:rPr lang="en-US" dirty="0"/>
                        <a:t>131</a:t>
                      </a:r>
                    </a:p>
                  </a:txBody>
                  <a:tcPr/>
                </a:tc>
                <a:tc>
                  <a:txBody>
                    <a:bodyPr/>
                    <a:lstStyle/>
                    <a:p>
                      <a:pPr algn="r"/>
                      <a:r>
                        <a:rPr lang="en-US" dirty="0"/>
                        <a:t>89</a:t>
                      </a:r>
                    </a:p>
                  </a:txBody>
                  <a:tcPr/>
                </a:tc>
                <a:tc>
                  <a:txBody>
                    <a:bodyPr/>
                    <a:lstStyle/>
                    <a:p>
                      <a:pPr algn="r"/>
                      <a:r>
                        <a:rPr lang="en-US" dirty="0"/>
                        <a:t>241</a:t>
                      </a:r>
                    </a:p>
                  </a:txBody>
                  <a:tcPr/>
                </a:tc>
                <a:extLst>
                  <a:ext uri="{0D108BD9-81ED-4DB2-BD59-A6C34878D82A}">
                    <a16:rowId xmlns:a16="http://schemas.microsoft.com/office/drawing/2014/main" val="4066793137"/>
                  </a:ext>
                </a:extLst>
              </a:tr>
              <a:tr h="370840">
                <a:tc>
                  <a:txBody>
                    <a:bodyPr/>
                    <a:lstStyle/>
                    <a:p>
                      <a:r>
                        <a:rPr lang="en-US" dirty="0"/>
                        <a:t>NER 4</a:t>
                      </a:r>
                    </a:p>
                  </a:txBody>
                  <a:tcPr/>
                </a:tc>
                <a:tc>
                  <a:txBody>
                    <a:bodyPr/>
                    <a:lstStyle/>
                    <a:p>
                      <a:pPr algn="r"/>
                      <a:r>
                        <a:rPr lang="en-US" dirty="0"/>
                        <a:t>33</a:t>
                      </a:r>
                    </a:p>
                  </a:txBody>
                  <a:tcPr/>
                </a:tc>
                <a:tc>
                  <a:txBody>
                    <a:bodyPr/>
                    <a:lstStyle/>
                    <a:p>
                      <a:pPr algn="r"/>
                      <a:r>
                        <a:rPr lang="en-US" dirty="0"/>
                        <a:t>104</a:t>
                      </a:r>
                    </a:p>
                  </a:txBody>
                  <a:tcPr/>
                </a:tc>
                <a:tc>
                  <a:txBody>
                    <a:bodyPr/>
                    <a:lstStyle/>
                    <a:p>
                      <a:pPr algn="r"/>
                      <a:r>
                        <a:rPr lang="en-US" dirty="0"/>
                        <a:t>205</a:t>
                      </a:r>
                    </a:p>
                  </a:txBody>
                  <a:tcPr/>
                </a:tc>
                <a:tc>
                  <a:txBody>
                    <a:bodyPr/>
                    <a:lstStyle/>
                    <a:p>
                      <a:pPr algn="r"/>
                      <a:r>
                        <a:rPr lang="en-US" dirty="0"/>
                        <a:t>127</a:t>
                      </a:r>
                    </a:p>
                  </a:txBody>
                  <a:tcPr/>
                </a:tc>
                <a:tc>
                  <a:txBody>
                    <a:bodyPr/>
                    <a:lstStyle/>
                    <a:p>
                      <a:pPr algn="r"/>
                      <a:r>
                        <a:rPr lang="en-US" dirty="0"/>
                        <a:t>352</a:t>
                      </a:r>
                    </a:p>
                  </a:txBody>
                  <a:tcPr/>
                </a:tc>
                <a:extLst>
                  <a:ext uri="{0D108BD9-81ED-4DB2-BD59-A6C34878D82A}">
                    <a16:rowId xmlns:a16="http://schemas.microsoft.com/office/drawing/2014/main" val="3418151966"/>
                  </a:ext>
                </a:extLst>
              </a:tr>
              <a:tr h="370840">
                <a:tc>
                  <a:txBody>
                    <a:bodyPr/>
                    <a:lstStyle/>
                    <a:p>
                      <a:r>
                        <a:rPr lang="en-US" dirty="0"/>
                        <a:t>CTSA – Base</a:t>
                      </a:r>
                    </a:p>
                  </a:txBody>
                  <a:tcPr/>
                </a:tc>
                <a:tc>
                  <a:txBody>
                    <a:bodyPr/>
                    <a:lstStyle/>
                    <a:p>
                      <a:pPr algn="r"/>
                      <a:r>
                        <a:rPr lang="en-US" dirty="0"/>
                        <a:t>1,259</a:t>
                      </a:r>
                    </a:p>
                  </a:txBody>
                  <a:tcPr/>
                </a:tc>
                <a:tc>
                  <a:txBody>
                    <a:bodyPr/>
                    <a:lstStyle/>
                    <a:p>
                      <a:pPr algn="r"/>
                      <a:r>
                        <a:rPr lang="en-US" dirty="0"/>
                        <a:t>1,091</a:t>
                      </a:r>
                    </a:p>
                  </a:txBody>
                  <a:tcPr/>
                </a:tc>
                <a:tc>
                  <a:txBody>
                    <a:bodyPr/>
                    <a:lstStyle/>
                    <a:p>
                      <a:pPr algn="r"/>
                      <a:r>
                        <a:rPr lang="en-US" dirty="0"/>
                        <a:t>2,017</a:t>
                      </a:r>
                    </a:p>
                  </a:txBody>
                  <a:tcPr/>
                </a:tc>
                <a:tc>
                  <a:txBody>
                    <a:bodyPr/>
                    <a:lstStyle/>
                    <a:p>
                      <a:pPr algn="r"/>
                      <a:r>
                        <a:rPr lang="en-US" dirty="0"/>
                        <a:t>1,256</a:t>
                      </a:r>
                    </a:p>
                  </a:txBody>
                  <a:tcPr/>
                </a:tc>
                <a:tc>
                  <a:txBody>
                    <a:bodyPr/>
                    <a:lstStyle/>
                    <a:p>
                      <a:pPr algn="r"/>
                      <a:r>
                        <a:rPr lang="en-US" dirty="0"/>
                        <a:t>3,268</a:t>
                      </a:r>
                    </a:p>
                  </a:txBody>
                  <a:tcPr/>
                </a:tc>
                <a:extLst>
                  <a:ext uri="{0D108BD9-81ED-4DB2-BD59-A6C34878D82A}">
                    <a16:rowId xmlns:a16="http://schemas.microsoft.com/office/drawing/2014/main" val="86937853"/>
                  </a:ext>
                </a:extLst>
              </a:tr>
              <a:tr h="370840">
                <a:tc>
                  <a:txBody>
                    <a:bodyPr/>
                    <a:lstStyle/>
                    <a:p>
                      <a:r>
                        <a:rPr lang="en-US" dirty="0"/>
                        <a:t>CTSA – Remove</a:t>
                      </a:r>
                    </a:p>
                  </a:txBody>
                  <a:tcPr/>
                </a:tc>
                <a:tc>
                  <a:txBody>
                    <a:bodyPr/>
                    <a:lstStyle/>
                    <a:p>
                      <a:pPr algn="r"/>
                      <a:r>
                        <a:rPr lang="en-US" dirty="0"/>
                        <a:t>No EDA</a:t>
                      </a:r>
                    </a:p>
                  </a:txBody>
                  <a:tcPr/>
                </a:tc>
                <a:tc>
                  <a:txBody>
                    <a:bodyPr/>
                    <a:lstStyle/>
                    <a:p>
                      <a:pPr algn="r"/>
                      <a:r>
                        <a:rPr lang="en-US" dirty="0"/>
                        <a:t>986</a:t>
                      </a:r>
                    </a:p>
                  </a:txBody>
                  <a:tcPr/>
                </a:tc>
                <a:tc>
                  <a:txBody>
                    <a:bodyPr/>
                    <a:lstStyle/>
                    <a:p>
                      <a:pPr algn="r"/>
                      <a:r>
                        <a:rPr lang="en-US" dirty="0"/>
                        <a:t>1,955</a:t>
                      </a:r>
                    </a:p>
                  </a:txBody>
                  <a:tcPr/>
                </a:tc>
                <a:tc>
                  <a:txBody>
                    <a:bodyPr/>
                    <a:lstStyle/>
                    <a:p>
                      <a:pPr algn="r"/>
                      <a:r>
                        <a:rPr lang="en-US" dirty="0"/>
                        <a:t>1,133</a:t>
                      </a:r>
                    </a:p>
                  </a:txBody>
                  <a:tcPr/>
                </a:tc>
                <a:tc>
                  <a:txBody>
                    <a:bodyPr/>
                    <a:lstStyle/>
                    <a:p>
                      <a:pPr algn="r"/>
                      <a:r>
                        <a:rPr lang="en-US" dirty="0"/>
                        <a:t>3,099</a:t>
                      </a:r>
                    </a:p>
                  </a:txBody>
                  <a:tcPr/>
                </a:tc>
                <a:extLst>
                  <a:ext uri="{0D108BD9-81ED-4DB2-BD59-A6C34878D82A}">
                    <a16:rowId xmlns:a16="http://schemas.microsoft.com/office/drawing/2014/main" val="104440598"/>
                  </a:ext>
                </a:extLst>
              </a:tr>
              <a:tr h="370840">
                <a:tc>
                  <a:txBody>
                    <a:bodyPr/>
                    <a:lstStyle/>
                    <a:p>
                      <a:r>
                        <a:rPr lang="en-US" dirty="0"/>
                        <a:t>CTSA – Add Sewer</a:t>
                      </a:r>
                    </a:p>
                  </a:txBody>
                  <a:tcPr/>
                </a:tc>
                <a:tc>
                  <a:txBody>
                    <a:bodyPr/>
                    <a:lstStyle/>
                    <a:p>
                      <a:pPr algn="r"/>
                      <a:r>
                        <a:rPr lang="en-US" dirty="0"/>
                        <a:t>No EDA</a:t>
                      </a:r>
                    </a:p>
                  </a:txBody>
                  <a:tcPr/>
                </a:tc>
                <a:tc>
                  <a:txBody>
                    <a:bodyPr/>
                    <a:lstStyle/>
                    <a:p>
                      <a:pPr algn="r"/>
                      <a:r>
                        <a:rPr lang="en-US" dirty="0"/>
                        <a:t>1.095</a:t>
                      </a:r>
                    </a:p>
                  </a:txBody>
                  <a:tcPr/>
                </a:tc>
                <a:tc>
                  <a:txBody>
                    <a:bodyPr/>
                    <a:lstStyle/>
                    <a:p>
                      <a:pPr algn="r"/>
                      <a:r>
                        <a:rPr lang="en-US" dirty="0"/>
                        <a:t>2,115</a:t>
                      </a:r>
                    </a:p>
                  </a:txBody>
                  <a:tcPr/>
                </a:tc>
                <a:tc>
                  <a:txBody>
                    <a:bodyPr/>
                    <a:lstStyle/>
                    <a:p>
                      <a:pPr algn="r"/>
                      <a:r>
                        <a:rPr lang="en-US" dirty="0"/>
                        <a:t>1,256</a:t>
                      </a:r>
                    </a:p>
                  </a:txBody>
                  <a:tcPr/>
                </a:tc>
                <a:tc>
                  <a:txBody>
                    <a:bodyPr/>
                    <a:lstStyle/>
                    <a:p>
                      <a:pPr algn="r"/>
                      <a:r>
                        <a:rPr lang="en-US" dirty="0"/>
                        <a:t>3,366</a:t>
                      </a:r>
                    </a:p>
                  </a:txBody>
                  <a:tcPr/>
                </a:tc>
                <a:extLst>
                  <a:ext uri="{0D108BD9-81ED-4DB2-BD59-A6C34878D82A}">
                    <a16:rowId xmlns:a16="http://schemas.microsoft.com/office/drawing/2014/main" val="3574036462"/>
                  </a:ext>
                </a:extLst>
              </a:tr>
              <a:tr h="370840">
                <a:tc>
                  <a:txBody>
                    <a:bodyPr/>
                    <a:lstStyle/>
                    <a:p>
                      <a:r>
                        <a:rPr lang="en-US" dirty="0"/>
                        <a:t>CTSA – Add Driveway</a:t>
                      </a:r>
                    </a:p>
                  </a:txBody>
                  <a:tcPr/>
                </a:tc>
                <a:tc>
                  <a:txBody>
                    <a:bodyPr/>
                    <a:lstStyle/>
                    <a:p>
                      <a:pPr algn="r"/>
                      <a:r>
                        <a:rPr lang="en-US" dirty="0"/>
                        <a:t>No EDA</a:t>
                      </a:r>
                    </a:p>
                  </a:txBody>
                  <a:tcPr/>
                </a:tc>
                <a:tc>
                  <a:txBody>
                    <a:bodyPr/>
                    <a:lstStyle/>
                    <a:p>
                      <a:pPr algn="r"/>
                      <a:r>
                        <a:rPr lang="en-US" dirty="0"/>
                        <a:t>1,072</a:t>
                      </a:r>
                    </a:p>
                  </a:txBody>
                  <a:tcPr/>
                </a:tc>
                <a:tc>
                  <a:txBody>
                    <a:bodyPr/>
                    <a:lstStyle/>
                    <a:p>
                      <a:pPr algn="r"/>
                      <a:r>
                        <a:rPr lang="en-US" dirty="0"/>
                        <a:t>1,884</a:t>
                      </a:r>
                    </a:p>
                  </a:txBody>
                  <a:tcPr/>
                </a:tc>
                <a:tc>
                  <a:txBody>
                    <a:bodyPr/>
                    <a:lstStyle/>
                    <a:p>
                      <a:pPr algn="r"/>
                      <a:r>
                        <a:rPr lang="en-US" dirty="0"/>
                        <a:t>1,228</a:t>
                      </a:r>
                    </a:p>
                  </a:txBody>
                  <a:tcPr/>
                </a:tc>
                <a:tc>
                  <a:txBody>
                    <a:bodyPr/>
                    <a:lstStyle/>
                    <a:p>
                      <a:pPr algn="r"/>
                      <a:r>
                        <a:rPr lang="en-US" dirty="0"/>
                        <a:t>3,098</a:t>
                      </a:r>
                    </a:p>
                  </a:txBody>
                  <a:tcPr/>
                </a:tc>
                <a:extLst>
                  <a:ext uri="{0D108BD9-81ED-4DB2-BD59-A6C34878D82A}">
                    <a16:rowId xmlns:a16="http://schemas.microsoft.com/office/drawing/2014/main" val="1650942789"/>
                  </a:ext>
                </a:extLst>
              </a:tr>
              <a:tr h="370840">
                <a:tc>
                  <a:txBody>
                    <a:bodyPr/>
                    <a:lstStyle/>
                    <a:p>
                      <a:r>
                        <a:rPr lang="en-US" dirty="0"/>
                        <a:t>ET – Base</a:t>
                      </a:r>
                    </a:p>
                  </a:txBody>
                  <a:tcPr/>
                </a:tc>
                <a:tc>
                  <a:txBody>
                    <a:bodyPr/>
                    <a:lstStyle/>
                    <a:p>
                      <a:pPr algn="r"/>
                      <a:r>
                        <a:rPr lang="en-US" dirty="0"/>
                        <a:t>13,951</a:t>
                      </a:r>
                    </a:p>
                  </a:txBody>
                  <a:tcPr/>
                </a:tc>
                <a:tc>
                  <a:txBody>
                    <a:bodyPr/>
                    <a:lstStyle/>
                    <a:p>
                      <a:pPr algn="r"/>
                      <a:r>
                        <a:rPr lang="en-US" dirty="0"/>
                        <a:t>No Run</a:t>
                      </a:r>
                    </a:p>
                  </a:txBody>
                  <a:tcPr/>
                </a:tc>
                <a:tc>
                  <a:txBody>
                    <a:bodyPr/>
                    <a:lstStyle/>
                    <a:p>
                      <a:pPr algn="r"/>
                      <a:r>
                        <a:rPr lang="en-US" dirty="0"/>
                        <a:t>No Run</a:t>
                      </a:r>
                    </a:p>
                  </a:txBody>
                  <a:tcPr/>
                </a:tc>
                <a:tc>
                  <a:txBody>
                    <a:bodyPr/>
                    <a:lstStyle/>
                    <a:p>
                      <a:pPr algn="r"/>
                      <a:r>
                        <a:rPr lang="en-US" dirty="0"/>
                        <a:t>No Run</a:t>
                      </a:r>
                    </a:p>
                  </a:txBody>
                  <a:tcPr/>
                </a:tc>
                <a:tc>
                  <a:txBody>
                    <a:bodyPr/>
                    <a:lstStyle/>
                    <a:p>
                      <a:pPr algn="r"/>
                      <a:r>
                        <a:rPr lang="en-US" dirty="0"/>
                        <a:t>No Run</a:t>
                      </a:r>
                    </a:p>
                  </a:txBody>
                  <a:tcPr/>
                </a:tc>
                <a:extLst>
                  <a:ext uri="{0D108BD9-81ED-4DB2-BD59-A6C34878D82A}">
                    <a16:rowId xmlns:a16="http://schemas.microsoft.com/office/drawing/2014/main" val="3127683078"/>
                  </a:ext>
                </a:extLst>
              </a:tr>
            </a:tbl>
          </a:graphicData>
        </a:graphic>
      </p:graphicFrame>
      <p:sp>
        <p:nvSpPr>
          <p:cNvPr id="8" name="TextBox 7">
            <a:extLst>
              <a:ext uri="{FF2B5EF4-FFF2-40B4-BE49-F238E27FC236}">
                <a16:creationId xmlns:a16="http://schemas.microsoft.com/office/drawing/2014/main" id="{E6DB324A-E67E-ED7B-E603-CDCC37801D5F}"/>
              </a:ext>
            </a:extLst>
          </p:cNvPr>
          <p:cNvSpPr txBox="1"/>
          <p:nvPr/>
        </p:nvSpPr>
        <p:spPr>
          <a:xfrm>
            <a:off x="9932557" y="3764181"/>
            <a:ext cx="1614545" cy="507831"/>
          </a:xfrm>
          <a:prstGeom prst="rect">
            <a:avLst/>
          </a:prstGeom>
          <a:noFill/>
        </p:spPr>
        <p:txBody>
          <a:bodyPr wrap="none" rtlCol="0">
            <a:spAutoFit/>
          </a:bodyPr>
          <a:lstStyle/>
          <a:p>
            <a:r>
              <a:rPr lang="en-US" sz="900" b="1" dirty="0"/>
              <a:t>Sources:</a:t>
            </a:r>
          </a:p>
          <a:p>
            <a:r>
              <a:rPr lang="en-US" sz="900" dirty="0"/>
              <a:t>RUN_2025-09-10_01-51-12</a:t>
            </a:r>
          </a:p>
          <a:p>
            <a:r>
              <a:rPr lang="en-US" sz="900" dirty="0"/>
              <a:t>RUN_2025-09-19_01-48-36</a:t>
            </a:r>
          </a:p>
        </p:txBody>
      </p:sp>
    </p:spTree>
    <p:extLst>
      <p:ext uri="{BB962C8B-B14F-4D97-AF65-F5344CB8AC3E}">
        <p14:creationId xmlns:p14="http://schemas.microsoft.com/office/powerpoint/2010/main" val="375023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9D48A4E-4766-8568-90A3-8D46330A3B5D}"/>
              </a:ext>
            </a:extLst>
          </p:cNvPr>
          <p:cNvSpPr>
            <a:spLocks noGrp="1"/>
          </p:cNvSpPr>
          <p:nvPr>
            <p:ph type="body" idx="1"/>
          </p:nvPr>
        </p:nvSpPr>
        <p:spPr/>
        <p:txBody>
          <a:bodyPr>
            <a:normAutofit fontScale="77500" lnSpcReduction="20000"/>
          </a:bodyPr>
          <a:lstStyle/>
          <a:p>
            <a:pPr marL="685800" indent="-457200">
              <a:buFont typeface="Arial" panose="020B0604020202020204" pitchFamily="34" charset="0"/>
              <a:buChar char="•"/>
            </a:pPr>
            <a:r>
              <a:rPr lang="en-US" dirty="0"/>
              <a:t>The NDA example was synthesized from several actual cases of rejected NDAs</a:t>
            </a:r>
          </a:p>
          <a:p>
            <a:pPr marL="685800" indent="-457200">
              <a:buFont typeface="Arial" panose="020B0604020202020204" pitchFamily="34" charset="0"/>
              <a:buChar char="•"/>
            </a:pPr>
            <a:r>
              <a:rPr lang="en-US" dirty="0"/>
              <a:t>The actual cases are far more complicated</a:t>
            </a:r>
          </a:p>
          <a:p>
            <a:pPr marL="685800" indent="-457200">
              <a:buFont typeface="Arial" panose="020B0604020202020204" pitchFamily="34" charset="0"/>
              <a:buChar char="•"/>
            </a:pPr>
            <a:r>
              <a:rPr lang="en-US" dirty="0"/>
              <a:t>They all involve much more back and forth than a simple reject</a:t>
            </a:r>
          </a:p>
          <a:p>
            <a:pPr marL="685800" indent="-457200">
              <a:buFont typeface="Arial" panose="020B0604020202020204" pitchFamily="34" charset="0"/>
              <a:buChar char="•"/>
            </a:pPr>
            <a:r>
              <a:rPr lang="en-US" dirty="0"/>
              <a:t>One example is PTC Pharmaceuticals making claims, then stating that the evidence presented supported these claims, the FDA upon cursory review of the evidence showed that it could not support the claims and PTC removing the evidence and stating the claims stood by themselves. After more than a year, PTC admitted that evidence the presented was inconsistent with the claims. There is no public information I am aware of that indicates if PTC was aware of this inconsistency earlier.</a:t>
            </a:r>
          </a:p>
        </p:txBody>
      </p:sp>
      <p:sp>
        <p:nvSpPr>
          <p:cNvPr id="7" name="Title 6">
            <a:extLst>
              <a:ext uri="{FF2B5EF4-FFF2-40B4-BE49-F238E27FC236}">
                <a16:creationId xmlns:a16="http://schemas.microsoft.com/office/drawing/2014/main" id="{CDB6B112-D3D4-8B04-993B-DB317EC62526}"/>
              </a:ext>
            </a:extLst>
          </p:cNvPr>
          <p:cNvSpPr>
            <a:spLocks noGrp="1"/>
          </p:cNvSpPr>
          <p:nvPr>
            <p:ph type="title"/>
          </p:nvPr>
        </p:nvSpPr>
        <p:spPr/>
        <p:txBody>
          <a:bodyPr/>
          <a:lstStyle/>
          <a:p>
            <a:r>
              <a:rPr lang="en-US" dirty="0"/>
              <a:t>NDA Example</a:t>
            </a:r>
          </a:p>
        </p:txBody>
      </p:sp>
    </p:spTree>
    <p:extLst>
      <p:ext uri="{BB962C8B-B14F-4D97-AF65-F5344CB8AC3E}">
        <p14:creationId xmlns:p14="http://schemas.microsoft.com/office/powerpoint/2010/main" val="2090381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105D449-952A-732B-2653-BE6D30975CAC}"/>
              </a:ext>
            </a:extLst>
          </p:cNvPr>
          <p:cNvSpPr>
            <a:spLocks noGrp="1"/>
          </p:cNvSpPr>
          <p:nvPr>
            <p:ph type="body" idx="1"/>
          </p:nvPr>
        </p:nvSpPr>
        <p:spPr/>
        <p:txBody>
          <a:bodyPr>
            <a:normAutofit fontScale="70000" lnSpcReduction="20000"/>
          </a:bodyPr>
          <a:lstStyle/>
          <a:p>
            <a:r>
              <a:rPr lang="en-US" b="1" dirty="0"/>
              <a:t>Vanda Pharmaceuticals:</a:t>
            </a:r>
            <a:r>
              <a:rPr lang="en-US" dirty="0"/>
              <a:t> The FDA rejected Vanda's proposed dissolution specifications for both its drugs </a:t>
            </a:r>
            <a:r>
              <a:rPr lang="en-US" i="1" dirty="0" err="1"/>
              <a:t>Fanapt</a:t>
            </a:r>
            <a:r>
              <a:rPr lang="en-US" dirty="0"/>
              <a:t> and </a:t>
            </a:r>
            <a:r>
              <a:rPr lang="en-US" i="1" dirty="0" err="1"/>
              <a:t>Hetlioz</a:t>
            </a:r>
            <a:r>
              <a:rPr lang="en-US" dirty="0"/>
              <a:t> based on the data provided, requiring the company to adopt the FDA's alternative specification. In another instance, the FDA raised concerns about the "interpretability" of study data when rejecting a supplemental NDA for </a:t>
            </a:r>
            <a:r>
              <a:rPr lang="en-US" dirty="0" err="1"/>
              <a:t>pimavanserin</a:t>
            </a:r>
            <a:r>
              <a:rPr lang="en-US" dirty="0"/>
              <a:t> due to unclear clinical evidence.</a:t>
            </a:r>
          </a:p>
          <a:p>
            <a:r>
              <a:rPr lang="en-US" b="1" dirty="0"/>
              <a:t>PTC Therapeutics:</a:t>
            </a:r>
            <a:r>
              <a:rPr lang="en-US" dirty="0"/>
              <a:t> The FDA issued a Refusal to File letter for </a:t>
            </a:r>
            <a:r>
              <a:rPr lang="en-US" i="1" dirty="0" err="1"/>
              <a:t>Translarna</a:t>
            </a:r>
            <a:r>
              <a:rPr lang="en-US" dirty="0"/>
              <a:t> because both Phase 3 studies failed to meet their primary endpoints, suggesting insufficient and likely inconsistent data to permit a full review.</a:t>
            </a:r>
          </a:p>
          <a:p>
            <a:r>
              <a:rPr lang="en-US" b="1" dirty="0"/>
              <a:t>Zealand Pharma:</a:t>
            </a:r>
            <a:r>
              <a:rPr lang="en-US" dirty="0"/>
              <a:t> The NDA for </a:t>
            </a:r>
            <a:r>
              <a:rPr lang="en-US" dirty="0" err="1"/>
              <a:t>dasiglucagon</a:t>
            </a:r>
            <a:r>
              <a:rPr lang="en-US" dirty="0"/>
              <a:t> was rejected not for clinical data issues, but due to deficiencies found during an inspection at a third-party manufacturer, highlighting the importance of consistent quality across all aspects of the application. </a:t>
            </a:r>
          </a:p>
        </p:txBody>
      </p:sp>
      <p:sp>
        <p:nvSpPr>
          <p:cNvPr id="5" name="Title 4">
            <a:extLst>
              <a:ext uri="{FF2B5EF4-FFF2-40B4-BE49-F238E27FC236}">
                <a16:creationId xmlns:a16="http://schemas.microsoft.com/office/drawing/2014/main" id="{2525B6E5-448E-40DB-EB3D-48BE9171429C}"/>
              </a:ext>
            </a:extLst>
          </p:cNvPr>
          <p:cNvSpPr>
            <a:spLocks noGrp="1"/>
          </p:cNvSpPr>
          <p:nvPr>
            <p:ph type="title"/>
          </p:nvPr>
        </p:nvSpPr>
        <p:spPr/>
        <p:txBody>
          <a:bodyPr/>
          <a:lstStyle/>
          <a:p>
            <a:r>
              <a:rPr lang="en-US" dirty="0"/>
              <a:t>NDA Example</a:t>
            </a:r>
          </a:p>
        </p:txBody>
      </p:sp>
    </p:spTree>
    <p:extLst>
      <p:ext uri="{BB962C8B-B14F-4D97-AF65-F5344CB8AC3E}">
        <p14:creationId xmlns:p14="http://schemas.microsoft.com/office/powerpoint/2010/main" val="2218471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FCDD8-F88C-60EF-E023-564596BB7515}"/>
            </a:ext>
          </a:extLst>
        </p:cNvPr>
        <p:cNvGrpSpPr/>
        <p:nvPr/>
      </p:nvGrpSpPr>
      <p:grpSpPr>
        <a:xfrm>
          <a:off x="0" y="0"/>
          <a:ext cx="0" cy="0"/>
          <a:chOff x="0" y="0"/>
          <a:chExt cx="0" cy="0"/>
        </a:xfrm>
      </p:grpSpPr>
      <p:sp>
        <p:nvSpPr>
          <p:cNvPr id="97" name="Rectangle 96">
            <a:extLst>
              <a:ext uri="{FF2B5EF4-FFF2-40B4-BE49-F238E27FC236}">
                <a16:creationId xmlns:a16="http://schemas.microsoft.com/office/drawing/2014/main" id="{3E3BEB4B-93A3-4BAE-58DF-E728C188A3EA}"/>
              </a:ext>
            </a:extLst>
          </p:cNvPr>
          <p:cNvSpPr/>
          <p:nvPr/>
        </p:nvSpPr>
        <p:spPr>
          <a:xfrm>
            <a:off x="3822515" y="381680"/>
            <a:ext cx="6644960" cy="588381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Rectangle 1">
            <a:extLst>
              <a:ext uri="{FF2B5EF4-FFF2-40B4-BE49-F238E27FC236}">
                <a16:creationId xmlns:a16="http://schemas.microsoft.com/office/drawing/2014/main" id="{B1CF879C-8A58-77E8-61A1-B4C7A97B90E5}"/>
              </a:ext>
            </a:extLst>
          </p:cNvPr>
          <p:cNvSpPr/>
          <p:nvPr/>
        </p:nvSpPr>
        <p:spPr>
          <a:xfrm>
            <a:off x="1883391" y="4793549"/>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(P2)</a:t>
            </a:r>
          </a:p>
          <a:p>
            <a:pPr algn="ctr" defTabSz="813816">
              <a:spcAft>
                <a:spcPts val="600"/>
              </a:spcAft>
            </a:pPr>
            <a:r>
              <a:rPr lang="en-US" sz="1400" dirty="0">
                <a:solidFill>
                  <a:schemeClr val="tx1"/>
                </a:solidFill>
              </a:rPr>
              <a:t>Prompt</a:t>
            </a:r>
            <a:r>
              <a:rPr lang="en-US" sz="1400" kern="1200" dirty="0">
                <a:solidFill>
                  <a:schemeClr val="tx1"/>
                </a:solidFill>
                <a:latin typeface="+mn-lt"/>
                <a:ea typeface="+mn-ea"/>
                <a:cs typeface="+mn-cs"/>
              </a:rPr>
              <a:t> Processing</a:t>
            </a:r>
            <a:endParaRPr lang="en-US" sz="1400" dirty="0">
              <a:solidFill>
                <a:schemeClr val="tx1"/>
              </a:solidFill>
            </a:endParaRPr>
          </a:p>
        </p:txBody>
      </p:sp>
      <p:sp>
        <p:nvSpPr>
          <p:cNvPr id="6" name="Oval 5">
            <a:extLst>
              <a:ext uri="{FF2B5EF4-FFF2-40B4-BE49-F238E27FC236}">
                <a16:creationId xmlns:a16="http://schemas.microsoft.com/office/drawing/2014/main" id="{7E4EC2A5-F5C6-D6CC-2680-38996D895D89}"/>
              </a:ext>
            </a:extLst>
          </p:cNvPr>
          <p:cNvSpPr/>
          <p:nvPr/>
        </p:nvSpPr>
        <p:spPr>
          <a:xfrm>
            <a:off x="4099026" y="3604829"/>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a:t>
            </a:r>
            <a:r>
              <a:rPr lang="en-US" sz="1400" dirty="0">
                <a:solidFill>
                  <a:schemeClr val="tx1"/>
                </a:solidFill>
              </a:rPr>
              <a:t>3</a:t>
            </a:r>
            <a:r>
              <a:rPr lang="en-US" sz="1400" kern="1200" dirty="0">
                <a:solidFill>
                  <a:schemeClr val="tx1"/>
                </a:solidFill>
                <a:latin typeface="+mn-lt"/>
                <a:ea typeface="+mn-ea"/>
                <a:cs typeface="+mn-cs"/>
              </a:rPr>
              <a:t>)</a:t>
            </a:r>
          </a:p>
          <a:p>
            <a:pPr algn="ctr" defTabSz="813816">
              <a:spcAft>
                <a:spcPts val="600"/>
              </a:spcAft>
            </a:pPr>
            <a:r>
              <a:rPr lang="en-US" sz="1400" kern="1200" dirty="0">
                <a:solidFill>
                  <a:schemeClr val="tx1"/>
                </a:solidFill>
                <a:latin typeface="+mn-lt"/>
                <a:ea typeface="+mn-ea"/>
                <a:cs typeface="+mn-cs"/>
              </a:rPr>
              <a:t>Input Processing</a:t>
            </a:r>
            <a:endParaRPr lang="en-US" sz="1400" dirty="0">
              <a:solidFill>
                <a:schemeClr val="tx1"/>
              </a:solidFill>
            </a:endParaRPr>
          </a:p>
        </p:txBody>
      </p:sp>
      <p:sp>
        <p:nvSpPr>
          <p:cNvPr id="7" name="Oval 6">
            <a:extLst>
              <a:ext uri="{FF2B5EF4-FFF2-40B4-BE49-F238E27FC236}">
                <a16:creationId xmlns:a16="http://schemas.microsoft.com/office/drawing/2014/main" id="{BA0E06E1-55A9-F4F7-46FE-7A5B53DC3E81}"/>
              </a:ext>
            </a:extLst>
          </p:cNvPr>
          <p:cNvSpPr/>
          <p:nvPr/>
        </p:nvSpPr>
        <p:spPr>
          <a:xfrm>
            <a:off x="8703616" y="4199189"/>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a:t>
            </a:r>
            <a:r>
              <a:rPr lang="en-US" sz="1400" dirty="0">
                <a:solidFill>
                  <a:schemeClr val="tx1"/>
                </a:solidFill>
              </a:rPr>
              <a:t>P6</a:t>
            </a:r>
            <a:r>
              <a:rPr lang="en-US" sz="1400" kern="1200" dirty="0">
                <a:solidFill>
                  <a:schemeClr val="tx1"/>
                </a:solidFill>
                <a:latin typeface="+mn-lt"/>
                <a:ea typeface="+mn-ea"/>
                <a:cs typeface="+mn-cs"/>
              </a:rPr>
              <a:t>)</a:t>
            </a:r>
          </a:p>
          <a:p>
            <a:pPr algn="ctr" defTabSz="813816"/>
            <a:r>
              <a:rPr lang="en-US" sz="1400" kern="1200" dirty="0">
                <a:solidFill>
                  <a:schemeClr val="tx1"/>
                </a:solidFill>
                <a:latin typeface="+mn-lt"/>
                <a:ea typeface="+mn-ea"/>
                <a:cs typeface="+mn-cs"/>
              </a:rPr>
              <a:t>Response Processing</a:t>
            </a:r>
          </a:p>
          <a:p>
            <a:pPr algn="ctr" defTabSz="813816"/>
            <a:r>
              <a:rPr lang="en-US" sz="1400" dirty="0">
                <a:solidFill>
                  <a:schemeClr val="tx1"/>
                </a:solidFill>
              </a:rPr>
              <a:t>Agent</a:t>
            </a:r>
          </a:p>
        </p:txBody>
      </p:sp>
      <p:cxnSp>
        <p:nvCxnSpPr>
          <p:cNvPr id="8" name="Straight Arrow Connector 7">
            <a:extLst>
              <a:ext uri="{FF2B5EF4-FFF2-40B4-BE49-F238E27FC236}">
                <a16:creationId xmlns:a16="http://schemas.microsoft.com/office/drawing/2014/main" id="{3F0242E7-9EF6-7F33-33E2-A0F461822C3C}"/>
              </a:ext>
            </a:extLst>
          </p:cNvPr>
          <p:cNvCxnSpPr>
            <a:cxnSpLocks/>
            <a:stCxn id="2" idx="3"/>
            <a:endCxn id="6" idx="3"/>
          </p:cNvCxnSpPr>
          <p:nvPr/>
        </p:nvCxnSpPr>
        <p:spPr>
          <a:xfrm flipV="1">
            <a:off x="3254991" y="4619465"/>
            <a:ext cx="1085074" cy="631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59C99E5-1D54-B424-B54F-2A2F98C66616}"/>
              </a:ext>
            </a:extLst>
          </p:cNvPr>
          <p:cNvCxnSpPr>
            <a:cxnSpLocks/>
            <a:stCxn id="7" idx="7"/>
            <a:endCxn id="94" idx="1"/>
          </p:cNvCxnSpPr>
          <p:nvPr/>
        </p:nvCxnSpPr>
        <p:spPr>
          <a:xfrm flipV="1">
            <a:off x="10108497" y="3252803"/>
            <a:ext cx="627030" cy="11204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FCF291E-2ABC-3170-C5F1-4A1FC6054A42}"/>
              </a:ext>
            </a:extLst>
          </p:cNvPr>
          <p:cNvCxnSpPr>
            <a:cxnSpLocks/>
            <a:stCxn id="144" idx="4"/>
            <a:endCxn id="7" idx="2"/>
          </p:cNvCxnSpPr>
          <p:nvPr/>
        </p:nvCxnSpPr>
        <p:spPr>
          <a:xfrm>
            <a:off x="7395400" y="4373962"/>
            <a:ext cx="1308216" cy="4195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EC576EF-37BF-A410-32FC-0D2A3D5187F8}"/>
              </a:ext>
            </a:extLst>
          </p:cNvPr>
          <p:cNvCxnSpPr>
            <a:cxnSpLocks/>
            <a:stCxn id="6" idx="6"/>
            <a:endCxn id="144" idx="2"/>
          </p:cNvCxnSpPr>
          <p:nvPr/>
        </p:nvCxnSpPr>
        <p:spPr>
          <a:xfrm>
            <a:off x="5744946" y="4199189"/>
            <a:ext cx="377971" cy="174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5C5E61F-6D2D-FEFD-6CE5-C5BD34217924}"/>
              </a:ext>
            </a:extLst>
          </p:cNvPr>
          <p:cNvCxnSpPr>
            <a:cxnSpLocks/>
            <a:stCxn id="27" idx="0"/>
            <a:endCxn id="145" idx="3"/>
          </p:cNvCxnSpPr>
          <p:nvPr/>
        </p:nvCxnSpPr>
        <p:spPr>
          <a:xfrm flipH="1" flipV="1">
            <a:off x="6732242" y="1755459"/>
            <a:ext cx="16995" cy="73236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500603C-D91C-3477-E5AB-A3320069CF1A}"/>
              </a:ext>
            </a:extLst>
          </p:cNvPr>
          <p:cNvCxnSpPr>
            <a:cxnSpLocks/>
            <a:stCxn id="144" idx="1"/>
            <a:endCxn id="27" idx="2"/>
          </p:cNvCxnSpPr>
          <p:nvPr/>
        </p:nvCxnSpPr>
        <p:spPr>
          <a:xfrm flipH="1" flipV="1">
            <a:off x="6749237" y="3402226"/>
            <a:ext cx="9922" cy="446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1400EADA-0EBE-FBFE-B0F3-270DA2AE3235}"/>
              </a:ext>
            </a:extLst>
          </p:cNvPr>
          <p:cNvCxnSpPr>
            <a:cxnSpLocks/>
            <a:stCxn id="145" idx="2"/>
            <a:endCxn id="6" idx="0"/>
          </p:cNvCxnSpPr>
          <p:nvPr/>
        </p:nvCxnSpPr>
        <p:spPr>
          <a:xfrm rot="10800000" flipV="1">
            <a:off x="4921986" y="1230083"/>
            <a:ext cx="1174014" cy="237474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492355D-4F80-21CD-976B-D47F39F5A490}"/>
              </a:ext>
            </a:extLst>
          </p:cNvPr>
          <p:cNvCxnSpPr>
            <a:cxnSpLocks/>
            <a:stCxn id="51" idx="3"/>
            <a:endCxn id="6" idx="1"/>
          </p:cNvCxnSpPr>
          <p:nvPr/>
        </p:nvCxnSpPr>
        <p:spPr>
          <a:xfrm>
            <a:off x="3371030" y="2498112"/>
            <a:ext cx="969035" cy="12808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Flowchart: Multidocument 24">
            <a:extLst>
              <a:ext uri="{FF2B5EF4-FFF2-40B4-BE49-F238E27FC236}">
                <a16:creationId xmlns:a16="http://schemas.microsoft.com/office/drawing/2014/main" id="{04DA5563-8DAC-EC35-57B9-AC479F721185}"/>
              </a:ext>
            </a:extLst>
          </p:cNvPr>
          <p:cNvSpPr/>
          <p:nvPr/>
        </p:nvSpPr>
        <p:spPr>
          <a:xfrm>
            <a:off x="191499" y="1835280"/>
            <a:ext cx="1371600" cy="914400"/>
          </a:xfrm>
          <a:prstGeom prst="flowChartMulti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(D1)</a:t>
            </a:r>
          </a:p>
          <a:p>
            <a:pPr algn="ctr"/>
            <a:r>
              <a:rPr lang="en-US" sz="1400" dirty="0">
                <a:solidFill>
                  <a:schemeClr val="tx1"/>
                </a:solidFill>
              </a:rPr>
              <a:t>Documents</a:t>
            </a:r>
          </a:p>
        </p:txBody>
      </p:sp>
      <p:cxnSp>
        <p:nvCxnSpPr>
          <p:cNvPr id="26" name="Straight Arrow Connector 25">
            <a:extLst>
              <a:ext uri="{FF2B5EF4-FFF2-40B4-BE49-F238E27FC236}">
                <a16:creationId xmlns:a16="http://schemas.microsoft.com/office/drawing/2014/main" id="{8564BF5E-D4D7-59E1-7F20-C09593B582FC}"/>
              </a:ext>
            </a:extLst>
          </p:cNvPr>
          <p:cNvCxnSpPr>
            <a:cxnSpLocks/>
            <a:stCxn id="25" idx="3"/>
            <a:endCxn id="51" idx="1"/>
          </p:cNvCxnSpPr>
          <p:nvPr/>
        </p:nvCxnSpPr>
        <p:spPr>
          <a:xfrm>
            <a:off x="1563099" y="2292480"/>
            <a:ext cx="436331" cy="2056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57FE361-45FD-A945-34BC-95D69D4729F4}"/>
              </a:ext>
            </a:extLst>
          </p:cNvPr>
          <p:cNvSpPr/>
          <p:nvPr/>
        </p:nvSpPr>
        <p:spPr>
          <a:xfrm>
            <a:off x="6063437" y="2487826"/>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cxnSp>
        <p:nvCxnSpPr>
          <p:cNvPr id="31" name="Connector: Elbow 30">
            <a:extLst>
              <a:ext uri="{FF2B5EF4-FFF2-40B4-BE49-F238E27FC236}">
                <a16:creationId xmlns:a16="http://schemas.microsoft.com/office/drawing/2014/main" id="{10D8126E-B830-A84B-2A72-C800737C4066}"/>
              </a:ext>
            </a:extLst>
          </p:cNvPr>
          <p:cNvCxnSpPr>
            <a:cxnSpLocks/>
            <a:stCxn id="145" idx="1"/>
            <a:endCxn id="7" idx="0"/>
          </p:cNvCxnSpPr>
          <p:nvPr/>
        </p:nvCxnSpPr>
        <p:spPr>
          <a:xfrm rot="16200000" flipH="1">
            <a:off x="6382168" y="1054781"/>
            <a:ext cx="3494482" cy="2794334"/>
          </a:xfrm>
          <a:prstGeom prst="bentConnector3">
            <a:avLst>
              <a:gd name="adj1" fmla="val -654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C1C7C93-6244-458C-9653-3B0748D788C7}"/>
              </a:ext>
            </a:extLst>
          </p:cNvPr>
          <p:cNvCxnSpPr>
            <a:cxnSpLocks/>
            <a:stCxn id="19" idx="1"/>
            <a:endCxn id="145" idx="4"/>
          </p:cNvCxnSpPr>
          <p:nvPr/>
        </p:nvCxnSpPr>
        <p:spPr>
          <a:xfrm flipH="1" flipV="1">
            <a:off x="7368483" y="1230083"/>
            <a:ext cx="620034" cy="78624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7547C59C-E72D-BEA9-8B73-AE0038754C6E}"/>
              </a:ext>
            </a:extLst>
          </p:cNvPr>
          <p:cNvSpPr txBox="1"/>
          <p:nvPr/>
        </p:nvSpPr>
        <p:spPr>
          <a:xfrm>
            <a:off x="191499" y="376964"/>
            <a:ext cx="1954431" cy="110392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en-US" sz="1200" dirty="0"/>
          </a:p>
        </p:txBody>
      </p:sp>
      <p:cxnSp>
        <p:nvCxnSpPr>
          <p:cNvPr id="38" name="Straight Connector 37">
            <a:extLst>
              <a:ext uri="{FF2B5EF4-FFF2-40B4-BE49-F238E27FC236}">
                <a16:creationId xmlns:a16="http://schemas.microsoft.com/office/drawing/2014/main" id="{9744F470-54E8-6190-046A-6738D1D2D0CD}"/>
              </a:ext>
            </a:extLst>
          </p:cNvPr>
          <p:cNvCxnSpPr>
            <a:cxnSpLocks/>
          </p:cNvCxnSpPr>
          <p:nvPr/>
        </p:nvCxnSpPr>
        <p:spPr>
          <a:xfrm flipH="1">
            <a:off x="7797700" y="1915981"/>
            <a:ext cx="2167540" cy="4092725"/>
          </a:xfrm>
          <a:prstGeom prst="line">
            <a:avLst/>
          </a:prstGeom>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1744B6DC-AEE2-0372-1736-259AA2E06E92}"/>
              </a:ext>
            </a:extLst>
          </p:cNvPr>
          <p:cNvSpPr txBox="1"/>
          <p:nvPr/>
        </p:nvSpPr>
        <p:spPr>
          <a:xfrm>
            <a:off x="10832063" y="2102551"/>
            <a:ext cx="1037463" cy="276999"/>
          </a:xfrm>
          <a:prstGeom prst="rect">
            <a:avLst/>
          </a:prstGeom>
          <a:noFill/>
        </p:spPr>
        <p:txBody>
          <a:bodyPr wrap="none" rtlCol="0">
            <a:spAutoFit/>
          </a:bodyPr>
          <a:lstStyle/>
          <a:p>
            <a:r>
              <a:rPr lang="en-US" sz="1200" dirty="0">
                <a:solidFill>
                  <a:schemeClr val="accent2"/>
                </a:solidFill>
              </a:rPr>
              <a:t>Out of scope</a:t>
            </a:r>
          </a:p>
        </p:txBody>
      </p:sp>
      <p:sp>
        <p:nvSpPr>
          <p:cNvPr id="22" name="Flowchart: Document 21">
            <a:extLst>
              <a:ext uri="{FF2B5EF4-FFF2-40B4-BE49-F238E27FC236}">
                <a16:creationId xmlns:a16="http://schemas.microsoft.com/office/drawing/2014/main" id="{3D4CDF1D-33FC-B2C8-04FA-821E77A82EF0}"/>
              </a:ext>
            </a:extLst>
          </p:cNvPr>
          <p:cNvSpPr/>
          <p:nvPr/>
        </p:nvSpPr>
        <p:spPr>
          <a:xfrm>
            <a:off x="191499" y="4846075"/>
            <a:ext cx="1371600" cy="914400"/>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(D2)</a:t>
            </a:r>
          </a:p>
          <a:p>
            <a:pPr algn="ctr"/>
            <a:r>
              <a:rPr lang="en-US" sz="1400" dirty="0">
                <a:solidFill>
                  <a:schemeClr val="tx1"/>
                </a:solidFill>
              </a:rPr>
              <a:t>Prompts</a:t>
            </a:r>
          </a:p>
        </p:txBody>
      </p:sp>
      <p:cxnSp>
        <p:nvCxnSpPr>
          <p:cNvPr id="23" name="Straight Arrow Connector 22">
            <a:extLst>
              <a:ext uri="{FF2B5EF4-FFF2-40B4-BE49-F238E27FC236}">
                <a16:creationId xmlns:a16="http://schemas.microsoft.com/office/drawing/2014/main" id="{CC29E1F6-92F6-8E50-AE3D-059A7459C01B}"/>
              </a:ext>
            </a:extLst>
          </p:cNvPr>
          <p:cNvCxnSpPr>
            <a:cxnSpLocks/>
            <a:stCxn id="22" idx="3"/>
            <a:endCxn id="2" idx="1"/>
          </p:cNvCxnSpPr>
          <p:nvPr/>
        </p:nvCxnSpPr>
        <p:spPr>
          <a:xfrm flipV="1">
            <a:off x="1563099" y="5250749"/>
            <a:ext cx="320292" cy="52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4" name="Flowchart: Document 93">
            <a:extLst>
              <a:ext uri="{FF2B5EF4-FFF2-40B4-BE49-F238E27FC236}">
                <a16:creationId xmlns:a16="http://schemas.microsoft.com/office/drawing/2014/main" id="{7AAFFF08-B24F-6CAE-73C7-E1961012466E}"/>
              </a:ext>
            </a:extLst>
          </p:cNvPr>
          <p:cNvSpPr/>
          <p:nvPr/>
        </p:nvSpPr>
        <p:spPr>
          <a:xfrm>
            <a:off x="10735527" y="2795603"/>
            <a:ext cx="1371600" cy="914400"/>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(D3)</a:t>
            </a:r>
          </a:p>
          <a:p>
            <a:pPr algn="ctr"/>
            <a:r>
              <a:rPr lang="en-US" sz="1400" dirty="0">
                <a:solidFill>
                  <a:schemeClr val="tx1"/>
                </a:solidFill>
              </a:rPr>
              <a:t>Responses</a:t>
            </a:r>
          </a:p>
        </p:txBody>
      </p:sp>
      <p:cxnSp>
        <p:nvCxnSpPr>
          <p:cNvPr id="121" name="Straight Connector 120">
            <a:extLst>
              <a:ext uri="{FF2B5EF4-FFF2-40B4-BE49-F238E27FC236}">
                <a16:creationId xmlns:a16="http://schemas.microsoft.com/office/drawing/2014/main" id="{923B6526-C247-3B19-E35B-F4C71C5E9E3D}"/>
              </a:ext>
            </a:extLst>
          </p:cNvPr>
          <p:cNvCxnSpPr>
            <a:cxnSpLocks/>
          </p:cNvCxnSpPr>
          <p:nvPr/>
        </p:nvCxnSpPr>
        <p:spPr>
          <a:xfrm>
            <a:off x="2113424" y="3323588"/>
            <a:ext cx="3500936" cy="2545769"/>
          </a:xfrm>
          <a:prstGeom prst="line">
            <a:avLst/>
          </a:prstGeom>
        </p:spPr>
        <p:style>
          <a:lnRef idx="2">
            <a:schemeClr val="accent2"/>
          </a:lnRef>
          <a:fillRef idx="0">
            <a:schemeClr val="accent2"/>
          </a:fillRef>
          <a:effectRef idx="1">
            <a:schemeClr val="accent2"/>
          </a:effectRef>
          <a:fontRef idx="minor">
            <a:schemeClr val="tx1"/>
          </a:fontRef>
        </p:style>
      </p:cxnSp>
      <p:cxnSp>
        <p:nvCxnSpPr>
          <p:cNvPr id="126" name="Straight Connector 125">
            <a:extLst>
              <a:ext uri="{FF2B5EF4-FFF2-40B4-BE49-F238E27FC236}">
                <a16:creationId xmlns:a16="http://schemas.microsoft.com/office/drawing/2014/main" id="{36310D77-C505-0675-52BE-771AB05A89C7}"/>
              </a:ext>
            </a:extLst>
          </p:cNvPr>
          <p:cNvCxnSpPr>
            <a:cxnSpLocks/>
          </p:cNvCxnSpPr>
          <p:nvPr/>
        </p:nvCxnSpPr>
        <p:spPr>
          <a:xfrm>
            <a:off x="220107" y="3278313"/>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33" name="TextBox 132">
            <a:extLst>
              <a:ext uri="{FF2B5EF4-FFF2-40B4-BE49-F238E27FC236}">
                <a16:creationId xmlns:a16="http://schemas.microsoft.com/office/drawing/2014/main" id="{8BE3BF8F-B2F4-EE35-101B-2BDD18E4015F}"/>
              </a:ext>
            </a:extLst>
          </p:cNvPr>
          <p:cNvSpPr txBox="1"/>
          <p:nvPr/>
        </p:nvSpPr>
        <p:spPr>
          <a:xfrm>
            <a:off x="327328" y="3402226"/>
            <a:ext cx="1037463" cy="276999"/>
          </a:xfrm>
          <a:prstGeom prst="rect">
            <a:avLst/>
          </a:prstGeom>
          <a:noFill/>
        </p:spPr>
        <p:txBody>
          <a:bodyPr wrap="none" rtlCol="0">
            <a:spAutoFit/>
          </a:bodyPr>
          <a:lstStyle/>
          <a:p>
            <a:r>
              <a:rPr lang="en-US" sz="1200" dirty="0">
                <a:solidFill>
                  <a:schemeClr val="accent2"/>
                </a:solidFill>
              </a:rPr>
              <a:t>Out of scope</a:t>
            </a:r>
          </a:p>
        </p:txBody>
      </p:sp>
      <p:cxnSp>
        <p:nvCxnSpPr>
          <p:cNvPr id="134" name="Straight Connector 133">
            <a:extLst>
              <a:ext uri="{FF2B5EF4-FFF2-40B4-BE49-F238E27FC236}">
                <a16:creationId xmlns:a16="http://schemas.microsoft.com/office/drawing/2014/main" id="{45276407-0586-E3B4-B3DE-855A95C2FC13}"/>
              </a:ext>
            </a:extLst>
          </p:cNvPr>
          <p:cNvCxnSpPr>
            <a:cxnSpLocks/>
          </p:cNvCxnSpPr>
          <p:nvPr/>
        </p:nvCxnSpPr>
        <p:spPr>
          <a:xfrm>
            <a:off x="9951694" y="1915981"/>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44" name="Flowchart: Magnetic Disk 143">
            <a:extLst>
              <a:ext uri="{FF2B5EF4-FFF2-40B4-BE49-F238E27FC236}">
                <a16:creationId xmlns:a16="http://schemas.microsoft.com/office/drawing/2014/main" id="{D894D678-5C50-B2DB-71D8-FDD23C94FA35}"/>
              </a:ext>
            </a:extLst>
          </p:cNvPr>
          <p:cNvSpPr/>
          <p:nvPr/>
        </p:nvSpPr>
        <p:spPr>
          <a:xfrm>
            <a:off x="6122917" y="3848586"/>
            <a:ext cx="1272483" cy="1050752"/>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p:txBody>
      </p:sp>
      <p:sp>
        <p:nvSpPr>
          <p:cNvPr id="145" name="Flowchart: Magnetic Disk 144">
            <a:extLst>
              <a:ext uri="{FF2B5EF4-FFF2-40B4-BE49-F238E27FC236}">
                <a16:creationId xmlns:a16="http://schemas.microsoft.com/office/drawing/2014/main" id="{E7B6E9BC-7E89-BBF6-9081-AB7DFBDEAC45}"/>
              </a:ext>
            </a:extLst>
          </p:cNvPr>
          <p:cNvSpPr/>
          <p:nvPr/>
        </p:nvSpPr>
        <p:spPr>
          <a:xfrm>
            <a:off x="6096000" y="704707"/>
            <a:ext cx="1272483" cy="1050752"/>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(KG2)</a:t>
            </a:r>
          </a:p>
          <a:p>
            <a:pPr algn="ctr"/>
            <a:r>
              <a:rPr lang="en-US" sz="1400" dirty="0">
                <a:solidFill>
                  <a:schemeClr val="tx1"/>
                </a:solidFill>
              </a:rPr>
              <a:t>Long-Term Memory</a:t>
            </a:r>
          </a:p>
        </p:txBody>
      </p:sp>
      <p:sp>
        <p:nvSpPr>
          <p:cNvPr id="5" name="Flowchart: Document 4">
            <a:extLst>
              <a:ext uri="{FF2B5EF4-FFF2-40B4-BE49-F238E27FC236}">
                <a16:creationId xmlns:a16="http://schemas.microsoft.com/office/drawing/2014/main" id="{4B30121F-46FD-9594-4E08-1A74F6800A7C}"/>
              </a:ext>
            </a:extLst>
          </p:cNvPr>
          <p:cNvSpPr/>
          <p:nvPr/>
        </p:nvSpPr>
        <p:spPr>
          <a:xfrm>
            <a:off x="368315" y="471393"/>
            <a:ext cx="156410" cy="180474"/>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5B46B65A-7810-F3C7-3196-34B4A16DC144}"/>
              </a:ext>
            </a:extLst>
          </p:cNvPr>
          <p:cNvSpPr txBox="1"/>
          <p:nvPr/>
        </p:nvSpPr>
        <p:spPr>
          <a:xfrm>
            <a:off x="533716" y="376964"/>
            <a:ext cx="1465338" cy="276999"/>
          </a:xfrm>
          <a:prstGeom prst="rect">
            <a:avLst/>
          </a:prstGeom>
          <a:noFill/>
        </p:spPr>
        <p:txBody>
          <a:bodyPr wrap="none" rtlCol="0">
            <a:spAutoFit/>
          </a:bodyPr>
          <a:lstStyle/>
          <a:p>
            <a:r>
              <a:rPr lang="en-US" sz="1200" dirty="0"/>
              <a:t>User Input / Output</a:t>
            </a:r>
          </a:p>
        </p:txBody>
      </p:sp>
      <p:sp>
        <p:nvSpPr>
          <p:cNvPr id="13" name="Rectangle 20">
            <a:extLst>
              <a:ext uri="{FF2B5EF4-FFF2-40B4-BE49-F238E27FC236}">
                <a16:creationId xmlns:a16="http://schemas.microsoft.com/office/drawing/2014/main" id="{F8E8E75A-0640-D07E-C1AF-8E4CB542F94A}"/>
              </a:ext>
            </a:extLst>
          </p:cNvPr>
          <p:cNvSpPr/>
          <p:nvPr/>
        </p:nvSpPr>
        <p:spPr>
          <a:xfrm>
            <a:off x="332965" y="703794"/>
            <a:ext cx="227109" cy="163643"/>
          </a:xfrm>
          <a:custGeom>
            <a:avLst/>
            <a:gdLst>
              <a:gd name="connsiteX0" fmla="*/ 0 w 1317090"/>
              <a:gd name="connsiteY0" fmla="*/ 0 h 770795"/>
              <a:gd name="connsiteX1" fmla="*/ 1317090 w 1317090"/>
              <a:gd name="connsiteY1" fmla="*/ 0 h 770795"/>
              <a:gd name="connsiteX2" fmla="*/ 1317090 w 1317090"/>
              <a:gd name="connsiteY2" fmla="*/ 770795 h 770795"/>
              <a:gd name="connsiteX3" fmla="*/ 0 w 1317090"/>
              <a:gd name="connsiteY3" fmla="*/ 770795 h 770795"/>
              <a:gd name="connsiteX4" fmla="*/ 0 w 1317090"/>
              <a:gd name="connsiteY4" fmla="*/ 0 h 770795"/>
              <a:gd name="connsiteX0" fmla="*/ 0 w 1317090"/>
              <a:gd name="connsiteY0" fmla="*/ 638 h 771433"/>
              <a:gd name="connsiteX1" fmla="*/ 309711 w 1317090"/>
              <a:gd name="connsiteY1" fmla="*/ 0 h 771433"/>
              <a:gd name="connsiteX2" fmla="*/ 1317090 w 1317090"/>
              <a:gd name="connsiteY2" fmla="*/ 638 h 771433"/>
              <a:gd name="connsiteX3" fmla="*/ 1317090 w 1317090"/>
              <a:gd name="connsiteY3" fmla="*/ 771433 h 771433"/>
              <a:gd name="connsiteX4" fmla="*/ 0 w 1317090"/>
              <a:gd name="connsiteY4" fmla="*/ 771433 h 771433"/>
              <a:gd name="connsiteX5" fmla="*/ 0 w 1317090"/>
              <a:gd name="connsiteY5" fmla="*/ 638 h 77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7090" h="771433">
                <a:moveTo>
                  <a:pt x="0" y="638"/>
                </a:moveTo>
                <a:lnTo>
                  <a:pt x="309711" y="0"/>
                </a:lnTo>
                <a:lnTo>
                  <a:pt x="1317090" y="638"/>
                </a:lnTo>
                <a:lnTo>
                  <a:pt x="1317090" y="771433"/>
                </a:lnTo>
                <a:lnTo>
                  <a:pt x="0" y="771433"/>
                </a:lnTo>
                <a:lnTo>
                  <a:pt x="0" y="638"/>
                </a:lnTo>
                <a:close/>
              </a:path>
            </a:pathLst>
          </a:cu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endParaRPr lang="en-US" sz="1200" dirty="0">
              <a:solidFill>
                <a:schemeClr val="bg1"/>
              </a:solidFill>
            </a:endParaRPr>
          </a:p>
        </p:txBody>
      </p:sp>
      <p:sp>
        <p:nvSpPr>
          <p:cNvPr id="14" name="TextBox 13">
            <a:extLst>
              <a:ext uri="{FF2B5EF4-FFF2-40B4-BE49-F238E27FC236}">
                <a16:creationId xmlns:a16="http://schemas.microsoft.com/office/drawing/2014/main" id="{F04984C7-0040-5656-76A3-74142F630B14}"/>
              </a:ext>
            </a:extLst>
          </p:cNvPr>
          <p:cNvSpPr txBox="1"/>
          <p:nvPr/>
        </p:nvSpPr>
        <p:spPr>
          <a:xfrm>
            <a:off x="531673" y="592196"/>
            <a:ext cx="1271374" cy="276999"/>
          </a:xfrm>
          <a:prstGeom prst="rect">
            <a:avLst/>
          </a:prstGeom>
          <a:noFill/>
        </p:spPr>
        <p:txBody>
          <a:bodyPr wrap="none" rtlCol="0">
            <a:spAutoFit/>
          </a:bodyPr>
          <a:lstStyle/>
          <a:p>
            <a:r>
              <a:rPr lang="en-US" sz="1200" dirty="0"/>
              <a:t>Normal Program</a:t>
            </a:r>
          </a:p>
        </p:txBody>
      </p:sp>
      <p:sp>
        <p:nvSpPr>
          <p:cNvPr id="17" name="Oval 16">
            <a:extLst>
              <a:ext uri="{FF2B5EF4-FFF2-40B4-BE49-F238E27FC236}">
                <a16:creationId xmlns:a16="http://schemas.microsoft.com/office/drawing/2014/main" id="{85E3EB41-6452-C4D1-8C5D-3DD5474AFE04}"/>
              </a:ext>
            </a:extLst>
          </p:cNvPr>
          <p:cNvSpPr/>
          <p:nvPr/>
        </p:nvSpPr>
        <p:spPr>
          <a:xfrm>
            <a:off x="294305" y="919364"/>
            <a:ext cx="284929" cy="218168"/>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endParaRPr lang="en-US" sz="1200" dirty="0">
              <a:solidFill>
                <a:schemeClr val="bg1"/>
              </a:solidFill>
            </a:endParaRPr>
          </a:p>
        </p:txBody>
      </p:sp>
      <p:sp>
        <p:nvSpPr>
          <p:cNvPr id="18" name="TextBox 17">
            <a:extLst>
              <a:ext uri="{FF2B5EF4-FFF2-40B4-BE49-F238E27FC236}">
                <a16:creationId xmlns:a16="http://schemas.microsoft.com/office/drawing/2014/main" id="{E2389BA1-6B19-C1AE-5F27-9A02CF1E5A83}"/>
              </a:ext>
            </a:extLst>
          </p:cNvPr>
          <p:cNvSpPr txBox="1"/>
          <p:nvPr/>
        </p:nvSpPr>
        <p:spPr>
          <a:xfrm>
            <a:off x="538621" y="841162"/>
            <a:ext cx="1048557" cy="276999"/>
          </a:xfrm>
          <a:prstGeom prst="rect">
            <a:avLst/>
          </a:prstGeom>
          <a:noFill/>
        </p:spPr>
        <p:txBody>
          <a:bodyPr wrap="none" rtlCol="0">
            <a:spAutoFit/>
          </a:bodyPr>
          <a:lstStyle/>
          <a:p>
            <a:r>
              <a:rPr lang="en-US" sz="1200" dirty="0"/>
              <a:t>LLM Program</a:t>
            </a:r>
          </a:p>
        </p:txBody>
      </p:sp>
      <p:sp>
        <p:nvSpPr>
          <p:cNvPr id="19" name="Oval 18">
            <a:extLst>
              <a:ext uri="{FF2B5EF4-FFF2-40B4-BE49-F238E27FC236}">
                <a16:creationId xmlns:a16="http://schemas.microsoft.com/office/drawing/2014/main" id="{A8027C81-9ADE-7B6F-8767-77E36EB7E76C}"/>
              </a:ext>
            </a:extLst>
          </p:cNvPr>
          <p:cNvSpPr/>
          <p:nvPr/>
        </p:nvSpPr>
        <p:spPr>
          <a:xfrm>
            <a:off x="7747478" y="1842244"/>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(P5)</a:t>
            </a:r>
          </a:p>
          <a:p>
            <a:pPr algn="ctr" defTabSz="813816">
              <a:spcAft>
                <a:spcPts val="600"/>
              </a:spcAft>
            </a:pPr>
            <a:r>
              <a:rPr lang="en-US" sz="1400" kern="1200" dirty="0">
                <a:solidFill>
                  <a:schemeClr val="tx1"/>
                </a:solidFill>
                <a:latin typeface="+mn-lt"/>
                <a:ea typeface="+mn-ea"/>
                <a:cs typeface="+mn-cs"/>
              </a:rPr>
              <a:t>Long Term Memory Processing</a:t>
            </a:r>
            <a:endParaRPr lang="en-US" sz="1400" dirty="0">
              <a:solidFill>
                <a:schemeClr val="tx1"/>
              </a:solidFill>
            </a:endParaRPr>
          </a:p>
        </p:txBody>
      </p:sp>
      <p:sp>
        <p:nvSpPr>
          <p:cNvPr id="34" name="Flowchart: Magnetic Disk 33">
            <a:extLst>
              <a:ext uri="{FF2B5EF4-FFF2-40B4-BE49-F238E27FC236}">
                <a16:creationId xmlns:a16="http://schemas.microsoft.com/office/drawing/2014/main" id="{1D38A457-5F17-98CC-1FD2-0295ADADAC47}"/>
              </a:ext>
            </a:extLst>
          </p:cNvPr>
          <p:cNvSpPr/>
          <p:nvPr/>
        </p:nvSpPr>
        <p:spPr>
          <a:xfrm>
            <a:off x="304788" y="1208567"/>
            <a:ext cx="263961" cy="215040"/>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6" name="TextBox 35">
            <a:extLst>
              <a:ext uri="{FF2B5EF4-FFF2-40B4-BE49-F238E27FC236}">
                <a16:creationId xmlns:a16="http://schemas.microsoft.com/office/drawing/2014/main" id="{DF808A41-E386-B711-89F3-1A200679BE62}"/>
              </a:ext>
            </a:extLst>
          </p:cNvPr>
          <p:cNvSpPr txBox="1"/>
          <p:nvPr/>
        </p:nvSpPr>
        <p:spPr>
          <a:xfrm>
            <a:off x="531673" y="1113084"/>
            <a:ext cx="1038554" cy="276999"/>
          </a:xfrm>
          <a:prstGeom prst="rect">
            <a:avLst/>
          </a:prstGeom>
          <a:noFill/>
        </p:spPr>
        <p:txBody>
          <a:bodyPr wrap="none" rtlCol="0">
            <a:spAutoFit/>
          </a:bodyPr>
          <a:lstStyle/>
          <a:p>
            <a:r>
              <a:rPr lang="en-US" sz="1200" dirty="0"/>
              <a:t>Data Storage</a:t>
            </a:r>
          </a:p>
        </p:txBody>
      </p:sp>
      <p:sp>
        <p:nvSpPr>
          <p:cNvPr id="51" name="Rectangle 50">
            <a:extLst>
              <a:ext uri="{FF2B5EF4-FFF2-40B4-BE49-F238E27FC236}">
                <a16:creationId xmlns:a16="http://schemas.microsoft.com/office/drawing/2014/main" id="{AFBAAF97-0342-F1E4-FD70-81EF0B555E2A}"/>
              </a:ext>
            </a:extLst>
          </p:cNvPr>
          <p:cNvSpPr/>
          <p:nvPr/>
        </p:nvSpPr>
        <p:spPr>
          <a:xfrm>
            <a:off x="1999430" y="2040912"/>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p>
          <a:p>
            <a:pPr algn="ctr" defTabSz="813816">
              <a:spcAft>
                <a:spcPts val="600"/>
              </a:spcAft>
            </a:pPr>
            <a:r>
              <a:rPr lang="en-US" sz="1400" kern="1200" dirty="0">
                <a:solidFill>
                  <a:schemeClr val="tx1"/>
                </a:solidFill>
                <a:latin typeface="+mn-lt"/>
                <a:ea typeface="+mn-ea"/>
                <a:cs typeface="+mn-cs"/>
              </a:rPr>
              <a:t>Document Processing</a:t>
            </a:r>
            <a:endParaRPr lang="en-US" sz="1400" dirty="0">
              <a:solidFill>
                <a:schemeClr val="tx1"/>
              </a:solidFill>
            </a:endParaRPr>
          </a:p>
        </p:txBody>
      </p:sp>
      <p:sp>
        <p:nvSpPr>
          <p:cNvPr id="3" name="TextBox 2">
            <a:extLst>
              <a:ext uri="{FF2B5EF4-FFF2-40B4-BE49-F238E27FC236}">
                <a16:creationId xmlns:a16="http://schemas.microsoft.com/office/drawing/2014/main" id="{C2FF721D-527B-314C-0AD5-5E0FF5C1AAAE}"/>
              </a:ext>
            </a:extLst>
          </p:cNvPr>
          <p:cNvSpPr txBox="1"/>
          <p:nvPr/>
        </p:nvSpPr>
        <p:spPr>
          <a:xfrm>
            <a:off x="6685364" y="0"/>
            <a:ext cx="5506636" cy="307777"/>
          </a:xfrm>
          <a:prstGeom prst="rect">
            <a:avLst/>
          </a:prstGeom>
          <a:noFill/>
        </p:spPr>
        <p:txBody>
          <a:bodyPr wrap="none" rtlCol="0">
            <a:spAutoFit/>
          </a:bodyPr>
          <a:lstStyle/>
          <a:p>
            <a:pPr algn="r"/>
            <a:r>
              <a:rPr lang="en-US" dirty="0"/>
              <a:t>Introduction   </a:t>
            </a:r>
            <a:r>
              <a:rPr lang="en-US" b="1" dirty="0"/>
              <a:t>Foundation </a:t>
            </a:r>
            <a:r>
              <a:rPr lang="en-US" dirty="0"/>
              <a:t>  Key Findings   Discussion   Conclusion</a:t>
            </a:r>
          </a:p>
        </p:txBody>
      </p:sp>
    </p:spTree>
    <p:extLst>
      <p:ext uri="{BB962C8B-B14F-4D97-AF65-F5344CB8AC3E}">
        <p14:creationId xmlns:p14="http://schemas.microsoft.com/office/powerpoint/2010/main" val="290179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0-#ppt_w/2"/>
                                          </p:val>
                                        </p:tav>
                                        <p:tav tm="100000">
                                          <p:val>
                                            <p:strVal val="#ppt_x"/>
                                          </p:val>
                                        </p:tav>
                                      </p:tavLst>
                                    </p:anim>
                                    <p:anim calcmode="lin" valueType="num">
                                      <p:cBhvr additive="base">
                                        <p:cTn id="14"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fill="hold"/>
                                        <p:tgtEl>
                                          <p:spTgt spid="51"/>
                                        </p:tgtEl>
                                        <p:attrNameLst>
                                          <p:attrName>ppt_x</p:attrName>
                                        </p:attrNameLst>
                                      </p:cBhvr>
                                      <p:tavLst>
                                        <p:tav tm="0">
                                          <p:val>
                                            <p:strVal val="0-#ppt_w/2"/>
                                          </p:val>
                                        </p:tav>
                                        <p:tav tm="100000">
                                          <p:val>
                                            <p:strVal val="#ppt_x"/>
                                          </p:val>
                                        </p:tav>
                                      </p:tavLst>
                                    </p:anim>
                                    <p:anim calcmode="lin" valueType="num">
                                      <p:cBhvr additive="base">
                                        <p:cTn id="20"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0-#ppt_w/2"/>
                                          </p:val>
                                        </p:tav>
                                        <p:tav tm="100000">
                                          <p:val>
                                            <p:strVal val="#ppt_x"/>
                                          </p:val>
                                        </p:tav>
                                      </p:tavLst>
                                    </p:anim>
                                    <p:anim calcmode="lin" valueType="num">
                                      <p:cBhvr additive="base">
                                        <p:cTn id="26"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0-#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4"/>
                                        </p:tgtEl>
                                        <p:attrNameLst>
                                          <p:attrName>style.visibility</p:attrName>
                                        </p:attrNameLst>
                                      </p:cBhvr>
                                      <p:to>
                                        <p:strVal val="visible"/>
                                      </p:to>
                                    </p:set>
                                    <p:anim calcmode="lin" valueType="num">
                                      <p:cBhvr additive="base">
                                        <p:cTn id="43" dur="500" fill="hold"/>
                                        <p:tgtEl>
                                          <p:spTgt spid="144"/>
                                        </p:tgtEl>
                                        <p:attrNameLst>
                                          <p:attrName>ppt_x</p:attrName>
                                        </p:attrNameLst>
                                      </p:cBhvr>
                                      <p:tavLst>
                                        <p:tav tm="0">
                                          <p:val>
                                            <p:strVal val="0-#ppt_w/2"/>
                                          </p:val>
                                        </p:tav>
                                        <p:tav tm="100000">
                                          <p:val>
                                            <p:strVal val="#ppt_x"/>
                                          </p:val>
                                        </p:tav>
                                      </p:tavLst>
                                    </p:anim>
                                    <p:anim calcmode="lin" valueType="num">
                                      <p:cBhvr additive="base">
                                        <p:cTn id="44" dur="500" fill="hold"/>
                                        <p:tgtEl>
                                          <p:spTgt spid="14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0-#ppt_w/2"/>
                                          </p:val>
                                        </p:tav>
                                        <p:tav tm="100000">
                                          <p:val>
                                            <p:strVal val="#ppt_x"/>
                                          </p:val>
                                        </p:tav>
                                      </p:tavLst>
                                    </p:anim>
                                    <p:anim calcmode="lin" valueType="num">
                                      <p:cBhvr additive="base">
                                        <p:cTn id="50"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additive="base">
                                        <p:cTn id="55" dur="500" fill="hold"/>
                                        <p:tgtEl>
                                          <p:spTgt spid="27"/>
                                        </p:tgtEl>
                                        <p:attrNameLst>
                                          <p:attrName>ppt_x</p:attrName>
                                        </p:attrNameLst>
                                      </p:cBhvr>
                                      <p:tavLst>
                                        <p:tav tm="0">
                                          <p:val>
                                            <p:strVal val="0-#ppt_w/2"/>
                                          </p:val>
                                        </p:tav>
                                        <p:tav tm="100000">
                                          <p:val>
                                            <p:strVal val="#ppt_x"/>
                                          </p:val>
                                        </p:tav>
                                      </p:tavLst>
                                    </p:anim>
                                    <p:anim calcmode="lin" valueType="num">
                                      <p:cBhvr additive="base">
                                        <p:cTn id="56"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0-#ppt_w/2"/>
                                          </p:val>
                                        </p:tav>
                                        <p:tav tm="100000">
                                          <p:val>
                                            <p:strVal val="#ppt_x"/>
                                          </p:val>
                                        </p:tav>
                                      </p:tavLst>
                                    </p:anim>
                                    <p:anim calcmode="lin" valueType="num">
                                      <p:cBhvr additive="base">
                                        <p:cTn id="6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45"/>
                                        </p:tgtEl>
                                        <p:attrNameLst>
                                          <p:attrName>style.visibility</p:attrName>
                                        </p:attrNameLst>
                                      </p:cBhvr>
                                      <p:to>
                                        <p:strVal val="visible"/>
                                      </p:to>
                                    </p:set>
                                    <p:anim calcmode="lin" valueType="num">
                                      <p:cBhvr additive="base">
                                        <p:cTn id="67" dur="500" fill="hold"/>
                                        <p:tgtEl>
                                          <p:spTgt spid="145"/>
                                        </p:tgtEl>
                                        <p:attrNameLst>
                                          <p:attrName>ppt_x</p:attrName>
                                        </p:attrNameLst>
                                      </p:cBhvr>
                                      <p:tavLst>
                                        <p:tav tm="0">
                                          <p:val>
                                            <p:strVal val="0-#ppt_w/2"/>
                                          </p:val>
                                        </p:tav>
                                        <p:tav tm="100000">
                                          <p:val>
                                            <p:strVal val="#ppt_x"/>
                                          </p:val>
                                        </p:tav>
                                      </p:tavLst>
                                    </p:anim>
                                    <p:anim calcmode="lin" valueType="num">
                                      <p:cBhvr additive="base">
                                        <p:cTn id="68" dur="500" fill="hold"/>
                                        <p:tgtEl>
                                          <p:spTgt spid="14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35"/>
                                        </p:tgtEl>
                                        <p:attrNameLst>
                                          <p:attrName>style.visibility</p:attrName>
                                        </p:attrNameLst>
                                      </p:cBhvr>
                                      <p:to>
                                        <p:strVal val="visible"/>
                                      </p:to>
                                    </p:set>
                                    <p:anim calcmode="lin" valueType="num">
                                      <p:cBhvr additive="base">
                                        <p:cTn id="73" dur="500" fill="hold"/>
                                        <p:tgtEl>
                                          <p:spTgt spid="35"/>
                                        </p:tgtEl>
                                        <p:attrNameLst>
                                          <p:attrName>ppt_x</p:attrName>
                                        </p:attrNameLst>
                                      </p:cBhvr>
                                      <p:tavLst>
                                        <p:tav tm="0">
                                          <p:val>
                                            <p:strVal val="0-#ppt_w/2"/>
                                          </p:val>
                                        </p:tav>
                                        <p:tav tm="100000">
                                          <p:val>
                                            <p:strVal val="#ppt_x"/>
                                          </p:val>
                                        </p:tav>
                                      </p:tavLst>
                                    </p:anim>
                                    <p:anim calcmode="lin" valueType="num">
                                      <p:cBhvr additive="base">
                                        <p:cTn id="74"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0-#ppt_w/2"/>
                                          </p:val>
                                        </p:tav>
                                        <p:tav tm="100000">
                                          <p:val>
                                            <p:strVal val="#ppt_x"/>
                                          </p:val>
                                        </p:tav>
                                      </p:tavLst>
                                    </p:anim>
                                    <p:anim calcmode="lin" valueType="num">
                                      <p:cBhvr additive="base">
                                        <p:cTn id="8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500" fill="hold"/>
                                        <p:tgtEl>
                                          <p:spTgt spid="20"/>
                                        </p:tgtEl>
                                        <p:attrNameLst>
                                          <p:attrName>ppt_x</p:attrName>
                                        </p:attrNameLst>
                                      </p:cBhvr>
                                      <p:tavLst>
                                        <p:tav tm="0">
                                          <p:val>
                                            <p:strVal val="#ppt_x"/>
                                          </p:val>
                                        </p:tav>
                                        <p:tav tm="100000">
                                          <p:val>
                                            <p:strVal val="#ppt_x"/>
                                          </p:val>
                                        </p:tav>
                                      </p:tavLst>
                                    </p:anim>
                                    <p:anim calcmode="lin" valueType="num">
                                      <p:cBhvr additive="base">
                                        <p:cTn id="86" dur="500" fill="hold"/>
                                        <p:tgtEl>
                                          <p:spTgt spid="20"/>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 calcmode="lin" valueType="num">
                                      <p:cBhvr additive="base">
                                        <p:cTn id="89" dur="500" fill="hold"/>
                                        <p:tgtEl>
                                          <p:spTgt spid="31"/>
                                        </p:tgtEl>
                                        <p:attrNameLst>
                                          <p:attrName>ppt_x</p:attrName>
                                        </p:attrNameLst>
                                      </p:cBhvr>
                                      <p:tavLst>
                                        <p:tav tm="0">
                                          <p:val>
                                            <p:strVal val="#ppt_x"/>
                                          </p:val>
                                        </p:tav>
                                        <p:tav tm="100000">
                                          <p:val>
                                            <p:strVal val="#ppt_x"/>
                                          </p:val>
                                        </p:tav>
                                      </p:tavLst>
                                    </p:anim>
                                    <p:anim calcmode="lin" valueType="num">
                                      <p:cBhvr additive="base">
                                        <p:cTn id="90" dur="500" fill="hold"/>
                                        <p:tgtEl>
                                          <p:spTgt spid="31"/>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7"/>
                                        </p:tgtEl>
                                        <p:attrNameLst>
                                          <p:attrName>style.visibility</p:attrName>
                                        </p:attrNameLst>
                                      </p:cBhvr>
                                      <p:to>
                                        <p:strVal val="visible"/>
                                      </p:to>
                                    </p:set>
                                    <p:anim calcmode="lin" valueType="num">
                                      <p:cBhvr additive="base">
                                        <p:cTn id="93" dur="500" fill="hold"/>
                                        <p:tgtEl>
                                          <p:spTgt spid="7"/>
                                        </p:tgtEl>
                                        <p:attrNameLst>
                                          <p:attrName>ppt_x</p:attrName>
                                        </p:attrNameLst>
                                      </p:cBhvr>
                                      <p:tavLst>
                                        <p:tav tm="0">
                                          <p:val>
                                            <p:strVal val="#ppt_x"/>
                                          </p:val>
                                        </p:tav>
                                        <p:tav tm="100000">
                                          <p:val>
                                            <p:strVal val="#ppt_x"/>
                                          </p:val>
                                        </p:tav>
                                      </p:tavLst>
                                    </p:anim>
                                    <p:anim calcmode="lin" valueType="num">
                                      <p:cBhvr additive="base">
                                        <p:cTn id="94" dur="500" fill="hold"/>
                                        <p:tgtEl>
                                          <p:spTgt spid="7"/>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0"/>
                                        </p:tgtEl>
                                        <p:attrNameLst>
                                          <p:attrName>style.visibility</p:attrName>
                                        </p:attrNameLst>
                                      </p:cBhvr>
                                      <p:to>
                                        <p:strVal val="visible"/>
                                      </p:to>
                                    </p:set>
                                    <p:anim calcmode="lin" valueType="num">
                                      <p:cBhvr additive="base">
                                        <p:cTn id="97" dur="500" fill="hold"/>
                                        <p:tgtEl>
                                          <p:spTgt spid="10"/>
                                        </p:tgtEl>
                                        <p:attrNameLst>
                                          <p:attrName>ppt_x</p:attrName>
                                        </p:attrNameLst>
                                      </p:cBhvr>
                                      <p:tavLst>
                                        <p:tav tm="0">
                                          <p:val>
                                            <p:strVal val="#ppt_x"/>
                                          </p:val>
                                        </p:tav>
                                        <p:tav tm="100000">
                                          <p:val>
                                            <p:strVal val="#ppt_x"/>
                                          </p:val>
                                        </p:tav>
                                      </p:tavLst>
                                    </p:anim>
                                    <p:anim calcmode="lin" valueType="num">
                                      <p:cBhvr additive="base">
                                        <p:cTn id="98" dur="500" fill="hold"/>
                                        <p:tgtEl>
                                          <p:spTgt spid="10"/>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38"/>
                                        </p:tgtEl>
                                        <p:attrNameLst>
                                          <p:attrName>style.visibility</p:attrName>
                                        </p:attrNameLst>
                                      </p:cBhvr>
                                      <p:to>
                                        <p:strVal val="visible"/>
                                      </p:to>
                                    </p:set>
                                    <p:anim calcmode="lin" valueType="num">
                                      <p:cBhvr additive="base">
                                        <p:cTn id="101" dur="500" fill="hold"/>
                                        <p:tgtEl>
                                          <p:spTgt spid="38"/>
                                        </p:tgtEl>
                                        <p:attrNameLst>
                                          <p:attrName>ppt_x</p:attrName>
                                        </p:attrNameLst>
                                      </p:cBhvr>
                                      <p:tavLst>
                                        <p:tav tm="0">
                                          <p:val>
                                            <p:strVal val="#ppt_x"/>
                                          </p:val>
                                        </p:tav>
                                        <p:tav tm="100000">
                                          <p:val>
                                            <p:strVal val="#ppt_x"/>
                                          </p:val>
                                        </p:tav>
                                      </p:tavLst>
                                    </p:anim>
                                    <p:anim calcmode="lin" valueType="num">
                                      <p:cBhvr additive="base">
                                        <p:cTn id="102" dur="500" fill="hold"/>
                                        <p:tgtEl>
                                          <p:spTgt spid="38"/>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9"/>
                                        </p:tgtEl>
                                        <p:attrNameLst>
                                          <p:attrName>style.visibility</p:attrName>
                                        </p:attrNameLst>
                                      </p:cBhvr>
                                      <p:to>
                                        <p:strVal val="visible"/>
                                      </p:to>
                                    </p:set>
                                    <p:anim calcmode="lin" valueType="num">
                                      <p:cBhvr additive="base">
                                        <p:cTn id="105" dur="500" fill="hold"/>
                                        <p:tgtEl>
                                          <p:spTgt spid="9"/>
                                        </p:tgtEl>
                                        <p:attrNameLst>
                                          <p:attrName>ppt_x</p:attrName>
                                        </p:attrNameLst>
                                      </p:cBhvr>
                                      <p:tavLst>
                                        <p:tav tm="0">
                                          <p:val>
                                            <p:strVal val="#ppt_x"/>
                                          </p:val>
                                        </p:tav>
                                        <p:tav tm="100000">
                                          <p:val>
                                            <p:strVal val="#ppt_x"/>
                                          </p:val>
                                        </p:tav>
                                      </p:tavLst>
                                    </p:anim>
                                    <p:anim calcmode="lin" valueType="num">
                                      <p:cBhvr additive="base">
                                        <p:cTn id="106" dur="500" fill="hold"/>
                                        <p:tgtEl>
                                          <p:spTgt spid="9"/>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94"/>
                                        </p:tgtEl>
                                        <p:attrNameLst>
                                          <p:attrName>style.visibility</p:attrName>
                                        </p:attrNameLst>
                                      </p:cBhvr>
                                      <p:to>
                                        <p:strVal val="visible"/>
                                      </p:to>
                                    </p:set>
                                    <p:anim calcmode="lin" valueType="num">
                                      <p:cBhvr additive="base">
                                        <p:cTn id="109" dur="500" fill="hold"/>
                                        <p:tgtEl>
                                          <p:spTgt spid="94"/>
                                        </p:tgtEl>
                                        <p:attrNameLst>
                                          <p:attrName>ppt_x</p:attrName>
                                        </p:attrNameLst>
                                      </p:cBhvr>
                                      <p:tavLst>
                                        <p:tav tm="0">
                                          <p:val>
                                            <p:strVal val="#ppt_x"/>
                                          </p:val>
                                        </p:tav>
                                        <p:tav tm="100000">
                                          <p:val>
                                            <p:strVal val="#ppt_x"/>
                                          </p:val>
                                        </p:tav>
                                      </p:tavLst>
                                    </p:anim>
                                    <p:anim calcmode="lin" valueType="num">
                                      <p:cBhvr additive="base">
                                        <p:cTn id="110" dur="500" fill="hold"/>
                                        <p:tgtEl>
                                          <p:spTgt spid="94"/>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8"/>
                                        </p:tgtEl>
                                        <p:attrNameLst>
                                          <p:attrName>style.visibility</p:attrName>
                                        </p:attrNameLst>
                                      </p:cBhvr>
                                      <p:to>
                                        <p:strVal val="visible"/>
                                      </p:to>
                                    </p:set>
                                    <p:anim calcmode="lin" valueType="num">
                                      <p:cBhvr additive="base">
                                        <p:cTn id="113" dur="500" fill="hold"/>
                                        <p:tgtEl>
                                          <p:spTgt spid="8"/>
                                        </p:tgtEl>
                                        <p:attrNameLst>
                                          <p:attrName>ppt_x</p:attrName>
                                        </p:attrNameLst>
                                      </p:cBhvr>
                                      <p:tavLst>
                                        <p:tav tm="0">
                                          <p:val>
                                            <p:strVal val="#ppt_x"/>
                                          </p:val>
                                        </p:tav>
                                        <p:tav tm="100000">
                                          <p:val>
                                            <p:strVal val="#ppt_x"/>
                                          </p:val>
                                        </p:tav>
                                      </p:tavLst>
                                    </p:anim>
                                    <p:anim calcmode="lin" valueType="num">
                                      <p:cBhvr additive="base">
                                        <p:cTn id="114" dur="500" fill="hold"/>
                                        <p:tgtEl>
                                          <p:spTgt spid="8"/>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121"/>
                                        </p:tgtEl>
                                        <p:attrNameLst>
                                          <p:attrName>style.visibility</p:attrName>
                                        </p:attrNameLst>
                                      </p:cBhvr>
                                      <p:to>
                                        <p:strVal val="visible"/>
                                      </p:to>
                                    </p:set>
                                    <p:anim calcmode="lin" valueType="num">
                                      <p:cBhvr additive="base">
                                        <p:cTn id="117" dur="500" fill="hold"/>
                                        <p:tgtEl>
                                          <p:spTgt spid="121"/>
                                        </p:tgtEl>
                                        <p:attrNameLst>
                                          <p:attrName>ppt_x</p:attrName>
                                        </p:attrNameLst>
                                      </p:cBhvr>
                                      <p:tavLst>
                                        <p:tav tm="0">
                                          <p:val>
                                            <p:strVal val="#ppt_x"/>
                                          </p:val>
                                        </p:tav>
                                        <p:tav tm="100000">
                                          <p:val>
                                            <p:strVal val="#ppt_x"/>
                                          </p:val>
                                        </p:tav>
                                      </p:tavLst>
                                    </p:anim>
                                    <p:anim calcmode="lin" valueType="num">
                                      <p:cBhvr additive="base">
                                        <p:cTn id="118" dur="500" fill="hold"/>
                                        <p:tgtEl>
                                          <p:spTgt spid="121"/>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2"/>
                                        </p:tgtEl>
                                        <p:attrNameLst>
                                          <p:attrName>style.visibility</p:attrName>
                                        </p:attrNameLst>
                                      </p:cBhvr>
                                      <p:to>
                                        <p:strVal val="visible"/>
                                      </p:to>
                                    </p:set>
                                    <p:anim calcmode="lin" valueType="num">
                                      <p:cBhvr additive="base">
                                        <p:cTn id="121" dur="500" fill="hold"/>
                                        <p:tgtEl>
                                          <p:spTgt spid="2"/>
                                        </p:tgtEl>
                                        <p:attrNameLst>
                                          <p:attrName>ppt_x</p:attrName>
                                        </p:attrNameLst>
                                      </p:cBhvr>
                                      <p:tavLst>
                                        <p:tav tm="0">
                                          <p:val>
                                            <p:strVal val="#ppt_x"/>
                                          </p:val>
                                        </p:tav>
                                        <p:tav tm="100000">
                                          <p:val>
                                            <p:strVal val="#ppt_x"/>
                                          </p:val>
                                        </p:tav>
                                      </p:tavLst>
                                    </p:anim>
                                    <p:anim calcmode="lin" valueType="num">
                                      <p:cBhvr additive="base">
                                        <p:cTn id="122" dur="500" fill="hold"/>
                                        <p:tgtEl>
                                          <p:spTgt spid="2"/>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126"/>
                                        </p:tgtEl>
                                        <p:attrNameLst>
                                          <p:attrName>style.visibility</p:attrName>
                                        </p:attrNameLst>
                                      </p:cBhvr>
                                      <p:to>
                                        <p:strVal val="visible"/>
                                      </p:to>
                                    </p:set>
                                    <p:anim calcmode="lin" valueType="num">
                                      <p:cBhvr additive="base">
                                        <p:cTn id="125" dur="500" fill="hold"/>
                                        <p:tgtEl>
                                          <p:spTgt spid="126"/>
                                        </p:tgtEl>
                                        <p:attrNameLst>
                                          <p:attrName>ppt_x</p:attrName>
                                        </p:attrNameLst>
                                      </p:cBhvr>
                                      <p:tavLst>
                                        <p:tav tm="0">
                                          <p:val>
                                            <p:strVal val="#ppt_x"/>
                                          </p:val>
                                        </p:tav>
                                        <p:tav tm="100000">
                                          <p:val>
                                            <p:strVal val="#ppt_x"/>
                                          </p:val>
                                        </p:tav>
                                      </p:tavLst>
                                    </p:anim>
                                    <p:anim calcmode="lin" valueType="num">
                                      <p:cBhvr additive="base">
                                        <p:cTn id="126" dur="500" fill="hold"/>
                                        <p:tgtEl>
                                          <p:spTgt spid="126"/>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133"/>
                                        </p:tgtEl>
                                        <p:attrNameLst>
                                          <p:attrName>style.visibility</p:attrName>
                                        </p:attrNameLst>
                                      </p:cBhvr>
                                      <p:to>
                                        <p:strVal val="visible"/>
                                      </p:to>
                                    </p:set>
                                    <p:anim calcmode="lin" valueType="num">
                                      <p:cBhvr additive="base">
                                        <p:cTn id="129" dur="500" fill="hold"/>
                                        <p:tgtEl>
                                          <p:spTgt spid="133"/>
                                        </p:tgtEl>
                                        <p:attrNameLst>
                                          <p:attrName>ppt_x</p:attrName>
                                        </p:attrNameLst>
                                      </p:cBhvr>
                                      <p:tavLst>
                                        <p:tav tm="0">
                                          <p:val>
                                            <p:strVal val="#ppt_x"/>
                                          </p:val>
                                        </p:tav>
                                        <p:tav tm="100000">
                                          <p:val>
                                            <p:strVal val="#ppt_x"/>
                                          </p:val>
                                        </p:tav>
                                      </p:tavLst>
                                    </p:anim>
                                    <p:anim calcmode="lin" valueType="num">
                                      <p:cBhvr additive="base">
                                        <p:cTn id="130" dur="500" fill="hold"/>
                                        <p:tgtEl>
                                          <p:spTgt spid="133"/>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39"/>
                                        </p:tgtEl>
                                        <p:attrNameLst>
                                          <p:attrName>style.visibility</p:attrName>
                                        </p:attrNameLst>
                                      </p:cBhvr>
                                      <p:to>
                                        <p:strVal val="visible"/>
                                      </p:to>
                                    </p:set>
                                    <p:anim calcmode="lin" valueType="num">
                                      <p:cBhvr additive="base">
                                        <p:cTn id="133" dur="500" fill="hold"/>
                                        <p:tgtEl>
                                          <p:spTgt spid="39"/>
                                        </p:tgtEl>
                                        <p:attrNameLst>
                                          <p:attrName>ppt_x</p:attrName>
                                        </p:attrNameLst>
                                      </p:cBhvr>
                                      <p:tavLst>
                                        <p:tav tm="0">
                                          <p:val>
                                            <p:strVal val="#ppt_x"/>
                                          </p:val>
                                        </p:tav>
                                        <p:tav tm="100000">
                                          <p:val>
                                            <p:strVal val="#ppt_x"/>
                                          </p:val>
                                        </p:tav>
                                      </p:tavLst>
                                    </p:anim>
                                    <p:anim calcmode="lin" valueType="num">
                                      <p:cBhvr additive="base">
                                        <p:cTn id="134" dur="500" fill="hold"/>
                                        <p:tgtEl>
                                          <p:spTgt spid="39"/>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23"/>
                                        </p:tgtEl>
                                        <p:attrNameLst>
                                          <p:attrName>style.visibility</p:attrName>
                                        </p:attrNameLst>
                                      </p:cBhvr>
                                      <p:to>
                                        <p:strVal val="visible"/>
                                      </p:to>
                                    </p:set>
                                    <p:anim calcmode="lin" valueType="num">
                                      <p:cBhvr additive="base">
                                        <p:cTn id="137" dur="500" fill="hold"/>
                                        <p:tgtEl>
                                          <p:spTgt spid="23"/>
                                        </p:tgtEl>
                                        <p:attrNameLst>
                                          <p:attrName>ppt_x</p:attrName>
                                        </p:attrNameLst>
                                      </p:cBhvr>
                                      <p:tavLst>
                                        <p:tav tm="0">
                                          <p:val>
                                            <p:strVal val="#ppt_x"/>
                                          </p:val>
                                        </p:tav>
                                        <p:tav tm="100000">
                                          <p:val>
                                            <p:strVal val="#ppt_x"/>
                                          </p:val>
                                        </p:tav>
                                      </p:tavLst>
                                    </p:anim>
                                    <p:anim calcmode="lin" valueType="num">
                                      <p:cBhvr additive="base">
                                        <p:cTn id="138" dur="500" fill="hold"/>
                                        <p:tgtEl>
                                          <p:spTgt spid="23"/>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22"/>
                                        </p:tgtEl>
                                        <p:attrNameLst>
                                          <p:attrName>style.visibility</p:attrName>
                                        </p:attrNameLst>
                                      </p:cBhvr>
                                      <p:to>
                                        <p:strVal val="visible"/>
                                      </p:to>
                                    </p:set>
                                    <p:anim calcmode="lin" valueType="num">
                                      <p:cBhvr additive="base">
                                        <p:cTn id="141" dur="500" fill="hold"/>
                                        <p:tgtEl>
                                          <p:spTgt spid="22"/>
                                        </p:tgtEl>
                                        <p:attrNameLst>
                                          <p:attrName>ppt_x</p:attrName>
                                        </p:attrNameLst>
                                      </p:cBhvr>
                                      <p:tavLst>
                                        <p:tav tm="0">
                                          <p:val>
                                            <p:strVal val="#ppt_x"/>
                                          </p:val>
                                        </p:tav>
                                        <p:tav tm="100000">
                                          <p:val>
                                            <p:strVal val="#ppt_x"/>
                                          </p:val>
                                        </p:tav>
                                      </p:tavLst>
                                    </p:anim>
                                    <p:anim calcmode="lin" valueType="num">
                                      <p:cBhvr additive="base">
                                        <p:cTn id="142" dur="500" fill="hold"/>
                                        <p:tgtEl>
                                          <p:spTgt spid="22"/>
                                        </p:tgtEl>
                                        <p:attrNameLst>
                                          <p:attrName>ppt_y</p:attrName>
                                        </p:attrNameLst>
                                      </p:cBhvr>
                                      <p:tavLst>
                                        <p:tav tm="0">
                                          <p:val>
                                            <p:strVal val="1+#ppt_h/2"/>
                                          </p:val>
                                        </p:tav>
                                        <p:tav tm="100000">
                                          <p:val>
                                            <p:strVal val="#ppt_y"/>
                                          </p:val>
                                        </p:tav>
                                      </p:tavLst>
                                    </p:anim>
                                  </p:childTnLst>
                                </p:cTn>
                              </p:par>
                              <p:par>
                                <p:cTn id="143" presetID="2" presetClass="entr" presetSubtype="4" fill="hold" nodeType="withEffect">
                                  <p:stCondLst>
                                    <p:cond delay="0"/>
                                  </p:stCondLst>
                                  <p:childTnLst>
                                    <p:set>
                                      <p:cBhvr>
                                        <p:cTn id="144" dur="1" fill="hold">
                                          <p:stCondLst>
                                            <p:cond delay="0"/>
                                          </p:stCondLst>
                                        </p:cTn>
                                        <p:tgtEl>
                                          <p:spTgt spid="134"/>
                                        </p:tgtEl>
                                        <p:attrNameLst>
                                          <p:attrName>style.visibility</p:attrName>
                                        </p:attrNameLst>
                                      </p:cBhvr>
                                      <p:to>
                                        <p:strVal val="visible"/>
                                      </p:to>
                                    </p:set>
                                    <p:anim calcmode="lin" valueType="num">
                                      <p:cBhvr additive="base">
                                        <p:cTn id="145" dur="500" fill="hold"/>
                                        <p:tgtEl>
                                          <p:spTgt spid="134"/>
                                        </p:tgtEl>
                                        <p:attrNameLst>
                                          <p:attrName>ppt_x</p:attrName>
                                        </p:attrNameLst>
                                      </p:cBhvr>
                                      <p:tavLst>
                                        <p:tav tm="0">
                                          <p:val>
                                            <p:strVal val="#ppt_x"/>
                                          </p:val>
                                        </p:tav>
                                        <p:tav tm="100000">
                                          <p:val>
                                            <p:strVal val="#ppt_x"/>
                                          </p:val>
                                        </p:tav>
                                      </p:tavLst>
                                    </p:anim>
                                    <p:anim calcmode="lin" valueType="num">
                                      <p:cBhvr additive="base">
                                        <p:cTn id="146"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25" grpId="0" animBg="1"/>
      <p:bldP spid="27" grpId="0" animBg="1"/>
      <p:bldP spid="39" grpId="0"/>
      <p:bldP spid="22" grpId="0" animBg="1"/>
      <p:bldP spid="94" grpId="0" animBg="1"/>
      <p:bldP spid="133" grpId="0"/>
      <p:bldP spid="144" grpId="0" animBg="1"/>
      <p:bldP spid="145" grpId="0" animBg="1"/>
      <p:bldP spid="19" grpId="0" animBg="1"/>
      <p:bldP spid="5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87D67-6315-045B-AEE1-2C54CAE9597E}"/>
              </a:ext>
            </a:extLst>
          </p:cNvPr>
          <p:cNvSpPr>
            <a:spLocks noGrp="1"/>
          </p:cNvSpPr>
          <p:nvPr>
            <p:ph type="title"/>
          </p:nvPr>
        </p:nvSpPr>
        <p:spPr/>
        <p:txBody>
          <a:bodyPr/>
          <a:lstStyle/>
          <a:p>
            <a:r>
              <a:rPr lang="en-US" dirty="0"/>
              <a:t>System Robustness</a:t>
            </a:r>
          </a:p>
        </p:txBody>
      </p:sp>
      <p:sp>
        <p:nvSpPr>
          <p:cNvPr id="3" name="Text Placeholder 2">
            <a:extLst>
              <a:ext uri="{FF2B5EF4-FFF2-40B4-BE49-F238E27FC236}">
                <a16:creationId xmlns:a16="http://schemas.microsoft.com/office/drawing/2014/main" id="{E58CDC23-1C75-7930-A3A3-90106A8640C3}"/>
              </a:ext>
            </a:extLst>
          </p:cNvPr>
          <p:cNvSpPr>
            <a:spLocks noGrp="1"/>
          </p:cNvSpPr>
          <p:nvPr>
            <p:ph type="body" idx="1"/>
          </p:nvPr>
        </p:nvSpPr>
        <p:spPr/>
        <p:txBody>
          <a:bodyPr>
            <a:normAutofit fontScale="62500" lnSpcReduction="20000"/>
          </a:bodyPr>
          <a:lstStyle/>
          <a:p>
            <a:r>
              <a:rPr lang="en-US" dirty="0"/>
              <a:t>5,380 Lines of Python code</a:t>
            </a:r>
          </a:p>
          <a:p>
            <a:r>
              <a:rPr lang="en-US" dirty="0"/>
              <a:t>	In 36 Classes</a:t>
            </a:r>
          </a:p>
          <a:p>
            <a:r>
              <a:rPr lang="en-US" dirty="0"/>
              <a:t>	With 171 Methods (121 simple, 40 moderate, 10 complex)</a:t>
            </a:r>
          </a:p>
          <a:p>
            <a:r>
              <a:rPr lang="en-US" dirty="0"/>
              <a:t>	Core AI processing is in the Moderate and Complex Methods</a:t>
            </a:r>
          </a:p>
          <a:p>
            <a:r>
              <a:rPr lang="en-US" dirty="0"/>
              <a:t>8 JSON Schemas</a:t>
            </a:r>
          </a:p>
          <a:p>
            <a:r>
              <a:rPr lang="en-US" dirty="0"/>
              <a:t>10 LLM Prompts</a:t>
            </a:r>
          </a:p>
          <a:p>
            <a:r>
              <a:rPr lang="en-US" dirty="0"/>
              <a:t>72 Cypher Queries</a:t>
            </a:r>
          </a:p>
          <a:p>
            <a:r>
              <a:rPr lang="en-US" dirty="0"/>
              <a:t>System is designed to use both Gemini and GPT, other LLMs can be added</a:t>
            </a:r>
          </a:p>
          <a:p>
            <a:r>
              <a:rPr lang="en-US" dirty="0"/>
              <a:t>System can run in both interactive and batch mode</a:t>
            </a:r>
          </a:p>
          <a:p>
            <a:r>
              <a:rPr lang="en-US" dirty="0"/>
              <a:t>System can run processes asynchronously</a:t>
            </a:r>
          </a:p>
        </p:txBody>
      </p:sp>
    </p:spTree>
    <p:extLst>
      <p:ext uri="{BB962C8B-B14F-4D97-AF65-F5344CB8AC3E}">
        <p14:creationId xmlns:p14="http://schemas.microsoft.com/office/powerpoint/2010/main" val="1919288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7A9FA04-E361-AE89-0EAC-56E27C45353F}"/>
              </a:ext>
            </a:extLst>
          </p:cNvPr>
          <p:cNvGraphicFramePr>
            <a:graphicFrameLocks noGrp="1"/>
          </p:cNvGraphicFramePr>
          <p:nvPr>
            <p:extLst>
              <p:ext uri="{D42A27DB-BD31-4B8C-83A1-F6EECF244321}">
                <p14:modId xmlns:p14="http://schemas.microsoft.com/office/powerpoint/2010/main" val="1076020317"/>
              </p:ext>
            </p:extLst>
          </p:nvPr>
        </p:nvGraphicFramePr>
        <p:xfrm>
          <a:off x="3383280" y="1955800"/>
          <a:ext cx="4871720" cy="2948940"/>
        </p:xfrm>
        <a:graphic>
          <a:graphicData uri="http://schemas.openxmlformats.org/drawingml/2006/table">
            <a:tbl>
              <a:tblPr>
                <a:tableStyleId>{5C22544A-7EE6-4342-B048-85BDC9FD1C3A}</a:tableStyleId>
              </a:tblPr>
              <a:tblGrid>
                <a:gridCol w="1733759">
                  <a:extLst>
                    <a:ext uri="{9D8B030D-6E8A-4147-A177-3AD203B41FA5}">
                      <a16:colId xmlns:a16="http://schemas.microsoft.com/office/drawing/2014/main" val="4053093868"/>
                    </a:ext>
                  </a:extLst>
                </a:gridCol>
                <a:gridCol w="816730">
                  <a:extLst>
                    <a:ext uri="{9D8B030D-6E8A-4147-A177-3AD203B41FA5}">
                      <a16:colId xmlns:a16="http://schemas.microsoft.com/office/drawing/2014/main" val="2272468750"/>
                    </a:ext>
                  </a:extLst>
                </a:gridCol>
                <a:gridCol w="1131958">
                  <a:extLst>
                    <a:ext uri="{9D8B030D-6E8A-4147-A177-3AD203B41FA5}">
                      <a16:colId xmlns:a16="http://schemas.microsoft.com/office/drawing/2014/main" val="1351709736"/>
                    </a:ext>
                  </a:extLst>
                </a:gridCol>
                <a:gridCol w="1189273">
                  <a:extLst>
                    <a:ext uri="{9D8B030D-6E8A-4147-A177-3AD203B41FA5}">
                      <a16:colId xmlns:a16="http://schemas.microsoft.com/office/drawing/2014/main" val="808844946"/>
                    </a:ext>
                  </a:extLst>
                </a:gridCol>
              </a:tblGrid>
              <a:tr h="190500">
                <a:tc>
                  <a:txBody>
                    <a:bodyPr/>
                    <a:lstStyle/>
                    <a:p>
                      <a:pPr algn="l" fontAlgn="b">
                        <a:buNone/>
                      </a:pP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dirty="0">
                          <a:effectLst/>
                        </a:rPr>
                        <a:t>Loc</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dirty="0">
                          <a:effectLst/>
                        </a:rPr>
                        <a:t>Classes</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dirty="0">
                          <a:effectLst/>
                        </a:rPr>
                        <a:t>Methods</a:t>
                      </a:r>
                      <a:endParaRPr lang="en-US"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40746874"/>
                  </a:ext>
                </a:extLst>
              </a:tr>
              <a:tr h="190500">
                <a:tc>
                  <a:txBody>
                    <a:bodyPr/>
                    <a:lstStyle/>
                    <a:p>
                      <a:pPr algn="l" fontAlgn="b">
                        <a:buNone/>
                      </a:pPr>
                      <a:r>
                        <a:rPr lang="en-US" sz="1100" u="none" strike="noStrike">
                          <a:effectLst/>
                        </a:rPr>
                        <a:t>Imports and Setup</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855 </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10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1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79622031"/>
                  </a:ext>
                </a:extLst>
              </a:tr>
              <a:tr h="190500">
                <a:tc>
                  <a:txBody>
                    <a:bodyPr/>
                    <a:lstStyle/>
                    <a:p>
                      <a:pPr algn="l" fontAlgn="b">
                        <a:buNone/>
                      </a:pPr>
                      <a:r>
                        <a:rPr lang="en-US" sz="1100" u="none" strike="noStrike">
                          <a:effectLst/>
                        </a:rPr>
                        <a:t>Graph Database Classes</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880 </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6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38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06622176"/>
                  </a:ext>
                </a:extLst>
              </a:tr>
              <a:tr h="190500">
                <a:tc>
                  <a:txBody>
                    <a:bodyPr/>
                    <a:lstStyle/>
                    <a:p>
                      <a:pPr algn="l" fontAlgn="b">
                        <a:buNone/>
                      </a:pPr>
                      <a:r>
                        <a:rPr lang="en-US" sz="1100" u="none" strike="noStrike">
                          <a:effectLst/>
                        </a:rPr>
                        <a:t>LLM Classes</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287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2 </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13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70439152"/>
                  </a:ext>
                </a:extLst>
              </a:tr>
              <a:tr h="190500">
                <a:tc>
                  <a:txBody>
                    <a:bodyPr/>
                    <a:lstStyle/>
                    <a:p>
                      <a:pPr algn="l" fontAlgn="b">
                        <a:buNone/>
                      </a:pPr>
                      <a:r>
                        <a:rPr lang="en-US" sz="1100" u="none" strike="noStrike">
                          <a:effectLst/>
                        </a:rPr>
                        <a:t>Document Classes</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445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2 </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26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28297558"/>
                  </a:ext>
                </a:extLst>
              </a:tr>
              <a:tr h="190500">
                <a:tc>
                  <a:txBody>
                    <a:bodyPr/>
                    <a:lstStyle/>
                    <a:p>
                      <a:pPr algn="l" fontAlgn="b">
                        <a:buNone/>
                      </a:pPr>
                      <a:r>
                        <a:rPr lang="en-US" sz="1100" u="none" strike="noStrike">
                          <a:effectLst/>
                        </a:rPr>
                        <a:t>Mind Classes</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1,117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6 </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33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10180823"/>
                  </a:ext>
                </a:extLst>
              </a:tr>
              <a:tr h="190500">
                <a:tc>
                  <a:txBody>
                    <a:bodyPr/>
                    <a:lstStyle/>
                    <a:p>
                      <a:pPr algn="l" fontAlgn="b">
                        <a:buNone/>
                      </a:pPr>
                      <a:r>
                        <a:rPr lang="en-US" sz="1100" u="none" strike="noStrike">
                          <a:effectLst/>
                        </a:rPr>
                        <a:t>Experiment Classes</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1,784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10 </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60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37882245"/>
                  </a:ext>
                </a:extLst>
              </a:tr>
              <a:tr h="190500">
                <a:tc>
                  <a:txBody>
                    <a:bodyPr/>
                    <a:lstStyle/>
                    <a:p>
                      <a:pPr algn="l" fontAlgn="b">
                        <a:buNone/>
                      </a:pPr>
                      <a:r>
                        <a:rPr lang="en-US" sz="1100" u="none" strike="noStrike">
                          <a:effectLst/>
                        </a:rPr>
                        <a:t>Main Execution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12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   </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43952376"/>
                  </a:ext>
                </a:extLst>
              </a:tr>
              <a:tr h="190500">
                <a:tc>
                  <a:txBody>
                    <a:bodyPr/>
                    <a:lstStyle/>
                    <a:p>
                      <a:pPr algn="l" fontAlgn="b">
                        <a:buNone/>
                      </a:pPr>
                      <a:r>
                        <a:rPr lang="en-US" sz="1100" u="none" strike="noStrike">
                          <a:effectLst/>
                        </a:rPr>
                        <a:t>Grand Total</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            5,380 </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36 </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                           171 </a:t>
                      </a:r>
                      <a:endParaRPr lang="en-US"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27068380"/>
                  </a:ext>
                </a:extLst>
              </a:tr>
            </a:tbl>
          </a:graphicData>
        </a:graphic>
      </p:graphicFrame>
      <p:sp>
        <p:nvSpPr>
          <p:cNvPr id="4" name="Title 3">
            <a:extLst>
              <a:ext uri="{FF2B5EF4-FFF2-40B4-BE49-F238E27FC236}">
                <a16:creationId xmlns:a16="http://schemas.microsoft.com/office/drawing/2014/main" id="{1D4DECEB-4FDD-1AFA-1FB0-9F3FBCCD80BF}"/>
              </a:ext>
            </a:extLst>
          </p:cNvPr>
          <p:cNvSpPr>
            <a:spLocks noGrp="1"/>
          </p:cNvSpPr>
          <p:nvPr>
            <p:ph type="title"/>
          </p:nvPr>
        </p:nvSpPr>
        <p:spPr/>
        <p:txBody>
          <a:bodyPr/>
          <a:lstStyle/>
          <a:p>
            <a:r>
              <a:rPr lang="en-US" dirty="0"/>
              <a:t>System Robustness</a:t>
            </a:r>
          </a:p>
        </p:txBody>
      </p:sp>
    </p:spTree>
    <p:extLst>
      <p:ext uri="{BB962C8B-B14F-4D97-AF65-F5344CB8AC3E}">
        <p14:creationId xmlns:p14="http://schemas.microsoft.com/office/powerpoint/2010/main" val="425977292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22038</TotalTime>
  <Words>11192</Words>
  <Application>Microsoft Office PowerPoint</Application>
  <PresentationFormat>Widescreen</PresentationFormat>
  <Paragraphs>788</Paragraphs>
  <Slides>36</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Courier New</vt:lpstr>
      <vt:lpstr>Wingdings</vt:lpstr>
      <vt:lpstr>Poppins</vt:lpstr>
      <vt:lpstr>Arial</vt:lpstr>
      <vt:lpstr>Calibri</vt:lpstr>
      <vt:lpstr>Aptos Narrow</vt:lpstr>
      <vt:lpstr>Lato</vt:lpstr>
      <vt:lpstr>Office Theme</vt:lpstr>
      <vt:lpstr>Mnemosyne</vt:lpstr>
      <vt:lpstr>PowerPoint Presentation</vt:lpstr>
      <vt:lpstr>Abstract</vt:lpstr>
      <vt:lpstr>The Multi Billion Dollar Problem</vt:lpstr>
      <vt:lpstr>Research Questions and Hypothesis</vt:lpstr>
      <vt:lpstr>Scope</vt:lpstr>
      <vt:lpstr>PowerPoint Presentation</vt:lpstr>
      <vt:lpstr>Literature Review Notes</vt:lpstr>
      <vt:lpstr>PowerPoint Presentation</vt:lpstr>
      <vt:lpstr>PowerPoint Presentation</vt:lpstr>
      <vt:lpstr>Knowledge Graph Example</vt:lpstr>
      <vt:lpstr>PowerPoint Presentation</vt:lpstr>
      <vt:lpstr>Corpus &amp; Validation</vt:lpstr>
      <vt:lpstr>Key Findings</vt:lpstr>
      <vt:lpstr>Semantic Depth vs Standard Extraction</vt:lpstr>
      <vt:lpstr>Traceability</vt:lpstr>
      <vt:lpstr>Response to Removal</vt:lpstr>
      <vt:lpstr>Suitability for Consistency and Completeness (C&amp;C) Analysis</vt:lpstr>
      <vt:lpstr>PowerPoint Presentation</vt:lpstr>
      <vt:lpstr>Revisiting the NDA Problem</vt:lpstr>
      <vt:lpstr>Key Findings Summary</vt:lpstr>
      <vt:lpstr>Significance</vt:lpstr>
      <vt:lpstr>Implications</vt:lpstr>
      <vt:lpstr>Key Contributions</vt:lpstr>
      <vt:lpstr>Future Research</vt:lpstr>
      <vt:lpstr>Conclusion</vt:lpstr>
      <vt:lpstr>Questions?</vt:lpstr>
      <vt:lpstr>PowerPoint Presentation</vt:lpstr>
      <vt:lpstr>Appendix</vt:lpstr>
      <vt:lpstr>Knowledge Graph Fit Assessment</vt:lpstr>
      <vt:lpstr>Key Findings</vt:lpstr>
      <vt:lpstr>NDA Example</vt:lpstr>
      <vt:lpstr>NDA Example</vt:lpstr>
      <vt:lpstr>PowerPoint Presentation</vt:lpstr>
      <vt:lpstr>System Robustness</vt:lpstr>
      <vt:lpstr>System Robustness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2022-23 Communications Plan</dc:title>
  <dc:creator>Healy, Devin Marie</dc:creator>
  <cp:lastModifiedBy>Michael</cp:lastModifiedBy>
  <cp:revision>69</cp:revision>
  <cp:lastPrinted>2025-11-23T16:36:43Z</cp:lastPrinted>
  <dcterms:created xsi:type="dcterms:W3CDTF">2020-03-10T16:22:03Z</dcterms:created>
  <dcterms:modified xsi:type="dcterms:W3CDTF">2025-11-23T23:51:35Z</dcterms:modified>
</cp:coreProperties>
</file>