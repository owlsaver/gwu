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9"/>
  </p:notesMasterIdLst>
  <p:sldIdLst>
    <p:sldId id="256" r:id="rId2"/>
    <p:sldId id="342" r:id="rId3"/>
    <p:sldId id="316" r:id="rId4"/>
    <p:sldId id="317" r:id="rId5"/>
    <p:sldId id="350" r:id="rId6"/>
    <p:sldId id="344" r:id="rId7"/>
    <p:sldId id="330" r:id="rId8"/>
    <p:sldId id="345" r:id="rId9"/>
    <p:sldId id="348" r:id="rId10"/>
    <p:sldId id="340" r:id="rId11"/>
    <p:sldId id="349" r:id="rId12"/>
    <p:sldId id="339" r:id="rId13"/>
    <p:sldId id="343" r:id="rId14"/>
    <p:sldId id="322" r:id="rId15"/>
    <p:sldId id="351" r:id="rId16"/>
    <p:sldId id="327" r:id="rId17"/>
    <p:sldId id="329" r:id="rId18"/>
    <p:sldId id="333" r:id="rId19"/>
    <p:sldId id="338" r:id="rId20"/>
    <p:sldId id="334" r:id="rId21"/>
    <p:sldId id="335" r:id="rId22"/>
    <p:sldId id="341" r:id="rId23"/>
    <p:sldId id="336" r:id="rId24"/>
    <p:sldId id="337" r:id="rId25"/>
    <p:sldId id="346" r:id="rId26"/>
    <p:sldId id="296" r:id="rId27"/>
    <p:sldId id="347" r:id="rId28"/>
  </p:sldIdLst>
  <p:sldSz cx="12192000" cy="6858000"/>
  <p:notesSz cx="6858000" cy="9144000"/>
  <p:embeddedFontLst>
    <p:embeddedFont>
      <p:font typeface="Aptos Narrow" panose="020B0004020202020204" pitchFamily="34" charset="0"/>
      <p:regular r:id="rId30"/>
      <p:bold r:id="rId31"/>
      <p:italic r:id="rId32"/>
      <p:boldItalic r:id="rId33"/>
    </p:embeddedFont>
    <p:embeddedFont>
      <p:font typeface="Lato" panose="020F0502020204030203" pitchFamily="34" charset="0"/>
      <p:regular r:id="rId34"/>
      <p:bold r:id="rId35"/>
      <p:italic r:id="rId36"/>
      <p:boldItalic r:id="rId37"/>
    </p:embeddedFont>
    <p:embeddedFont>
      <p:font typeface="Poppins" panose="00000500000000000000" pitchFamily="2" charset="0"/>
      <p:regular r:id="rId38"/>
      <p:bold r:id="rId39"/>
      <p:italic r:id="rId40"/>
      <p:boldItalic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0" roundtripDataSignature="AMtx7miDNVSbFq7dyO4335j4J4+rkAmYE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3A6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66"/>
    <p:restoredTop sz="88983" autoAdjust="0"/>
  </p:normalViewPr>
  <p:slideViewPr>
    <p:cSldViewPr snapToGrid="0" snapToObjects="1">
      <p:cViewPr varScale="1">
        <p:scale>
          <a:sx n="96" d="100"/>
          <a:sy n="96" d="100"/>
        </p:scale>
        <p:origin x="113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0.fntdata"/><Relationship Id="rId21" Type="http://schemas.openxmlformats.org/officeDocument/2006/relationships/slide" Target="slides/slide20.xml"/><Relationship Id="rId34" Type="http://schemas.openxmlformats.org/officeDocument/2006/relationships/font" Target="fonts/font5.fntdata"/><Relationship Id="rId84"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7.fntdata"/><Relationship Id="rId82"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font" Target="fonts/font6.fntdata"/><Relationship Id="rId8" Type="http://schemas.openxmlformats.org/officeDocument/2006/relationships/slide" Target="slides/slide7.xml"/><Relationship Id="rId80" Type="http://customschemas.google.com/relationships/presentationmetadata" Target="meta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12.fntdata"/><Relationship Id="rId8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 Context windows limit their ability to analyze documents that are larger than the context windows</a:t>
            </a:r>
          </a:p>
          <a:p>
            <a:r>
              <a:rPr lang="en-US" dirty="0"/>
              <a:t>Building a KG that is semantically enriched can solve this</a:t>
            </a:r>
          </a:p>
          <a:p>
            <a:r>
              <a:rPr lang="en-US" dirty="0"/>
              <a:t>This supports focusing on areas tat are semantically related</a:t>
            </a:r>
          </a:p>
          <a:p>
            <a:r>
              <a:rPr lang="en-US" dirty="0"/>
              <a:t>This praxis shows that they work for consistency and </a:t>
            </a:r>
            <a:r>
              <a:rPr lang="en-US" dirty="0" err="1"/>
              <a:t>completness</a:t>
            </a:r>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244950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An example pf the kid of problem that Mnemosyne was designed to solve</a:t>
            </a:r>
            <a:endParaRPr dirty="0"/>
          </a:p>
        </p:txBody>
      </p:sp>
      <p:sp>
        <p:nvSpPr>
          <p:cNvPr id="185" name="Google Shape;18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77198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why some items are out of scope</a:t>
            </a:r>
          </a:p>
          <a:p>
            <a:r>
              <a:rPr lang="en-US" dirty="0"/>
              <a:t>Talk about each in scope item</a:t>
            </a:r>
          </a:p>
          <a:p>
            <a:r>
              <a:rPr lang="en-US" dirty="0"/>
              <a:t>Address the idea of why some items were using the LLM and some items use procedural code</a:t>
            </a: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208427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5FFE3-5BBA-14FA-DB53-35B4ACEFEC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651D4D-5FE4-BA39-694A-F321517DD1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4C39EB-FA23-9C49-2F37-0B42C4F309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046E39-C928-4D84-52FA-3A482C668C0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129457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why some items are out of scope</a:t>
            </a:r>
          </a:p>
          <a:p>
            <a:r>
              <a:rPr lang="en-US" dirty="0"/>
              <a:t>Talk about each in scope item</a:t>
            </a:r>
          </a:p>
          <a:p>
            <a:r>
              <a:rPr lang="en-US" dirty="0"/>
              <a:t>Address the idea of why some items were using the LLM and some items use procedural code</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004907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6.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Master" Target="../slideMasters/slideMaster1.xml"/><Relationship Id="rId4" Type="http://schemas.openxmlformats.org/officeDocument/2006/relationships/image" Target="../media/image13.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24"/>
        <p:cNvGrpSpPr/>
        <p:nvPr/>
      </p:nvGrpSpPr>
      <p:grpSpPr>
        <a:xfrm>
          <a:off x="0" y="0"/>
          <a:ext cx="0" cy="0"/>
          <a:chOff x="0" y="0"/>
          <a:chExt cx="0" cy="0"/>
        </a:xfrm>
      </p:grpSpPr>
      <p:sp>
        <p:nvSpPr>
          <p:cNvPr id="25" name="Google Shape;25;p46"/>
          <p:cNvSpPr txBox="1">
            <a:spLocks noGrp="1"/>
          </p:cNvSpPr>
          <p:nvPr>
            <p:ph type="body" idx="1"/>
          </p:nvPr>
        </p:nvSpPr>
        <p:spPr>
          <a:xfrm>
            <a:off x="838200" y="1825625"/>
            <a:ext cx="10515600" cy="347450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800"/>
              <a:buNone/>
              <a:defRPr>
                <a:solidFill>
                  <a:srgbClr val="595959"/>
                </a:solidFill>
                <a:latin typeface="Arial"/>
                <a:ea typeface="Arial"/>
                <a:cs typeface="Arial"/>
                <a:sym typeface="Arial"/>
              </a:defRPr>
            </a:lvl1pPr>
            <a:lvl2pPr marL="914400" lvl="1" indent="-381000" algn="l">
              <a:lnSpc>
                <a:spcPct val="90000"/>
              </a:lnSpc>
              <a:spcBef>
                <a:spcPts val="500"/>
              </a:spcBef>
              <a:spcAft>
                <a:spcPts val="0"/>
              </a:spcAft>
              <a:buClr>
                <a:schemeClr val="dk1"/>
              </a:buClr>
              <a:buSzPts val="2400"/>
              <a:buChar char="•"/>
              <a:defRPr>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a:latin typeface="Arial"/>
                <a:ea typeface="Arial"/>
                <a:cs typeface="Arial"/>
                <a:sym typeface="Arial"/>
              </a:defRPr>
            </a:lvl3pPr>
            <a:lvl4pPr marL="1828800" lvl="3" indent="-342900" algn="l">
              <a:lnSpc>
                <a:spcPct val="90000"/>
              </a:lnSpc>
              <a:spcBef>
                <a:spcPts val="500"/>
              </a:spcBef>
              <a:spcAft>
                <a:spcPts val="0"/>
              </a:spcAft>
              <a:buClr>
                <a:schemeClr val="dk1"/>
              </a:buClr>
              <a:buSzPts val="1800"/>
              <a:buChar char="•"/>
              <a:defRPr>
                <a:latin typeface="Arial"/>
                <a:ea typeface="Arial"/>
                <a:cs typeface="Arial"/>
                <a:sym typeface="Arial"/>
              </a:defRPr>
            </a:lvl4pPr>
            <a:lvl5pPr marL="2286000" lvl="4" indent="-342900" algn="l">
              <a:lnSpc>
                <a:spcPct val="90000"/>
              </a:lnSpc>
              <a:spcBef>
                <a:spcPts val="500"/>
              </a:spcBef>
              <a:spcAft>
                <a:spcPts val="0"/>
              </a:spcAft>
              <a:buClr>
                <a:schemeClr val="dk1"/>
              </a:buClr>
              <a:buSzPts val="1800"/>
              <a:buChar char="•"/>
              <a:defRPr>
                <a:latin typeface="Arial"/>
                <a:ea typeface="Arial"/>
                <a:cs typeface="Arial"/>
                <a:sym typeface="Aria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46"/>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0"/>
        <p:cNvGrpSpPr/>
        <p:nvPr/>
      </p:nvGrpSpPr>
      <p:grpSpPr>
        <a:xfrm>
          <a:off x="0" y="0"/>
          <a:ext cx="0" cy="0"/>
          <a:chOff x="0" y="0"/>
          <a:chExt cx="0" cy="0"/>
        </a:xfrm>
      </p:grpSpPr>
      <p:sp>
        <p:nvSpPr>
          <p:cNvPr id="91" name="Google Shape;91;p5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5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5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5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5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96"/>
        <p:cNvGrpSpPr/>
        <p:nvPr/>
      </p:nvGrpSpPr>
      <p:grpSpPr>
        <a:xfrm>
          <a:off x="0" y="0"/>
          <a:ext cx="0" cy="0"/>
          <a:chOff x="0" y="0"/>
          <a:chExt cx="0" cy="0"/>
        </a:xfrm>
      </p:grpSpPr>
      <p:sp>
        <p:nvSpPr>
          <p:cNvPr id="97" name="Google Shape;97;p58"/>
          <p:cNvSpPr txBox="1">
            <a:spLocks noGrp="1"/>
          </p:cNvSpPr>
          <p:nvPr>
            <p:ph type="body"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rgbClr val="888888"/>
              </a:buClr>
              <a:buSzPts val="1800"/>
              <a:buNone/>
              <a:defRPr sz="1800">
                <a:solidFill>
                  <a:srgbClr val="888888"/>
                </a:solidFill>
              </a:defRPr>
            </a:lvl2pPr>
            <a:lvl3pPr marL="1371600" lvl="2" indent="-228600" algn="l">
              <a:lnSpc>
                <a:spcPct val="90000"/>
              </a:lnSpc>
              <a:spcBef>
                <a:spcPts val="500"/>
              </a:spcBef>
              <a:spcAft>
                <a:spcPts val="0"/>
              </a:spcAft>
              <a:buClr>
                <a:srgbClr val="888888"/>
              </a:buClr>
              <a:buSzPts val="1600"/>
              <a:buNone/>
              <a:defRPr sz="1600">
                <a:solidFill>
                  <a:srgbClr val="888888"/>
                </a:solidFill>
              </a:defRPr>
            </a:lvl3pPr>
            <a:lvl4pPr marL="1828800" lvl="3" indent="-228600" algn="l">
              <a:lnSpc>
                <a:spcPct val="90000"/>
              </a:lnSpc>
              <a:spcBef>
                <a:spcPts val="500"/>
              </a:spcBef>
              <a:spcAft>
                <a:spcPts val="0"/>
              </a:spcAft>
              <a:buClr>
                <a:srgbClr val="888888"/>
              </a:buClr>
              <a:buSzPts val="1400"/>
              <a:buNone/>
              <a:defRPr sz="1400">
                <a:solidFill>
                  <a:srgbClr val="888888"/>
                </a:solidFill>
              </a:defRPr>
            </a:lvl4pPr>
            <a:lvl5pPr marL="2286000" lvl="4" indent="-228600" algn="l">
              <a:lnSpc>
                <a:spcPct val="90000"/>
              </a:lnSpc>
              <a:spcBef>
                <a:spcPts val="500"/>
              </a:spcBef>
              <a:spcAft>
                <a:spcPts val="0"/>
              </a:spcAft>
              <a:buClr>
                <a:srgbClr val="888888"/>
              </a:buClr>
              <a:buSzPts val="1400"/>
              <a:buNone/>
              <a:defRPr sz="1400">
                <a:solidFill>
                  <a:srgbClr val="888888"/>
                </a:solidFill>
              </a:defRPr>
            </a:lvl5pPr>
            <a:lvl6pPr marL="2743200" lvl="5" indent="-228600" algn="l">
              <a:lnSpc>
                <a:spcPct val="90000"/>
              </a:lnSpc>
              <a:spcBef>
                <a:spcPts val="500"/>
              </a:spcBef>
              <a:spcAft>
                <a:spcPts val="0"/>
              </a:spcAft>
              <a:buClr>
                <a:srgbClr val="888888"/>
              </a:buClr>
              <a:buSzPts val="1400"/>
              <a:buNone/>
              <a:defRPr sz="1400">
                <a:solidFill>
                  <a:srgbClr val="888888"/>
                </a:solidFill>
              </a:defRPr>
            </a:lvl6pPr>
            <a:lvl7pPr marL="3200400" lvl="6" indent="-228600" algn="l">
              <a:lnSpc>
                <a:spcPct val="90000"/>
              </a:lnSpc>
              <a:spcBef>
                <a:spcPts val="500"/>
              </a:spcBef>
              <a:spcAft>
                <a:spcPts val="0"/>
              </a:spcAft>
              <a:buClr>
                <a:srgbClr val="888888"/>
              </a:buClr>
              <a:buSzPts val="1400"/>
              <a:buNone/>
              <a:defRPr sz="1400">
                <a:solidFill>
                  <a:srgbClr val="888888"/>
                </a:solidFill>
              </a:defRPr>
            </a:lvl7pPr>
            <a:lvl8pPr marL="3657600" lvl="7" indent="-228600" algn="l">
              <a:lnSpc>
                <a:spcPct val="90000"/>
              </a:lnSpc>
              <a:spcBef>
                <a:spcPts val="500"/>
              </a:spcBef>
              <a:spcAft>
                <a:spcPts val="0"/>
              </a:spcAft>
              <a:buClr>
                <a:srgbClr val="888888"/>
              </a:buClr>
              <a:buSzPts val="1400"/>
              <a:buNone/>
              <a:defRPr sz="1400">
                <a:solidFill>
                  <a:srgbClr val="888888"/>
                </a:solidFill>
              </a:defRPr>
            </a:lvl8pPr>
            <a:lvl9pPr marL="4114800" lvl="8" indent="-228600" algn="l">
              <a:lnSpc>
                <a:spcPct val="90000"/>
              </a:lnSpc>
              <a:spcBef>
                <a:spcPts val="500"/>
              </a:spcBef>
              <a:spcAft>
                <a:spcPts val="0"/>
              </a:spcAft>
              <a:buClr>
                <a:srgbClr val="888888"/>
              </a:buClr>
              <a:buSzPts val="1400"/>
              <a:buNone/>
              <a:defRPr sz="1400">
                <a:solidFill>
                  <a:srgbClr val="888888"/>
                </a:solidFill>
              </a:defRPr>
            </a:lvl9pPr>
          </a:lstStyle>
          <a:p>
            <a:endParaRPr/>
          </a:p>
        </p:txBody>
      </p:sp>
      <p:sp>
        <p:nvSpPr>
          <p:cNvPr id="98" name="Google Shape;98;p58"/>
          <p:cNvSpPr txBox="1">
            <a:spLocks noGrp="1"/>
          </p:cNvSpPr>
          <p:nvPr>
            <p:ph type="title"/>
          </p:nvPr>
        </p:nvSpPr>
        <p:spPr>
          <a:xfrm>
            <a:off x="1524000" y="1599247"/>
            <a:ext cx="9143999" cy="191071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595959"/>
              </a:buClr>
              <a:buSzPts val="5400"/>
              <a:buFont typeface="Arial"/>
              <a:buNone/>
              <a:defRPr sz="5400" b="1" cap="none">
                <a:solidFill>
                  <a:srgbClr val="595959"/>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Areas">
  <p:cSld name="Two Content Areas">
    <p:spTree>
      <p:nvGrpSpPr>
        <p:cNvPr id="1" name="Shape 99"/>
        <p:cNvGrpSpPr/>
        <p:nvPr/>
      </p:nvGrpSpPr>
      <p:grpSpPr>
        <a:xfrm>
          <a:off x="0" y="0"/>
          <a:ext cx="0" cy="0"/>
          <a:chOff x="0" y="0"/>
          <a:chExt cx="0" cy="0"/>
        </a:xfrm>
      </p:grpSpPr>
      <p:sp>
        <p:nvSpPr>
          <p:cNvPr id="100" name="Google Shape;100;p59"/>
          <p:cNvSpPr txBox="1">
            <a:spLocks noGrp="1"/>
          </p:cNvSpPr>
          <p:nvPr>
            <p:ph type="body" idx="1"/>
          </p:nvPr>
        </p:nvSpPr>
        <p:spPr>
          <a:xfrm>
            <a:off x="838199" y="1825625"/>
            <a:ext cx="5181599" cy="3434474"/>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rgbClr val="595959"/>
              </a:buClr>
              <a:buSzPts val="2000"/>
              <a:buChar char="•"/>
              <a:defRPr sz="2000">
                <a:solidFill>
                  <a:srgbClr val="595959"/>
                </a:solidFill>
                <a:latin typeface="Arial"/>
                <a:ea typeface="Arial"/>
                <a:cs typeface="Arial"/>
                <a:sym typeface="Aria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59"/>
          <p:cNvSpPr txBox="1">
            <a:spLocks noGrp="1"/>
          </p:cNvSpPr>
          <p:nvPr>
            <p:ph type="body" idx="2"/>
          </p:nvPr>
        </p:nvSpPr>
        <p:spPr>
          <a:xfrm>
            <a:off x="6172199" y="1825625"/>
            <a:ext cx="5181599" cy="3434474"/>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rgbClr val="595959"/>
              </a:buClr>
              <a:buSzPts val="2000"/>
              <a:buChar char="•"/>
              <a:defRPr sz="2000">
                <a:solidFill>
                  <a:srgbClr val="595959"/>
                </a:solidFill>
                <a:latin typeface="Arial"/>
                <a:ea typeface="Arial"/>
                <a:cs typeface="Arial"/>
                <a:sym typeface="Aria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59"/>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lumns with Subtitles">
  <p:cSld name="Two Columns with Subtitles">
    <p:spTree>
      <p:nvGrpSpPr>
        <p:cNvPr id="1" name="Shape 103"/>
        <p:cNvGrpSpPr/>
        <p:nvPr/>
      </p:nvGrpSpPr>
      <p:grpSpPr>
        <a:xfrm>
          <a:off x="0" y="0"/>
          <a:ext cx="0" cy="0"/>
          <a:chOff x="0" y="0"/>
          <a:chExt cx="0" cy="0"/>
        </a:xfrm>
      </p:grpSpPr>
      <p:sp>
        <p:nvSpPr>
          <p:cNvPr id="104" name="Google Shape;104;p60"/>
          <p:cNvSpPr txBox="1">
            <a:spLocks noGrp="1"/>
          </p:cNvSpPr>
          <p:nvPr>
            <p:ph type="body" idx="1"/>
          </p:nvPr>
        </p:nvSpPr>
        <p:spPr>
          <a:xfrm>
            <a:off x="836612" y="2505075"/>
            <a:ext cx="5176884" cy="2765575"/>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sz="2000">
                <a:latin typeface="Arial"/>
                <a:ea typeface="Arial"/>
                <a:cs typeface="Arial"/>
                <a:sym typeface="Arial"/>
              </a:defRPr>
            </a:lvl3pPr>
            <a:lvl4pPr marL="1828800" lvl="3" indent="-355600" algn="l">
              <a:lnSpc>
                <a:spcPct val="90000"/>
              </a:lnSpc>
              <a:spcBef>
                <a:spcPts val="500"/>
              </a:spcBef>
              <a:spcAft>
                <a:spcPts val="0"/>
              </a:spcAft>
              <a:buClr>
                <a:schemeClr val="dk1"/>
              </a:buClr>
              <a:buSzPts val="2000"/>
              <a:buChar char="•"/>
              <a:defRPr sz="2000">
                <a:latin typeface="Arial"/>
                <a:ea typeface="Arial"/>
                <a:cs typeface="Arial"/>
                <a:sym typeface="Arial"/>
              </a:defRPr>
            </a:lvl4pPr>
            <a:lvl5pPr marL="2286000" lvl="4" indent="-355600" algn="l">
              <a:lnSpc>
                <a:spcPct val="90000"/>
              </a:lnSpc>
              <a:spcBef>
                <a:spcPts val="500"/>
              </a:spcBef>
              <a:spcAft>
                <a:spcPts val="0"/>
              </a:spcAft>
              <a:buClr>
                <a:schemeClr val="dk1"/>
              </a:buClr>
              <a:buSzPts val="2000"/>
              <a:buChar char="•"/>
              <a:defRPr sz="2000">
                <a:latin typeface="Arial"/>
                <a:ea typeface="Arial"/>
                <a:cs typeface="Arial"/>
                <a:sym typeface="Arial"/>
              </a:defRPr>
            </a:lvl5pPr>
            <a:lvl6pPr marL="2743200" lvl="5" indent="-330200" algn="l">
              <a:lnSpc>
                <a:spcPct val="90000"/>
              </a:lnSpc>
              <a:spcBef>
                <a:spcPts val="500"/>
              </a:spcBef>
              <a:spcAft>
                <a:spcPts val="0"/>
              </a:spcAft>
              <a:buClr>
                <a:schemeClr val="dk1"/>
              </a:buClr>
              <a:buSzPts val="1600"/>
              <a:buChar char="•"/>
              <a:defRPr sz="1600"/>
            </a:lvl6pPr>
            <a:lvl7pPr marL="3200400" lvl="6" indent="-330200" algn="l">
              <a:lnSpc>
                <a:spcPct val="90000"/>
              </a:lnSpc>
              <a:spcBef>
                <a:spcPts val="500"/>
              </a:spcBef>
              <a:spcAft>
                <a:spcPts val="0"/>
              </a:spcAft>
              <a:buClr>
                <a:schemeClr val="dk1"/>
              </a:buClr>
              <a:buSzPts val="1600"/>
              <a:buChar char="•"/>
              <a:defRPr sz="1600"/>
            </a:lvl7pPr>
            <a:lvl8pPr marL="3657600" lvl="7" indent="-330200" algn="l">
              <a:lnSpc>
                <a:spcPct val="90000"/>
              </a:lnSpc>
              <a:spcBef>
                <a:spcPts val="500"/>
              </a:spcBef>
              <a:spcAft>
                <a:spcPts val="0"/>
              </a:spcAft>
              <a:buClr>
                <a:schemeClr val="dk1"/>
              </a:buClr>
              <a:buSzPts val="1600"/>
              <a:buChar char="•"/>
              <a:defRPr sz="1600"/>
            </a:lvl8pPr>
            <a:lvl9pPr marL="4114800" lvl="8" indent="-330200" algn="l">
              <a:lnSpc>
                <a:spcPct val="90000"/>
              </a:lnSpc>
              <a:spcBef>
                <a:spcPts val="500"/>
              </a:spcBef>
              <a:spcAft>
                <a:spcPts val="0"/>
              </a:spcAft>
              <a:buClr>
                <a:schemeClr val="dk1"/>
              </a:buClr>
              <a:buSzPts val="1600"/>
              <a:buChar char="•"/>
              <a:defRPr sz="1600"/>
            </a:lvl9pPr>
          </a:lstStyle>
          <a:p>
            <a:endParaRPr/>
          </a:p>
        </p:txBody>
      </p:sp>
      <p:sp>
        <p:nvSpPr>
          <p:cNvPr id="105" name="Google Shape;105;p60"/>
          <p:cNvSpPr txBox="1">
            <a:spLocks noGrp="1"/>
          </p:cNvSpPr>
          <p:nvPr>
            <p:ph type="body" idx="2"/>
          </p:nvPr>
        </p:nvSpPr>
        <p:spPr>
          <a:xfrm>
            <a:off x="6172200" y="1711496"/>
            <a:ext cx="5186362" cy="792436"/>
          </a:xfrm>
          <a:prstGeom prst="rect">
            <a:avLst/>
          </a:prstGeom>
          <a:noFill/>
          <a:ln>
            <a:noFill/>
          </a:ln>
        </p:spPr>
        <p:txBody>
          <a:bodyPr spcFirstLastPara="1" wrap="square" lIns="91425" tIns="45700" rIns="91425" bIns="45700" anchor="b" anchorCtr="0">
            <a:noAutofit/>
          </a:bodyPr>
          <a:lstStyle>
            <a:lvl1pPr marL="457200" lvl="0" indent="-228600" algn="l">
              <a:lnSpc>
                <a:spcPct val="90000"/>
              </a:lnSpc>
              <a:spcBef>
                <a:spcPts val="1000"/>
              </a:spcBef>
              <a:spcAft>
                <a:spcPts val="0"/>
              </a:spcAft>
              <a:buClr>
                <a:srgbClr val="595959"/>
              </a:buClr>
              <a:buSzPts val="2500"/>
              <a:buNone/>
              <a:defRPr sz="2500" b="1">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06" name="Google Shape;106;p60"/>
          <p:cNvSpPr txBox="1">
            <a:spLocks noGrp="1"/>
          </p:cNvSpPr>
          <p:nvPr>
            <p:ph type="body" idx="3"/>
          </p:nvPr>
        </p:nvSpPr>
        <p:spPr>
          <a:xfrm>
            <a:off x="6178505" y="2505075"/>
            <a:ext cx="5180057" cy="2765575"/>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vl2pPr>
            <a:lvl3pPr marL="1371600" lvl="2" indent="-342900" algn="l">
              <a:lnSpc>
                <a:spcPct val="90000"/>
              </a:lnSpc>
              <a:spcBef>
                <a:spcPts val="500"/>
              </a:spcBef>
              <a:spcAft>
                <a:spcPts val="0"/>
              </a:spcAft>
              <a:buClr>
                <a:schemeClr val="dk1"/>
              </a:buClr>
              <a:buSzPts val="1800"/>
              <a:buChar char="•"/>
              <a:defRPr sz="18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30200" algn="l">
              <a:lnSpc>
                <a:spcPct val="90000"/>
              </a:lnSpc>
              <a:spcBef>
                <a:spcPts val="500"/>
              </a:spcBef>
              <a:spcAft>
                <a:spcPts val="0"/>
              </a:spcAft>
              <a:buClr>
                <a:schemeClr val="dk1"/>
              </a:buClr>
              <a:buSzPts val="1600"/>
              <a:buChar char="•"/>
              <a:defRPr sz="1600"/>
            </a:lvl6pPr>
            <a:lvl7pPr marL="3200400" lvl="6" indent="-330200" algn="l">
              <a:lnSpc>
                <a:spcPct val="90000"/>
              </a:lnSpc>
              <a:spcBef>
                <a:spcPts val="500"/>
              </a:spcBef>
              <a:spcAft>
                <a:spcPts val="0"/>
              </a:spcAft>
              <a:buClr>
                <a:schemeClr val="dk1"/>
              </a:buClr>
              <a:buSzPts val="1600"/>
              <a:buChar char="•"/>
              <a:defRPr sz="1600"/>
            </a:lvl7pPr>
            <a:lvl8pPr marL="3657600" lvl="7" indent="-330200" algn="l">
              <a:lnSpc>
                <a:spcPct val="90000"/>
              </a:lnSpc>
              <a:spcBef>
                <a:spcPts val="500"/>
              </a:spcBef>
              <a:spcAft>
                <a:spcPts val="0"/>
              </a:spcAft>
              <a:buClr>
                <a:schemeClr val="dk1"/>
              </a:buClr>
              <a:buSzPts val="1600"/>
              <a:buChar char="•"/>
              <a:defRPr sz="1600"/>
            </a:lvl8pPr>
            <a:lvl9pPr marL="4114800" lvl="8" indent="-330200" algn="l">
              <a:lnSpc>
                <a:spcPct val="90000"/>
              </a:lnSpc>
              <a:spcBef>
                <a:spcPts val="500"/>
              </a:spcBef>
              <a:spcAft>
                <a:spcPts val="0"/>
              </a:spcAft>
              <a:buClr>
                <a:schemeClr val="dk1"/>
              </a:buClr>
              <a:buSzPts val="1600"/>
              <a:buChar char="•"/>
              <a:defRPr sz="1600"/>
            </a:lvl9pPr>
          </a:lstStyle>
          <a:p>
            <a:endParaRPr/>
          </a:p>
        </p:txBody>
      </p:sp>
      <p:sp>
        <p:nvSpPr>
          <p:cNvPr id="107" name="Google Shape;107;p60"/>
          <p:cNvSpPr txBox="1">
            <a:spLocks noGrp="1"/>
          </p:cNvSpPr>
          <p:nvPr>
            <p:ph type="body" idx="4"/>
          </p:nvPr>
        </p:nvSpPr>
        <p:spPr>
          <a:xfrm>
            <a:off x="836614" y="1712639"/>
            <a:ext cx="5183187" cy="792436"/>
          </a:xfrm>
          <a:prstGeom prst="rect">
            <a:avLst/>
          </a:prstGeom>
          <a:noFill/>
          <a:ln>
            <a:noFill/>
          </a:ln>
        </p:spPr>
        <p:txBody>
          <a:bodyPr spcFirstLastPara="1" wrap="square" lIns="91425" tIns="45700" rIns="91425" bIns="45700" anchor="b" anchorCtr="0">
            <a:noAutofit/>
          </a:bodyPr>
          <a:lstStyle>
            <a:lvl1pPr marL="457200" lvl="0" indent="-228600" algn="l">
              <a:lnSpc>
                <a:spcPct val="90000"/>
              </a:lnSpc>
              <a:spcBef>
                <a:spcPts val="1000"/>
              </a:spcBef>
              <a:spcAft>
                <a:spcPts val="0"/>
              </a:spcAft>
              <a:buClr>
                <a:srgbClr val="595959"/>
              </a:buClr>
              <a:buSzPts val="2500"/>
              <a:buNone/>
              <a:defRPr sz="2500" b="1">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08" name="Google Shape;108;p60"/>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_Content with Caption">
  <p:cSld name="1_Content with Caption">
    <p:spTree>
      <p:nvGrpSpPr>
        <p:cNvPr id="1" name="Shape 109"/>
        <p:cNvGrpSpPr/>
        <p:nvPr/>
      </p:nvGrpSpPr>
      <p:grpSpPr>
        <a:xfrm>
          <a:off x="0" y="0"/>
          <a:ext cx="0" cy="0"/>
          <a:chOff x="0" y="0"/>
          <a:chExt cx="0" cy="0"/>
        </a:xfrm>
      </p:grpSpPr>
      <p:sp>
        <p:nvSpPr>
          <p:cNvPr id="110" name="Google Shape;110;p61"/>
          <p:cNvSpPr txBox="1">
            <a:spLocks noGrp="1"/>
          </p:cNvSpPr>
          <p:nvPr>
            <p:ph type="body" idx="1"/>
          </p:nvPr>
        </p:nvSpPr>
        <p:spPr>
          <a:xfrm>
            <a:off x="457717" y="545091"/>
            <a:ext cx="5393266" cy="441401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sz="2000">
                <a:latin typeface="Arial"/>
                <a:ea typeface="Arial"/>
                <a:cs typeface="Arial"/>
                <a:sym typeface="Arial"/>
              </a:defRPr>
            </a:lvl3pPr>
            <a:lvl4pPr marL="1828800" lvl="3" indent="-355600" algn="l">
              <a:lnSpc>
                <a:spcPct val="90000"/>
              </a:lnSpc>
              <a:spcBef>
                <a:spcPts val="500"/>
              </a:spcBef>
              <a:spcAft>
                <a:spcPts val="0"/>
              </a:spcAft>
              <a:buClr>
                <a:schemeClr val="dk1"/>
              </a:buClr>
              <a:buSzPts val="2000"/>
              <a:buChar char="•"/>
              <a:defRPr sz="2000">
                <a:latin typeface="Arial"/>
                <a:ea typeface="Arial"/>
                <a:cs typeface="Arial"/>
                <a:sym typeface="Arial"/>
              </a:defRPr>
            </a:lvl4pPr>
            <a:lvl5pPr marL="2286000" lvl="4" indent="-355600" algn="l">
              <a:lnSpc>
                <a:spcPct val="90000"/>
              </a:lnSpc>
              <a:spcBef>
                <a:spcPts val="500"/>
              </a:spcBef>
              <a:spcAft>
                <a:spcPts val="0"/>
              </a:spcAft>
              <a:buClr>
                <a:schemeClr val="dk1"/>
              </a:buClr>
              <a:buSzPts val="2000"/>
              <a:buChar char="•"/>
              <a:defRPr sz="2000">
                <a:latin typeface="Arial"/>
                <a:ea typeface="Arial"/>
                <a:cs typeface="Arial"/>
                <a:sym typeface="Arial"/>
              </a:defRPr>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11" name="Google Shape;111;p61"/>
          <p:cNvSpPr txBox="1">
            <a:spLocks noGrp="1"/>
          </p:cNvSpPr>
          <p:nvPr>
            <p:ph type="body" idx="2"/>
          </p:nvPr>
        </p:nvSpPr>
        <p:spPr>
          <a:xfrm>
            <a:off x="6231467" y="545092"/>
            <a:ext cx="5393266" cy="441401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1200"/>
              <a:buNone/>
              <a:defRPr sz="1200"/>
            </a:lvl2pPr>
            <a:lvl3pPr marL="1371600" lvl="2" indent="-228600" algn="l">
              <a:lnSpc>
                <a:spcPct val="90000"/>
              </a:lnSpc>
              <a:spcBef>
                <a:spcPts val="500"/>
              </a:spcBef>
              <a:spcAft>
                <a:spcPts val="0"/>
              </a:spcAft>
              <a:buClr>
                <a:schemeClr val="dk1"/>
              </a:buClr>
              <a:buSzPts val="1000"/>
              <a:buNone/>
              <a:defRPr sz="1000"/>
            </a:lvl3pPr>
            <a:lvl4pPr marL="1828800" lvl="3" indent="-228600" algn="l">
              <a:lnSpc>
                <a:spcPct val="90000"/>
              </a:lnSpc>
              <a:spcBef>
                <a:spcPts val="500"/>
              </a:spcBef>
              <a:spcAft>
                <a:spcPts val="0"/>
              </a:spcAft>
              <a:buClr>
                <a:schemeClr val="dk1"/>
              </a:buClr>
              <a:buSzPts val="900"/>
              <a:buNone/>
              <a:defRPr sz="900"/>
            </a:lvl4pPr>
            <a:lvl5pPr marL="2286000" lvl="4" indent="-228600" algn="l">
              <a:lnSpc>
                <a:spcPct val="90000"/>
              </a:lnSpc>
              <a:spcBef>
                <a:spcPts val="500"/>
              </a:spcBef>
              <a:spcAft>
                <a:spcPts val="0"/>
              </a:spcAft>
              <a:buClr>
                <a:schemeClr val="dk1"/>
              </a:buClr>
              <a:buSzPts val="900"/>
              <a:buNone/>
              <a:defRPr sz="900"/>
            </a:lvl5pPr>
            <a:lvl6pPr marL="2743200" lvl="5" indent="-228600" algn="l">
              <a:lnSpc>
                <a:spcPct val="90000"/>
              </a:lnSpc>
              <a:spcBef>
                <a:spcPts val="500"/>
              </a:spcBef>
              <a:spcAft>
                <a:spcPts val="0"/>
              </a:spcAft>
              <a:buClr>
                <a:schemeClr val="dk1"/>
              </a:buClr>
              <a:buSzPts val="900"/>
              <a:buNone/>
              <a:defRPr sz="900"/>
            </a:lvl6pPr>
            <a:lvl7pPr marL="3200400" lvl="6" indent="-228600" algn="l">
              <a:lnSpc>
                <a:spcPct val="90000"/>
              </a:lnSpc>
              <a:spcBef>
                <a:spcPts val="500"/>
              </a:spcBef>
              <a:spcAft>
                <a:spcPts val="0"/>
              </a:spcAft>
              <a:buClr>
                <a:schemeClr val="dk1"/>
              </a:buClr>
              <a:buSzPts val="900"/>
              <a:buNone/>
              <a:defRPr sz="900"/>
            </a:lvl7pPr>
            <a:lvl8pPr marL="3657600" lvl="7" indent="-228600" algn="l">
              <a:lnSpc>
                <a:spcPct val="90000"/>
              </a:lnSpc>
              <a:spcBef>
                <a:spcPts val="500"/>
              </a:spcBef>
              <a:spcAft>
                <a:spcPts val="0"/>
              </a:spcAft>
              <a:buClr>
                <a:schemeClr val="dk1"/>
              </a:buClr>
              <a:buSzPts val="900"/>
              <a:buNone/>
              <a:defRPr sz="900"/>
            </a:lvl8pPr>
            <a:lvl9pPr marL="4114800" lvl="8" indent="-228600" algn="l">
              <a:lnSpc>
                <a:spcPct val="90000"/>
              </a:lnSpc>
              <a:spcBef>
                <a:spcPts val="500"/>
              </a:spcBef>
              <a:spcAft>
                <a:spcPts val="0"/>
              </a:spcAft>
              <a:buClr>
                <a:schemeClr val="dk1"/>
              </a:buClr>
              <a:buSzPts val="900"/>
              <a:buNone/>
              <a:defRPr sz="9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hoto with Caption">
  <p:cSld name="Photo with Caption">
    <p:spTree>
      <p:nvGrpSpPr>
        <p:cNvPr id="1" name="Shape 112"/>
        <p:cNvGrpSpPr/>
        <p:nvPr/>
      </p:nvGrpSpPr>
      <p:grpSpPr>
        <a:xfrm>
          <a:off x="0" y="0"/>
          <a:ext cx="0" cy="0"/>
          <a:chOff x="0" y="0"/>
          <a:chExt cx="0" cy="0"/>
        </a:xfrm>
      </p:grpSpPr>
      <p:sp>
        <p:nvSpPr>
          <p:cNvPr id="113" name="Google Shape;113;p62"/>
          <p:cNvSpPr>
            <a:spLocks noGrp="1"/>
          </p:cNvSpPr>
          <p:nvPr>
            <p:ph type="pic" idx="2"/>
          </p:nvPr>
        </p:nvSpPr>
        <p:spPr>
          <a:xfrm rot="344365">
            <a:off x="765923" y="687338"/>
            <a:ext cx="10591524" cy="3491307"/>
          </a:xfrm>
          <a:prstGeom prst="rect">
            <a:avLst/>
          </a:prstGeom>
          <a:solidFill>
            <a:srgbClr val="ECECEC"/>
          </a:solidFill>
          <a:ln w="190500" cap="sq" cmpd="sng">
            <a:solidFill>
              <a:srgbClr val="FFFFFF"/>
            </a:solidFill>
            <a:prstDash val="solid"/>
            <a:miter lim="800000"/>
            <a:headEnd type="none" w="sm" len="sm"/>
            <a:tailEnd type="none" w="sm" len="sm"/>
          </a:ln>
        </p:spPr>
      </p:sp>
      <p:sp>
        <p:nvSpPr>
          <p:cNvPr id="114" name="Google Shape;114;p62"/>
          <p:cNvSpPr txBox="1">
            <a:spLocks noGrp="1"/>
          </p:cNvSpPr>
          <p:nvPr>
            <p:ph type="body" idx="1"/>
          </p:nvPr>
        </p:nvSpPr>
        <p:spPr>
          <a:xfrm>
            <a:off x="688489" y="4486019"/>
            <a:ext cx="10816984" cy="80486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595959"/>
              </a:buClr>
              <a:buSzPts val="1600"/>
              <a:buNone/>
              <a:defRPr sz="1600" b="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1200"/>
              <a:buNone/>
              <a:defRPr sz="1200"/>
            </a:lvl2pPr>
            <a:lvl3pPr marL="1371600" lvl="2" indent="-228600" algn="l">
              <a:lnSpc>
                <a:spcPct val="90000"/>
              </a:lnSpc>
              <a:spcBef>
                <a:spcPts val="500"/>
              </a:spcBef>
              <a:spcAft>
                <a:spcPts val="0"/>
              </a:spcAft>
              <a:buClr>
                <a:schemeClr val="dk1"/>
              </a:buClr>
              <a:buSzPts val="1000"/>
              <a:buNone/>
              <a:defRPr sz="1000"/>
            </a:lvl3pPr>
            <a:lvl4pPr marL="1828800" lvl="3" indent="-228600" algn="l">
              <a:lnSpc>
                <a:spcPct val="90000"/>
              </a:lnSpc>
              <a:spcBef>
                <a:spcPts val="500"/>
              </a:spcBef>
              <a:spcAft>
                <a:spcPts val="0"/>
              </a:spcAft>
              <a:buClr>
                <a:schemeClr val="dk1"/>
              </a:buClr>
              <a:buSzPts val="900"/>
              <a:buNone/>
              <a:defRPr sz="900"/>
            </a:lvl4pPr>
            <a:lvl5pPr marL="2286000" lvl="4" indent="-228600" algn="l">
              <a:lnSpc>
                <a:spcPct val="90000"/>
              </a:lnSpc>
              <a:spcBef>
                <a:spcPts val="500"/>
              </a:spcBef>
              <a:spcAft>
                <a:spcPts val="0"/>
              </a:spcAft>
              <a:buClr>
                <a:schemeClr val="dk1"/>
              </a:buClr>
              <a:buSzPts val="900"/>
              <a:buNone/>
              <a:defRPr sz="900"/>
            </a:lvl5pPr>
            <a:lvl6pPr marL="2743200" lvl="5" indent="-228600" algn="l">
              <a:lnSpc>
                <a:spcPct val="90000"/>
              </a:lnSpc>
              <a:spcBef>
                <a:spcPts val="500"/>
              </a:spcBef>
              <a:spcAft>
                <a:spcPts val="0"/>
              </a:spcAft>
              <a:buClr>
                <a:schemeClr val="dk1"/>
              </a:buClr>
              <a:buSzPts val="900"/>
              <a:buNone/>
              <a:defRPr sz="900"/>
            </a:lvl6pPr>
            <a:lvl7pPr marL="3200400" lvl="6" indent="-228600" algn="l">
              <a:lnSpc>
                <a:spcPct val="90000"/>
              </a:lnSpc>
              <a:spcBef>
                <a:spcPts val="500"/>
              </a:spcBef>
              <a:spcAft>
                <a:spcPts val="0"/>
              </a:spcAft>
              <a:buClr>
                <a:schemeClr val="dk1"/>
              </a:buClr>
              <a:buSzPts val="900"/>
              <a:buNone/>
              <a:defRPr sz="900"/>
            </a:lvl7pPr>
            <a:lvl8pPr marL="3657600" lvl="7" indent="-228600" algn="l">
              <a:lnSpc>
                <a:spcPct val="90000"/>
              </a:lnSpc>
              <a:spcBef>
                <a:spcPts val="500"/>
              </a:spcBef>
              <a:spcAft>
                <a:spcPts val="0"/>
              </a:spcAft>
              <a:buClr>
                <a:schemeClr val="dk1"/>
              </a:buClr>
              <a:buSzPts val="900"/>
              <a:buNone/>
              <a:defRPr sz="900"/>
            </a:lvl8pPr>
            <a:lvl9pPr marL="4114800" lvl="8" indent="-228600" algn="l">
              <a:lnSpc>
                <a:spcPct val="90000"/>
              </a:lnSpc>
              <a:spcBef>
                <a:spcPts val="500"/>
              </a:spcBef>
              <a:spcAft>
                <a:spcPts val="0"/>
              </a:spcAft>
              <a:buClr>
                <a:schemeClr val="dk1"/>
              </a:buClr>
              <a:buSzPts val="900"/>
              <a:buNone/>
              <a:defRPr sz="9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losing Slide - Option 1">
  <p:cSld name="Closing Slide - Option 1">
    <p:spTree>
      <p:nvGrpSpPr>
        <p:cNvPr id="1" name="Shape 115"/>
        <p:cNvGrpSpPr/>
        <p:nvPr/>
      </p:nvGrpSpPr>
      <p:grpSpPr>
        <a:xfrm>
          <a:off x="0" y="0"/>
          <a:ext cx="0" cy="0"/>
          <a:chOff x="0" y="0"/>
          <a:chExt cx="0" cy="0"/>
        </a:xfrm>
      </p:grpSpPr>
      <p:pic>
        <p:nvPicPr>
          <p:cNvPr id="116" name="Google Shape;116;p63" descr="A picture containing water, computer&#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17" name="Google Shape;117;p63" descr="A picture containing brick&#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8" name="Google Shape;118;p63" descr="A close up of a logo&#10;&#10;Description automatically generated"/>
          <p:cNvPicPr preferRelativeResize="0"/>
          <p:nvPr/>
        </p:nvPicPr>
        <p:blipFill rotWithShape="1">
          <a:blip r:embed="rId4">
            <a:alphaModFix/>
          </a:blip>
          <a:srcRect/>
          <a:stretch/>
        </p:blipFill>
        <p:spPr>
          <a:xfrm>
            <a:off x="0" y="0"/>
            <a:ext cx="12192000" cy="68580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 Option 2">
  <p:cSld name="Title Slide - Option 2">
    <p:spTree>
      <p:nvGrpSpPr>
        <p:cNvPr id="1" name="Shape 119"/>
        <p:cNvGrpSpPr/>
        <p:nvPr/>
      </p:nvGrpSpPr>
      <p:grpSpPr>
        <a:xfrm>
          <a:off x="0" y="0"/>
          <a:ext cx="0" cy="0"/>
          <a:chOff x="0" y="0"/>
          <a:chExt cx="0" cy="0"/>
        </a:xfrm>
      </p:grpSpPr>
      <p:pic>
        <p:nvPicPr>
          <p:cNvPr id="120" name="Google Shape;120;p64" descr="A picture containing bird&#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21" name="Google Shape;121;p64" descr="A picture containing bi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22" name="Google Shape;122;p64"/>
          <p:cNvSpPr txBox="1">
            <a:spLocks noGrp="1"/>
          </p:cNvSpPr>
          <p:nvPr>
            <p:ph type="title"/>
          </p:nvPr>
        </p:nvSpPr>
        <p:spPr>
          <a:xfrm>
            <a:off x="690040" y="1204857"/>
            <a:ext cx="10799595" cy="191071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FFFFFF"/>
              </a:buClr>
              <a:buSzPts val="5400"/>
              <a:buFont typeface="Arial"/>
              <a:buNone/>
              <a:defRPr sz="5400" b="1"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3" name="Google Shape;123;p64"/>
          <p:cNvSpPr txBox="1">
            <a:spLocks noGrp="1"/>
          </p:cNvSpPr>
          <p:nvPr>
            <p:ph type="body" idx="1"/>
          </p:nvPr>
        </p:nvSpPr>
        <p:spPr>
          <a:xfrm>
            <a:off x="699248" y="3324431"/>
            <a:ext cx="10771789" cy="1500187"/>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FFFFFF"/>
              </a:buClr>
              <a:buSzPts val="2000"/>
              <a:buNone/>
              <a:defRPr sz="2000">
                <a:solidFill>
                  <a:srgbClr val="FFFFFF"/>
                </a:solidFill>
                <a:latin typeface="Arial"/>
                <a:ea typeface="Arial"/>
                <a:cs typeface="Arial"/>
                <a:sym typeface="Arial"/>
              </a:defRPr>
            </a:lvl1pPr>
            <a:lvl2pPr marL="914400" lvl="1" indent="-228600" algn="l">
              <a:lnSpc>
                <a:spcPct val="90000"/>
              </a:lnSpc>
              <a:spcBef>
                <a:spcPts val="500"/>
              </a:spcBef>
              <a:spcAft>
                <a:spcPts val="0"/>
              </a:spcAft>
              <a:buClr>
                <a:srgbClr val="888888"/>
              </a:buClr>
              <a:buSzPts val="1800"/>
              <a:buNone/>
              <a:defRPr sz="1800">
                <a:solidFill>
                  <a:srgbClr val="888888"/>
                </a:solidFill>
              </a:defRPr>
            </a:lvl2pPr>
            <a:lvl3pPr marL="1371600" lvl="2" indent="-228600" algn="l">
              <a:lnSpc>
                <a:spcPct val="90000"/>
              </a:lnSpc>
              <a:spcBef>
                <a:spcPts val="500"/>
              </a:spcBef>
              <a:spcAft>
                <a:spcPts val="0"/>
              </a:spcAft>
              <a:buClr>
                <a:srgbClr val="888888"/>
              </a:buClr>
              <a:buSzPts val="1600"/>
              <a:buNone/>
              <a:defRPr sz="1600">
                <a:solidFill>
                  <a:srgbClr val="888888"/>
                </a:solidFill>
              </a:defRPr>
            </a:lvl3pPr>
            <a:lvl4pPr marL="1828800" lvl="3" indent="-228600" algn="l">
              <a:lnSpc>
                <a:spcPct val="90000"/>
              </a:lnSpc>
              <a:spcBef>
                <a:spcPts val="500"/>
              </a:spcBef>
              <a:spcAft>
                <a:spcPts val="0"/>
              </a:spcAft>
              <a:buClr>
                <a:srgbClr val="888888"/>
              </a:buClr>
              <a:buSzPts val="1400"/>
              <a:buNone/>
              <a:defRPr sz="1400">
                <a:solidFill>
                  <a:srgbClr val="888888"/>
                </a:solidFill>
              </a:defRPr>
            </a:lvl4pPr>
            <a:lvl5pPr marL="2286000" lvl="4" indent="-228600" algn="l">
              <a:lnSpc>
                <a:spcPct val="90000"/>
              </a:lnSpc>
              <a:spcBef>
                <a:spcPts val="500"/>
              </a:spcBef>
              <a:spcAft>
                <a:spcPts val="0"/>
              </a:spcAft>
              <a:buClr>
                <a:srgbClr val="888888"/>
              </a:buClr>
              <a:buSzPts val="1400"/>
              <a:buNone/>
              <a:defRPr sz="1400">
                <a:solidFill>
                  <a:srgbClr val="888888"/>
                </a:solidFill>
              </a:defRPr>
            </a:lvl5pPr>
            <a:lvl6pPr marL="2743200" lvl="5" indent="-228600" algn="l">
              <a:lnSpc>
                <a:spcPct val="90000"/>
              </a:lnSpc>
              <a:spcBef>
                <a:spcPts val="500"/>
              </a:spcBef>
              <a:spcAft>
                <a:spcPts val="0"/>
              </a:spcAft>
              <a:buClr>
                <a:srgbClr val="888888"/>
              </a:buClr>
              <a:buSzPts val="1400"/>
              <a:buNone/>
              <a:defRPr sz="1400">
                <a:solidFill>
                  <a:srgbClr val="888888"/>
                </a:solidFill>
              </a:defRPr>
            </a:lvl6pPr>
            <a:lvl7pPr marL="3200400" lvl="6" indent="-228600" algn="l">
              <a:lnSpc>
                <a:spcPct val="90000"/>
              </a:lnSpc>
              <a:spcBef>
                <a:spcPts val="500"/>
              </a:spcBef>
              <a:spcAft>
                <a:spcPts val="0"/>
              </a:spcAft>
              <a:buClr>
                <a:srgbClr val="888888"/>
              </a:buClr>
              <a:buSzPts val="1400"/>
              <a:buNone/>
              <a:defRPr sz="1400">
                <a:solidFill>
                  <a:srgbClr val="888888"/>
                </a:solidFill>
              </a:defRPr>
            </a:lvl7pPr>
            <a:lvl8pPr marL="3657600" lvl="7" indent="-228600" algn="l">
              <a:lnSpc>
                <a:spcPct val="90000"/>
              </a:lnSpc>
              <a:spcBef>
                <a:spcPts val="500"/>
              </a:spcBef>
              <a:spcAft>
                <a:spcPts val="0"/>
              </a:spcAft>
              <a:buClr>
                <a:srgbClr val="888888"/>
              </a:buClr>
              <a:buSzPts val="1400"/>
              <a:buNone/>
              <a:defRPr sz="1400">
                <a:solidFill>
                  <a:srgbClr val="888888"/>
                </a:solidFill>
              </a:defRPr>
            </a:lvl8pPr>
            <a:lvl9pPr marL="4114800" lvl="8" indent="-228600" algn="l">
              <a:lnSpc>
                <a:spcPct val="90000"/>
              </a:lnSpc>
              <a:spcBef>
                <a:spcPts val="500"/>
              </a:spcBef>
              <a:spcAft>
                <a:spcPts val="0"/>
              </a:spcAft>
              <a:buClr>
                <a:srgbClr val="888888"/>
              </a:buClr>
              <a:buSzPts val="1400"/>
              <a:buNone/>
              <a:defRPr sz="1400">
                <a:solidFill>
                  <a:srgbClr val="888888"/>
                </a:solidFill>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losing Slide - Option 2">
  <p:cSld name="Closing Slide - Option 2">
    <p:spTree>
      <p:nvGrpSpPr>
        <p:cNvPr id="1" name="Shape 124"/>
        <p:cNvGrpSpPr/>
        <p:nvPr/>
      </p:nvGrpSpPr>
      <p:grpSpPr>
        <a:xfrm>
          <a:off x="0" y="0"/>
          <a:ext cx="0" cy="0"/>
          <a:chOff x="0" y="0"/>
          <a:chExt cx="0" cy="0"/>
        </a:xfrm>
      </p:grpSpPr>
      <p:pic>
        <p:nvPicPr>
          <p:cNvPr id="125" name="Google Shape;125;p65" descr="A picture containing screenshot, bird&#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126" name="Google Shape;126;p65"/>
          <p:cNvSpPr/>
          <p:nvPr/>
        </p:nvSpPr>
        <p:spPr>
          <a:xfrm>
            <a:off x="0" y="0"/>
            <a:ext cx="12192000" cy="6858000"/>
          </a:xfrm>
          <a:prstGeom prst="rect">
            <a:avLst/>
          </a:prstGeom>
          <a:solidFill>
            <a:srgbClr val="003A5D"/>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27" name="Google Shape;127;p65" descr="A close up of a logo&#10;&#10;Description automatically generated"/>
          <p:cNvPicPr preferRelativeResize="0"/>
          <p:nvPr/>
        </p:nvPicPr>
        <p:blipFill rotWithShape="1">
          <a:blip r:embed="rId3">
            <a:alphaModFix/>
          </a:blip>
          <a:srcRect/>
          <a:stretch/>
        </p:blipFill>
        <p:spPr>
          <a:xfrm>
            <a:off x="1524000" y="0"/>
            <a:ext cx="9144000" cy="68580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Comparison">
  <p:cSld name="1_Comparison">
    <p:spTree>
      <p:nvGrpSpPr>
        <p:cNvPr id="1" name="Shape 128"/>
        <p:cNvGrpSpPr/>
        <p:nvPr/>
      </p:nvGrpSpPr>
      <p:grpSpPr>
        <a:xfrm>
          <a:off x="0" y="0"/>
          <a:ext cx="0" cy="0"/>
          <a:chOff x="0" y="0"/>
          <a:chExt cx="0" cy="0"/>
        </a:xfrm>
      </p:grpSpPr>
      <p:sp>
        <p:nvSpPr>
          <p:cNvPr id="129" name="Google Shape;129;p66"/>
          <p:cNvSpPr txBox="1">
            <a:spLocks noGrp="1"/>
          </p:cNvSpPr>
          <p:nvPr>
            <p:ph type="body" idx="1"/>
          </p:nvPr>
        </p:nvSpPr>
        <p:spPr>
          <a:xfrm>
            <a:off x="839788" y="853439"/>
            <a:ext cx="5157787" cy="590931"/>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30" name="Google Shape;130;p66"/>
          <p:cNvSpPr txBox="1">
            <a:spLocks noGrp="1"/>
          </p:cNvSpPr>
          <p:nvPr>
            <p:ph type="body" idx="2"/>
          </p:nvPr>
        </p:nvSpPr>
        <p:spPr>
          <a:xfrm>
            <a:off x="839788" y="1444371"/>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1" name="Google Shape;131;p66"/>
          <p:cNvSpPr txBox="1">
            <a:spLocks noGrp="1"/>
          </p:cNvSpPr>
          <p:nvPr>
            <p:ph type="body" idx="3"/>
          </p:nvPr>
        </p:nvSpPr>
        <p:spPr>
          <a:xfrm>
            <a:off x="6172200" y="853439"/>
            <a:ext cx="5183188" cy="590931"/>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32" name="Google Shape;132;p66"/>
          <p:cNvSpPr txBox="1">
            <a:spLocks noGrp="1"/>
          </p:cNvSpPr>
          <p:nvPr>
            <p:ph type="body" idx="4"/>
          </p:nvPr>
        </p:nvSpPr>
        <p:spPr>
          <a:xfrm>
            <a:off x="6172200" y="1444371"/>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3" name="Google Shape;133;p6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4" name="Google Shape;134;p6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5" name="Google Shape;135;p6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36" name="Google Shape;136;p66"/>
          <p:cNvSpPr txBox="1">
            <a:spLocks noGrp="1"/>
          </p:cNvSpPr>
          <p:nvPr>
            <p:ph type="title"/>
          </p:nvPr>
        </p:nvSpPr>
        <p:spPr>
          <a:xfrm>
            <a:off x="826008" y="218821"/>
            <a:ext cx="10515600" cy="488315"/>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3200"/>
              <a:buFont typeface="Calibri"/>
              <a:buNone/>
              <a:defRPr sz="32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 Option 1">
    <p:spTree>
      <p:nvGrpSpPr>
        <p:cNvPr id="1" name=""/>
        <p:cNvGrpSpPr/>
        <p:nvPr/>
      </p:nvGrpSpPr>
      <p:grpSpPr>
        <a:xfrm>
          <a:off x="0" y="0"/>
          <a:ext cx="0" cy="0"/>
          <a:chOff x="0" y="0"/>
          <a:chExt cx="0" cy="0"/>
        </a:xfrm>
      </p:grpSpPr>
      <p:pic>
        <p:nvPicPr>
          <p:cNvPr id="7" name="Picture 6" descr="A close up of a sign&#10;&#10;Description automatically generated">
            <a:extLst>
              <a:ext uri="{FF2B5EF4-FFF2-40B4-BE49-F238E27FC236}">
                <a16:creationId xmlns:a16="http://schemas.microsoft.com/office/drawing/2014/main" id="{A5706C32-4A7F-904A-A159-858BADF285E9}"/>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5" name="Picture 4" descr="A close up of a logo&#10;&#10;Description automatically generated">
            <a:extLst>
              <a:ext uri="{FF2B5EF4-FFF2-40B4-BE49-F238E27FC236}">
                <a16:creationId xmlns:a16="http://schemas.microsoft.com/office/drawing/2014/main" id="{A4A908DD-8A6B-CA4C-A972-B41A7779B82D}"/>
              </a:ext>
            </a:extLst>
          </p:cNvPr>
          <p:cNvPicPr>
            <a:picLocks noChangeAspect="1"/>
          </p:cNvPicPr>
          <p:nvPr userDrawn="1"/>
        </p:nvPicPr>
        <p:blipFill>
          <a:blip r:embed="rId3"/>
          <a:stretch>
            <a:fillRect/>
          </a:stretch>
        </p:blipFill>
        <p:spPr>
          <a:xfrm>
            <a:off x="0" y="0"/>
            <a:ext cx="12192000" cy="6858000"/>
          </a:xfrm>
          <a:prstGeom prst="rect">
            <a:avLst/>
          </a:prstGeom>
        </p:spPr>
      </p:pic>
      <p:pic>
        <p:nvPicPr>
          <p:cNvPr id="3" name="Picture 2" descr="A close up of a sign&#10;&#10;Description automatically generated">
            <a:extLst>
              <a:ext uri="{FF2B5EF4-FFF2-40B4-BE49-F238E27FC236}">
                <a16:creationId xmlns:a16="http://schemas.microsoft.com/office/drawing/2014/main" id="{B3494C34-0F3D-854E-AFF5-078C6756F1D5}"/>
              </a:ext>
            </a:extLst>
          </p:cNvPr>
          <p:cNvPicPr>
            <a:picLocks noChangeAspect="1"/>
          </p:cNvPicPr>
          <p:nvPr userDrawn="1"/>
        </p:nvPicPr>
        <p:blipFill>
          <a:blip r:embed="rId4"/>
          <a:stretch>
            <a:fillRect/>
          </a:stretch>
        </p:blipFill>
        <p:spPr>
          <a:xfrm>
            <a:off x="0" y="0"/>
            <a:ext cx="12192000" cy="6858000"/>
          </a:xfrm>
          <a:prstGeom prst="rect">
            <a:avLst/>
          </a:prstGeom>
        </p:spPr>
      </p:pic>
      <p:sp>
        <p:nvSpPr>
          <p:cNvPr id="10" name="Title 1">
            <a:extLst>
              <a:ext uri="{FF2B5EF4-FFF2-40B4-BE49-F238E27FC236}">
                <a16:creationId xmlns:a16="http://schemas.microsoft.com/office/drawing/2014/main" id="{A36B4BA9-309F-334E-A8C9-AE868B684689}"/>
              </a:ext>
            </a:extLst>
          </p:cNvPr>
          <p:cNvSpPr>
            <a:spLocks noGrp="1"/>
          </p:cNvSpPr>
          <p:nvPr>
            <p:ph type="ctrTitle" hasCustomPrompt="1"/>
          </p:nvPr>
        </p:nvSpPr>
        <p:spPr>
          <a:xfrm>
            <a:off x="3150704" y="495088"/>
            <a:ext cx="8389575" cy="2441160"/>
          </a:xfrm>
          <a:prstGeom prst="rect">
            <a:avLst/>
          </a:prstGeom>
        </p:spPr>
        <p:txBody>
          <a:bodyPr anchor="t"/>
          <a:lstStyle>
            <a:lvl1pPr algn="l">
              <a:defRPr sz="4000" b="1" cap="none" spc="0">
                <a:ln w="18415" cmpd="sng">
                  <a:solidFill>
                    <a:srgbClr val="FFFFFF"/>
                  </a:solidFill>
                  <a:prstDash val="solid"/>
                </a:ln>
                <a:solidFill>
                  <a:srgbClr val="FFFFFF"/>
                </a:solidFill>
                <a:effectLst>
                  <a:outerShdw blurRad="63500" dir="3600000" algn="tl" rotWithShape="0">
                    <a:srgbClr val="000000">
                      <a:alpha val="70000"/>
                    </a:srgbClr>
                  </a:outerShdw>
                </a:effectLst>
                <a:latin typeface="Arial"/>
                <a:cs typeface="Arial"/>
              </a:defRPr>
            </a:lvl1pPr>
          </a:lstStyle>
          <a:p>
            <a:r>
              <a:rPr lang="en-US" dirty="0"/>
              <a:t>Click to edit title</a:t>
            </a:r>
          </a:p>
        </p:txBody>
      </p:sp>
      <p:sp>
        <p:nvSpPr>
          <p:cNvPr id="11" name="Subtitle 2">
            <a:extLst>
              <a:ext uri="{FF2B5EF4-FFF2-40B4-BE49-F238E27FC236}">
                <a16:creationId xmlns:a16="http://schemas.microsoft.com/office/drawing/2014/main" id="{9AC8EBA3-BD00-8C48-ADBA-8DABB356C09A}"/>
              </a:ext>
            </a:extLst>
          </p:cNvPr>
          <p:cNvSpPr>
            <a:spLocks noGrp="1"/>
          </p:cNvSpPr>
          <p:nvPr>
            <p:ph type="subTitle" idx="1" hasCustomPrompt="1"/>
          </p:nvPr>
        </p:nvSpPr>
        <p:spPr>
          <a:xfrm>
            <a:off x="3150704" y="3167505"/>
            <a:ext cx="8389575" cy="1752600"/>
          </a:xfrm>
          <a:prstGeom prst="rect">
            <a:avLst/>
          </a:prstGeom>
        </p:spPr>
        <p:txBody>
          <a:bodyPr/>
          <a:lstStyle>
            <a:lvl1pPr marL="0" indent="0" algn="l">
              <a:buNone/>
              <a:defRPr>
                <a:solidFill>
                  <a:schemeClr val="bg2">
                    <a:lumMod val="90000"/>
                  </a:schemeClr>
                </a:solidFill>
                <a:effectLst>
                  <a:outerShdw blurRad="34925" dist="12700" dir="14400000" rotWithShape="0">
                    <a:prstClr val="black">
                      <a:alpha val="21000"/>
                    </a:prstClr>
                  </a:outerShdw>
                </a:effectLst>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subtitle</a:t>
            </a:r>
          </a:p>
        </p:txBody>
      </p:sp>
    </p:spTree>
    <p:extLst>
      <p:ext uri="{BB962C8B-B14F-4D97-AF65-F5344CB8AC3E}">
        <p14:creationId xmlns:p14="http://schemas.microsoft.com/office/powerpoint/2010/main" val="27193933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51A131-86D0-9D23-98CE-7FC61A71E63B}"/>
              </a:ext>
            </a:extLst>
          </p:cNvPr>
          <p:cNvSpPr>
            <a:spLocks noGrp="1"/>
          </p:cNvSpPr>
          <p:nvPr>
            <p:ph type="dt" sz="half" idx="10"/>
          </p:nvPr>
        </p:nvSpPr>
        <p:spPr/>
        <p:txBody>
          <a:bodyPr/>
          <a:lstStyle/>
          <a:p>
            <a:fld id="{84D0E6BA-C896-4F66-AC39-BCF86AB0AE0D}" type="datetimeFigureOut">
              <a:rPr lang="en-US" smtClean="0"/>
              <a:t>11/18/2025</a:t>
            </a:fld>
            <a:endParaRPr lang="en-US"/>
          </a:p>
        </p:txBody>
      </p:sp>
      <p:sp>
        <p:nvSpPr>
          <p:cNvPr id="3" name="Footer Placeholder 2">
            <a:extLst>
              <a:ext uri="{FF2B5EF4-FFF2-40B4-BE49-F238E27FC236}">
                <a16:creationId xmlns:a16="http://schemas.microsoft.com/office/drawing/2014/main" id="{BADC9603-06A4-38AE-7829-F527C802D3C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8372589-8EE9-06E4-1058-BC91734BAA69}"/>
              </a:ext>
            </a:extLst>
          </p:cNvPr>
          <p:cNvSpPr>
            <a:spLocks noGrp="1"/>
          </p:cNvSpPr>
          <p:nvPr>
            <p:ph type="sldNum" sz="quarter" idx="12"/>
          </p:nvPr>
        </p:nvSpPr>
        <p:spPr/>
        <p:txBody>
          <a:bodyPr/>
          <a:lstStyle/>
          <a:p>
            <a:fld id="{CE6E643F-8558-4EA4-A314-EA1785908A04}" type="slidenum">
              <a:rPr lang="en-US" smtClean="0"/>
              <a:t>‹#›</a:t>
            </a:fld>
            <a:endParaRPr lang="en-US"/>
          </a:p>
        </p:txBody>
      </p:sp>
    </p:spTree>
    <p:extLst>
      <p:ext uri="{BB962C8B-B14F-4D97-AF65-F5344CB8AC3E}">
        <p14:creationId xmlns:p14="http://schemas.microsoft.com/office/powerpoint/2010/main" val="10065432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jp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4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5" name="Google Shape;15;p44" descr="A picture containing screenshot&#10;&#10;Description automatically generated"/>
          <p:cNvPicPr preferRelativeResize="0"/>
          <p:nvPr/>
        </p:nvPicPr>
        <p:blipFill rotWithShape="1">
          <a:blip r:embed="rId15">
            <a:alphaModFix/>
          </a:blip>
          <a:srcRect/>
          <a:stretch/>
        </p:blipFill>
        <p:spPr>
          <a:xfrm>
            <a:off x="0" y="0"/>
            <a:ext cx="12192000" cy="6858000"/>
          </a:xfrm>
          <a:prstGeom prst="rect">
            <a:avLst/>
          </a:prstGeom>
          <a:noFill/>
          <a:ln>
            <a:noFill/>
          </a:ln>
        </p:spPr>
      </p:pic>
      <p:pic>
        <p:nvPicPr>
          <p:cNvPr id="16" name="Google Shape;16;p44" descr="A close up of a logo&#10;&#10;Description automatically generated"/>
          <p:cNvPicPr preferRelativeResize="0"/>
          <p:nvPr/>
        </p:nvPicPr>
        <p:blipFill rotWithShape="1">
          <a:blip r:embed="rId16">
            <a:alphaModFix/>
          </a:blip>
          <a:srcRect/>
          <a:stretch/>
        </p:blipFill>
        <p:spPr>
          <a:xfrm>
            <a:off x="0" y="0"/>
            <a:ext cx="12192000" cy="6858000"/>
          </a:xfrm>
          <a:prstGeom prst="rect">
            <a:avLst/>
          </a:prstGeom>
          <a:noFill/>
          <a:ln>
            <a:noFill/>
          </a:ln>
        </p:spPr>
      </p:pic>
      <p:pic>
        <p:nvPicPr>
          <p:cNvPr id="17" name="Google Shape;17;p44" descr="A close up of a logo&#10;&#10;Description automatically generated"/>
          <p:cNvPicPr preferRelativeResize="0"/>
          <p:nvPr/>
        </p:nvPicPr>
        <p:blipFill rotWithShape="1">
          <a:blip r:embed="rId17">
            <a:alphaModFix/>
          </a:blip>
          <a:srcRect/>
          <a:stretch/>
        </p:blipFill>
        <p:spPr>
          <a:xfrm>
            <a:off x="0" y="0"/>
            <a:ext cx="12192000" cy="68580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hyperlink" Target="mailto:michaelwacey@msn.com" TargetMode="Externa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437BA-2E84-3549-8B00-4D6E2E7C8053}"/>
              </a:ext>
            </a:extLst>
          </p:cNvPr>
          <p:cNvSpPr>
            <a:spLocks noGrp="1"/>
          </p:cNvSpPr>
          <p:nvPr>
            <p:ph type="ctrTitle"/>
          </p:nvPr>
        </p:nvSpPr>
        <p:spPr>
          <a:xfrm>
            <a:off x="3150704" y="1880928"/>
            <a:ext cx="8389575" cy="1055319"/>
          </a:xfrm>
        </p:spPr>
        <p:txBody>
          <a:bodyPr>
            <a:normAutofit/>
          </a:bodyPr>
          <a:lstStyle/>
          <a:p>
            <a:pPr algn="ctr"/>
            <a:r>
              <a:rPr lang="en-US" sz="6000" dirty="0"/>
              <a:t>Mnemosyne</a:t>
            </a:r>
          </a:p>
        </p:txBody>
      </p:sp>
      <p:pic>
        <p:nvPicPr>
          <p:cNvPr id="6" name="Google Shape;189;p5" descr="Graphical user interface, text&#10;&#10;Description automatically generated with medium confidence">
            <a:extLst>
              <a:ext uri="{FF2B5EF4-FFF2-40B4-BE49-F238E27FC236}">
                <a16:creationId xmlns:a16="http://schemas.microsoft.com/office/drawing/2014/main" id="{144EF13A-4A0A-9C45-93FC-D5245FFD541B}"/>
              </a:ext>
            </a:extLst>
          </p:cNvPr>
          <p:cNvPicPr preferRelativeResize="0"/>
          <p:nvPr/>
        </p:nvPicPr>
        <p:blipFill rotWithShape="1">
          <a:blip r:embed="rId2">
            <a:alphaModFix/>
          </a:blip>
          <a:srcRect/>
          <a:stretch/>
        </p:blipFill>
        <p:spPr>
          <a:xfrm>
            <a:off x="0" y="5560418"/>
            <a:ext cx="5196113" cy="1163929"/>
          </a:xfrm>
          <a:prstGeom prst="rect">
            <a:avLst/>
          </a:prstGeom>
          <a:noFill/>
          <a:ln>
            <a:noFill/>
          </a:ln>
        </p:spPr>
      </p:pic>
      <p:sp>
        <p:nvSpPr>
          <p:cNvPr id="4" name="TextBox 3">
            <a:extLst>
              <a:ext uri="{FF2B5EF4-FFF2-40B4-BE49-F238E27FC236}">
                <a16:creationId xmlns:a16="http://schemas.microsoft.com/office/drawing/2014/main" id="{B792A8EA-F1BC-39CC-CAA4-3B97FA31E969}"/>
              </a:ext>
            </a:extLst>
          </p:cNvPr>
          <p:cNvSpPr txBox="1"/>
          <p:nvPr/>
        </p:nvSpPr>
        <p:spPr>
          <a:xfrm>
            <a:off x="3150704" y="4960409"/>
            <a:ext cx="8389575" cy="307777"/>
          </a:xfrm>
          <a:prstGeom prst="rect">
            <a:avLst/>
          </a:prstGeom>
          <a:noFill/>
        </p:spPr>
        <p:txBody>
          <a:bodyPr wrap="square" rtlCol="0">
            <a:spAutoFit/>
          </a:bodyPr>
          <a:lstStyle/>
          <a:p>
            <a:pPr algn="ctr"/>
            <a:r>
              <a:rPr lang="en-US" dirty="0">
                <a:solidFill>
                  <a:schemeClr val="bg1"/>
                </a:solidFill>
              </a:rPr>
              <a:t>Michael Wacey | Presented to: Amir Etemadi, Mohamed </a:t>
            </a:r>
            <a:r>
              <a:rPr lang="en-US" dirty="0" err="1">
                <a:solidFill>
                  <a:schemeClr val="bg1"/>
                </a:solidFill>
              </a:rPr>
              <a:t>Elbasheer</a:t>
            </a:r>
            <a:r>
              <a:rPr lang="en-US" dirty="0">
                <a:solidFill>
                  <a:schemeClr val="bg1"/>
                </a:solidFill>
              </a:rPr>
              <a:t>, Johnathon Ng | November 24, 2025</a:t>
            </a:r>
          </a:p>
        </p:txBody>
      </p:sp>
      <p:sp>
        <p:nvSpPr>
          <p:cNvPr id="8" name="TextBox 7">
            <a:extLst>
              <a:ext uri="{FF2B5EF4-FFF2-40B4-BE49-F238E27FC236}">
                <a16:creationId xmlns:a16="http://schemas.microsoft.com/office/drawing/2014/main" id="{21EA2652-3258-4B77-B889-6C59B0C0A2F3}"/>
              </a:ext>
            </a:extLst>
          </p:cNvPr>
          <p:cNvSpPr txBox="1"/>
          <p:nvPr/>
        </p:nvSpPr>
        <p:spPr>
          <a:xfrm>
            <a:off x="3150704" y="3044858"/>
            <a:ext cx="8389575" cy="646331"/>
          </a:xfrm>
          <a:prstGeom prst="rect">
            <a:avLst/>
          </a:prstGeom>
          <a:noFill/>
        </p:spPr>
        <p:txBody>
          <a:bodyPr wrap="square" rtlCol="0">
            <a:spAutoFit/>
          </a:bodyPr>
          <a:lstStyle/>
          <a:p>
            <a:pPr algn="ctr"/>
            <a:r>
              <a:rPr lang="en-US" sz="1800" dirty="0">
                <a:solidFill>
                  <a:schemeClr val="bg1"/>
                </a:solidFill>
              </a:rPr>
              <a:t>Using Large Language Models to Convert Documents to Knowledge Graphs to Check for Completeness and Consistency</a:t>
            </a:r>
          </a:p>
        </p:txBody>
      </p:sp>
    </p:spTree>
    <p:extLst>
      <p:ext uri="{BB962C8B-B14F-4D97-AF65-F5344CB8AC3E}">
        <p14:creationId xmlns:p14="http://schemas.microsoft.com/office/powerpoint/2010/main" val="37704986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BD37DBF-E614-3FB0-3DB4-A55E8B14484F}"/>
              </a:ext>
            </a:extLst>
          </p:cNvPr>
          <p:cNvSpPr>
            <a:spLocks noGrp="1"/>
          </p:cNvSpPr>
          <p:nvPr>
            <p:ph type="body" idx="1"/>
          </p:nvPr>
        </p:nvSpPr>
        <p:spPr>
          <a:xfrm>
            <a:off x="310897" y="1030097"/>
            <a:ext cx="5708902" cy="3434474"/>
          </a:xfrm>
        </p:spPr>
        <p:txBody>
          <a:bodyPr>
            <a:noAutofit/>
          </a:bodyPr>
          <a:lstStyle/>
          <a:p>
            <a:pPr marL="101600" indent="0">
              <a:buNone/>
            </a:pPr>
            <a:r>
              <a:rPr lang="en-US" b="1" dirty="0"/>
              <a:t>The Problem &amp; Challenge</a:t>
            </a:r>
          </a:p>
          <a:p>
            <a:pPr marL="101600" indent="0">
              <a:buNone/>
            </a:pPr>
            <a:r>
              <a:rPr lang="en-US" dirty="0"/>
              <a:t>Large-scale documents (10k-100k+ pages), such as New Drug Applications (NDAs) or complex legal texts, often contain critical, hard-to-detect inconsistencies and omissions.</a:t>
            </a:r>
          </a:p>
          <a:p>
            <a:pPr marL="101600" indent="0">
              <a:buNone/>
            </a:pPr>
            <a:r>
              <a:rPr lang="en-US" dirty="0"/>
              <a:t>Existing automated analysis methods, including those using Large Language Models (LLMs), fail to address this problem at scale due to the fundamental limitation of the "context window."</a:t>
            </a:r>
          </a:p>
          <a:p>
            <a:pPr marL="101600" indent="0">
              <a:buNone/>
            </a:pPr>
            <a:endParaRPr lang="en-US" dirty="0"/>
          </a:p>
        </p:txBody>
      </p:sp>
      <p:sp>
        <p:nvSpPr>
          <p:cNvPr id="6" name="Text Placeholder 5">
            <a:extLst>
              <a:ext uri="{FF2B5EF4-FFF2-40B4-BE49-F238E27FC236}">
                <a16:creationId xmlns:a16="http://schemas.microsoft.com/office/drawing/2014/main" id="{15427405-80A6-178E-E2CD-C8E3EE557976}"/>
              </a:ext>
            </a:extLst>
          </p:cNvPr>
          <p:cNvSpPr>
            <a:spLocks noGrp="1"/>
          </p:cNvSpPr>
          <p:nvPr>
            <p:ph type="body" idx="2"/>
          </p:nvPr>
        </p:nvSpPr>
        <p:spPr>
          <a:xfrm>
            <a:off x="6172199" y="1030097"/>
            <a:ext cx="5708902" cy="3434474"/>
          </a:xfrm>
        </p:spPr>
        <p:txBody>
          <a:bodyPr>
            <a:noAutofit/>
          </a:bodyPr>
          <a:lstStyle/>
          <a:p>
            <a:pPr marL="101600" indent="0">
              <a:buNone/>
            </a:pPr>
            <a:r>
              <a:rPr lang="en-US" b="1" dirty="0"/>
              <a:t>The Solution &amp; Key Findings</a:t>
            </a:r>
          </a:p>
          <a:p>
            <a:pPr marL="101600" indent="0">
              <a:buNone/>
            </a:pPr>
            <a:r>
              <a:rPr lang="en-US" dirty="0"/>
              <a:t>This research presents </a:t>
            </a:r>
            <a:r>
              <a:rPr lang="en-US" b="1" dirty="0"/>
              <a:t>Mnemosyne</a:t>
            </a:r>
            <a:r>
              <a:rPr lang="en-US" dirty="0"/>
              <a:t>, a novel pipeline that uses LLMs to incrementally convert large documents into attributed Knowledge Graphs (KGs).</a:t>
            </a:r>
          </a:p>
          <a:p>
            <a:pPr marL="101600" indent="0">
              <a:buNone/>
            </a:pPr>
            <a:r>
              <a:rPr lang="en-US" dirty="0"/>
              <a:t>The system merges these local KGs and uses an LLM to perform </a:t>
            </a:r>
            <a:r>
              <a:rPr lang="en-US" i="1" dirty="0"/>
              <a:t>semantic enrichment</a:t>
            </a:r>
            <a:r>
              <a:rPr lang="en-US" dirty="0"/>
              <a:t>, creating typed clusters that capture deep meaning.</a:t>
            </a:r>
          </a:p>
          <a:p>
            <a:pPr marL="101600" indent="0">
              <a:buNone/>
            </a:pPr>
            <a:r>
              <a:rPr lang="en-US" dirty="0"/>
              <a:t>This enriched, unified graph can then be queried to identify contradictions (consistency) and undefined elements (completeness), effectively overcoming the context window barrier.</a:t>
            </a:r>
          </a:p>
        </p:txBody>
      </p:sp>
      <p:sp>
        <p:nvSpPr>
          <p:cNvPr id="4" name="Title 3">
            <a:extLst>
              <a:ext uri="{FF2B5EF4-FFF2-40B4-BE49-F238E27FC236}">
                <a16:creationId xmlns:a16="http://schemas.microsoft.com/office/drawing/2014/main" id="{8DCE2919-7823-2592-C38A-4B37CD4DB0B9}"/>
              </a:ext>
            </a:extLst>
          </p:cNvPr>
          <p:cNvSpPr>
            <a:spLocks noGrp="1"/>
          </p:cNvSpPr>
          <p:nvPr>
            <p:ph type="title"/>
          </p:nvPr>
        </p:nvSpPr>
        <p:spPr>
          <a:xfrm>
            <a:off x="854337" y="194409"/>
            <a:ext cx="10483326" cy="975070"/>
          </a:xfrm>
        </p:spPr>
        <p:txBody>
          <a:bodyPr/>
          <a:lstStyle/>
          <a:p>
            <a:r>
              <a:rPr lang="en-US" dirty="0"/>
              <a:t>Abstract</a:t>
            </a:r>
          </a:p>
        </p:txBody>
      </p:sp>
      <p:sp>
        <p:nvSpPr>
          <p:cNvPr id="2" name="TextBox 1">
            <a:extLst>
              <a:ext uri="{FF2B5EF4-FFF2-40B4-BE49-F238E27FC236}">
                <a16:creationId xmlns:a16="http://schemas.microsoft.com/office/drawing/2014/main" id="{4ED8E9ED-0D09-7CFD-FF0F-3191F5497B77}"/>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Tree>
    <p:extLst>
      <p:ext uri="{BB962C8B-B14F-4D97-AF65-F5344CB8AC3E}">
        <p14:creationId xmlns:p14="http://schemas.microsoft.com/office/powerpoint/2010/main" val="3409475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4" name="Text Placeholder 3">
            <a:extLst>
              <a:ext uri="{FF2B5EF4-FFF2-40B4-BE49-F238E27FC236}">
                <a16:creationId xmlns:a16="http://schemas.microsoft.com/office/drawing/2014/main" id="{091E6D14-31BF-C14C-ACB7-783B6ECA29F6}"/>
              </a:ext>
            </a:extLst>
          </p:cNvPr>
          <p:cNvSpPr>
            <a:spLocks noGrp="1"/>
          </p:cNvSpPr>
          <p:nvPr>
            <p:ph type="body" idx="1"/>
          </p:nvPr>
        </p:nvSpPr>
        <p:spPr>
          <a:xfrm>
            <a:off x="838200" y="1278870"/>
            <a:ext cx="10515600" cy="3474508"/>
          </a:xfrm>
        </p:spPr>
        <p:txBody>
          <a:bodyPr>
            <a:noAutofit/>
          </a:bodyPr>
          <a:lstStyle/>
          <a:p>
            <a:pPr algn="ctr"/>
            <a:r>
              <a:rPr lang="en-US" sz="3000" dirty="0"/>
              <a:t>Imagine that your New Drug Application (NDA) to the FDA has just been rejected. It is over 100,000 pages long. On page 727 it stated that Octreotide must not be taken with your new drug due to risk of death. But on page 32,434 it stated that there are no known side effects with any Somatostatin Analog. Octreotide is a Somatostatin Analog. This inconsistency sunk the whole application. None of your human or automated checks found the contradiction. </a:t>
            </a:r>
          </a:p>
          <a:p>
            <a:pPr algn="r"/>
            <a:r>
              <a:rPr lang="en-US" sz="1600" dirty="0"/>
              <a:t>- A critical failure in complex document analysis</a:t>
            </a:r>
          </a:p>
        </p:txBody>
      </p:sp>
      <p:sp>
        <p:nvSpPr>
          <p:cNvPr id="2" name="Google Shape;153;g1223c012a97_0_20">
            <a:extLst>
              <a:ext uri="{FF2B5EF4-FFF2-40B4-BE49-F238E27FC236}">
                <a16:creationId xmlns:a16="http://schemas.microsoft.com/office/drawing/2014/main" id="{3AB09C38-36D1-45AC-6C7A-95EA3C38D42B}"/>
              </a:ext>
            </a:extLst>
          </p:cNvPr>
          <p:cNvSpPr txBox="1">
            <a:spLocks noGrp="1"/>
          </p:cNvSpPr>
          <p:nvPr>
            <p:ph type="title"/>
          </p:nvPr>
        </p:nvSpPr>
        <p:spPr>
          <a:xfrm>
            <a:off x="854337" y="451661"/>
            <a:ext cx="10483326" cy="975070"/>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90000"/>
              </a:lnSpc>
              <a:spcBef>
                <a:spcPts val="0"/>
              </a:spcBef>
              <a:spcAft>
                <a:spcPts val="0"/>
              </a:spcAft>
              <a:buClr>
                <a:srgbClr val="3F3F3F"/>
              </a:buClr>
              <a:buSzPts val="6000"/>
              <a:buFont typeface="Arial"/>
              <a:buNone/>
            </a:pPr>
            <a:r>
              <a:rPr lang="en-US" sz="5400" dirty="0"/>
              <a:t>The Multi Billion Dollar Problem</a:t>
            </a:r>
            <a:endParaRPr sz="5400" dirty="0"/>
          </a:p>
        </p:txBody>
      </p:sp>
      <p:sp>
        <p:nvSpPr>
          <p:cNvPr id="3" name="TextBox 2">
            <a:extLst>
              <a:ext uri="{FF2B5EF4-FFF2-40B4-BE49-F238E27FC236}">
                <a16:creationId xmlns:a16="http://schemas.microsoft.com/office/drawing/2014/main" id="{3F5EF72C-B019-CE22-4CD6-29E14B4C5F62}"/>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Tree>
    <p:extLst>
      <p:ext uri="{BB962C8B-B14F-4D97-AF65-F5344CB8AC3E}">
        <p14:creationId xmlns:p14="http://schemas.microsoft.com/office/powerpoint/2010/main" val="27846648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F763F19-AC4A-59EC-5B24-7B76EEE8C2B2}"/>
              </a:ext>
            </a:extLst>
          </p:cNvPr>
          <p:cNvSpPr>
            <a:spLocks noGrp="1"/>
          </p:cNvSpPr>
          <p:nvPr>
            <p:ph type="body" idx="1"/>
          </p:nvPr>
        </p:nvSpPr>
        <p:spPr>
          <a:xfrm>
            <a:off x="838200" y="1825625"/>
            <a:ext cx="10515600" cy="1724971"/>
          </a:xfrm>
          <a:solidFill>
            <a:schemeClr val="bg2"/>
          </a:solidFill>
        </p:spPr>
        <p:txBody>
          <a:bodyPr>
            <a:normAutofit fontScale="77500" lnSpcReduction="20000"/>
          </a:bodyPr>
          <a:lstStyle/>
          <a:p>
            <a:r>
              <a:rPr lang="en-US" b="1" dirty="0">
                <a:solidFill>
                  <a:schemeClr val="bg1"/>
                </a:solidFill>
              </a:rPr>
              <a:t>RQ1: </a:t>
            </a:r>
            <a:r>
              <a:rPr lang="en-US" dirty="0">
                <a:solidFill>
                  <a:schemeClr val="bg1"/>
                </a:solidFill>
              </a:rPr>
              <a:t>Can an LLM be used to convert a large document into a knowledge graph?</a:t>
            </a:r>
          </a:p>
          <a:p>
            <a:r>
              <a:rPr lang="en-US" b="1" dirty="0">
                <a:solidFill>
                  <a:schemeClr val="bg1"/>
                </a:solidFill>
              </a:rPr>
              <a:t>RQ2: </a:t>
            </a:r>
            <a:r>
              <a:rPr lang="en-US" dirty="0">
                <a:solidFill>
                  <a:schemeClr val="bg1"/>
                </a:solidFill>
              </a:rPr>
              <a:t>Can an LLM be used to process multiple knowledge graphs into a typed cluster of knowledge graphs?</a:t>
            </a:r>
          </a:p>
          <a:p>
            <a:r>
              <a:rPr lang="en-US" b="1" dirty="0">
                <a:solidFill>
                  <a:schemeClr val="bg1"/>
                </a:solidFill>
              </a:rPr>
              <a:t>RQ3: </a:t>
            </a:r>
            <a:r>
              <a:rPr lang="en-US" dirty="0">
                <a:solidFill>
                  <a:schemeClr val="bg1"/>
                </a:solidFill>
              </a:rPr>
              <a:t>Can a typed cluster of knowledge graphs be used to check a source document for consistency and completeness?</a:t>
            </a:r>
          </a:p>
        </p:txBody>
      </p:sp>
      <p:sp>
        <p:nvSpPr>
          <p:cNvPr id="5" name="Title 4">
            <a:extLst>
              <a:ext uri="{FF2B5EF4-FFF2-40B4-BE49-F238E27FC236}">
                <a16:creationId xmlns:a16="http://schemas.microsoft.com/office/drawing/2014/main" id="{3E4610B5-E229-938C-5F9E-7063062669EB}"/>
              </a:ext>
            </a:extLst>
          </p:cNvPr>
          <p:cNvSpPr>
            <a:spLocks noGrp="1"/>
          </p:cNvSpPr>
          <p:nvPr>
            <p:ph type="title"/>
          </p:nvPr>
        </p:nvSpPr>
        <p:spPr/>
        <p:txBody>
          <a:bodyPr/>
          <a:lstStyle/>
          <a:p>
            <a:r>
              <a:rPr lang="en-US" dirty="0"/>
              <a:t>Research Questions and Hypothesis</a:t>
            </a:r>
          </a:p>
        </p:txBody>
      </p:sp>
      <p:sp>
        <p:nvSpPr>
          <p:cNvPr id="8" name="TextBox 7">
            <a:extLst>
              <a:ext uri="{FF2B5EF4-FFF2-40B4-BE49-F238E27FC236}">
                <a16:creationId xmlns:a16="http://schemas.microsoft.com/office/drawing/2014/main" id="{4810B453-841C-3892-29CB-D462A898FF4A}"/>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
        <p:nvSpPr>
          <p:cNvPr id="2" name="Text Placeholder 5">
            <a:extLst>
              <a:ext uri="{FF2B5EF4-FFF2-40B4-BE49-F238E27FC236}">
                <a16:creationId xmlns:a16="http://schemas.microsoft.com/office/drawing/2014/main" id="{27E19047-3BC3-0278-AACE-325959072C95}"/>
              </a:ext>
            </a:extLst>
          </p:cNvPr>
          <p:cNvSpPr txBox="1">
            <a:spLocks/>
          </p:cNvSpPr>
          <p:nvPr/>
        </p:nvSpPr>
        <p:spPr>
          <a:xfrm>
            <a:off x="838200" y="3667395"/>
            <a:ext cx="10515600" cy="1724971"/>
          </a:xfrm>
          <a:prstGeom prst="rect">
            <a:avLst/>
          </a:prstGeom>
          <a:solidFill>
            <a:schemeClr val="bg2"/>
          </a:solidFill>
          <a:ln>
            <a:noFill/>
          </a:ln>
        </p:spPr>
        <p:txBody>
          <a:bodyPr spcFirstLastPara="1" wrap="square" lIns="91425" tIns="45700" rIns="91425" bIns="45700" anchor="t" anchorCtr="0">
            <a:normAutofit fontScale="77500" lnSpcReduction="20000"/>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595959"/>
              </a:buClr>
              <a:buSzPts val="2800"/>
              <a:buFont typeface="Arial"/>
              <a:buNone/>
              <a:defRPr sz="2800" b="0" i="0" u="none" strike="noStrike" cap="none">
                <a:solidFill>
                  <a:srgbClr val="595959"/>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r>
              <a:rPr lang="en-US" b="1" dirty="0">
                <a:solidFill>
                  <a:schemeClr val="bg1"/>
                </a:solidFill>
              </a:rPr>
              <a:t>H1:</a:t>
            </a:r>
            <a:r>
              <a:rPr lang="en-US" dirty="0">
                <a:solidFill>
                  <a:schemeClr val="bg1"/>
                </a:solidFill>
              </a:rPr>
              <a:t> An LLM can be used to convert a large document into a knowledge graph.</a:t>
            </a:r>
          </a:p>
          <a:p>
            <a:r>
              <a:rPr lang="en-US" b="1" dirty="0">
                <a:solidFill>
                  <a:schemeClr val="bg1"/>
                </a:solidFill>
              </a:rPr>
              <a:t>H2:</a:t>
            </a:r>
            <a:r>
              <a:rPr lang="en-US" dirty="0">
                <a:solidFill>
                  <a:schemeClr val="bg1"/>
                </a:solidFill>
              </a:rPr>
              <a:t> An LLM can be used to process multiple knowledge graphs into a cluster of typed knowledge graphs.</a:t>
            </a:r>
          </a:p>
          <a:p>
            <a:r>
              <a:rPr lang="en-US" b="1" dirty="0">
                <a:solidFill>
                  <a:schemeClr val="bg1"/>
                </a:solidFill>
              </a:rPr>
              <a:t>H3:</a:t>
            </a:r>
            <a:r>
              <a:rPr lang="en-US" dirty="0">
                <a:solidFill>
                  <a:schemeClr val="bg1"/>
                </a:solidFill>
              </a:rPr>
              <a:t> A typed cluster of knowledge graphs can be used to verify the consistency and completeness of the source document.</a:t>
            </a:r>
          </a:p>
        </p:txBody>
      </p:sp>
    </p:spTree>
    <p:extLst>
      <p:ext uri="{BB962C8B-B14F-4D97-AF65-F5344CB8AC3E}">
        <p14:creationId xmlns:p14="http://schemas.microsoft.com/office/powerpoint/2010/main" val="16454752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15B55-5186-4B15-FB69-D0CD6ED72D81}"/>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FE0FDBB-060F-E6C6-3A79-92029AC28C59}"/>
              </a:ext>
            </a:extLst>
          </p:cNvPr>
          <p:cNvSpPr>
            <a:spLocks noGrp="1"/>
          </p:cNvSpPr>
          <p:nvPr>
            <p:ph type="body" idx="1"/>
          </p:nvPr>
        </p:nvSpPr>
        <p:spPr>
          <a:xfrm>
            <a:off x="838200" y="1825625"/>
            <a:ext cx="10515600" cy="1724971"/>
          </a:xfrm>
          <a:solidFill>
            <a:schemeClr val="bg2"/>
          </a:solidFill>
        </p:spPr>
        <p:txBody>
          <a:bodyPr>
            <a:normAutofit fontScale="70000" lnSpcReduction="20000"/>
          </a:bodyPr>
          <a:lstStyle/>
          <a:p>
            <a:r>
              <a:rPr lang="en-US" b="1" dirty="0">
                <a:solidFill>
                  <a:schemeClr val="bg1"/>
                </a:solidFill>
              </a:rPr>
              <a:t>In Scope</a:t>
            </a:r>
          </a:p>
          <a:p>
            <a:pPr marL="685800" indent="-457200">
              <a:buFont typeface="Arial" panose="020B0604020202020204" pitchFamily="34" charset="0"/>
              <a:buChar char="•"/>
            </a:pPr>
            <a:r>
              <a:rPr lang="en-US" dirty="0">
                <a:solidFill>
                  <a:schemeClr val="bg1"/>
                </a:solidFill>
              </a:rPr>
              <a:t>Accepting a document in Word format</a:t>
            </a:r>
          </a:p>
          <a:p>
            <a:pPr marL="685800" indent="-457200">
              <a:buFont typeface="Arial" panose="020B0604020202020204" pitchFamily="34" charset="0"/>
              <a:buChar char="•"/>
            </a:pPr>
            <a:r>
              <a:rPr lang="en-US" dirty="0">
                <a:solidFill>
                  <a:schemeClr val="bg1"/>
                </a:solidFill>
              </a:rPr>
              <a:t>Converting the document to a semantically rich format (Knowledge Graph)</a:t>
            </a:r>
          </a:p>
          <a:p>
            <a:pPr marL="685800" indent="-457200">
              <a:buFont typeface="Arial" panose="020B0604020202020204" pitchFamily="34" charset="0"/>
              <a:buChar char="•"/>
            </a:pPr>
            <a:r>
              <a:rPr lang="en-US" dirty="0">
                <a:solidFill>
                  <a:schemeClr val="bg1"/>
                </a:solidFill>
              </a:rPr>
              <a:t>Validation that the knowledge graph can be used to check consistency and completeness</a:t>
            </a:r>
          </a:p>
        </p:txBody>
      </p:sp>
      <p:sp>
        <p:nvSpPr>
          <p:cNvPr id="5" name="Title 4">
            <a:extLst>
              <a:ext uri="{FF2B5EF4-FFF2-40B4-BE49-F238E27FC236}">
                <a16:creationId xmlns:a16="http://schemas.microsoft.com/office/drawing/2014/main" id="{3CBC0903-FCA7-F372-B155-0AEF55A606F1}"/>
              </a:ext>
            </a:extLst>
          </p:cNvPr>
          <p:cNvSpPr>
            <a:spLocks noGrp="1"/>
          </p:cNvSpPr>
          <p:nvPr>
            <p:ph type="title"/>
          </p:nvPr>
        </p:nvSpPr>
        <p:spPr/>
        <p:txBody>
          <a:bodyPr/>
          <a:lstStyle/>
          <a:p>
            <a:r>
              <a:rPr lang="en-US" dirty="0"/>
              <a:t>Scope</a:t>
            </a:r>
          </a:p>
        </p:txBody>
      </p:sp>
      <p:sp>
        <p:nvSpPr>
          <p:cNvPr id="8" name="TextBox 7">
            <a:extLst>
              <a:ext uri="{FF2B5EF4-FFF2-40B4-BE49-F238E27FC236}">
                <a16:creationId xmlns:a16="http://schemas.microsoft.com/office/drawing/2014/main" id="{5F54C948-63CB-2F38-A7D9-2C166F4E6C3C}"/>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
        <p:nvSpPr>
          <p:cNvPr id="2" name="Text Placeholder 5">
            <a:extLst>
              <a:ext uri="{FF2B5EF4-FFF2-40B4-BE49-F238E27FC236}">
                <a16:creationId xmlns:a16="http://schemas.microsoft.com/office/drawing/2014/main" id="{1123B929-ECB0-54B2-204C-6F093157185C}"/>
              </a:ext>
            </a:extLst>
          </p:cNvPr>
          <p:cNvSpPr txBox="1">
            <a:spLocks/>
          </p:cNvSpPr>
          <p:nvPr/>
        </p:nvSpPr>
        <p:spPr>
          <a:xfrm>
            <a:off x="838200" y="3667396"/>
            <a:ext cx="10515600" cy="1478536"/>
          </a:xfrm>
          <a:prstGeom prst="rect">
            <a:avLst/>
          </a:prstGeom>
          <a:solidFill>
            <a:schemeClr val="bg2"/>
          </a:solidFill>
          <a:ln>
            <a:noFill/>
          </a:ln>
        </p:spPr>
        <p:txBody>
          <a:bodyPr spcFirstLastPara="1" wrap="square" lIns="91425" tIns="45700" rIns="91425" bIns="45700" anchor="t" anchorCtr="0">
            <a:normAutofit fontScale="70000" lnSpcReduction="20000"/>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595959"/>
              </a:buClr>
              <a:buSzPts val="2800"/>
              <a:buFont typeface="Arial"/>
              <a:buNone/>
              <a:defRPr sz="2800" b="0" i="0" u="none" strike="noStrike" cap="none">
                <a:solidFill>
                  <a:srgbClr val="595959"/>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r>
              <a:rPr lang="en-US" b="1" dirty="0">
                <a:solidFill>
                  <a:schemeClr val="bg1"/>
                </a:solidFill>
              </a:rPr>
              <a:t>Out of Scope</a:t>
            </a:r>
          </a:p>
          <a:p>
            <a:pPr marL="685800" indent="-457200">
              <a:buFont typeface="Arial" panose="020B0604020202020204" pitchFamily="34" charset="0"/>
              <a:buChar char="•"/>
            </a:pPr>
            <a:r>
              <a:rPr lang="en-US" dirty="0">
                <a:solidFill>
                  <a:schemeClr val="bg1"/>
                </a:solidFill>
              </a:rPr>
              <a:t>Accepting a document in any format other than Word</a:t>
            </a:r>
          </a:p>
          <a:p>
            <a:pPr marL="685800" indent="-457200">
              <a:buFont typeface="Arial" panose="020B0604020202020204" pitchFamily="34" charset="0"/>
              <a:buChar char="•"/>
            </a:pPr>
            <a:r>
              <a:rPr lang="en-US" dirty="0">
                <a:solidFill>
                  <a:schemeClr val="bg1"/>
                </a:solidFill>
              </a:rPr>
              <a:t>Accepting questions from the user about the document</a:t>
            </a:r>
          </a:p>
          <a:p>
            <a:pPr marL="685800" indent="-457200">
              <a:buFont typeface="Arial" panose="020B0604020202020204" pitchFamily="34" charset="0"/>
              <a:buChar char="•"/>
            </a:pPr>
            <a:r>
              <a:rPr lang="en-US" dirty="0">
                <a:solidFill>
                  <a:schemeClr val="bg1"/>
                </a:solidFill>
              </a:rPr>
              <a:t>Answering questions about the document</a:t>
            </a:r>
          </a:p>
        </p:txBody>
      </p:sp>
    </p:spTree>
    <p:extLst>
      <p:ext uri="{BB962C8B-B14F-4D97-AF65-F5344CB8AC3E}">
        <p14:creationId xmlns:p14="http://schemas.microsoft.com/office/powerpoint/2010/main" val="4270725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oogle Shape;112;p16" descr="image.png">
            <a:extLst>
              <a:ext uri="{FF2B5EF4-FFF2-40B4-BE49-F238E27FC236}">
                <a16:creationId xmlns:a16="http://schemas.microsoft.com/office/drawing/2014/main" id="{E8147990-8284-E0F0-18C3-225A83A28B5E}"/>
              </a:ext>
            </a:extLst>
          </p:cNvPr>
          <p:cNvPicPr preferRelativeResize="0"/>
          <p:nvPr/>
        </p:nvPicPr>
        <p:blipFill rotWithShape="1">
          <a:blip r:embed="rId2">
            <a:alphaModFix/>
          </a:blip>
          <a:srcRect/>
          <a:stretch/>
        </p:blipFill>
        <p:spPr>
          <a:xfrm>
            <a:off x="571500" y="1438274"/>
            <a:ext cx="3429000" cy="3476625"/>
          </a:xfrm>
          <a:prstGeom prst="rect">
            <a:avLst/>
          </a:prstGeom>
          <a:noFill/>
          <a:ln>
            <a:noFill/>
          </a:ln>
        </p:spPr>
      </p:pic>
      <p:pic>
        <p:nvPicPr>
          <p:cNvPr id="5" name="Google Shape;113;p16" descr="image.png">
            <a:extLst>
              <a:ext uri="{FF2B5EF4-FFF2-40B4-BE49-F238E27FC236}">
                <a16:creationId xmlns:a16="http://schemas.microsoft.com/office/drawing/2014/main" id="{FABF11A1-1AF2-E1EC-95BF-33C967713E44}"/>
              </a:ext>
            </a:extLst>
          </p:cNvPr>
          <p:cNvPicPr preferRelativeResize="0"/>
          <p:nvPr/>
        </p:nvPicPr>
        <p:blipFill rotWithShape="1">
          <a:blip r:embed="rId3">
            <a:alphaModFix/>
          </a:blip>
          <a:srcRect/>
          <a:stretch/>
        </p:blipFill>
        <p:spPr>
          <a:xfrm>
            <a:off x="4381500" y="1438274"/>
            <a:ext cx="3429000" cy="3476625"/>
          </a:xfrm>
          <a:prstGeom prst="rect">
            <a:avLst/>
          </a:prstGeom>
          <a:noFill/>
          <a:ln>
            <a:noFill/>
          </a:ln>
        </p:spPr>
      </p:pic>
      <p:pic>
        <p:nvPicPr>
          <p:cNvPr id="6" name="Google Shape;114;p16" descr="image.png">
            <a:extLst>
              <a:ext uri="{FF2B5EF4-FFF2-40B4-BE49-F238E27FC236}">
                <a16:creationId xmlns:a16="http://schemas.microsoft.com/office/drawing/2014/main" id="{EC524897-A213-9EB7-8A03-1F74F726B27D}"/>
              </a:ext>
            </a:extLst>
          </p:cNvPr>
          <p:cNvPicPr preferRelativeResize="0"/>
          <p:nvPr/>
        </p:nvPicPr>
        <p:blipFill rotWithShape="1">
          <a:blip r:embed="rId4">
            <a:alphaModFix/>
          </a:blip>
          <a:srcRect/>
          <a:stretch/>
        </p:blipFill>
        <p:spPr>
          <a:xfrm>
            <a:off x="8191500" y="1438274"/>
            <a:ext cx="3429000" cy="3476625"/>
          </a:xfrm>
          <a:prstGeom prst="rect">
            <a:avLst/>
          </a:prstGeom>
          <a:noFill/>
          <a:ln>
            <a:noFill/>
          </a:ln>
        </p:spPr>
      </p:pic>
      <p:sp>
        <p:nvSpPr>
          <p:cNvPr id="7" name="Google Shape;115;p16">
            <a:extLst>
              <a:ext uri="{FF2B5EF4-FFF2-40B4-BE49-F238E27FC236}">
                <a16:creationId xmlns:a16="http://schemas.microsoft.com/office/drawing/2014/main" id="{2BFD2C80-2FBA-A8DE-F505-3ABEDD8E7C3D}"/>
              </a:ext>
            </a:extLst>
          </p:cNvPr>
          <p:cNvSpPr txBox="1"/>
          <p:nvPr/>
        </p:nvSpPr>
        <p:spPr>
          <a:xfrm>
            <a:off x="795813" y="2447924"/>
            <a:ext cx="2980372" cy="9144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a:solidFill>
                  <a:srgbClr val="FFFFFF"/>
                </a:solidFill>
                <a:latin typeface="Poppins"/>
                <a:ea typeface="Poppins"/>
                <a:cs typeface="Poppins"/>
                <a:sym typeface="Poppins"/>
              </a:rPr>
              <a:t>Knowledge Representation</a:t>
            </a:r>
            <a:endParaRPr/>
          </a:p>
        </p:txBody>
      </p:sp>
      <p:sp>
        <p:nvSpPr>
          <p:cNvPr id="8" name="Google Shape;116;p16">
            <a:extLst>
              <a:ext uri="{FF2B5EF4-FFF2-40B4-BE49-F238E27FC236}">
                <a16:creationId xmlns:a16="http://schemas.microsoft.com/office/drawing/2014/main" id="{59CFF784-E538-BEAF-0E13-D3107E624B88}"/>
              </a:ext>
            </a:extLst>
          </p:cNvPr>
          <p:cNvSpPr txBox="1"/>
          <p:nvPr/>
        </p:nvSpPr>
        <p:spPr>
          <a:xfrm>
            <a:off x="866775" y="3676649"/>
            <a:ext cx="2838450" cy="7715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E2E8F0"/>
                </a:solidFill>
                <a:latin typeface="Lato"/>
                <a:ea typeface="Lato"/>
                <a:cs typeface="Lato"/>
                <a:sym typeface="Lato"/>
              </a:rPr>
              <a:t>(Minsky '74) 'Frames' provide the foundational concept for structured knowledge representation.</a:t>
            </a:r>
            <a:endParaRPr/>
          </a:p>
        </p:txBody>
      </p:sp>
      <p:sp>
        <p:nvSpPr>
          <p:cNvPr id="9" name="Google Shape;117;p16">
            <a:extLst>
              <a:ext uri="{FF2B5EF4-FFF2-40B4-BE49-F238E27FC236}">
                <a16:creationId xmlns:a16="http://schemas.microsoft.com/office/drawing/2014/main" id="{FC4D2421-352F-7B82-0092-23C2E0725C49}"/>
              </a:ext>
            </a:extLst>
          </p:cNvPr>
          <p:cNvSpPr txBox="1"/>
          <p:nvPr/>
        </p:nvSpPr>
        <p:spPr>
          <a:xfrm>
            <a:off x="4620815" y="2447924"/>
            <a:ext cx="2950368"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a:solidFill>
                  <a:srgbClr val="FFFFFF"/>
                </a:solidFill>
                <a:latin typeface="Poppins"/>
                <a:ea typeface="Poppins"/>
                <a:cs typeface="Poppins"/>
                <a:sym typeface="Poppins"/>
              </a:rPr>
              <a:t>Knowledge Graphs</a:t>
            </a:r>
            <a:endParaRPr/>
          </a:p>
        </p:txBody>
      </p:sp>
      <p:sp>
        <p:nvSpPr>
          <p:cNvPr id="10" name="Google Shape;118;p16">
            <a:extLst>
              <a:ext uri="{FF2B5EF4-FFF2-40B4-BE49-F238E27FC236}">
                <a16:creationId xmlns:a16="http://schemas.microsoft.com/office/drawing/2014/main" id="{108F8BCE-BC65-0FB4-224A-DEA439E63E45}"/>
              </a:ext>
            </a:extLst>
          </p:cNvPr>
          <p:cNvSpPr txBox="1"/>
          <p:nvPr/>
        </p:nvSpPr>
        <p:spPr>
          <a:xfrm>
            <a:off x="4676775" y="3219449"/>
            <a:ext cx="2838450" cy="7715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E2E8F0"/>
                </a:solidFill>
                <a:latin typeface="Lato"/>
                <a:ea typeface="Lato"/>
                <a:cs typeface="Lato"/>
                <a:sym typeface="Lato"/>
              </a:rPr>
              <a:t>(Noy '01, Fensel '20) A methodology for constructing semantically-rich ontologies to capture meaning.</a:t>
            </a:r>
            <a:endParaRPr/>
          </a:p>
        </p:txBody>
      </p:sp>
      <p:sp>
        <p:nvSpPr>
          <p:cNvPr id="11" name="Google Shape;119;p16">
            <a:extLst>
              <a:ext uri="{FF2B5EF4-FFF2-40B4-BE49-F238E27FC236}">
                <a16:creationId xmlns:a16="http://schemas.microsoft.com/office/drawing/2014/main" id="{C1CDD576-FF5B-DF06-C1C9-2D26331FFE97}"/>
              </a:ext>
            </a:extLst>
          </p:cNvPr>
          <p:cNvSpPr txBox="1"/>
          <p:nvPr/>
        </p:nvSpPr>
        <p:spPr>
          <a:xfrm>
            <a:off x="8415813" y="2447924"/>
            <a:ext cx="2980372" cy="9144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a:solidFill>
                  <a:srgbClr val="FFFFFF"/>
                </a:solidFill>
                <a:latin typeface="Poppins"/>
                <a:ea typeface="Poppins"/>
                <a:cs typeface="Poppins"/>
                <a:sym typeface="Poppins"/>
              </a:rPr>
              <a:t>The Scaling Problem</a:t>
            </a:r>
            <a:endParaRPr/>
          </a:p>
        </p:txBody>
      </p:sp>
      <p:sp>
        <p:nvSpPr>
          <p:cNvPr id="12" name="Google Shape;120;p16">
            <a:extLst>
              <a:ext uri="{FF2B5EF4-FFF2-40B4-BE49-F238E27FC236}">
                <a16:creationId xmlns:a16="http://schemas.microsoft.com/office/drawing/2014/main" id="{DC27EE91-25C3-5071-5B99-8672828E8C3E}"/>
              </a:ext>
            </a:extLst>
          </p:cNvPr>
          <p:cNvSpPr txBox="1"/>
          <p:nvPr/>
        </p:nvSpPr>
        <p:spPr>
          <a:xfrm>
            <a:off x="8486775" y="3676649"/>
            <a:ext cx="2838450" cy="7715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E2E8F0"/>
                </a:solidFill>
                <a:latin typeface="Lato"/>
                <a:ea typeface="Lato"/>
                <a:cs typeface="Lato"/>
                <a:sym typeface="Lato"/>
              </a:rPr>
              <a:t>(Vaswani '17) The 'Context Window' limit of transformers is the key challenge for large-scale documents.</a:t>
            </a:r>
            <a:endParaRPr/>
          </a:p>
        </p:txBody>
      </p:sp>
      <p:pic>
        <p:nvPicPr>
          <p:cNvPr id="13" name="Google Shape;121;p16" descr="image.png">
            <a:extLst>
              <a:ext uri="{FF2B5EF4-FFF2-40B4-BE49-F238E27FC236}">
                <a16:creationId xmlns:a16="http://schemas.microsoft.com/office/drawing/2014/main" id="{F4CCE8EB-70D2-05E3-9479-B0D5018CDBC2}"/>
              </a:ext>
            </a:extLst>
          </p:cNvPr>
          <p:cNvPicPr preferRelativeResize="0"/>
          <p:nvPr/>
        </p:nvPicPr>
        <p:blipFill rotWithShape="1">
          <a:blip r:embed="rId5">
            <a:alphaModFix/>
          </a:blip>
          <a:srcRect/>
          <a:stretch/>
        </p:blipFill>
        <p:spPr>
          <a:xfrm>
            <a:off x="2057400" y="1752599"/>
            <a:ext cx="457200" cy="457200"/>
          </a:xfrm>
          <a:prstGeom prst="rect">
            <a:avLst/>
          </a:prstGeom>
          <a:noFill/>
          <a:ln>
            <a:noFill/>
          </a:ln>
        </p:spPr>
      </p:pic>
      <p:pic>
        <p:nvPicPr>
          <p:cNvPr id="14" name="Google Shape;122;p16" descr="image.png">
            <a:extLst>
              <a:ext uri="{FF2B5EF4-FFF2-40B4-BE49-F238E27FC236}">
                <a16:creationId xmlns:a16="http://schemas.microsoft.com/office/drawing/2014/main" id="{84066F11-4FDB-ADEE-0CF5-4EB19ED9F089}"/>
              </a:ext>
            </a:extLst>
          </p:cNvPr>
          <p:cNvPicPr preferRelativeResize="0"/>
          <p:nvPr/>
        </p:nvPicPr>
        <p:blipFill rotWithShape="1">
          <a:blip r:embed="rId6">
            <a:alphaModFix/>
          </a:blip>
          <a:srcRect/>
          <a:stretch/>
        </p:blipFill>
        <p:spPr>
          <a:xfrm>
            <a:off x="5838825" y="1752599"/>
            <a:ext cx="514350" cy="457200"/>
          </a:xfrm>
          <a:prstGeom prst="rect">
            <a:avLst/>
          </a:prstGeom>
          <a:noFill/>
          <a:ln>
            <a:noFill/>
          </a:ln>
        </p:spPr>
      </p:pic>
      <p:pic>
        <p:nvPicPr>
          <p:cNvPr id="15" name="Google Shape;123;p16" descr="image.png">
            <a:extLst>
              <a:ext uri="{FF2B5EF4-FFF2-40B4-BE49-F238E27FC236}">
                <a16:creationId xmlns:a16="http://schemas.microsoft.com/office/drawing/2014/main" id="{EB7BFB74-C6BE-4B2B-F52C-EB419D717E30}"/>
              </a:ext>
            </a:extLst>
          </p:cNvPr>
          <p:cNvPicPr preferRelativeResize="0"/>
          <p:nvPr/>
        </p:nvPicPr>
        <p:blipFill rotWithShape="1">
          <a:blip r:embed="rId7">
            <a:alphaModFix/>
          </a:blip>
          <a:srcRect/>
          <a:stretch/>
        </p:blipFill>
        <p:spPr>
          <a:xfrm>
            <a:off x="9677400" y="1752599"/>
            <a:ext cx="457200" cy="457200"/>
          </a:xfrm>
          <a:prstGeom prst="rect">
            <a:avLst/>
          </a:prstGeom>
          <a:noFill/>
          <a:ln>
            <a:noFill/>
          </a:ln>
        </p:spPr>
      </p:pic>
      <p:sp>
        <p:nvSpPr>
          <p:cNvPr id="16" name="TextBox 15">
            <a:extLst>
              <a:ext uri="{FF2B5EF4-FFF2-40B4-BE49-F238E27FC236}">
                <a16:creationId xmlns:a16="http://schemas.microsoft.com/office/drawing/2014/main" id="{1D282E65-D85D-B8EB-3A3D-A56151DE871C}"/>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35241971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C8138-2812-B002-4306-0252EFCDAD13}"/>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E9CB4EDC-6C2B-2197-86FD-3235DB6BB42C}"/>
              </a:ext>
            </a:extLst>
          </p:cNvPr>
          <p:cNvSpPr>
            <a:spLocks noGrp="1"/>
          </p:cNvSpPr>
          <p:nvPr>
            <p:ph type="body" idx="1"/>
          </p:nvPr>
        </p:nvSpPr>
        <p:spPr/>
        <p:txBody>
          <a:bodyPr>
            <a:normAutofit/>
          </a:bodyPr>
          <a:lstStyle/>
          <a:p>
            <a:r>
              <a:rPr lang="en-US" dirty="0"/>
              <a:t>To date, research in this area has been constrained by</a:t>
            </a:r>
          </a:p>
          <a:p>
            <a:pPr marL="685800" lvl="1" indent="0"/>
            <a:r>
              <a:rPr lang="en-US" dirty="0"/>
              <a:t>The processing time</a:t>
            </a:r>
          </a:p>
          <a:p>
            <a:pPr marL="685800" lvl="1" indent="0"/>
            <a:r>
              <a:rPr lang="en-US" dirty="0"/>
              <a:t>The context window</a:t>
            </a:r>
          </a:p>
          <a:p>
            <a:pPr marL="685800" lvl="1" indent="0"/>
            <a:r>
              <a:rPr lang="en-US" dirty="0"/>
              <a:t>The resources needed</a:t>
            </a:r>
          </a:p>
          <a:p>
            <a:r>
              <a:rPr lang="en-US" dirty="0"/>
              <a:t>Sources focused on smaller documents.</a:t>
            </a:r>
          </a:p>
          <a:p>
            <a:pPr marL="228600" indent="0"/>
            <a:endParaRPr lang="en-US" dirty="0"/>
          </a:p>
        </p:txBody>
      </p:sp>
      <p:sp>
        <p:nvSpPr>
          <p:cNvPr id="6" name="Title 5">
            <a:extLst>
              <a:ext uri="{FF2B5EF4-FFF2-40B4-BE49-F238E27FC236}">
                <a16:creationId xmlns:a16="http://schemas.microsoft.com/office/drawing/2014/main" id="{96B9E87A-2B29-23F2-5FBC-701CDECFA10B}"/>
              </a:ext>
            </a:extLst>
          </p:cNvPr>
          <p:cNvSpPr>
            <a:spLocks noGrp="1"/>
          </p:cNvSpPr>
          <p:nvPr>
            <p:ph type="title"/>
          </p:nvPr>
        </p:nvSpPr>
        <p:spPr/>
        <p:txBody>
          <a:bodyPr/>
          <a:lstStyle/>
          <a:p>
            <a:r>
              <a:rPr lang="en-US" dirty="0"/>
              <a:t>Literature Review Notes</a:t>
            </a:r>
          </a:p>
        </p:txBody>
      </p:sp>
      <p:sp>
        <p:nvSpPr>
          <p:cNvPr id="2" name="TextBox 1">
            <a:extLst>
              <a:ext uri="{FF2B5EF4-FFF2-40B4-BE49-F238E27FC236}">
                <a16:creationId xmlns:a16="http://schemas.microsoft.com/office/drawing/2014/main" id="{98D19B3A-5726-C996-6E88-835469C43FA3}"/>
              </a:ext>
            </a:extLst>
          </p:cNvPr>
          <p:cNvSpPr txBox="1"/>
          <p:nvPr/>
        </p:nvSpPr>
        <p:spPr>
          <a:xfrm>
            <a:off x="6629259" y="0"/>
            <a:ext cx="5562741" cy="307777"/>
          </a:xfrm>
          <a:prstGeom prst="rect">
            <a:avLst/>
          </a:prstGeom>
          <a:noFill/>
        </p:spPr>
        <p:txBody>
          <a:bodyPr wrap="none" rtlCol="0">
            <a:spAutoFit/>
          </a:bodyPr>
          <a:lstStyle/>
          <a:p>
            <a:pPr algn="r"/>
            <a:r>
              <a:rPr lang="en-US" dirty="0"/>
              <a:t>Introduction   </a:t>
            </a:r>
            <a:r>
              <a:rPr lang="en-US" b="1" dirty="0"/>
              <a:t>Foundation</a:t>
            </a:r>
            <a:r>
              <a:rPr lang="en-US" dirty="0"/>
              <a:t>   Key Findings   Discussion   Conclusion</a:t>
            </a:r>
          </a:p>
        </p:txBody>
      </p:sp>
    </p:spTree>
    <p:extLst>
      <p:ext uri="{BB962C8B-B14F-4D97-AF65-F5344CB8AC3E}">
        <p14:creationId xmlns:p14="http://schemas.microsoft.com/office/powerpoint/2010/main" val="1801011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B24F3AD1-4408-86EA-8DD4-2493983FF4E7}"/>
              </a:ext>
            </a:extLst>
          </p:cNvPr>
          <p:cNvSpPr/>
          <p:nvPr/>
        </p:nvSpPr>
        <p:spPr>
          <a:xfrm>
            <a:off x="185461" y="1366377"/>
            <a:ext cx="2064774" cy="13672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Divide the document into overlapping chunks based on paragraphs (Qu et al., 2024)</a:t>
            </a:r>
          </a:p>
        </p:txBody>
      </p:sp>
      <p:sp>
        <p:nvSpPr>
          <p:cNvPr id="7" name="Rectangle: Rounded Corners 6">
            <a:extLst>
              <a:ext uri="{FF2B5EF4-FFF2-40B4-BE49-F238E27FC236}">
                <a16:creationId xmlns:a16="http://schemas.microsoft.com/office/drawing/2014/main" id="{E6A4F1AD-F61F-FC87-1067-0EAA9D08CC91}"/>
              </a:ext>
            </a:extLst>
          </p:cNvPr>
          <p:cNvSpPr/>
          <p:nvPr/>
        </p:nvSpPr>
        <p:spPr>
          <a:xfrm>
            <a:off x="2614336" y="1366377"/>
            <a:ext cx="2064774" cy="13672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Have the LLM extract entities and relationships to build a local knowledge graph (</a:t>
            </a:r>
            <a:r>
              <a:rPr lang="en-US" dirty="0" err="1"/>
              <a:t>Benjira</a:t>
            </a:r>
            <a:r>
              <a:rPr lang="en-US" dirty="0"/>
              <a:t> et al.,2025).</a:t>
            </a:r>
          </a:p>
        </p:txBody>
      </p:sp>
      <p:sp>
        <p:nvSpPr>
          <p:cNvPr id="8" name="Rectangle: Rounded Corners 7">
            <a:extLst>
              <a:ext uri="{FF2B5EF4-FFF2-40B4-BE49-F238E27FC236}">
                <a16:creationId xmlns:a16="http://schemas.microsoft.com/office/drawing/2014/main" id="{0601CD8A-490D-0328-6E45-B80EA2307B19}"/>
              </a:ext>
            </a:extLst>
          </p:cNvPr>
          <p:cNvSpPr/>
          <p:nvPr/>
        </p:nvSpPr>
        <p:spPr>
          <a:xfrm>
            <a:off x="5043211" y="1366375"/>
            <a:ext cx="2064774" cy="13716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Merge the knowledge graphs form the chunks into a single knowledge graph (new contribution)</a:t>
            </a:r>
          </a:p>
        </p:txBody>
      </p:sp>
      <p:sp>
        <p:nvSpPr>
          <p:cNvPr id="9" name="Rectangle: Rounded Corners 8">
            <a:extLst>
              <a:ext uri="{FF2B5EF4-FFF2-40B4-BE49-F238E27FC236}">
                <a16:creationId xmlns:a16="http://schemas.microsoft.com/office/drawing/2014/main" id="{E34F2131-D647-966F-5E08-3AF5006D133F}"/>
              </a:ext>
            </a:extLst>
          </p:cNvPr>
          <p:cNvSpPr/>
          <p:nvPr/>
        </p:nvSpPr>
        <p:spPr>
          <a:xfrm>
            <a:off x="7472086" y="1366377"/>
            <a:ext cx="2064774" cy="13716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Have the LLM review small sections of the knowledge graph to make it semantically rich (new contribution)</a:t>
            </a:r>
          </a:p>
        </p:txBody>
      </p:sp>
      <p:sp>
        <p:nvSpPr>
          <p:cNvPr id="10" name="Rectangle: Rounded Corners 9">
            <a:extLst>
              <a:ext uri="{FF2B5EF4-FFF2-40B4-BE49-F238E27FC236}">
                <a16:creationId xmlns:a16="http://schemas.microsoft.com/office/drawing/2014/main" id="{EFB2BBE3-6086-086F-E002-087BD25CDD44}"/>
              </a:ext>
            </a:extLst>
          </p:cNvPr>
          <p:cNvSpPr/>
          <p:nvPr/>
        </p:nvSpPr>
        <p:spPr>
          <a:xfrm>
            <a:off x="9900961" y="1366377"/>
            <a:ext cx="2064774" cy="13716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Verify that this knowledge graph could be used to check for consistency and completeness (new contribution)</a:t>
            </a:r>
          </a:p>
        </p:txBody>
      </p:sp>
      <p:sp>
        <p:nvSpPr>
          <p:cNvPr id="11" name="Title 4">
            <a:extLst>
              <a:ext uri="{FF2B5EF4-FFF2-40B4-BE49-F238E27FC236}">
                <a16:creationId xmlns:a16="http://schemas.microsoft.com/office/drawing/2014/main" id="{31981677-1B06-C8D9-D9E8-753D470D88E3}"/>
              </a:ext>
            </a:extLst>
          </p:cNvPr>
          <p:cNvSpPr txBox="1">
            <a:spLocks/>
          </p:cNvSpPr>
          <p:nvPr/>
        </p:nvSpPr>
        <p:spPr>
          <a:xfrm>
            <a:off x="322621" y="440161"/>
            <a:ext cx="10483326" cy="97507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dirty="0"/>
              <a:t>Methodology based on research</a:t>
            </a:r>
          </a:p>
        </p:txBody>
      </p:sp>
      <p:sp>
        <p:nvSpPr>
          <p:cNvPr id="12" name="TextBox 11">
            <a:extLst>
              <a:ext uri="{FF2B5EF4-FFF2-40B4-BE49-F238E27FC236}">
                <a16:creationId xmlns:a16="http://schemas.microsoft.com/office/drawing/2014/main" id="{E726DC11-3E53-9EC6-33A8-4CA6D6509A6F}"/>
              </a:ext>
            </a:extLst>
          </p:cNvPr>
          <p:cNvSpPr txBox="1"/>
          <p:nvPr/>
        </p:nvSpPr>
        <p:spPr>
          <a:xfrm>
            <a:off x="6629259" y="0"/>
            <a:ext cx="5562741"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
        <p:nvSpPr>
          <p:cNvPr id="13" name="Flowchart: Document 12">
            <a:extLst>
              <a:ext uri="{FF2B5EF4-FFF2-40B4-BE49-F238E27FC236}">
                <a16:creationId xmlns:a16="http://schemas.microsoft.com/office/drawing/2014/main" id="{672AAF25-982B-BF1C-1E35-E16911A0DB00}"/>
              </a:ext>
            </a:extLst>
          </p:cNvPr>
          <p:cNvSpPr/>
          <p:nvPr/>
        </p:nvSpPr>
        <p:spPr>
          <a:xfrm>
            <a:off x="332994" y="3662172"/>
            <a:ext cx="552450" cy="657225"/>
          </a:xfrm>
          <a:prstGeom prst="flowChartDocumen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2A6E3232-747F-2265-9D0F-7BB9B3BC8D8F}"/>
              </a:ext>
            </a:extLst>
          </p:cNvPr>
          <p:cNvSpPr/>
          <p:nvPr/>
        </p:nvSpPr>
        <p:spPr>
          <a:xfrm>
            <a:off x="2981325" y="3335988"/>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533D318F-E144-FAB2-9082-4A5E5198EBB0}"/>
              </a:ext>
            </a:extLst>
          </p:cNvPr>
          <p:cNvSpPr/>
          <p:nvPr/>
        </p:nvSpPr>
        <p:spPr>
          <a:xfrm>
            <a:off x="3454516" y="3139618"/>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FF5F80F-B1EE-C02F-FCDC-3A89C1FFF7BF}"/>
              </a:ext>
            </a:extLst>
          </p:cNvPr>
          <p:cNvSpPr/>
          <p:nvPr/>
        </p:nvSpPr>
        <p:spPr>
          <a:xfrm>
            <a:off x="3950439" y="3226139"/>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12429F6-D99A-660D-5B94-C1FA77F2240E}"/>
              </a:ext>
            </a:extLst>
          </p:cNvPr>
          <p:cNvCxnSpPr>
            <a:cxnSpLocks/>
            <a:stCxn id="15" idx="7"/>
            <a:endCxn id="16" idx="2"/>
          </p:cNvCxnSpPr>
          <p:nvPr/>
        </p:nvCxnSpPr>
        <p:spPr>
          <a:xfrm flipV="1">
            <a:off x="3257748" y="3296781"/>
            <a:ext cx="196768" cy="852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933C167-6BB9-7BD5-80BE-7AF0EA454933}"/>
              </a:ext>
            </a:extLst>
          </p:cNvPr>
          <p:cNvCxnSpPr>
            <a:cxnSpLocks/>
            <a:stCxn id="19" idx="1"/>
            <a:endCxn id="16" idx="6"/>
          </p:cNvCxnSpPr>
          <p:nvPr/>
        </p:nvCxnSpPr>
        <p:spPr>
          <a:xfrm flipH="1">
            <a:off x="3778366" y="3272171"/>
            <a:ext cx="219500" cy="246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32ED40-F1BD-756A-0643-F07F67C66BEF}"/>
              </a:ext>
            </a:extLst>
          </p:cNvPr>
          <p:cNvSpPr/>
          <p:nvPr/>
        </p:nvSpPr>
        <p:spPr>
          <a:xfrm>
            <a:off x="5626676" y="3103557"/>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68715BF8-9CEA-0C68-4B60-4AA1D36E8C62}"/>
              </a:ext>
            </a:extLst>
          </p:cNvPr>
          <p:cNvSpPr/>
          <p:nvPr/>
        </p:nvSpPr>
        <p:spPr>
          <a:xfrm>
            <a:off x="6048848" y="3440452"/>
            <a:ext cx="323850" cy="3143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9E40E651-871A-B0A2-3961-7F1E6637A27F}"/>
              </a:ext>
            </a:extLst>
          </p:cNvPr>
          <p:cNvSpPr/>
          <p:nvPr/>
        </p:nvSpPr>
        <p:spPr>
          <a:xfrm>
            <a:off x="5769551" y="3856033"/>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414A6F42-D562-D088-54BE-CF92A8C88C9D}"/>
              </a:ext>
            </a:extLst>
          </p:cNvPr>
          <p:cNvSpPr/>
          <p:nvPr/>
        </p:nvSpPr>
        <p:spPr>
          <a:xfrm>
            <a:off x="6305409" y="4170358"/>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450BA3F3-F643-3A31-2D14-9F5C8410A49F}"/>
              </a:ext>
            </a:extLst>
          </p:cNvPr>
          <p:cNvSpPr/>
          <p:nvPr/>
        </p:nvSpPr>
        <p:spPr>
          <a:xfrm>
            <a:off x="6585321" y="3160707"/>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811B639C-2C75-E5D6-45EA-C7EC60A717E5}"/>
              </a:ext>
            </a:extLst>
          </p:cNvPr>
          <p:cNvCxnSpPr>
            <a:cxnSpLocks/>
            <a:stCxn id="35" idx="6"/>
            <a:endCxn id="36" idx="1"/>
          </p:cNvCxnSpPr>
          <p:nvPr/>
        </p:nvCxnSpPr>
        <p:spPr>
          <a:xfrm>
            <a:off x="5950526" y="3260720"/>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B4DCAE02-7212-E494-D944-9446C49F2C6A}"/>
              </a:ext>
            </a:extLst>
          </p:cNvPr>
          <p:cNvCxnSpPr>
            <a:cxnSpLocks/>
            <a:stCxn id="39" idx="3"/>
            <a:endCxn id="36" idx="6"/>
          </p:cNvCxnSpPr>
          <p:nvPr/>
        </p:nvCxnSpPr>
        <p:spPr>
          <a:xfrm flipH="1">
            <a:off x="6372698" y="3429000"/>
            <a:ext cx="260050" cy="1686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D1E599BD-B784-72C9-A867-2869729CFCAC}"/>
              </a:ext>
            </a:extLst>
          </p:cNvPr>
          <p:cNvCxnSpPr>
            <a:cxnSpLocks/>
            <a:stCxn id="36" idx="4"/>
            <a:endCxn id="38" idx="0"/>
          </p:cNvCxnSpPr>
          <p:nvPr/>
        </p:nvCxnSpPr>
        <p:spPr>
          <a:xfrm>
            <a:off x="6210773" y="3754777"/>
            <a:ext cx="256561" cy="4155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C66961E4-9295-4E69-4149-9B0783FD926D}"/>
              </a:ext>
            </a:extLst>
          </p:cNvPr>
          <p:cNvCxnSpPr>
            <a:cxnSpLocks/>
            <a:stCxn id="36" idx="3"/>
            <a:endCxn id="37" idx="7"/>
          </p:cNvCxnSpPr>
          <p:nvPr/>
        </p:nvCxnSpPr>
        <p:spPr>
          <a:xfrm flipH="1">
            <a:off x="6045974" y="3708745"/>
            <a:ext cx="50301" cy="193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F603FDD6-0744-2ED9-35F2-12B5F16E6B1C}"/>
              </a:ext>
            </a:extLst>
          </p:cNvPr>
          <p:cNvSpPr txBox="1"/>
          <p:nvPr/>
        </p:nvSpPr>
        <p:spPr>
          <a:xfrm>
            <a:off x="10227045" y="3141681"/>
            <a:ext cx="1787519" cy="1178528"/>
          </a:xfrm>
          <a:prstGeom prst="rect">
            <a:avLst/>
          </a:prstGeom>
          <a:noFill/>
        </p:spPr>
        <p:txBody>
          <a:bodyPr wrap="square">
            <a:spAutoFit/>
          </a:bodyPr>
          <a:lstStyle/>
          <a:p>
            <a:pPr>
              <a:lnSpc>
                <a:spcPts val="1425"/>
              </a:lnSpc>
              <a:buNone/>
            </a:pPr>
            <a:r>
              <a:rPr lang="en-US" b="0" dirty="0">
                <a:solidFill>
                  <a:srgbClr val="000000"/>
                </a:solidFill>
                <a:effectLst/>
                <a:latin typeface="Courier New" panose="02070309020205020404" pitchFamily="49" charset="0"/>
              </a:rPr>
              <a:t>query=</a:t>
            </a:r>
            <a:r>
              <a:rPr lang="en-US" b="0" dirty="0">
                <a:solidFill>
                  <a:srgbClr val="0000FF"/>
                </a:solidFill>
                <a:effectLst/>
                <a:latin typeface="Courier New" panose="02070309020205020404" pitchFamily="49" charset="0"/>
              </a:rPr>
              <a:t>f</a:t>
            </a:r>
            <a:r>
              <a:rPr lang="en-US" b="0" dirty="0">
                <a:solidFill>
                  <a:srgbClr val="A31515"/>
                </a:solidFill>
                <a:effectLst/>
                <a:latin typeface="Courier New" panose="02070309020205020404" pitchFamily="49" charset="0"/>
              </a:rPr>
              <a:t>"""</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A31515"/>
                </a:solidFill>
                <a:effectLst/>
                <a:latin typeface="Courier New" panose="02070309020205020404" pitchFamily="49" charset="0"/>
              </a:rPr>
              <a:t> MATCH (</a:t>
            </a:r>
            <a:r>
              <a:rPr lang="en-US" b="0" dirty="0" err="1">
                <a:solidFill>
                  <a:srgbClr val="A31515"/>
                </a:solidFill>
                <a:effectLst/>
                <a:latin typeface="Courier New" panose="02070309020205020404" pitchFamily="49" charset="0"/>
              </a:rPr>
              <a:t>i:Instance</a:t>
            </a:r>
            <a:r>
              <a:rPr lang="en-US" b="0" dirty="0">
                <a:solidFill>
                  <a:srgbClr val="000000"/>
                </a:solidFill>
                <a:effectLst/>
                <a:latin typeface="Courier New" panose="02070309020205020404" pitchFamily="49" charset="0"/>
              </a:rPr>
              <a:t>{</a:t>
            </a:r>
            <a:r>
              <a:rPr lang="en-US" b="0" dirty="0" err="1">
                <a:solidFill>
                  <a:srgbClr val="001080"/>
                </a:solidFill>
                <a:effectLst/>
                <a:latin typeface="Courier New" panose="02070309020205020404" pitchFamily="49" charset="0"/>
              </a:rPr>
              <a:t>self</a:t>
            </a:r>
            <a:r>
              <a:rPr lang="en-US" b="0" dirty="0" err="1">
                <a:solidFill>
                  <a:srgbClr val="000000"/>
                </a:solidFill>
                <a:effectLst/>
                <a:latin typeface="Courier New" panose="02070309020205020404" pitchFamily="49" charset="0"/>
              </a:rPr>
              <a:t>.scoped_label</a:t>
            </a:r>
            <a:r>
              <a:rPr lang="en-US" b="0" dirty="0">
                <a:solidFill>
                  <a:srgbClr val="000000"/>
                </a:solidFill>
                <a:effectLst/>
                <a:latin typeface="Courier New" panose="02070309020205020404" pitchFamily="49" charset="0"/>
              </a:rPr>
              <a:t>}</a:t>
            </a:r>
            <a:r>
              <a:rPr lang="en-US" b="0" dirty="0">
                <a:solidFill>
                  <a:srgbClr val="A31515"/>
                </a:solidFill>
                <a:effectLst/>
                <a:latin typeface="Courier New" panose="02070309020205020404" pitchFamily="49" charset="0"/>
              </a:rPr>
              <a:t>)-[:IS_A]-&gt;(</a:t>
            </a:r>
            <a:r>
              <a:rPr lang="en-US" b="0" dirty="0" err="1">
                <a:solidFill>
                  <a:srgbClr val="A31515"/>
                </a:solidFill>
                <a:effectLst/>
                <a:latin typeface="Courier New" panose="02070309020205020404" pitchFamily="49" charset="0"/>
              </a:rPr>
              <a:t>t:Type</a:t>
            </a:r>
            <a:r>
              <a:rPr lang="en-US" b="0" dirty="0">
                <a:solidFill>
                  <a:srgbClr val="A31515"/>
                </a:solidFill>
                <a:effectLst/>
                <a:latin typeface="Courier New" panose="02070309020205020404" pitchFamily="49" charset="0"/>
              </a:rPr>
              <a:t>)…</a:t>
            </a:r>
            <a:endParaRPr lang="en-US" b="0" dirty="0">
              <a:solidFill>
                <a:srgbClr val="000000"/>
              </a:solidFill>
              <a:effectLst/>
              <a:latin typeface="Courier New" panose="02070309020205020404" pitchFamily="49" charset="0"/>
            </a:endParaRPr>
          </a:p>
        </p:txBody>
      </p:sp>
      <p:sp>
        <p:nvSpPr>
          <p:cNvPr id="68" name="Oval 67">
            <a:extLst>
              <a:ext uri="{FF2B5EF4-FFF2-40B4-BE49-F238E27FC236}">
                <a16:creationId xmlns:a16="http://schemas.microsoft.com/office/drawing/2014/main" id="{3C568991-C04C-EE66-23C3-FE79C17D3056}"/>
              </a:ext>
            </a:extLst>
          </p:cNvPr>
          <p:cNvSpPr/>
          <p:nvPr/>
        </p:nvSpPr>
        <p:spPr>
          <a:xfrm>
            <a:off x="2936881" y="3732892"/>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F7197EC0-1DAF-0F6D-9061-B199CD444D82}"/>
              </a:ext>
            </a:extLst>
          </p:cNvPr>
          <p:cNvSpPr/>
          <p:nvPr/>
        </p:nvSpPr>
        <p:spPr>
          <a:xfrm>
            <a:off x="3359053" y="4069787"/>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1E12773-3E43-2807-F179-EA792ACDC634}"/>
              </a:ext>
            </a:extLst>
          </p:cNvPr>
          <p:cNvSpPr/>
          <p:nvPr/>
        </p:nvSpPr>
        <p:spPr>
          <a:xfrm>
            <a:off x="3079756" y="4485368"/>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3" name="Straight Arrow Connector 72">
            <a:extLst>
              <a:ext uri="{FF2B5EF4-FFF2-40B4-BE49-F238E27FC236}">
                <a16:creationId xmlns:a16="http://schemas.microsoft.com/office/drawing/2014/main" id="{0AACEB07-3A43-79F5-A6DA-478D13E75066}"/>
              </a:ext>
            </a:extLst>
          </p:cNvPr>
          <p:cNvCxnSpPr>
            <a:cxnSpLocks/>
            <a:stCxn id="68" idx="6"/>
            <a:endCxn id="69" idx="1"/>
          </p:cNvCxnSpPr>
          <p:nvPr/>
        </p:nvCxnSpPr>
        <p:spPr>
          <a:xfrm>
            <a:off x="3260731" y="3890055"/>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0CD7950B-0E76-D031-0FF0-0222AD4F6CF7}"/>
              </a:ext>
            </a:extLst>
          </p:cNvPr>
          <p:cNvCxnSpPr>
            <a:cxnSpLocks/>
            <a:stCxn id="69" idx="4"/>
            <a:endCxn id="70" idx="7"/>
          </p:cNvCxnSpPr>
          <p:nvPr/>
        </p:nvCxnSpPr>
        <p:spPr>
          <a:xfrm flipH="1">
            <a:off x="3356179" y="4384112"/>
            <a:ext cx="164799" cy="147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Oval 83">
            <a:extLst>
              <a:ext uri="{FF2B5EF4-FFF2-40B4-BE49-F238E27FC236}">
                <a16:creationId xmlns:a16="http://schemas.microsoft.com/office/drawing/2014/main" id="{66988836-8F61-F3A8-7FBA-766ECDA8D1CB}"/>
              </a:ext>
            </a:extLst>
          </p:cNvPr>
          <p:cNvSpPr/>
          <p:nvPr/>
        </p:nvSpPr>
        <p:spPr>
          <a:xfrm>
            <a:off x="3821983" y="3780183"/>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2C3826F-9050-DBF0-8313-590466B5D6CD}"/>
              </a:ext>
            </a:extLst>
          </p:cNvPr>
          <p:cNvSpPr/>
          <p:nvPr/>
        </p:nvSpPr>
        <p:spPr>
          <a:xfrm>
            <a:off x="4244155" y="4117078"/>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F26FFD8D-85E8-9042-052F-7976FC689561}"/>
              </a:ext>
            </a:extLst>
          </p:cNvPr>
          <p:cNvSpPr/>
          <p:nvPr/>
        </p:nvSpPr>
        <p:spPr>
          <a:xfrm>
            <a:off x="3964858" y="4532659"/>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7" name="Straight Arrow Connector 86">
            <a:extLst>
              <a:ext uri="{FF2B5EF4-FFF2-40B4-BE49-F238E27FC236}">
                <a16:creationId xmlns:a16="http://schemas.microsoft.com/office/drawing/2014/main" id="{A8772D2D-A170-4AEA-D4B3-0E701AC8A348}"/>
              </a:ext>
            </a:extLst>
          </p:cNvPr>
          <p:cNvCxnSpPr>
            <a:cxnSpLocks/>
            <a:stCxn id="85" idx="1"/>
            <a:endCxn id="84" idx="6"/>
          </p:cNvCxnSpPr>
          <p:nvPr/>
        </p:nvCxnSpPr>
        <p:spPr>
          <a:xfrm flipH="1" flipV="1">
            <a:off x="4145833" y="3937346"/>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AF385FEE-0715-D06D-26AD-ADBCA8DCB29A}"/>
              </a:ext>
            </a:extLst>
          </p:cNvPr>
          <p:cNvCxnSpPr>
            <a:cxnSpLocks/>
            <a:stCxn id="85" idx="4"/>
            <a:endCxn id="86" idx="7"/>
          </p:cNvCxnSpPr>
          <p:nvPr/>
        </p:nvCxnSpPr>
        <p:spPr>
          <a:xfrm flipH="1">
            <a:off x="4241281" y="4431403"/>
            <a:ext cx="164799" cy="147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Oval 91">
            <a:extLst>
              <a:ext uri="{FF2B5EF4-FFF2-40B4-BE49-F238E27FC236}">
                <a16:creationId xmlns:a16="http://schemas.microsoft.com/office/drawing/2014/main" id="{AB4C1D4E-CE17-7AAE-5DC9-56261223F0F9}"/>
              </a:ext>
            </a:extLst>
          </p:cNvPr>
          <p:cNvSpPr/>
          <p:nvPr/>
        </p:nvSpPr>
        <p:spPr>
          <a:xfrm>
            <a:off x="5283487" y="4398958"/>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3" name="Straight Arrow Connector 92">
            <a:extLst>
              <a:ext uri="{FF2B5EF4-FFF2-40B4-BE49-F238E27FC236}">
                <a16:creationId xmlns:a16="http://schemas.microsoft.com/office/drawing/2014/main" id="{B9FC8E77-608B-718B-3D51-914616B40890}"/>
              </a:ext>
            </a:extLst>
          </p:cNvPr>
          <p:cNvCxnSpPr>
            <a:cxnSpLocks/>
            <a:stCxn id="37" idx="3"/>
            <a:endCxn id="92" idx="7"/>
          </p:cNvCxnSpPr>
          <p:nvPr/>
        </p:nvCxnSpPr>
        <p:spPr>
          <a:xfrm flipH="1">
            <a:off x="5559910" y="4124326"/>
            <a:ext cx="257068" cy="320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DDE48B29-F43C-722F-53A9-B1BAAFA13EE6}"/>
              </a:ext>
            </a:extLst>
          </p:cNvPr>
          <p:cNvSpPr/>
          <p:nvPr/>
        </p:nvSpPr>
        <p:spPr>
          <a:xfrm>
            <a:off x="6648706" y="3828421"/>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6" name="Straight Arrow Connector 95">
            <a:extLst>
              <a:ext uri="{FF2B5EF4-FFF2-40B4-BE49-F238E27FC236}">
                <a16:creationId xmlns:a16="http://schemas.microsoft.com/office/drawing/2014/main" id="{0A6A4ADA-EBBA-C9DC-EAB8-E6A0B034B61B}"/>
              </a:ext>
            </a:extLst>
          </p:cNvPr>
          <p:cNvCxnSpPr>
            <a:cxnSpLocks/>
            <a:stCxn id="36" idx="5"/>
            <a:endCxn id="95" idx="1"/>
          </p:cNvCxnSpPr>
          <p:nvPr/>
        </p:nvCxnSpPr>
        <p:spPr>
          <a:xfrm>
            <a:off x="6325271" y="3708745"/>
            <a:ext cx="370862" cy="1657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Oval 101">
            <a:extLst>
              <a:ext uri="{FF2B5EF4-FFF2-40B4-BE49-F238E27FC236}">
                <a16:creationId xmlns:a16="http://schemas.microsoft.com/office/drawing/2014/main" id="{4746436D-186A-F506-C9D8-90AD27BA0CF3}"/>
              </a:ext>
            </a:extLst>
          </p:cNvPr>
          <p:cNvSpPr/>
          <p:nvPr/>
        </p:nvSpPr>
        <p:spPr>
          <a:xfrm>
            <a:off x="7433283" y="3428999"/>
            <a:ext cx="323850" cy="31432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3D20DF05-137A-86C8-FA58-5083805DC09D}"/>
              </a:ext>
            </a:extLst>
          </p:cNvPr>
          <p:cNvSpPr/>
          <p:nvPr/>
        </p:nvSpPr>
        <p:spPr>
          <a:xfrm>
            <a:off x="8002010" y="3214687"/>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8D2858BD-9977-6EC2-2779-D38064B993CC}"/>
              </a:ext>
            </a:extLst>
          </p:cNvPr>
          <p:cNvSpPr/>
          <p:nvPr/>
        </p:nvSpPr>
        <p:spPr>
          <a:xfrm>
            <a:off x="8424182" y="3551582"/>
            <a:ext cx="323850" cy="3143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5B19D71C-F5E0-4483-11C2-996A1EA905B0}"/>
              </a:ext>
            </a:extLst>
          </p:cNvPr>
          <p:cNvSpPr/>
          <p:nvPr/>
        </p:nvSpPr>
        <p:spPr>
          <a:xfrm>
            <a:off x="8144885" y="3967163"/>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A3AAD7A2-45EB-8970-7571-274F94855EBC}"/>
              </a:ext>
            </a:extLst>
          </p:cNvPr>
          <p:cNvSpPr/>
          <p:nvPr/>
        </p:nvSpPr>
        <p:spPr>
          <a:xfrm>
            <a:off x="8680743" y="4281488"/>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93F2D44A-3984-52C7-DD84-071179A05674}"/>
              </a:ext>
            </a:extLst>
          </p:cNvPr>
          <p:cNvSpPr/>
          <p:nvPr/>
        </p:nvSpPr>
        <p:spPr>
          <a:xfrm>
            <a:off x="9189218" y="3418156"/>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Arrow Connector 107">
            <a:extLst>
              <a:ext uri="{FF2B5EF4-FFF2-40B4-BE49-F238E27FC236}">
                <a16:creationId xmlns:a16="http://schemas.microsoft.com/office/drawing/2014/main" id="{9D00C807-CAA9-B5CA-6702-EAF01888F40D}"/>
              </a:ext>
            </a:extLst>
          </p:cNvPr>
          <p:cNvCxnSpPr>
            <a:cxnSpLocks/>
            <a:stCxn id="103" idx="6"/>
            <a:endCxn id="104" idx="1"/>
          </p:cNvCxnSpPr>
          <p:nvPr/>
        </p:nvCxnSpPr>
        <p:spPr>
          <a:xfrm>
            <a:off x="8325860" y="3371850"/>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A427A060-BE74-F1AB-13EF-FD08B380F1A0}"/>
              </a:ext>
            </a:extLst>
          </p:cNvPr>
          <p:cNvCxnSpPr>
            <a:cxnSpLocks/>
            <a:stCxn id="107" idx="3"/>
            <a:endCxn id="104" idx="6"/>
          </p:cNvCxnSpPr>
          <p:nvPr/>
        </p:nvCxnSpPr>
        <p:spPr>
          <a:xfrm flipH="1">
            <a:off x="8748032" y="3686449"/>
            <a:ext cx="488613" cy="222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53BA49EF-CB30-1D05-4944-4B7976899796}"/>
              </a:ext>
            </a:extLst>
          </p:cNvPr>
          <p:cNvCxnSpPr>
            <a:cxnSpLocks/>
            <a:stCxn id="104" idx="4"/>
            <a:endCxn id="106" idx="0"/>
          </p:cNvCxnSpPr>
          <p:nvPr/>
        </p:nvCxnSpPr>
        <p:spPr>
          <a:xfrm>
            <a:off x="8586107" y="3865907"/>
            <a:ext cx="256561" cy="4155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3B457487-9969-F28F-0F1C-A16C008496F5}"/>
              </a:ext>
            </a:extLst>
          </p:cNvPr>
          <p:cNvCxnSpPr>
            <a:cxnSpLocks/>
            <a:stCxn id="104" idx="3"/>
            <a:endCxn id="105" idx="7"/>
          </p:cNvCxnSpPr>
          <p:nvPr/>
        </p:nvCxnSpPr>
        <p:spPr>
          <a:xfrm flipH="1">
            <a:off x="8421308" y="3819875"/>
            <a:ext cx="50301" cy="193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2" name="Oval 111">
            <a:extLst>
              <a:ext uri="{FF2B5EF4-FFF2-40B4-BE49-F238E27FC236}">
                <a16:creationId xmlns:a16="http://schemas.microsoft.com/office/drawing/2014/main" id="{7A256D02-C54B-310B-801A-20C0CA00A9D5}"/>
              </a:ext>
            </a:extLst>
          </p:cNvPr>
          <p:cNvSpPr/>
          <p:nvPr/>
        </p:nvSpPr>
        <p:spPr>
          <a:xfrm>
            <a:off x="7658821" y="4510088"/>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3" name="Straight Arrow Connector 112">
            <a:extLst>
              <a:ext uri="{FF2B5EF4-FFF2-40B4-BE49-F238E27FC236}">
                <a16:creationId xmlns:a16="http://schemas.microsoft.com/office/drawing/2014/main" id="{F159CE13-11D8-6E3F-D656-03578018EBB6}"/>
              </a:ext>
            </a:extLst>
          </p:cNvPr>
          <p:cNvCxnSpPr>
            <a:cxnSpLocks/>
            <a:stCxn id="105" idx="3"/>
            <a:endCxn id="112" idx="7"/>
          </p:cNvCxnSpPr>
          <p:nvPr/>
        </p:nvCxnSpPr>
        <p:spPr>
          <a:xfrm flipH="1">
            <a:off x="7935244" y="4235456"/>
            <a:ext cx="257068" cy="320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F6F2509D-83D6-1B7C-BC5E-687FA90AE3DD}"/>
              </a:ext>
            </a:extLst>
          </p:cNvPr>
          <p:cNvSpPr/>
          <p:nvPr/>
        </p:nvSpPr>
        <p:spPr>
          <a:xfrm>
            <a:off x="9024040" y="3939551"/>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5" name="Straight Arrow Connector 114">
            <a:extLst>
              <a:ext uri="{FF2B5EF4-FFF2-40B4-BE49-F238E27FC236}">
                <a16:creationId xmlns:a16="http://schemas.microsoft.com/office/drawing/2014/main" id="{B8807B79-2F17-EE47-FAB8-5CD53D238C26}"/>
              </a:ext>
            </a:extLst>
          </p:cNvPr>
          <p:cNvCxnSpPr>
            <a:cxnSpLocks/>
            <a:stCxn id="104" idx="5"/>
            <a:endCxn id="114" idx="1"/>
          </p:cNvCxnSpPr>
          <p:nvPr/>
        </p:nvCxnSpPr>
        <p:spPr>
          <a:xfrm>
            <a:off x="8700605" y="3819875"/>
            <a:ext cx="370862" cy="1657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E63224FF-6437-F3F6-3AE1-FBB1E165E438}"/>
              </a:ext>
            </a:extLst>
          </p:cNvPr>
          <p:cNvCxnSpPr>
            <a:cxnSpLocks/>
            <a:stCxn id="112" idx="0"/>
            <a:endCxn id="102" idx="4"/>
          </p:cNvCxnSpPr>
          <p:nvPr/>
        </p:nvCxnSpPr>
        <p:spPr>
          <a:xfrm flipH="1" flipV="1">
            <a:off x="7595208" y="3743324"/>
            <a:ext cx="225538" cy="766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3C4AB566-9277-CCA9-29E5-7F338D75FD8B}"/>
              </a:ext>
            </a:extLst>
          </p:cNvPr>
          <p:cNvCxnSpPr>
            <a:cxnSpLocks/>
            <a:stCxn id="103" idx="3"/>
            <a:endCxn id="102" idx="7"/>
          </p:cNvCxnSpPr>
          <p:nvPr/>
        </p:nvCxnSpPr>
        <p:spPr>
          <a:xfrm flipH="1" flipV="1">
            <a:off x="7709706" y="3475031"/>
            <a:ext cx="339731" cy="79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1B5B87C6-8070-CBFE-8CF8-BDDE3115F77F}"/>
              </a:ext>
            </a:extLst>
          </p:cNvPr>
          <p:cNvCxnSpPr>
            <a:cxnSpLocks/>
            <a:stCxn id="105" idx="5"/>
            <a:endCxn id="106" idx="2"/>
          </p:cNvCxnSpPr>
          <p:nvPr/>
        </p:nvCxnSpPr>
        <p:spPr>
          <a:xfrm>
            <a:off x="8421308" y="4235456"/>
            <a:ext cx="259435" cy="2031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40984D17-60B3-82D8-DF96-B98C1C3B4AF0}"/>
              </a:ext>
            </a:extLst>
          </p:cNvPr>
          <p:cNvCxnSpPr>
            <a:cxnSpLocks/>
            <a:stCxn id="114" idx="0"/>
            <a:endCxn id="107" idx="5"/>
          </p:cNvCxnSpPr>
          <p:nvPr/>
        </p:nvCxnSpPr>
        <p:spPr>
          <a:xfrm flipV="1">
            <a:off x="9185965" y="3686449"/>
            <a:ext cx="279676" cy="2531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C8453656-B922-C4E2-0078-F571F94BAA0C}"/>
              </a:ext>
            </a:extLst>
          </p:cNvPr>
          <p:cNvSpPr/>
          <p:nvPr/>
        </p:nvSpPr>
        <p:spPr>
          <a:xfrm>
            <a:off x="8715987" y="3061990"/>
            <a:ext cx="323850" cy="31432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2" name="Straight Arrow Connector 141">
            <a:extLst>
              <a:ext uri="{FF2B5EF4-FFF2-40B4-BE49-F238E27FC236}">
                <a16:creationId xmlns:a16="http://schemas.microsoft.com/office/drawing/2014/main" id="{D8342336-C6BB-0C37-1434-BD605DAF2F16}"/>
              </a:ext>
            </a:extLst>
          </p:cNvPr>
          <p:cNvCxnSpPr>
            <a:cxnSpLocks/>
            <a:stCxn id="107" idx="0"/>
            <a:endCxn id="141" idx="6"/>
          </p:cNvCxnSpPr>
          <p:nvPr/>
        </p:nvCxnSpPr>
        <p:spPr>
          <a:xfrm flipH="1" flipV="1">
            <a:off x="9039837" y="3219153"/>
            <a:ext cx="311306" cy="1990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1692BCF2-8245-3C7D-56D0-E75BEF1FCAC1}"/>
              </a:ext>
            </a:extLst>
          </p:cNvPr>
          <p:cNvCxnSpPr>
            <a:cxnSpLocks/>
            <a:stCxn id="104" idx="0"/>
            <a:endCxn id="141" idx="3"/>
          </p:cNvCxnSpPr>
          <p:nvPr/>
        </p:nvCxnSpPr>
        <p:spPr>
          <a:xfrm flipV="1">
            <a:off x="8586107" y="3330283"/>
            <a:ext cx="177307" cy="22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8" name="Arrow: Right 147">
            <a:extLst>
              <a:ext uri="{FF2B5EF4-FFF2-40B4-BE49-F238E27FC236}">
                <a16:creationId xmlns:a16="http://schemas.microsoft.com/office/drawing/2014/main" id="{DF955C09-54C2-6A69-EE15-F5BACB5C76DE}"/>
              </a:ext>
            </a:extLst>
          </p:cNvPr>
          <p:cNvSpPr/>
          <p:nvPr/>
        </p:nvSpPr>
        <p:spPr>
          <a:xfrm>
            <a:off x="322621" y="4799693"/>
            <a:ext cx="11691943" cy="62036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FC08EDB2-1FC1-6984-F1C3-388B607E21D7}"/>
              </a:ext>
            </a:extLst>
          </p:cNvPr>
          <p:cNvSpPr/>
          <p:nvPr/>
        </p:nvSpPr>
        <p:spPr>
          <a:xfrm>
            <a:off x="185461" y="2745715"/>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Chunking</a:t>
            </a:r>
          </a:p>
        </p:txBody>
      </p:sp>
      <p:sp>
        <p:nvSpPr>
          <p:cNvPr id="3" name="Rectangle: Rounded Corners 2">
            <a:extLst>
              <a:ext uri="{FF2B5EF4-FFF2-40B4-BE49-F238E27FC236}">
                <a16:creationId xmlns:a16="http://schemas.microsoft.com/office/drawing/2014/main" id="{42353CE0-B7D4-9C4A-50A5-55F22765AED7}"/>
              </a:ext>
            </a:extLst>
          </p:cNvPr>
          <p:cNvSpPr/>
          <p:nvPr/>
        </p:nvSpPr>
        <p:spPr>
          <a:xfrm>
            <a:off x="2627671" y="2743512"/>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Short Term Memory</a:t>
            </a:r>
          </a:p>
        </p:txBody>
      </p:sp>
      <p:sp>
        <p:nvSpPr>
          <p:cNvPr id="4" name="Rectangle: Rounded Corners 3">
            <a:extLst>
              <a:ext uri="{FF2B5EF4-FFF2-40B4-BE49-F238E27FC236}">
                <a16:creationId xmlns:a16="http://schemas.microsoft.com/office/drawing/2014/main" id="{B225AAD4-78CE-D389-0F34-FAE48D79507C}"/>
              </a:ext>
            </a:extLst>
          </p:cNvPr>
          <p:cNvSpPr/>
          <p:nvPr/>
        </p:nvSpPr>
        <p:spPr>
          <a:xfrm>
            <a:off x="5038737" y="2740703"/>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Long Term Memory</a:t>
            </a:r>
          </a:p>
        </p:txBody>
      </p:sp>
      <p:sp>
        <p:nvSpPr>
          <p:cNvPr id="5" name="Rectangle: Rounded Corners 4">
            <a:extLst>
              <a:ext uri="{FF2B5EF4-FFF2-40B4-BE49-F238E27FC236}">
                <a16:creationId xmlns:a16="http://schemas.microsoft.com/office/drawing/2014/main" id="{985337D4-99CF-2F31-B61F-7DBF3C0FC519}"/>
              </a:ext>
            </a:extLst>
          </p:cNvPr>
          <p:cNvSpPr/>
          <p:nvPr/>
        </p:nvSpPr>
        <p:spPr>
          <a:xfrm>
            <a:off x="7468151" y="2727046"/>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Refinement</a:t>
            </a:r>
          </a:p>
        </p:txBody>
      </p:sp>
      <p:sp>
        <p:nvSpPr>
          <p:cNvPr id="30" name="Rectangle: Rounded Corners 29">
            <a:extLst>
              <a:ext uri="{FF2B5EF4-FFF2-40B4-BE49-F238E27FC236}">
                <a16:creationId xmlns:a16="http://schemas.microsoft.com/office/drawing/2014/main" id="{63210821-4312-9EE7-41F3-75965DB004CD}"/>
              </a:ext>
            </a:extLst>
          </p:cNvPr>
          <p:cNvSpPr/>
          <p:nvPr/>
        </p:nvSpPr>
        <p:spPr>
          <a:xfrm>
            <a:off x="9899884" y="2722559"/>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Validation</a:t>
            </a:r>
          </a:p>
        </p:txBody>
      </p:sp>
      <p:sp>
        <p:nvSpPr>
          <p:cNvPr id="31" name="Arrow: Right 30">
            <a:extLst>
              <a:ext uri="{FF2B5EF4-FFF2-40B4-BE49-F238E27FC236}">
                <a16:creationId xmlns:a16="http://schemas.microsoft.com/office/drawing/2014/main" id="{7834299B-F152-1010-7100-B763BB4E311B}"/>
              </a:ext>
            </a:extLst>
          </p:cNvPr>
          <p:cNvSpPr/>
          <p:nvPr/>
        </p:nvSpPr>
        <p:spPr>
          <a:xfrm>
            <a:off x="1014984" y="3860779"/>
            <a:ext cx="337799" cy="3344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888D5F0C-3E1C-7CAD-0862-10FB6F5F9264}"/>
              </a:ext>
            </a:extLst>
          </p:cNvPr>
          <p:cNvGrpSpPr/>
          <p:nvPr/>
        </p:nvGrpSpPr>
        <p:grpSpPr>
          <a:xfrm>
            <a:off x="1487578" y="3590534"/>
            <a:ext cx="687110" cy="851946"/>
            <a:chOff x="1409754" y="3532166"/>
            <a:chExt cx="687110" cy="851946"/>
          </a:xfrm>
        </p:grpSpPr>
        <p:sp>
          <p:nvSpPr>
            <p:cNvPr id="17" name="Flowchart: Document 16">
              <a:extLst>
                <a:ext uri="{FF2B5EF4-FFF2-40B4-BE49-F238E27FC236}">
                  <a16:creationId xmlns:a16="http://schemas.microsoft.com/office/drawing/2014/main" id="{32696EC2-1B9D-0DE0-6933-4C4C258D3A1F}"/>
                </a:ext>
              </a:extLst>
            </p:cNvPr>
            <p:cNvSpPr/>
            <p:nvPr/>
          </p:nvSpPr>
          <p:spPr>
            <a:xfrm>
              <a:off x="1544414" y="3532166"/>
              <a:ext cx="552450" cy="657225"/>
            </a:xfrm>
            <a:prstGeom prst="flowChartDocumen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lowchart: Document 17">
              <a:extLst>
                <a:ext uri="{FF2B5EF4-FFF2-40B4-BE49-F238E27FC236}">
                  <a16:creationId xmlns:a16="http://schemas.microsoft.com/office/drawing/2014/main" id="{67F2EE9D-8CA6-4B1B-F606-FDA5D6CECB58}"/>
                </a:ext>
              </a:extLst>
            </p:cNvPr>
            <p:cNvSpPr/>
            <p:nvPr/>
          </p:nvSpPr>
          <p:spPr>
            <a:xfrm>
              <a:off x="1478805" y="3631303"/>
              <a:ext cx="552450" cy="657225"/>
            </a:xfrm>
            <a:prstGeom prst="flowChartDocumen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lowchart: Document 19">
              <a:extLst>
                <a:ext uri="{FF2B5EF4-FFF2-40B4-BE49-F238E27FC236}">
                  <a16:creationId xmlns:a16="http://schemas.microsoft.com/office/drawing/2014/main" id="{0254DD5E-23D2-6B65-0E25-C2A05B65DEA6}"/>
                </a:ext>
              </a:extLst>
            </p:cNvPr>
            <p:cNvSpPr/>
            <p:nvPr/>
          </p:nvSpPr>
          <p:spPr>
            <a:xfrm>
              <a:off x="1409754" y="3726887"/>
              <a:ext cx="552450" cy="657225"/>
            </a:xfrm>
            <a:prstGeom prst="flowChartDocument">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148780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E26BCE6C-1731-4765-F9A5-3B091FAC1AB9}"/>
              </a:ext>
            </a:extLst>
          </p:cNvPr>
          <p:cNvSpPr txBox="1">
            <a:spLocks/>
          </p:cNvSpPr>
          <p:nvPr/>
        </p:nvSpPr>
        <p:spPr>
          <a:xfrm>
            <a:off x="322621" y="440161"/>
            <a:ext cx="10483326" cy="97507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dirty="0"/>
              <a:t>Chunking</a:t>
            </a:r>
          </a:p>
        </p:txBody>
      </p:sp>
      <p:sp>
        <p:nvSpPr>
          <p:cNvPr id="4" name="TextBox 3">
            <a:extLst>
              <a:ext uri="{FF2B5EF4-FFF2-40B4-BE49-F238E27FC236}">
                <a16:creationId xmlns:a16="http://schemas.microsoft.com/office/drawing/2014/main" id="{0359C5AC-A0F7-D681-3992-19341BFA0C68}"/>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pic>
        <p:nvPicPr>
          <p:cNvPr id="6" name="Picture 5" descr="Text, letter&#10;&#10;AI-generated content may be incorrect.">
            <a:extLst>
              <a:ext uri="{FF2B5EF4-FFF2-40B4-BE49-F238E27FC236}">
                <a16:creationId xmlns:a16="http://schemas.microsoft.com/office/drawing/2014/main" id="{C001F877-020A-E772-B307-6A81D9B38662}"/>
              </a:ext>
            </a:extLst>
          </p:cNvPr>
          <p:cNvPicPr>
            <a:picLocks noChangeAspect="1"/>
          </p:cNvPicPr>
          <p:nvPr/>
        </p:nvPicPr>
        <p:blipFill>
          <a:blip r:embed="rId2"/>
          <a:stretch>
            <a:fillRect/>
          </a:stretch>
        </p:blipFill>
        <p:spPr>
          <a:xfrm>
            <a:off x="972767" y="1161586"/>
            <a:ext cx="3397664" cy="3818975"/>
          </a:xfrm>
          <a:prstGeom prst="rect">
            <a:avLst/>
          </a:prstGeom>
        </p:spPr>
      </p:pic>
      <p:sp>
        <p:nvSpPr>
          <p:cNvPr id="7" name="TextBox 6">
            <a:extLst>
              <a:ext uri="{FF2B5EF4-FFF2-40B4-BE49-F238E27FC236}">
                <a16:creationId xmlns:a16="http://schemas.microsoft.com/office/drawing/2014/main" id="{601475CF-0460-3B38-2823-BF4DD20D2DB9}"/>
              </a:ext>
            </a:extLst>
          </p:cNvPr>
          <p:cNvSpPr txBox="1"/>
          <p:nvPr/>
        </p:nvSpPr>
        <p:spPr>
          <a:xfrm>
            <a:off x="6877781" y="830455"/>
            <a:ext cx="3017520" cy="1384995"/>
          </a:xfrm>
          <a:prstGeom prst="rect">
            <a:avLst/>
          </a:prstGeom>
          <a:noFill/>
        </p:spPr>
        <p:txBody>
          <a:bodyPr wrap="square" rtlCol="0">
            <a:spAutoFit/>
          </a:bodyPr>
          <a:lstStyle/>
          <a:p>
            <a:r>
              <a:rPr lang="en-US" b="1" dirty="0"/>
              <a:t>Chunking Strategies Considered</a:t>
            </a:r>
          </a:p>
          <a:p>
            <a:pPr marL="285750" indent="-285750">
              <a:buFont typeface="Arial" panose="020B0604020202020204" pitchFamily="34" charset="0"/>
              <a:buChar char="•"/>
            </a:pPr>
            <a:r>
              <a:rPr lang="en-US" dirty="0"/>
              <a:t>Fixed Number of Characters</a:t>
            </a:r>
          </a:p>
          <a:p>
            <a:pPr marL="285750" indent="-285750">
              <a:buFont typeface="Arial" panose="020B0604020202020204" pitchFamily="34" charset="0"/>
              <a:buChar char="•"/>
            </a:pPr>
            <a:r>
              <a:rPr lang="en-US" dirty="0"/>
              <a:t>Fixed Number of Sentences</a:t>
            </a:r>
          </a:p>
          <a:p>
            <a:pPr marL="285750" indent="-285750">
              <a:buFont typeface="Arial" panose="020B0604020202020204" pitchFamily="34" charset="0"/>
              <a:buChar char="•"/>
            </a:pPr>
            <a:r>
              <a:rPr lang="en-US" dirty="0"/>
              <a:t>Fixed Number of Paragraphs</a:t>
            </a:r>
          </a:p>
          <a:p>
            <a:pPr marL="285750" indent="-285750">
              <a:buFont typeface="Arial" panose="020B0604020202020204" pitchFamily="34" charset="0"/>
              <a:buChar char="•"/>
            </a:pPr>
            <a:r>
              <a:rPr lang="en-US" dirty="0"/>
              <a:t>Meaningful Groups</a:t>
            </a:r>
          </a:p>
        </p:txBody>
      </p:sp>
      <p:sp>
        <p:nvSpPr>
          <p:cNvPr id="8" name="TextBox 7">
            <a:extLst>
              <a:ext uri="{FF2B5EF4-FFF2-40B4-BE49-F238E27FC236}">
                <a16:creationId xmlns:a16="http://schemas.microsoft.com/office/drawing/2014/main" id="{D54220D2-4965-7FE6-C45E-07BF5B34070B}"/>
              </a:ext>
            </a:extLst>
          </p:cNvPr>
          <p:cNvSpPr txBox="1"/>
          <p:nvPr/>
        </p:nvSpPr>
        <p:spPr>
          <a:xfrm>
            <a:off x="4605046" y="2390300"/>
            <a:ext cx="3017520" cy="1169551"/>
          </a:xfrm>
          <a:prstGeom prst="rect">
            <a:avLst/>
          </a:prstGeom>
          <a:noFill/>
        </p:spPr>
        <p:txBody>
          <a:bodyPr wrap="square" rtlCol="0">
            <a:noAutofit/>
          </a:bodyPr>
          <a:lstStyle/>
          <a:p>
            <a:r>
              <a:rPr lang="en-US" b="1" dirty="0"/>
              <a:t>Fixed Number of Characters</a:t>
            </a:r>
          </a:p>
          <a:p>
            <a:pPr marL="285750" indent="-285750">
              <a:buFont typeface="Arial" panose="020B0604020202020204" pitchFamily="34" charset="0"/>
              <a:buChar char="•"/>
            </a:pPr>
            <a:r>
              <a:rPr lang="en-US" dirty="0"/>
              <a:t>No context</a:t>
            </a:r>
          </a:p>
          <a:p>
            <a:pPr marL="285750" indent="-285750">
              <a:buFont typeface="Arial" panose="020B0604020202020204" pitchFamily="34" charset="0"/>
              <a:buChar char="•"/>
            </a:pPr>
            <a:r>
              <a:rPr lang="en-US" dirty="0"/>
              <a:t>Breaks could be meaningless</a:t>
            </a:r>
          </a:p>
          <a:p>
            <a:pPr marL="285750" indent="-285750">
              <a:buFont typeface="Arial" panose="020B0604020202020204" pitchFamily="34" charset="0"/>
              <a:buChar char="•"/>
            </a:pPr>
            <a:r>
              <a:rPr lang="en-US" dirty="0"/>
              <a:t>Easy</a:t>
            </a:r>
          </a:p>
          <a:p>
            <a:pPr marL="285750" indent="-285750">
              <a:buFont typeface="Arial" panose="020B0604020202020204" pitchFamily="34" charset="0"/>
              <a:buChar char="•"/>
            </a:pPr>
            <a:r>
              <a:rPr lang="en-US" dirty="0"/>
              <a:t>Size can match the context window</a:t>
            </a:r>
          </a:p>
        </p:txBody>
      </p:sp>
      <p:sp>
        <p:nvSpPr>
          <p:cNvPr id="9" name="TextBox 8">
            <a:extLst>
              <a:ext uri="{FF2B5EF4-FFF2-40B4-BE49-F238E27FC236}">
                <a16:creationId xmlns:a16="http://schemas.microsoft.com/office/drawing/2014/main" id="{9DA83BC8-D932-424F-1CF0-03A040580F12}"/>
              </a:ext>
            </a:extLst>
          </p:cNvPr>
          <p:cNvSpPr txBox="1"/>
          <p:nvPr/>
        </p:nvSpPr>
        <p:spPr>
          <a:xfrm>
            <a:off x="8356711" y="2241984"/>
            <a:ext cx="3017520" cy="1600438"/>
          </a:xfrm>
          <a:prstGeom prst="rect">
            <a:avLst/>
          </a:prstGeom>
          <a:noFill/>
        </p:spPr>
        <p:txBody>
          <a:bodyPr wrap="square" rtlCol="0">
            <a:spAutoFit/>
          </a:bodyPr>
          <a:lstStyle/>
          <a:p>
            <a:r>
              <a:rPr lang="en-US" b="1" dirty="0"/>
              <a:t>Fixed Number of Sentences</a:t>
            </a:r>
          </a:p>
          <a:p>
            <a:pPr marL="285750" indent="-285750">
              <a:buFont typeface="Arial" panose="020B0604020202020204" pitchFamily="34" charset="0"/>
              <a:buChar char="•"/>
            </a:pPr>
            <a:r>
              <a:rPr lang="en-US" dirty="0"/>
              <a:t>Can lose context</a:t>
            </a:r>
          </a:p>
          <a:p>
            <a:pPr marL="285750" indent="-285750">
              <a:buFont typeface="Arial" panose="020B0604020202020204" pitchFamily="34" charset="0"/>
              <a:buChar char="•"/>
            </a:pPr>
            <a:r>
              <a:rPr lang="en-US" dirty="0"/>
              <a:t>Breaks could be meaningless</a:t>
            </a:r>
          </a:p>
          <a:p>
            <a:pPr marL="285750" indent="-285750">
              <a:buFont typeface="Arial" panose="020B0604020202020204" pitchFamily="34" charset="0"/>
              <a:buChar char="•"/>
            </a:pPr>
            <a:r>
              <a:rPr lang="en-US" dirty="0"/>
              <a:t>Small units</a:t>
            </a:r>
          </a:p>
          <a:p>
            <a:pPr marL="285750" indent="-285750">
              <a:buFont typeface="Arial" panose="020B0604020202020204" pitchFamily="34" charset="0"/>
              <a:buChar char="•"/>
            </a:pPr>
            <a:r>
              <a:rPr lang="en-US" dirty="0"/>
              <a:t>Easy</a:t>
            </a:r>
          </a:p>
          <a:p>
            <a:pPr marL="285750" indent="-285750">
              <a:buFont typeface="Arial" panose="020B0604020202020204" pitchFamily="34" charset="0"/>
              <a:buChar char="•"/>
            </a:pPr>
            <a:r>
              <a:rPr lang="en-US" dirty="0"/>
              <a:t>Size needs to be adjusted to fit in Context window</a:t>
            </a:r>
          </a:p>
        </p:txBody>
      </p:sp>
      <p:sp>
        <p:nvSpPr>
          <p:cNvPr id="10" name="TextBox 9">
            <a:extLst>
              <a:ext uri="{FF2B5EF4-FFF2-40B4-BE49-F238E27FC236}">
                <a16:creationId xmlns:a16="http://schemas.microsoft.com/office/drawing/2014/main" id="{2816C085-0874-BF33-88C4-4806B71E1AF6}"/>
              </a:ext>
            </a:extLst>
          </p:cNvPr>
          <p:cNvSpPr txBox="1"/>
          <p:nvPr/>
        </p:nvSpPr>
        <p:spPr>
          <a:xfrm>
            <a:off x="4605046" y="3842422"/>
            <a:ext cx="3017520" cy="1384995"/>
          </a:xfrm>
          <a:prstGeom prst="rect">
            <a:avLst/>
          </a:prstGeom>
          <a:noFill/>
        </p:spPr>
        <p:txBody>
          <a:bodyPr wrap="square" rtlCol="0">
            <a:spAutoFit/>
          </a:bodyPr>
          <a:lstStyle/>
          <a:p>
            <a:r>
              <a:rPr lang="en-US" b="1" dirty="0"/>
              <a:t>Fixed Number of Paragraphs</a:t>
            </a:r>
          </a:p>
          <a:p>
            <a:pPr marL="285750" indent="-285750">
              <a:buFont typeface="Arial" panose="020B0604020202020204" pitchFamily="34" charset="0"/>
              <a:buChar char="•"/>
            </a:pPr>
            <a:r>
              <a:rPr lang="en-US" dirty="0"/>
              <a:t>Good Context Boundaries</a:t>
            </a:r>
          </a:p>
          <a:p>
            <a:pPr marL="285750" indent="-285750">
              <a:buFont typeface="Arial" panose="020B0604020202020204" pitchFamily="34" charset="0"/>
              <a:buChar char="•"/>
            </a:pPr>
            <a:r>
              <a:rPr lang="en-US" dirty="0"/>
              <a:t>Larger Units</a:t>
            </a:r>
          </a:p>
          <a:p>
            <a:pPr marL="285750" indent="-285750">
              <a:buFont typeface="Arial" panose="020B0604020202020204" pitchFamily="34" charset="0"/>
              <a:buChar char="•"/>
            </a:pPr>
            <a:r>
              <a:rPr lang="en-US" dirty="0"/>
              <a:t>Easy</a:t>
            </a:r>
          </a:p>
          <a:p>
            <a:pPr marL="285750" indent="-285750">
              <a:buFont typeface="Arial" panose="020B0604020202020204" pitchFamily="34" charset="0"/>
              <a:buChar char="•"/>
            </a:pPr>
            <a:r>
              <a:rPr lang="en-US" dirty="0"/>
              <a:t>Size needs to be adjusted to fit in Context windows</a:t>
            </a:r>
          </a:p>
        </p:txBody>
      </p:sp>
      <p:sp>
        <p:nvSpPr>
          <p:cNvPr id="11" name="TextBox 10">
            <a:extLst>
              <a:ext uri="{FF2B5EF4-FFF2-40B4-BE49-F238E27FC236}">
                <a16:creationId xmlns:a16="http://schemas.microsoft.com/office/drawing/2014/main" id="{AE976841-1DF4-4086-816C-018D9E804FDE}"/>
              </a:ext>
            </a:extLst>
          </p:cNvPr>
          <p:cNvSpPr txBox="1"/>
          <p:nvPr/>
        </p:nvSpPr>
        <p:spPr>
          <a:xfrm>
            <a:off x="8201713" y="3868956"/>
            <a:ext cx="3017520" cy="1384995"/>
          </a:xfrm>
          <a:prstGeom prst="rect">
            <a:avLst/>
          </a:prstGeom>
          <a:noFill/>
        </p:spPr>
        <p:txBody>
          <a:bodyPr wrap="square" rtlCol="0">
            <a:spAutoFit/>
          </a:bodyPr>
          <a:lstStyle/>
          <a:p>
            <a:r>
              <a:rPr lang="en-US" b="1" dirty="0"/>
              <a:t>Meaningful Groups</a:t>
            </a:r>
          </a:p>
          <a:p>
            <a:pPr marL="285750" indent="-285750">
              <a:buFont typeface="Arial" panose="020B0604020202020204" pitchFamily="34" charset="0"/>
              <a:buChar char="•"/>
            </a:pPr>
            <a:r>
              <a:rPr lang="en-US" dirty="0"/>
              <a:t>Only Context Boundaries</a:t>
            </a:r>
          </a:p>
          <a:p>
            <a:pPr marL="285750" indent="-285750">
              <a:buFont typeface="Arial" panose="020B0604020202020204" pitchFamily="34" charset="0"/>
              <a:buChar char="•"/>
            </a:pPr>
            <a:r>
              <a:rPr lang="en-US" dirty="0"/>
              <a:t>Requires Manual Effort or LLM</a:t>
            </a:r>
          </a:p>
          <a:p>
            <a:pPr marL="285750" indent="-285750">
              <a:buFont typeface="Arial" panose="020B0604020202020204" pitchFamily="34" charset="0"/>
              <a:buChar char="•"/>
            </a:pPr>
            <a:r>
              <a:rPr lang="en-US" dirty="0"/>
              <a:t>Size needs to be adjusted to fit in Context windows </a:t>
            </a:r>
            <a:r>
              <a:rPr lang="en-US" dirty="0">
                <a:sym typeface="Wingdings" panose="05000000000000000000" pitchFamily="2" charset="2"/>
              </a:rPr>
              <a:t> may require </a:t>
            </a:r>
            <a:r>
              <a:rPr lang="en-US" dirty="0" err="1">
                <a:sym typeface="Wingdings" panose="05000000000000000000" pitchFamily="2" charset="2"/>
              </a:rPr>
              <a:t>spliting</a:t>
            </a:r>
            <a:endParaRPr lang="en-US" dirty="0"/>
          </a:p>
        </p:txBody>
      </p:sp>
    </p:spTree>
    <p:extLst>
      <p:ext uri="{BB962C8B-B14F-4D97-AF65-F5344CB8AC3E}">
        <p14:creationId xmlns:p14="http://schemas.microsoft.com/office/powerpoint/2010/main" val="27327338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1682F-F3B8-80FE-BCB7-99837A76F1D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1CE225-4090-FE94-EAE6-FB6331F1DBE5}"/>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
        <p:nvSpPr>
          <p:cNvPr id="21" name="Text Placeholder 20">
            <a:extLst>
              <a:ext uri="{FF2B5EF4-FFF2-40B4-BE49-F238E27FC236}">
                <a16:creationId xmlns:a16="http://schemas.microsoft.com/office/drawing/2014/main" id="{BD72E74C-C164-B984-A8C8-AC5822956CF2}"/>
              </a:ext>
            </a:extLst>
          </p:cNvPr>
          <p:cNvSpPr>
            <a:spLocks noGrp="1"/>
          </p:cNvSpPr>
          <p:nvPr>
            <p:ph type="body" idx="1"/>
          </p:nvPr>
        </p:nvSpPr>
        <p:spPr>
          <a:xfrm>
            <a:off x="854337" y="3066223"/>
            <a:ext cx="5181599" cy="725551"/>
          </a:xfrm>
        </p:spPr>
        <p:txBody>
          <a:bodyPr/>
          <a:lstStyle/>
          <a:p>
            <a:pPr marL="101600" indent="0">
              <a:buNone/>
            </a:pPr>
            <a:r>
              <a:rPr lang="en-US" dirty="0"/>
              <a:t>Octreotide is a Somatostatin Analog.</a:t>
            </a:r>
          </a:p>
        </p:txBody>
      </p:sp>
      <p:sp>
        <p:nvSpPr>
          <p:cNvPr id="4" name="Title 3">
            <a:extLst>
              <a:ext uri="{FF2B5EF4-FFF2-40B4-BE49-F238E27FC236}">
                <a16:creationId xmlns:a16="http://schemas.microsoft.com/office/drawing/2014/main" id="{8A836A1D-3CAB-FE1C-3804-AFADA0C60E75}"/>
              </a:ext>
            </a:extLst>
          </p:cNvPr>
          <p:cNvSpPr>
            <a:spLocks noGrp="1"/>
          </p:cNvSpPr>
          <p:nvPr>
            <p:ph type="title"/>
          </p:nvPr>
        </p:nvSpPr>
        <p:spPr/>
        <p:txBody>
          <a:bodyPr/>
          <a:lstStyle/>
          <a:p>
            <a:pPr algn="l"/>
            <a:r>
              <a:rPr lang="en-US" b="0" dirty="0"/>
              <a:t>Knowledge</a:t>
            </a:r>
            <a:r>
              <a:rPr lang="en-US" dirty="0"/>
              <a:t> Graph Example</a:t>
            </a:r>
          </a:p>
        </p:txBody>
      </p:sp>
      <p:sp>
        <p:nvSpPr>
          <p:cNvPr id="29" name="Oval 28">
            <a:extLst>
              <a:ext uri="{FF2B5EF4-FFF2-40B4-BE49-F238E27FC236}">
                <a16:creationId xmlns:a16="http://schemas.microsoft.com/office/drawing/2014/main" id="{B63B3469-8798-4E22-EE2D-FBAFB23BEDF8}"/>
              </a:ext>
            </a:extLst>
          </p:cNvPr>
          <p:cNvSpPr/>
          <p:nvPr/>
        </p:nvSpPr>
        <p:spPr>
          <a:xfrm>
            <a:off x="8439912" y="4229121"/>
            <a:ext cx="234751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Octreotide</a:t>
            </a:r>
            <a:br>
              <a:rPr lang="en-US" dirty="0"/>
            </a:br>
            <a:r>
              <a:rPr lang="en-US" dirty="0"/>
              <a:t>type: Drug</a:t>
            </a:r>
          </a:p>
          <a:p>
            <a:pPr algn="ctr"/>
            <a:r>
              <a:rPr lang="en-US" dirty="0"/>
              <a:t>Source: page 727</a:t>
            </a:r>
          </a:p>
        </p:txBody>
      </p:sp>
      <p:sp>
        <p:nvSpPr>
          <p:cNvPr id="30" name="Oval 29">
            <a:extLst>
              <a:ext uri="{FF2B5EF4-FFF2-40B4-BE49-F238E27FC236}">
                <a16:creationId xmlns:a16="http://schemas.microsoft.com/office/drawing/2014/main" id="{C7DB554D-B2CA-2E1B-1D74-0709E90A932A}"/>
              </a:ext>
            </a:extLst>
          </p:cNvPr>
          <p:cNvSpPr/>
          <p:nvPr/>
        </p:nvSpPr>
        <p:spPr>
          <a:xfrm>
            <a:off x="8439912" y="1568175"/>
            <a:ext cx="234751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Somatostatin Analog</a:t>
            </a:r>
          </a:p>
        </p:txBody>
      </p:sp>
      <p:sp>
        <p:nvSpPr>
          <p:cNvPr id="32" name="Arrow: Down 31">
            <a:extLst>
              <a:ext uri="{FF2B5EF4-FFF2-40B4-BE49-F238E27FC236}">
                <a16:creationId xmlns:a16="http://schemas.microsoft.com/office/drawing/2014/main" id="{A96DA5F0-D60E-C91B-2E3D-77349FF82B60}"/>
              </a:ext>
            </a:extLst>
          </p:cNvPr>
          <p:cNvSpPr/>
          <p:nvPr/>
        </p:nvSpPr>
        <p:spPr>
          <a:xfrm rot="10800000">
            <a:off x="9083315" y="2720340"/>
            <a:ext cx="1060704" cy="141732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dirty="0"/>
              <a:t>IS_A</a:t>
            </a:r>
          </a:p>
        </p:txBody>
      </p:sp>
      <p:sp>
        <p:nvSpPr>
          <p:cNvPr id="33" name="Arrow: Right 32">
            <a:extLst>
              <a:ext uri="{FF2B5EF4-FFF2-40B4-BE49-F238E27FC236}">
                <a16:creationId xmlns:a16="http://schemas.microsoft.com/office/drawing/2014/main" id="{2EEE6B4E-1250-37A4-37FB-57D5CC83C9F4}"/>
              </a:ext>
            </a:extLst>
          </p:cNvPr>
          <p:cNvSpPr/>
          <p:nvPr/>
        </p:nvSpPr>
        <p:spPr>
          <a:xfrm>
            <a:off x="6096000" y="2999232"/>
            <a:ext cx="1764792" cy="79254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AE72088E-CB58-95E1-FBC5-69D2548E205D}"/>
              </a:ext>
            </a:extLst>
          </p:cNvPr>
          <p:cNvSpPr txBox="1"/>
          <p:nvPr/>
        </p:nvSpPr>
        <p:spPr>
          <a:xfrm>
            <a:off x="658368" y="4465222"/>
            <a:ext cx="4672584" cy="738664"/>
          </a:xfrm>
          <a:prstGeom prst="rect">
            <a:avLst/>
          </a:prstGeom>
          <a:noFill/>
        </p:spPr>
        <p:txBody>
          <a:bodyPr wrap="square" rtlCol="0">
            <a:spAutoFit/>
          </a:bodyPr>
          <a:lstStyle/>
          <a:p>
            <a:r>
              <a:rPr lang="en-US" dirty="0"/>
              <a:t>The reality is far more complex. The text may never state that Octreotide is a drug or that it is a Somatostatin Analog. This is most likely derived from context.</a:t>
            </a:r>
          </a:p>
        </p:txBody>
      </p:sp>
      <p:sp>
        <p:nvSpPr>
          <p:cNvPr id="2" name="TextBox 1">
            <a:extLst>
              <a:ext uri="{FF2B5EF4-FFF2-40B4-BE49-F238E27FC236}">
                <a16:creationId xmlns:a16="http://schemas.microsoft.com/office/drawing/2014/main" id="{1B17EF44-68CC-C22A-F35B-9C484B672078}"/>
              </a:ext>
            </a:extLst>
          </p:cNvPr>
          <p:cNvSpPr txBox="1"/>
          <p:nvPr/>
        </p:nvSpPr>
        <p:spPr>
          <a:xfrm>
            <a:off x="10953750" y="2057400"/>
            <a:ext cx="612668" cy="307777"/>
          </a:xfrm>
          <a:prstGeom prst="rect">
            <a:avLst/>
          </a:prstGeom>
          <a:noFill/>
        </p:spPr>
        <p:txBody>
          <a:bodyPr wrap="none" rtlCol="0">
            <a:spAutoFit/>
          </a:bodyPr>
          <a:lstStyle/>
          <a:p>
            <a:r>
              <a:rPr lang="en-US" dirty="0"/>
              <a:t>Node</a:t>
            </a:r>
          </a:p>
        </p:txBody>
      </p:sp>
      <p:sp>
        <p:nvSpPr>
          <p:cNvPr id="5" name="TextBox 4">
            <a:extLst>
              <a:ext uri="{FF2B5EF4-FFF2-40B4-BE49-F238E27FC236}">
                <a16:creationId xmlns:a16="http://schemas.microsoft.com/office/drawing/2014/main" id="{D21221E1-7DAA-6244-285C-0F1EEE0C24A7}"/>
              </a:ext>
            </a:extLst>
          </p:cNvPr>
          <p:cNvSpPr txBox="1"/>
          <p:nvPr/>
        </p:nvSpPr>
        <p:spPr>
          <a:xfrm>
            <a:off x="10953750" y="4605584"/>
            <a:ext cx="914400" cy="738664"/>
          </a:xfrm>
          <a:prstGeom prst="rect">
            <a:avLst/>
          </a:prstGeom>
          <a:noFill/>
        </p:spPr>
        <p:txBody>
          <a:bodyPr wrap="square" rtlCol="0">
            <a:spAutoFit/>
          </a:bodyPr>
          <a:lstStyle/>
          <a:p>
            <a:r>
              <a:rPr lang="en-US" dirty="0"/>
              <a:t>Node with attributes</a:t>
            </a:r>
          </a:p>
        </p:txBody>
      </p:sp>
      <p:sp>
        <p:nvSpPr>
          <p:cNvPr id="6" name="TextBox 5">
            <a:extLst>
              <a:ext uri="{FF2B5EF4-FFF2-40B4-BE49-F238E27FC236}">
                <a16:creationId xmlns:a16="http://schemas.microsoft.com/office/drawing/2014/main" id="{DB67E6BE-1DB3-ABED-C1DF-4CDC4806773F}"/>
              </a:ext>
            </a:extLst>
          </p:cNvPr>
          <p:cNvSpPr txBox="1"/>
          <p:nvPr/>
        </p:nvSpPr>
        <p:spPr>
          <a:xfrm>
            <a:off x="10956664" y="3331492"/>
            <a:ext cx="1168662" cy="523220"/>
          </a:xfrm>
          <a:prstGeom prst="rect">
            <a:avLst/>
          </a:prstGeom>
          <a:noFill/>
        </p:spPr>
        <p:txBody>
          <a:bodyPr wrap="square" rtlCol="0">
            <a:spAutoFit/>
          </a:bodyPr>
          <a:lstStyle/>
          <a:p>
            <a:r>
              <a:rPr lang="en-US" dirty="0"/>
              <a:t>Relationship - Directed</a:t>
            </a:r>
          </a:p>
        </p:txBody>
      </p:sp>
    </p:spTree>
    <p:extLst>
      <p:ext uri="{BB962C8B-B14F-4D97-AF65-F5344CB8AC3E}">
        <p14:creationId xmlns:p14="http://schemas.microsoft.com/office/powerpoint/2010/main" val="6350551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065AED43-C7AF-C15A-408A-5C2343644768}"/>
              </a:ext>
            </a:extLst>
          </p:cNvPr>
          <p:cNvSpPr txBox="1">
            <a:spLocks/>
          </p:cNvSpPr>
          <p:nvPr/>
        </p:nvSpPr>
        <p:spPr>
          <a:xfrm>
            <a:off x="854337" y="715617"/>
            <a:ext cx="10483326" cy="97507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dirty="0"/>
              <a:t>Memory</a:t>
            </a:r>
          </a:p>
        </p:txBody>
      </p:sp>
      <p:sp>
        <p:nvSpPr>
          <p:cNvPr id="6" name="TextBox 5">
            <a:extLst>
              <a:ext uri="{FF2B5EF4-FFF2-40B4-BE49-F238E27FC236}">
                <a16:creationId xmlns:a16="http://schemas.microsoft.com/office/drawing/2014/main" id="{CE442667-9520-A15E-41A7-058052F5445D}"/>
              </a:ext>
            </a:extLst>
          </p:cNvPr>
          <p:cNvSpPr txBox="1"/>
          <p:nvPr/>
        </p:nvSpPr>
        <p:spPr>
          <a:xfrm>
            <a:off x="747251" y="2259447"/>
            <a:ext cx="3657600" cy="1828800"/>
          </a:xfrm>
          <a:prstGeom prst="rect">
            <a:avLst/>
          </a:prstGeom>
          <a:solidFill>
            <a:schemeClr val="accent1"/>
          </a:solidFill>
        </p:spPr>
        <p:txBody>
          <a:bodyPr wrap="square" rtlCol="0">
            <a:noAutofit/>
          </a:bodyPr>
          <a:lstStyle/>
          <a:p>
            <a:r>
              <a:rPr lang="en-US" b="1" dirty="0">
                <a:solidFill>
                  <a:schemeClr val="bg1"/>
                </a:solidFill>
              </a:rPr>
              <a:t>Short Term Memory</a:t>
            </a:r>
          </a:p>
          <a:p>
            <a:pPr marL="285750" indent="-285750">
              <a:buFont typeface="Arial" panose="020B0604020202020204" pitchFamily="34" charset="0"/>
              <a:buChar char="•"/>
            </a:pPr>
            <a:r>
              <a:rPr lang="en-US" dirty="0">
                <a:solidFill>
                  <a:schemeClr val="bg1"/>
                </a:solidFill>
              </a:rPr>
              <a:t>Quick load</a:t>
            </a:r>
          </a:p>
          <a:p>
            <a:pPr marL="285750" indent="-285750">
              <a:buFont typeface="Arial" panose="020B0604020202020204" pitchFamily="34" charset="0"/>
              <a:buChar char="•"/>
            </a:pPr>
            <a:r>
              <a:rPr lang="en-US" dirty="0">
                <a:solidFill>
                  <a:schemeClr val="bg1"/>
                </a:solidFill>
              </a:rPr>
              <a:t>No consolidation</a:t>
            </a:r>
          </a:p>
          <a:p>
            <a:pPr marL="285750" indent="-285750">
              <a:buFont typeface="Arial" panose="020B0604020202020204" pitchFamily="34" charset="0"/>
              <a:buChar char="•"/>
            </a:pPr>
            <a:r>
              <a:rPr lang="en-US" dirty="0">
                <a:solidFill>
                  <a:schemeClr val="bg1"/>
                </a:solidFill>
              </a:rPr>
              <a:t>Holding place</a:t>
            </a:r>
          </a:p>
          <a:p>
            <a:pPr marL="285750" indent="-285750">
              <a:buFont typeface="Arial" panose="020B0604020202020204" pitchFamily="34" charset="0"/>
              <a:buChar char="•"/>
            </a:pPr>
            <a:r>
              <a:rPr lang="en-US" dirty="0">
                <a:solidFill>
                  <a:schemeClr val="bg1"/>
                </a:solidFill>
              </a:rPr>
              <a:t>In memory KG in JSON designed for load to Neo4j</a:t>
            </a:r>
          </a:p>
        </p:txBody>
      </p:sp>
      <p:sp>
        <p:nvSpPr>
          <p:cNvPr id="7" name="TextBox 6">
            <a:extLst>
              <a:ext uri="{FF2B5EF4-FFF2-40B4-BE49-F238E27FC236}">
                <a16:creationId xmlns:a16="http://schemas.microsoft.com/office/drawing/2014/main" id="{3BC0EEB4-EC14-5A75-E11B-6911F24DC2DF}"/>
              </a:ext>
            </a:extLst>
          </p:cNvPr>
          <p:cNvSpPr txBox="1"/>
          <p:nvPr/>
        </p:nvSpPr>
        <p:spPr>
          <a:xfrm>
            <a:off x="4510548" y="2259447"/>
            <a:ext cx="3657600" cy="1828800"/>
          </a:xfrm>
          <a:prstGeom prst="rect">
            <a:avLst/>
          </a:prstGeom>
          <a:solidFill>
            <a:schemeClr val="accent1"/>
          </a:solidFill>
        </p:spPr>
        <p:txBody>
          <a:bodyPr wrap="square" rtlCol="0">
            <a:noAutofit/>
          </a:bodyPr>
          <a:lstStyle/>
          <a:p>
            <a:r>
              <a:rPr lang="en-US" b="1" dirty="0">
                <a:solidFill>
                  <a:schemeClr val="bg1"/>
                </a:solidFill>
              </a:rPr>
              <a:t>Long Term Memory</a:t>
            </a:r>
          </a:p>
          <a:p>
            <a:pPr marL="285750" indent="-285750">
              <a:buFont typeface="Arial" panose="020B0604020202020204" pitchFamily="34" charset="0"/>
              <a:buChar char="•"/>
            </a:pPr>
            <a:r>
              <a:rPr lang="en-US" dirty="0">
                <a:solidFill>
                  <a:schemeClr val="bg1"/>
                </a:solidFill>
              </a:rPr>
              <a:t>Integration from short term memory</a:t>
            </a:r>
          </a:p>
          <a:p>
            <a:pPr marL="285750" indent="-285750">
              <a:buFont typeface="Arial" panose="020B0604020202020204" pitchFamily="34" charset="0"/>
              <a:buChar char="•"/>
            </a:pPr>
            <a:r>
              <a:rPr lang="en-US" dirty="0">
                <a:solidFill>
                  <a:schemeClr val="bg1"/>
                </a:solidFill>
              </a:rPr>
              <a:t>Simple syntactic consolidation from STM</a:t>
            </a:r>
          </a:p>
          <a:p>
            <a:pPr marL="285750" indent="-285750">
              <a:buFont typeface="Arial" panose="020B0604020202020204" pitchFamily="34" charset="0"/>
              <a:buChar char="•"/>
            </a:pPr>
            <a:r>
              <a:rPr lang="en-US" dirty="0">
                <a:solidFill>
                  <a:schemeClr val="bg1"/>
                </a:solidFill>
              </a:rPr>
              <a:t>Can hold data from multiple sources</a:t>
            </a:r>
          </a:p>
          <a:p>
            <a:pPr marL="285750" indent="-285750">
              <a:buFont typeface="Arial" panose="020B0604020202020204" pitchFamily="34" charset="0"/>
              <a:buChar char="•"/>
            </a:pPr>
            <a:r>
              <a:rPr lang="en-US" dirty="0">
                <a:solidFill>
                  <a:schemeClr val="bg1"/>
                </a:solidFill>
              </a:rPr>
              <a:t>Attributed KG in Neo4j</a:t>
            </a:r>
          </a:p>
          <a:p>
            <a:pPr marL="285750" indent="-285750">
              <a:buFont typeface="Arial" panose="020B0604020202020204" pitchFamily="34" charset="0"/>
              <a:buChar char="•"/>
            </a:pPr>
            <a:endParaRPr lang="en-US" dirty="0">
              <a:solidFill>
                <a:schemeClr val="bg1"/>
              </a:solidFill>
            </a:endParaRPr>
          </a:p>
        </p:txBody>
      </p:sp>
      <p:sp>
        <p:nvSpPr>
          <p:cNvPr id="8" name="TextBox 7">
            <a:extLst>
              <a:ext uri="{FF2B5EF4-FFF2-40B4-BE49-F238E27FC236}">
                <a16:creationId xmlns:a16="http://schemas.microsoft.com/office/drawing/2014/main" id="{493C8DB8-11A2-E0CD-4AB1-AE96171326ED}"/>
              </a:ext>
            </a:extLst>
          </p:cNvPr>
          <p:cNvSpPr txBox="1"/>
          <p:nvPr/>
        </p:nvSpPr>
        <p:spPr>
          <a:xfrm>
            <a:off x="8273845" y="2259447"/>
            <a:ext cx="3657600" cy="1828800"/>
          </a:xfrm>
          <a:prstGeom prst="rect">
            <a:avLst/>
          </a:prstGeom>
          <a:solidFill>
            <a:schemeClr val="accent1"/>
          </a:solidFill>
        </p:spPr>
        <p:txBody>
          <a:bodyPr wrap="square" rtlCol="0">
            <a:noAutofit/>
          </a:bodyPr>
          <a:lstStyle/>
          <a:p>
            <a:r>
              <a:rPr lang="en-US" b="1" dirty="0">
                <a:solidFill>
                  <a:schemeClr val="bg1"/>
                </a:solidFill>
              </a:rPr>
              <a:t>Refinement</a:t>
            </a:r>
          </a:p>
          <a:p>
            <a:pPr marL="285750" indent="-285750">
              <a:buFont typeface="Arial" panose="020B0604020202020204" pitchFamily="34" charset="0"/>
              <a:buChar char="•"/>
            </a:pPr>
            <a:r>
              <a:rPr lang="en-US" dirty="0">
                <a:solidFill>
                  <a:schemeClr val="bg1"/>
                </a:solidFill>
              </a:rPr>
              <a:t>Works on Long Term Memory</a:t>
            </a:r>
          </a:p>
          <a:p>
            <a:pPr marL="285750" indent="-285750">
              <a:buFont typeface="Arial" panose="020B0604020202020204" pitchFamily="34" charset="0"/>
              <a:buChar char="•"/>
            </a:pPr>
            <a:r>
              <a:rPr lang="en-US" dirty="0">
                <a:solidFill>
                  <a:schemeClr val="bg1"/>
                </a:solidFill>
              </a:rPr>
              <a:t>Selects a random sample</a:t>
            </a:r>
          </a:p>
          <a:p>
            <a:pPr marL="285750" indent="-285750">
              <a:buFont typeface="Arial" panose="020B0604020202020204" pitchFamily="34" charset="0"/>
              <a:buChar char="•"/>
            </a:pPr>
            <a:r>
              <a:rPr lang="en-US" dirty="0">
                <a:solidFill>
                  <a:schemeClr val="bg1"/>
                </a:solidFill>
              </a:rPr>
              <a:t>Looks for IS_A and PART_OF relationships</a:t>
            </a:r>
          </a:p>
          <a:p>
            <a:pPr marL="285750" indent="-285750">
              <a:buFont typeface="Arial" panose="020B0604020202020204" pitchFamily="34" charset="0"/>
              <a:buChar char="•"/>
            </a:pPr>
            <a:r>
              <a:rPr lang="en-US" dirty="0">
                <a:solidFill>
                  <a:schemeClr val="bg1"/>
                </a:solidFill>
              </a:rPr>
              <a:t>Looks to reorganize existing nodes and relationships</a:t>
            </a:r>
          </a:p>
          <a:p>
            <a:pPr marL="285750" indent="-285750">
              <a:buFont typeface="Arial" panose="020B0604020202020204" pitchFamily="34" charset="0"/>
              <a:buChar char="•"/>
            </a:pPr>
            <a:r>
              <a:rPr lang="en-US" dirty="0">
                <a:solidFill>
                  <a:schemeClr val="bg1"/>
                </a:solidFill>
              </a:rPr>
              <a:t>Requires multiple iterations</a:t>
            </a:r>
          </a:p>
          <a:p>
            <a:pPr marL="285750" indent="-285750">
              <a:buFont typeface="Arial" panose="020B0604020202020204" pitchFamily="34" charset="0"/>
              <a:buChar char="•"/>
            </a:pPr>
            <a:endParaRPr lang="en-US" dirty="0">
              <a:solidFill>
                <a:schemeClr val="bg1"/>
              </a:solidFill>
            </a:endParaRPr>
          </a:p>
        </p:txBody>
      </p:sp>
      <p:sp>
        <p:nvSpPr>
          <p:cNvPr id="9" name="TextBox 8">
            <a:extLst>
              <a:ext uri="{FF2B5EF4-FFF2-40B4-BE49-F238E27FC236}">
                <a16:creationId xmlns:a16="http://schemas.microsoft.com/office/drawing/2014/main" id="{AD3795AA-7AD5-2A33-FF36-8A3D9C48E380}"/>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1318755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0FB74-CD32-A7B7-C243-6131D4D567F8}"/>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7A82E007-3190-BF07-1D3E-61684FA3F91E}"/>
              </a:ext>
            </a:extLst>
          </p:cNvPr>
          <p:cNvSpPr>
            <a:spLocks noGrp="1"/>
          </p:cNvSpPr>
          <p:nvPr>
            <p:ph type="body" idx="1"/>
          </p:nvPr>
        </p:nvSpPr>
        <p:spPr/>
        <p:txBody>
          <a:bodyPr>
            <a:normAutofit fontScale="85000" lnSpcReduction="10000"/>
          </a:bodyPr>
          <a:lstStyle/>
          <a:p>
            <a:pPr marL="228600" indent="0"/>
            <a:r>
              <a:rPr lang="en-US" dirty="0"/>
              <a:t>Development Corpus: Handwritten stories and ground truth.</a:t>
            </a:r>
          </a:p>
          <a:p>
            <a:pPr marL="685800" lvl="1" indent="0"/>
            <a:r>
              <a:rPr lang="en-US" b="1" dirty="0"/>
              <a:t>Handwritten stories</a:t>
            </a:r>
            <a:r>
              <a:rPr lang="en-US" dirty="0"/>
              <a:t> for 'ground truth' because they are small and manually verifiable.</a:t>
            </a:r>
          </a:p>
          <a:p>
            <a:pPr marL="228600" indent="0"/>
            <a:r>
              <a:rPr lang="en-US" dirty="0"/>
              <a:t>Test Corpus: Laws of Pennsylvania Townships</a:t>
            </a:r>
          </a:p>
          <a:p>
            <a:pPr marL="685800" lvl="1" indent="0"/>
            <a:r>
              <a:rPr lang="en-US" b="1" dirty="0"/>
              <a:t>Laws of PA Townships</a:t>
            </a:r>
            <a:r>
              <a:rPr lang="en-US" dirty="0"/>
              <a:t> for a 'real-world test' because they are large, complex, and full of the exact cross-references and inconsistencies I was looking for.</a:t>
            </a:r>
          </a:p>
          <a:p>
            <a:pPr marL="228600" indent="0"/>
            <a:r>
              <a:rPr lang="en-US" dirty="0"/>
              <a:t>Hand coded Cypher queries were used to determine if the Neo4j Attributed KG could be used to test for consistency and completeness</a:t>
            </a:r>
          </a:p>
          <a:p>
            <a:pPr marL="228600" indent="0"/>
            <a:r>
              <a:rPr lang="en-US" dirty="0"/>
              <a:t>Google </a:t>
            </a:r>
            <a:r>
              <a:rPr lang="en-US" dirty="0" err="1"/>
              <a:t>LangExtract</a:t>
            </a:r>
            <a:r>
              <a:rPr lang="en-US" dirty="0"/>
              <a:t> was used to generate ground truth</a:t>
            </a:r>
          </a:p>
          <a:p>
            <a:pPr marL="228600" indent="0"/>
            <a:endParaRPr lang="en-US" dirty="0"/>
          </a:p>
        </p:txBody>
      </p:sp>
      <p:sp>
        <p:nvSpPr>
          <p:cNvPr id="6" name="Title 5">
            <a:extLst>
              <a:ext uri="{FF2B5EF4-FFF2-40B4-BE49-F238E27FC236}">
                <a16:creationId xmlns:a16="http://schemas.microsoft.com/office/drawing/2014/main" id="{E7DC8A37-8B11-05FB-4DCF-5FFD33D951E1}"/>
              </a:ext>
            </a:extLst>
          </p:cNvPr>
          <p:cNvSpPr>
            <a:spLocks noGrp="1"/>
          </p:cNvSpPr>
          <p:nvPr>
            <p:ph type="title"/>
          </p:nvPr>
        </p:nvSpPr>
        <p:spPr/>
        <p:txBody>
          <a:bodyPr>
            <a:normAutofit/>
          </a:bodyPr>
          <a:lstStyle/>
          <a:p>
            <a:r>
              <a:rPr lang="en-US" dirty="0"/>
              <a:t>Corpus &amp; Validation</a:t>
            </a:r>
          </a:p>
        </p:txBody>
      </p:sp>
      <p:sp>
        <p:nvSpPr>
          <p:cNvPr id="2" name="TextBox 1">
            <a:extLst>
              <a:ext uri="{FF2B5EF4-FFF2-40B4-BE49-F238E27FC236}">
                <a16:creationId xmlns:a16="http://schemas.microsoft.com/office/drawing/2014/main" id="{DA1435F8-FD59-D5F4-F9A3-283D725C8D5A}"/>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37203068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87D67-6315-045B-AEE1-2C54CAE9597E}"/>
              </a:ext>
            </a:extLst>
          </p:cNvPr>
          <p:cNvSpPr>
            <a:spLocks noGrp="1"/>
          </p:cNvSpPr>
          <p:nvPr>
            <p:ph type="title"/>
          </p:nvPr>
        </p:nvSpPr>
        <p:spPr/>
        <p:txBody>
          <a:bodyPr/>
          <a:lstStyle/>
          <a:p>
            <a:r>
              <a:rPr lang="en-US" dirty="0"/>
              <a:t>Mnemosyne Statistics</a:t>
            </a:r>
          </a:p>
        </p:txBody>
      </p:sp>
      <p:sp>
        <p:nvSpPr>
          <p:cNvPr id="3" name="Text Placeholder 2">
            <a:extLst>
              <a:ext uri="{FF2B5EF4-FFF2-40B4-BE49-F238E27FC236}">
                <a16:creationId xmlns:a16="http://schemas.microsoft.com/office/drawing/2014/main" id="{E58CDC23-1C75-7930-A3A3-90106A8640C3}"/>
              </a:ext>
            </a:extLst>
          </p:cNvPr>
          <p:cNvSpPr>
            <a:spLocks noGrp="1"/>
          </p:cNvSpPr>
          <p:nvPr>
            <p:ph type="body" idx="1"/>
          </p:nvPr>
        </p:nvSpPr>
        <p:spPr/>
        <p:txBody>
          <a:bodyPr/>
          <a:lstStyle/>
          <a:p>
            <a:r>
              <a:rPr lang="en-US" dirty="0"/>
              <a:t>5,380 Lines of Python code</a:t>
            </a:r>
          </a:p>
          <a:p>
            <a:r>
              <a:rPr lang="en-US" dirty="0"/>
              <a:t>	In 36 Classes</a:t>
            </a:r>
          </a:p>
          <a:p>
            <a:r>
              <a:rPr lang="en-US" dirty="0"/>
              <a:t>	With 171 Methods (121 simple, 40 moderate, 10 complex)</a:t>
            </a:r>
          </a:p>
          <a:p>
            <a:r>
              <a:rPr lang="en-US" dirty="0"/>
              <a:t>8 JSON Schemas</a:t>
            </a:r>
          </a:p>
          <a:p>
            <a:r>
              <a:rPr lang="en-US" dirty="0"/>
              <a:t>10 LLM Prompts</a:t>
            </a:r>
          </a:p>
          <a:p>
            <a:r>
              <a:rPr lang="en-US" dirty="0"/>
              <a:t>72 Cypher Queries</a:t>
            </a:r>
          </a:p>
        </p:txBody>
      </p:sp>
      <p:sp>
        <p:nvSpPr>
          <p:cNvPr id="4" name="TextBox 3">
            <a:extLst>
              <a:ext uri="{FF2B5EF4-FFF2-40B4-BE49-F238E27FC236}">
                <a16:creationId xmlns:a16="http://schemas.microsoft.com/office/drawing/2014/main" id="{993608BA-5D92-25E8-C460-7E92CEB982FA}"/>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19192884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D5D2B-98B1-1FEB-330B-5BE12F79B82C}"/>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E38AB167-627F-9A93-4230-D2341545A73B}"/>
              </a:ext>
            </a:extLst>
          </p:cNvPr>
          <p:cNvSpPr>
            <a:spLocks noGrp="1"/>
          </p:cNvSpPr>
          <p:nvPr>
            <p:ph type="body" idx="1"/>
          </p:nvPr>
        </p:nvSpPr>
        <p:spPr/>
        <p:txBody>
          <a:bodyPr>
            <a:normAutofit/>
          </a:bodyPr>
          <a:lstStyle/>
          <a:p>
            <a:pPr marL="228600" indent="0"/>
            <a:r>
              <a:rPr lang="en-US" dirty="0"/>
              <a:t>The raw knowledge graph from a source text is of limited use</a:t>
            </a:r>
          </a:p>
          <a:p>
            <a:pPr marL="228600" indent="0"/>
            <a:r>
              <a:rPr lang="en-US" dirty="0"/>
              <a:t>Semantically enriching it provides deeper understanding</a:t>
            </a:r>
          </a:p>
          <a:p>
            <a:pPr marL="228600" indent="0"/>
            <a:r>
              <a:rPr lang="en-US" dirty="0"/>
              <a:t>For example, knowing that a set of nodes are all of type Law</a:t>
            </a:r>
          </a:p>
          <a:p>
            <a:pPr marL="742950" indent="-514350">
              <a:buFont typeface="+mj-lt"/>
              <a:buAutoNum type="arabicPeriod"/>
            </a:pPr>
            <a:r>
              <a:rPr lang="en-US" dirty="0"/>
              <a:t>Creates a locality of reference </a:t>
            </a:r>
            <a:r>
              <a:rPr lang="en-US" dirty="0">
                <a:sym typeface="Wingdings" panose="05000000000000000000" pitchFamily="2" charset="2"/>
              </a:rPr>
              <a:t> The ability to focus</a:t>
            </a:r>
            <a:endParaRPr lang="en-US" dirty="0"/>
          </a:p>
          <a:p>
            <a:pPr marL="742950" indent="-514350">
              <a:buFont typeface="+mj-lt"/>
              <a:buAutoNum type="arabicPeriod"/>
            </a:pPr>
            <a:r>
              <a:rPr lang="en-US" dirty="0"/>
              <a:t>Allows looking for missing attributes or relationships </a:t>
            </a:r>
            <a:r>
              <a:rPr lang="en-US" dirty="0">
                <a:sym typeface="Wingdings" panose="05000000000000000000" pitchFamily="2" charset="2"/>
              </a:rPr>
              <a:t> Do all laws have a relationship called DRAFTED_BY?</a:t>
            </a:r>
            <a:endParaRPr lang="en-US" dirty="0"/>
          </a:p>
          <a:p>
            <a:pPr marL="228600" indent="0"/>
            <a:endParaRPr lang="en-US" dirty="0"/>
          </a:p>
        </p:txBody>
      </p:sp>
      <p:sp>
        <p:nvSpPr>
          <p:cNvPr id="6" name="Title 5">
            <a:extLst>
              <a:ext uri="{FF2B5EF4-FFF2-40B4-BE49-F238E27FC236}">
                <a16:creationId xmlns:a16="http://schemas.microsoft.com/office/drawing/2014/main" id="{4E7CD4B0-E9DF-3913-3784-E879D6C59930}"/>
              </a:ext>
            </a:extLst>
          </p:cNvPr>
          <p:cNvSpPr>
            <a:spLocks noGrp="1"/>
          </p:cNvSpPr>
          <p:nvPr>
            <p:ph type="title"/>
          </p:nvPr>
        </p:nvSpPr>
        <p:spPr/>
        <p:txBody>
          <a:bodyPr/>
          <a:lstStyle/>
          <a:p>
            <a:r>
              <a:rPr lang="en-US" dirty="0"/>
              <a:t>Key Findings</a:t>
            </a:r>
          </a:p>
        </p:txBody>
      </p:sp>
      <p:sp>
        <p:nvSpPr>
          <p:cNvPr id="2" name="TextBox 1">
            <a:extLst>
              <a:ext uri="{FF2B5EF4-FFF2-40B4-BE49-F238E27FC236}">
                <a16:creationId xmlns:a16="http://schemas.microsoft.com/office/drawing/2014/main" id="{8DCE920B-77B3-3FB3-7C62-452470225B70}"/>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spTree>
    <p:extLst>
      <p:ext uri="{BB962C8B-B14F-4D97-AF65-F5344CB8AC3E}">
        <p14:creationId xmlns:p14="http://schemas.microsoft.com/office/powerpoint/2010/main" val="30698942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15A17-66CE-FDF1-8470-4F9679417600}"/>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8E6D457-D85B-4B52-1FD5-D0F652BA8AF6}"/>
              </a:ext>
            </a:extLst>
          </p:cNvPr>
          <p:cNvSpPr>
            <a:spLocks noGrp="1"/>
          </p:cNvSpPr>
          <p:nvPr>
            <p:ph type="title"/>
          </p:nvPr>
        </p:nvSpPr>
        <p:spPr/>
        <p:txBody>
          <a:bodyPr/>
          <a:lstStyle/>
          <a:p>
            <a:r>
              <a:rPr lang="en-US" dirty="0"/>
              <a:t>Key Findings</a:t>
            </a:r>
          </a:p>
        </p:txBody>
      </p:sp>
      <p:sp>
        <p:nvSpPr>
          <p:cNvPr id="2" name="TextBox 1">
            <a:extLst>
              <a:ext uri="{FF2B5EF4-FFF2-40B4-BE49-F238E27FC236}">
                <a16:creationId xmlns:a16="http://schemas.microsoft.com/office/drawing/2014/main" id="{E22F7E4A-CF17-F361-193B-E9A93645C80F}"/>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graphicFrame>
        <p:nvGraphicFramePr>
          <p:cNvPr id="5" name="Table 4">
            <a:extLst>
              <a:ext uri="{FF2B5EF4-FFF2-40B4-BE49-F238E27FC236}">
                <a16:creationId xmlns:a16="http://schemas.microsoft.com/office/drawing/2014/main" id="{5D5C30DE-DE22-F3BF-5F38-F874E14B2032}"/>
              </a:ext>
            </a:extLst>
          </p:cNvPr>
          <p:cNvGraphicFramePr>
            <a:graphicFrameLocks noGrp="1"/>
          </p:cNvGraphicFramePr>
          <p:nvPr>
            <p:extLst>
              <p:ext uri="{D42A27DB-BD31-4B8C-83A1-F6EECF244321}">
                <p14:modId xmlns:p14="http://schemas.microsoft.com/office/powerpoint/2010/main" val="3830228938"/>
              </p:ext>
            </p:extLst>
          </p:nvPr>
        </p:nvGraphicFramePr>
        <p:xfrm>
          <a:off x="1127328" y="1485685"/>
          <a:ext cx="8532238" cy="3855720"/>
        </p:xfrm>
        <a:graphic>
          <a:graphicData uri="http://schemas.openxmlformats.org/drawingml/2006/table">
            <a:tbl>
              <a:tblPr firstRow="1" bandRow="1">
                <a:tableStyleId>{5C22544A-7EE6-4342-B048-85BDC9FD1C3A}</a:tableStyleId>
              </a:tblPr>
              <a:tblGrid>
                <a:gridCol w="2114905">
                  <a:extLst>
                    <a:ext uri="{9D8B030D-6E8A-4147-A177-3AD203B41FA5}">
                      <a16:colId xmlns:a16="http://schemas.microsoft.com/office/drawing/2014/main" val="3388187049"/>
                    </a:ext>
                  </a:extLst>
                </a:gridCol>
                <a:gridCol w="1290856">
                  <a:extLst>
                    <a:ext uri="{9D8B030D-6E8A-4147-A177-3AD203B41FA5}">
                      <a16:colId xmlns:a16="http://schemas.microsoft.com/office/drawing/2014/main" val="3276213425"/>
                    </a:ext>
                  </a:extLst>
                </a:gridCol>
                <a:gridCol w="1342417">
                  <a:extLst>
                    <a:ext uri="{9D8B030D-6E8A-4147-A177-3AD203B41FA5}">
                      <a16:colId xmlns:a16="http://schemas.microsoft.com/office/drawing/2014/main" val="3608817236"/>
                    </a:ext>
                  </a:extLst>
                </a:gridCol>
                <a:gridCol w="1536971">
                  <a:extLst>
                    <a:ext uri="{9D8B030D-6E8A-4147-A177-3AD203B41FA5}">
                      <a16:colId xmlns:a16="http://schemas.microsoft.com/office/drawing/2014/main" val="1363746767"/>
                    </a:ext>
                  </a:extLst>
                </a:gridCol>
                <a:gridCol w="836578">
                  <a:extLst>
                    <a:ext uri="{9D8B030D-6E8A-4147-A177-3AD203B41FA5}">
                      <a16:colId xmlns:a16="http://schemas.microsoft.com/office/drawing/2014/main" val="2236669962"/>
                    </a:ext>
                  </a:extLst>
                </a:gridCol>
                <a:gridCol w="1410511">
                  <a:extLst>
                    <a:ext uri="{9D8B030D-6E8A-4147-A177-3AD203B41FA5}">
                      <a16:colId xmlns:a16="http://schemas.microsoft.com/office/drawing/2014/main" val="630458090"/>
                    </a:ext>
                  </a:extLst>
                </a:gridCol>
              </a:tblGrid>
              <a:tr h="370840">
                <a:tc>
                  <a:txBody>
                    <a:bodyPr/>
                    <a:lstStyle/>
                    <a:p>
                      <a:r>
                        <a:rPr lang="en-US" dirty="0"/>
                        <a:t>Document</a:t>
                      </a:r>
                    </a:p>
                  </a:txBody>
                  <a:tcPr/>
                </a:tc>
                <a:tc>
                  <a:txBody>
                    <a:bodyPr/>
                    <a:lstStyle/>
                    <a:p>
                      <a:r>
                        <a:rPr lang="en-US" dirty="0"/>
                        <a:t>Paragraphs</a:t>
                      </a:r>
                    </a:p>
                  </a:txBody>
                  <a:tcPr/>
                </a:tc>
                <a:tc>
                  <a:txBody>
                    <a:bodyPr/>
                    <a:lstStyle/>
                    <a:p>
                      <a:r>
                        <a:rPr lang="en-US" dirty="0"/>
                        <a:t>Discovered Nodes</a:t>
                      </a:r>
                    </a:p>
                  </a:txBody>
                  <a:tcPr/>
                </a:tc>
                <a:tc>
                  <a:txBody>
                    <a:bodyPr/>
                    <a:lstStyle/>
                    <a:p>
                      <a:r>
                        <a:rPr lang="en-US" dirty="0"/>
                        <a:t>Discovered Relationships</a:t>
                      </a:r>
                    </a:p>
                  </a:txBody>
                  <a:tcPr/>
                </a:tc>
                <a:tc>
                  <a:txBody>
                    <a:bodyPr/>
                    <a:lstStyle/>
                    <a:p>
                      <a:r>
                        <a:rPr lang="en-US" dirty="0"/>
                        <a:t>Final Nodes</a:t>
                      </a:r>
                    </a:p>
                  </a:txBody>
                  <a:tcPr/>
                </a:tc>
                <a:tc>
                  <a:txBody>
                    <a:bodyPr/>
                    <a:lstStyle/>
                    <a:p>
                      <a:r>
                        <a:rPr lang="en-US" dirty="0"/>
                        <a:t>Final Relationships</a:t>
                      </a:r>
                    </a:p>
                  </a:txBody>
                  <a:tcPr/>
                </a:tc>
                <a:extLst>
                  <a:ext uri="{0D108BD9-81ED-4DB2-BD59-A6C34878D82A}">
                    <a16:rowId xmlns:a16="http://schemas.microsoft.com/office/drawing/2014/main" val="3252975973"/>
                  </a:ext>
                </a:extLst>
              </a:tr>
              <a:tr h="370840">
                <a:tc>
                  <a:txBody>
                    <a:bodyPr/>
                    <a:lstStyle/>
                    <a:p>
                      <a:r>
                        <a:rPr lang="en-US" dirty="0"/>
                        <a:t>NER 1</a:t>
                      </a:r>
                    </a:p>
                  </a:txBody>
                  <a:tcPr/>
                </a:tc>
                <a:tc>
                  <a:txBody>
                    <a:bodyPr/>
                    <a:lstStyle/>
                    <a:p>
                      <a:pPr algn="r"/>
                      <a:r>
                        <a:rPr lang="en-US" dirty="0"/>
                        <a:t>21</a:t>
                      </a:r>
                    </a:p>
                  </a:txBody>
                  <a:tcPr/>
                </a:tc>
                <a:tc>
                  <a:txBody>
                    <a:bodyPr/>
                    <a:lstStyle/>
                    <a:p>
                      <a:pPr algn="r"/>
                      <a:r>
                        <a:rPr lang="en-US" dirty="0"/>
                        <a:t>67</a:t>
                      </a:r>
                    </a:p>
                  </a:txBody>
                  <a:tcPr/>
                </a:tc>
                <a:tc>
                  <a:txBody>
                    <a:bodyPr/>
                    <a:lstStyle/>
                    <a:p>
                      <a:pPr algn="r"/>
                      <a:r>
                        <a:rPr lang="en-US" dirty="0"/>
                        <a:t>133</a:t>
                      </a:r>
                    </a:p>
                  </a:txBody>
                  <a:tcPr/>
                </a:tc>
                <a:tc>
                  <a:txBody>
                    <a:bodyPr/>
                    <a:lstStyle/>
                    <a:p>
                      <a:pPr algn="r"/>
                      <a:r>
                        <a:rPr lang="en-US" dirty="0"/>
                        <a:t>84</a:t>
                      </a:r>
                    </a:p>
                  </a:txBody>
                  <a:tcPr/>
                </a:tc>
                <a:tc>
                  <a:txBody>
                    <a:bodyPr/>
                    <a:lstStyle/>
                    <a:p>
                      <a:pPr algn="r"/>
                      <a:r>
                        <a:rPr lang="en-US" dirty="0"/>
                        <a:t>228</a:t>
                      </a:r>
                    </a:p>
                  </a:txBody>
                  <a:tcPr/>
                </a:tc>
                <a:extLst>
                  <a:ext uri="{0D108BD9-81ED-4DB2-BD59-A6C34878D82A}">
                    <a16:rowId xmlns:a16="http://schemas.microsoft.com/office/drawing/2014/main" val="569132700"/>
                  </a:ext>
                </a:extLst>
              </a:tr>
              <a:tr h="370840">
                <a:tc>
                  <a:txBody>
                    <a:bodyPr/>
                    <a:lstStyle/>
                    <a:p>
                      <a:r>
                        <a:rPr lang="en-US" dirty="0"/>
                        <a:t>NER 2</a:t>
                      </a:r>
                    </a:p>
                  </a:txBody>
                  <a:tcPr/>
                </a:tc>
                <a:tc>
                  <a:txBody>
                    <a:bodyPr/>
                    <a:lstStyle/>
                    <a:p>
                      <a:pPr algn="r"/>
                      <a:r>
                        <a:rPr lang="en-US" dirty="0"/>
                        <a:t>20</a:t>
                      </a:r>
                    </a:p>
                  </a:txBody>
                  <a:tcPr/>
                </a:tc>
                <a:tc>
                  <a:txBody>
                    <a:bodyPr/>
                    <a:lstStyle/>
                    <a:p>
                      <a:pPr algn="r"/>
                      <a:r>
                        <a:rPr lang="en-US" dirty="0"/>
                        <a:t>63</a:t>
                      </a:r>
                    </a:p>
                  </a:txBody>
                  <a:tcPr/>
                </a:tc>
                <a:tc>
                  <a:txBody>
                    <a:bodyPr/>
                    <a:lstStyle/>
                    <a:p>
                      <a:pPr algn="r"/>
                      <a:r>
                        <a:rPr lang="en-US" dirty="0"/>
                        <a:t>124</a:t>
                      </a:r>
                    </a:p>
                  </a:txBody>
                  <a:tcPr/>
                </a:tc>
                <a:tc>
                  <a:txBody>
                    <a:bodyPr/>
                    <a:lstStyle/>
                    <a:p>
                      <a:pPr algn="r"/>
                      <a:r>
                        <a:rPr lang="en-US" dirty="0"/>
                        <a:t>90</a:t>
                      </a:r>
                    </a:p>
                  </a:txBody>
                  <a:tcPr/>
                </a:tc>
                <a:tc>
                  <a:txBody>
                    <a:bodyPr/>
                    <a:lstStyle/>
                    <a:p>
                      <a:pPr algn="r"/>
                      <a:r>
                        <a:rPr lang="en-US" dirty="0"/>
                        <a:t>233</a:t>
                      </a:r>
                    </a:p>
                  </a:txBody>
                  <a:tcPr/>
                </a:tc>
                <a:extLst>
                  <a:ext uri="{0D108BD9-81ED-4DB2-BD59-A6C34878D82A}">
                    <a16:rowId xmlns:a16="http://schemas.microsoft.com/office/drawing/2014/main" val="1644735533"/>
                  </a:ext>
                </a:extLst>
              </a:tr>
              <a:tr h="370840">
                <a:tc>
                  <a:txBody>
                    <a:bodyPr/>
                    <a:lstStyle/>
                    <a:p>
                      <a:r>
                        <a:rPr lang="en-US" dirty="0"/>
                        <a:t>NER 3</a:t>
                      </a:r>
                    </a:p>
                  </a:txBody>
                  <a:tcPr/>
                </a:tc>
                <a:tc>
                  <a:txBody>
                    <a:bodyPr/>
                    <a:lstStyle/>
                    <a:p>
                      <a:pPr algn="r"/>
                      <a:r>
                        <a:rPr lang="en-US" dirty="0"/>
                        <a:t>20</a:t>
                      </a:r>
                    </a:p>
                  </a:txBody>
                  <a:tcPr/>
                </a:tc>
                <a:tc>
                  <a:txBody>
                    <a:bodyPr/>
                    <a:lstStyle/>
                    <a:p>
                      <a:pPr algn="r"/>
                      <a:r>
                        <a:rPr lang="en-US" dirty="0"/>
                        <a:t>64</a:t>
                      </a:r>
                    </a:p>
                  </a:txBody>
                  <a:tcPr/>
                </a:tc>
                <a:tc>
                  <a:txBody>
                    <a:bodyPr/>
                    <a:lstStyle/>
                    <a:p>
                      <a:pPr algn="r"/>
                      <a:r>
                        <a:rPr lang="en-US" dirty="0"/>
                        <a:t>131</a:t>
                      </a:r>
                    </a:p>
                  </a:txBody>
                  <a:tcPr/>
                </a:tc>
                <a:tc>
                  <a:txBody>
                    <a:bodyPr/>
                    <a:lstStyle/>
                    <a:p>
                      <a:pPr algn="r"/>
                      <a:r>
                        <a:rPr lang="en-US" dirty="0"/>
                        <a:t>89</a:t>
                      </a:r>
                    </a:p>
                  </a:txBody>
                  <a:tcPr/>
                </a:tc>
                <a:tc>
                  <a:txBody>
                    <a:bodyPr/>
                    <a:lstStyle/>
                    <a:p>
                      <a:pPr algn="r"/>
                      <a:r>
                        <a:rPr lang="en-US" dirty="0"/>
                        <a:t>241</a:t>
                      </a:r>
                    </a:p>
                  </a:txBody>
                  <a:tcPr/>
                </a:tc>
                <a:extLst>
                  <a:ext uri="{0D108BD9-81ED-4DB2-BD59-A6C34878D82A}">
                    <a16:rowId xmlns:a16="http://schemas.microsoft.com/office/drawing/2014/main" val="4066793137"/>
                  </a:ext>
                </a:extLst>
              </a:tr>
              <a:tr h="370840">
                <a:tc>
                  <a:txBody>
                    <a:bodyPr/>
                    <a:lstStyle/>
                    <a:p>
                      <a:r>
                        <a:rPr lang="en-US" dirty="0"/>
                        <a:t>NER 4</a:t>
                      </a:r>
                    </a:p>
                  </a:txBody>
                  <a:tcPr/>
                </a:tc>
                <a:tc>
                  <a:txBody>
                    <a:bodyPr/>
                    <a:lstStyle/>
                    <a:p>
                      <a:pPr algn="r"/>
                      <a:r>
                        <a:rPr lang="en-US" dirty="0"/>
                        <a:t>33</a:t>
                      </a:r>
                    </a:p>
                  </a:txBody>
                  <a:tcPr/>
                </a:tc>
                <a:tc>
                  <a:txBody>
                    <a:bodyPr/>
                    <a:lstStyle/>
                    <a:p>
                      <a:pPr algn="r"/>
                      <a:r>
                        <a:rPr lang="en-US" dirty="0"/>
                        <a:t>104</a:t>
                      </a:r>
                    </a:p>
                  </a:txBody>
                  <a:tcPr/>
                </a:tc>
                <a:tc>
                  <a:txBody>
                    <a:bodyPr/>
                    <a:lstStyle/>
                    <a:p>
                      <a:pPr algn="r"/>
                      <a:r>
                        <a:rPr lang="en-US" dirty="0"/>
                        <a:t>205</a:t>
                      </a:r>
                    </a:p>
                  </a:txBody>
                  <a:tcPr/>
                </a:tc>
                <a:tc>
                  <a:txBody>
                    <a:bodyPr/>
                    <a:lstStyle/>
                    <a:p>
                      <a:pPr algn="r"/>
                      <a:r>
                        <a:rPr lang="en-US" dirty="0"/>
                        <a:t>127</a:t>
                      </a:r>
                    </a:p>
                  </a:txBody>
                  <a:tcPr/>
                </a:tc>
                <a:tc>
                  <a:txBody>
                    <a:bodyPr/>
                    <a:lstStyle/>
                    <a:p>
                      <a:pPr algn="r"/>
                      <a:r>
                        <a:rPr lang="en-US" dirty="0"/>
                        <a:t>352</a:t>
                      </a:r>
                    </a:p>
                  </a:txBody>
                  <a:tcPr/>
                </a:tc>
                <a:extLst>
                  <a:ext uri="{0D108BD9-81ED-4DB2-BD59-A6C34878D82A}">
                    <a16:rowId xmlns:a16="http://schemas.microsoft.com/office/drawing/2014/main" val="3418151966"/>
                  </a:ext>
                </a:extLst>
              </a:tr>
              <a:tr h="370840">
                <a:tc>
                  <a:txBody>
                    <a:bodyPr/>
                    <a:lstStyle/>
                    <a:p>
                      <a:r>
                        <a:rPr lang="en-US" dirty="0"/>
                        <a:t>CTSA – Base</a:t>
                      </a:r>
                    </a:p>
                  </a:txBody>
                  <a:tcPr/>
                </a:tc>
                <a:tc>
                  <a:txBody>
                    <a:bodyPr/>
                    <a:lstStyle/>
                    <a:p>
                      <a:pPr algn="r"/>
                      <a:r>
                        <a:rPr lang="en-US" dirty="0"/>
                        <a:t>1,259</a:t>
                      </a:r>
                    </a:p>
                  </a:txBody>
                  <a:tcPr/>
                </a:tc>
                <a:tc>
                  <a:txBody>
                    <a:bodyPr/>
                    <a:lstStyle/>
                    <a:p>
                      <a:pPr algn="r"/>
                      <a:r>
                        <a:rPr lang="en-US" dirty="0"/>
                        <a:t>1,091</a:t>
                      </a:r>
                    </a:p>
                  </a:txBody>
                  <a:tcPr/>
                </a:tc>
                <a:tc>
                  <a:txBody>
                    <a:bodyPr/>
                    <a:lstStyle/>
                    <a:p>
                      <a:pPr algn="r"/>
                      <a:r>
                        <a:rPr lang="en-US" dirty="0"/>
                        <a:t>2,017</a:t>
                      </a:r>
                    </a:p>
                  </a:txBody>
                  <a:tcPr/>
                </a:tc>
                <a:tc>
                  <a:txBody>
                    <a:bodyPr/>
                    <a:lstStyle/>
                    <a:p>
                      <a:pPr algn="r"/>
                      <a:r>
                        <a:rPr lang="en-US" dirty="0"/>
                        <a:t>1,256</a:t>
                      </a:r>
                    </a:p>
                  </a:txBody>
                  <a:tcPr/>
                </a:tc>
                <a:tc>
                  <a:txBody>
                    <a:bodyPr/>
                    <a:lstStyle/>
                    <a:p>
                      <a:pPr algn="r"/>
                      <a:r>
                        <a:rPr lang="en-US" dirty="0"/>
                        <a:t>3,268</a:t>
                      </a:r>
                    </a:p>
                  </a:txBody>
                  <a:tcPr/>
                </a:tc>
                <a:extLst>
                  <a:ext uri="{0D108BD9-81ED-4DB2-BD59-A6C34878D82A}">
                    <a16:rowId xmlns:a16="http://schemas.microsoft.com/office/drawing/2014/main" val="86937853"/>
                  </a:ext>
                </a:extLst>
              </a:tr>
              <a:tr h="370840">
                <a:tc>
                  <a:txBody>
                    <a:bodyPr/>
                    <a:lstStyle/>
                    <a:p>
                      <a:r>
                        <a:rPr lang="en-US" dirty="0"/>
                        <a:t>CTSA – Remove</a:t>
                      </a:r>
                    </a:p>
                  </a:txBody>
                  <a:tcPr/>
                </a:tc>
                <a:tc>
                  <a:txBody>
                    <a:bodyPr/>
                    <a:lstStyle/>
                    <a:p>
                      <a:pPr algn="r"/>
                      <a:r>
                        <a:rPr lang="en-US" dirty="0"/>
                        <a:t>No EDA</a:t>
                      </a:r>
                    </a:p>
                  </a:txBody>
                  <a:tcPr/>
                </a:tc>
                <a:tc>
                  <a:txBody>
                    <a:bodyPr/>
                    <a:lstStyle/>
                    <a:p>
                      <a:pPr algn="r"/>
                      <a:r>
                        <a:rPr lang="en-US" dirty="0"/>
                        <a:t>986</a:t>
                      </a:r>
                    </a:p>
                  </a:txBody>
                  <a:tcPr/>
                </a:tc>
                <a:tc>
                  <a:txBody>
                    <a:bodyPr/>
                    <a:lstStyle/>
                    <a:p>
                      <a:pPr algn="r"/>
                      <a:r>
                        <a:rPr lang="en-US" dirty="0"/>
                        <a:t>1,955</a:t>
                      </a:r>
                    </a:p>
                  </a:txBody>
                  <a:tcPr/>
                </a:tc>
                <a:tc>
                  <a:txBody>
                    <a:bodyPr/>
                    <a:lstStyle/>
                    <a:p>
                      <a:pPr algn="r"/>
                      <a:r>
                        <a:rPr lang="en-US" dirty="0"/>
                        <a:t>1,133</a:t>
                      </a:r>
                    </a:p>
                  </a:txBody>
                  <a:tcPr/>
                </a:tc>
                <a:tc>
                  <a:txBody>
                    <a:bodyPr/>
                    <a:lstStyle/>
                    <a:p>
                      <a:pPr algn="r"/>
                      <a:r>
                        <a:rPr lang="en-US" dirty="0"/>
                        <a:t>3,099</a:t>
                      </a:r>
                    </a:p>
                  </a:txBody>
                  <a:tcPr/>
                </a:tc>
                <a:extLst>
                  <a:ext uri="{0D108BD9-81ED-4DB2-BD59-A6C34878D82A}">
                    <a16:rowId xmlns:a16="http://schemas.microsoft.com/office/drawing/2014/main" val="104440598"/>
                  </a:ext>
                </a:extLst>
              </a:tr>
              <a:tr h="370840">
                <a:tc>
                  <a:txBody>
                    <a:bodyPr/>
                    <a:lstStyle/>
                    <a:p>
                      <a:r>
                        <a:rPr lang="en-US" dirty="0"/>
                        <a:t>CTSA – Add Sewer</a:t>
                      </a:r>
                    </a:p>
                  </a:txBody>
                  <a:tcPr/>
                </a:tc>
                <a:tc>
                  <a:txBody>
                    <a:bodyPr/>
                    <a:lstStyle/>
                    <a:p>
                      <a:pPr algn="r"/>
                      <a:r>
                        <a:rPr lang="en-US" dirty="0"/>
                        <a:t>No EDA</a:t>
                      </a:r>
                    </a:p>
                  </a:txBody>
                  <a:tcPr/>
                </a:tc>
                <a:tc>
                  <a:txBody>
                    <a:bodyPr/>
                    <a:lstStyle/>
                    <a:p>
                      <a:pPr algn="r"/>
                      <a:r>
                        <a:rPr lang="en-US" dirty="0"/>
                        <a:t>1.095</a:t>
                      </a:r>
                    </a:p>
                  </a:txBody>
                  <a:tcPr/>
                </a:tc>
                <a:tc>
                  <a:txBody>
                    <a:bodyPr/>
                    <a:lstStyle/>
                    <a:p>
                      <a:pPr algn="r"/>
                      <a:r>
                        <a:rPr lang="en-US" dirty="0"/>
                        <a:t>2,115</a:t>
                      </a:r>
                    </a:p>
                  </a:txBody>
                  <a:tcPr/>
                </a:tc>
                <a:tc>
                  <a:txBody>
                    <a:bodyPr/>
                    <a:lstStyle/>
                    <a:p>
                      <a:pPr algn="r"/>
                      <a:r>
                        <a:rPr lang="en-US" dirty="0"/>
                        <a:t>1,256</a:t>
                      </a:r>
                    </a:p>
                  </a:txBody>
                  <a:tcPr/>
                </a:tc>
                <a:tc>
                  <a:txBody>
                    <a:bodyPr/>
                    <a:lstStyle/>
                    <a:p>
                      <a:pPr algn="r"/>
                      <a:r>
                        <a:rPr lang="en-US" dirty="0"/>
                        <a:t>3,366</a:t>
                      </a:r>
                    </a:p>
                  </a:txBody>
                  <a:tcPr/>
                </a:tc>
                <a:extLst>
                  <a:ext uri="{0D108BD9-81ED-4DB2-BD59-A6C34878D82A}">
                    <a16:rowId xmlns:a16="http://schemas.microsoft.com/office/drawing/2014/main" val="3574036462"/>
                  </a:ext>
                </a:extLst>
              </a:tr>
              <a:tr h="370840">
                <a:tc>
                  <a:txBody>
                    <a:bodyPr/>
                    <a:lstStyle/>
                    <a:p>
                      <a:r>
                        <a:rPr lang="en-US" dirty="0"/>
                        <a:t>CTSA – Add Driveway</a:t>
                      </a:r>
                    </a:p>
                  </a:txBody>
                  <a:tcPr/>
                </a:tc>
                <a:tc>
                  <a:txBody>
                    <a:bodyPr/>
                    <a:lstStyle/>
                    <a:p>
                      <a:pPr algn="r"/>
                      <a:r>
                        <a:rPr lang="en-US" dirty="0"/>
                        <a:t>No EDA</a:t>
                      </a:r>
                    </a:p>
                  </a:txBody>
                  <a:tcPr/>
                </a:tc>
                <a:tc>
                  <a:txBody>
                    <a:bodyPr/>
                    <a:lstStyle/>
                    <a:p>
                      <a:pPr algn="r"/>
                      <a:r>
                        <a:rPr lang="en-US" dirty="0"/>
                        <a:t>1,072</a:t>
                      </a:r>
                    </a:p>
                  </a:txBody>
                  <a:tcPr/>
                </a:tc>
                <a:tc>
                  <a:txBody>
                    <a:bodyPr/>
                    <a:lstStyle/>
                    <a:p>
                      <a:pPr algn="r"/>
                      <a:r>
                        <a:rPr lang="en-US" dirty="0"/>
                        <a:t>1,884</a:t>
                      </a:r>
                    </a:p>
                  </a:txBody>
                  <a:tcPr/>
                </a:tc>
                <a:tc>
                  <a:txBody>
                    <a:bodyPr/>
                    <a:lstStyle/>
                    <a:p>
                      <a:pPr algn="r"/>
                      <a:r>
                        <a:rPr lang="en-US" dirty="0"/>
                        <a:t>1,228</a:t>
                      </a:r>
                    </a:p>
                  </a:txBody>
                  <a:tcPr/>
                </a:tc>
                <a:tc>
                  <a:txBody>
                    <a:bodyPr/>
                    <a:lstStyle/>
                    <a:p>
                      <a:pPr algn="r"/>
                      <a:r>
                        <a:rPr lang="en-US" dirty="0"/>
                        <a:t>3,098</a:t>
                      </a:r>
                    </a:p>
                  </a:txBody>
                  <a:tcPr/>
                </a:tc>
                <a:extLst>
                  <a:ext uri="{0D108BD9-81ED-4DB2-BD59-A6C34878D82A}">
                    <a16:rowId xmlns:a16="http://schemas.microsoft.com/office/drawing/2014/main" val="1650942789"/>
                  </a:ext>
                </a:extLst>
              </a:tr>
              <a:tr h="370840">
                <a:tc>
                  <a:txBody>
                    <a:bodyPr/>
                    <a:lstStyle/>
                    <a:p>
                      <a:r>
                        <a:rPr lang="en-US" dirty="0"/>
                        <a:t>ET – Base</a:t>
                      </a:r>
                    </a:p>
                  </a:txBody>
                  <a:tcPr/>
                </a:tc>
                <a:tc>
                  <a:txBody>
                    <a:bodyPr/>
                    <a:lstStyle/>
                    <a:p>
                      <a:pPr algn="r"/>
                      <a:r>
                        <a:rPr lang="en-US" dirty="0"/>
                        <a:t>13,951</a:t>
                      </a:r>
                    </a:p>
                  </a:txBody>
                  <a:tcPr/>
                </a:tc>
                <a:tc>
                  <a:txBody>
                    <a:bodyPr/>
                    <a:lstStyle/>
                    <a:p>
                      <a:pPr algn="r"/>
                      <a:r>
                        <a:rPr lang="en-US" dirty="0"/>
                        <a:t>No Run</a:t>
                      </a:r>
                    </a:p>
                  </a:txBody>
                  <a:tcPr/>
                </a:tc>
                <a:tc>
                  <a:txBody>
                    <a:bodyPr/>
                    <a:lstStyle/>
                    <a:p>
                      <a:pPr algn="r"/>
                      <a:r>
                        <a:rPr lang="en-US" dirty="0"/>
                        <a:t>No Run</a:t>
                      </a:r>
                    </a:p>
                  </a:txBody>
                  <a:tcPr/>
                </a:tc>
                <a:tc>
                  <a:txBody>
                    <a:bodyPr/>
                    <a:lstStyle/>
                    <a:p>
                      <a:pPr algn="r"/>
                      <a:r>
                        <a:rPr lang="en-US" dirty="0"/>
                        <a:t>No Run</a:t>
                      </a:r>
                    </a:p>
                  </a:txBody>
                  <a:tcPr/>
                </a:tc>
                <a:tc>
                  <a:txBody>
                    <a:bodyPr/>
                    <a:lstStyle/>
                    <a:p>
                      <a:pPr algn="r"/>
                      <a:r>
                        <a:rPr lang="en-US" dirty="0"/>
                        <a:t>No Run</a:t>
                      </a:r>
                    </a:p>
                  </a:txBody>
                  <a:tcPr/>
                </a:tc>
                <a:extLst>
                  <a:ext uri="{0D108BD9-81ED-4DB2-BD59-A6C34878D82A}">
                    <a16:rowId xmlns:a16="http://schemas.microsoft.com/office/drawing/2014/main" val="3127683078"/>
                  </a:ext>
                </a:extLst>
              </a:tr>
            </a:tbl>
          </a:graphicData>
        </a:graphic>
      </p:graphicFrame>
      <p:sp>
        <p:nvSpPr>
          <p:cNvPr id="8" name="TextBox 7">
            <a:extLst>
              <a:ext uri="{FF2B5EF4-FFF2-40B4-BE49-F238E27FC236}">
                <a16:creationId xmlns:a16="http://schemas.microsoft.com/office/drawing/2014/main" id="{7FAF0918-46A6-A452-E4EB-640872C5871B}"/>
              </a:ext>
            </a:extLst>
          </p:cNvPr>
          <p:cNvSpPr txBox="1"/>
          <p:nvPr/>
        </p:nvSpPr>
        <p:spPr>
          <a:xfrm>
            <a:off x="9932557" y="3764181"/>
            <a:ext cx="1614545" cy="507831"/>
          </a:xfrm>
          <a:prstGeom prst="rect">
            <a:avLst/>
          </a:prstGeom>
          <a:noFill/>
        </p:spPr>
        <p:txBody>
          <a:bodyPr wrap="none" rtlCol="0">
            <a:spAutoFit/>
          </a:bodyPr>
          <a:lstStyle/>
          <a:p>
            <a:r>
              <a:rPr lang="en-US" sz="900" b="1" dirty="0"/>
              <a:t>Sources:</a:t>
            </a:r>
          </a:p>
          <a:p>
            <a:r>
              <a:rPr lang="en-US" sz="900" dirty="0"/>
              <a:t>RUN_2025-09-10_01-51-12</a:t>
            </a:r>
          </a:p>
          <a:p>
            <a:r>
              <a:rPr lang="en-US" sz="900" dirty="0"/>
              <a:t>RUN_2025-09-19_01-48-36</a:t>
            </a:r>
          </a:p>
        </p:txBody>
      </p:sp>
    </p:spTree>
    <p:extLst>
      <p:ext uri="{BB962C8B-B14F-4D97-AF65-F5344CB8AC3E}">
        <p14:creationId xmlns:p14="http://schemas.microsoft.com/office/powerpoint/2010/main" val="28627160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B5CDD26B-59E1-3898-F565-6FA7C2E20A29}"/>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pic>
        <p:nvPicPr>
          <p:cNvPr id="3" name="Picture 2">
            <a:extLst>
              <a:ext uri="{FF2B5EF4-FFF2-40B4-BE49-F238E27FC236}">
                <a16:creationId xmlns:a16="http://schemas.microsoft.com/office/drawing/2014/main" id="{6B0FF1BC-8325-ADBD-F068-C93EC493D134}"/>
              </a:ext>
            </a:extLst>
          </p:cNvPr>
          <p:cNvPicPr>
            <a:picLocks noChangeAspect="1"/>
          </p:cNvPicPr>
          <p:nvPr/>
        </p:nvPicPr>
        <p:blipFill>
          <a:blip r:embed="rId2"/>
          <a:srcRect l="23842"/>
          <a:stretch>
            <a:fillRect/>
          </a:stretch>
        </p:blipFill>
        <p:spPr>
          <a:xfrm>
            <a:off x="5102352" y="755523"/>
            <a:ext cx="6992874" cy="4743450"/>
          </a:xfrm>
          <a:prstGeom prst="rect">
            <a:avLst/>
          </a:prstGeom>
        </p:spPr>
      </p:pic>
      <p:sp>
        <p:nvSpPr>
          <p:cNvPr id="4" name="TextBox 3">
            <a:extLst>
              <a:ext uri="{FF2B5EF4-FFF2-40B4-BE49-F238E27FC236}">
                <a16:creationId xmlns:a16="http://schemas.microsoft.com/office/drawing/2014/main" id="{E288F2AF-D9C6-CC4D-77AD-B8DF28368F55}"/>
              </a:ext>
            </a:extLst>
          </p:cNvPr>
          <p:cNvSpPr txBox="1"/>
          <p:nvPr/>
        </p:nvSpPr>
        <p:spPr>
          <a:xfrm>
            <a:off x="658368" y="1528655"/>
            <a:ext cx="3813048" cy="3754874"/>
          </a:xfrm>
          <a:prstGeom prst="rect">
            <a:avLst/>
          </a:prstGeom>
          <a:noFill/>
        </p:spPr>
        <p:txBody>
          <a:bodyPr wrap="square" rtlCol="0">
            <a:spAutoFit/>
          </a:bodyPr>
          <a:lstStyle/>
          <a:p>
            <a:r>
              <a:rPr lang="en-US" dirty="0"/>
              <a:t>This graph, generated from the PA Township corpus, was queried for undefined terms. This is the </a:t>
            </a:r>
            <a:r>
              <a:rPr lang="en-US" i="1" dirty="0"/>
              <a:t>exact same principle</a:t>
            </a:r>
            <a:r>
              <a:rPr lang="en-US" dirty="0"/>
              <a:t> that would have found the Octreotide conflict.</a:t>
            </a:r>
          </a:p>
          <a:p>
            <a:endParaRPr lang="en-US" dirty="0"/>
          </a:p>
          <a:p>
            <a:r>
              <a:rPr lang="en-US" b="1" dirty="0"/>
              <a:t>Query:</a:t>
            </a:r>
          </a:p>
          <a:p>
            <a:r>
              <a:rPr lang="en-US" dirty="0">
                <a:latin typeface="Courier New" panose="02070309020205020404" pitchFamily="49" charset="0"/>
                <a:cs typeface="Courier New" panose="02070309020205020404" pitchFamily="49" charset="0"/>
              </a:rPr>
              <a:t>MATCH (a)-[:USED_IN]-&gt;(b)WHERE NOT EXISTS (()-[:DEFINES]-&gt;;(b))RETURN a.id AS </a:t>
            </a:r>
            <a:r>
              <a:rPr lang="en-US" dirty="0" err="1">
                <a:latin typeface="Courier New" panose="02070309020205020404" pitchFamily="49" charset="0"/>
                <a:cs typeface="Courier New" panose="02070309020205020404" pitchFamily="49" charset="0"/>
              </a:rPr>
              <a:t>sourceNode</a:t>
            </a:r>
            <a:r>
              <a:rPr lang="en-US" dirty="0">
                <a:latin typeface="Courier New" panose="02070309020205020404" pitchFamily="49" charset="0"/>
                <a:cs typeface="Courier New" panose="02070309020205020404" pitchFamily="49" charset="0"/>
              </a:rPr>
              <a:t>, b.id AS </a:t>
            </a:r>
            <a:r>
              <a:rPr lang="en-US" dirty="0" err="1">
                <a:latin typeface="Courier New" panose="02070309020205020404" pitchFamily="49" charset="0"/>
                <a:cs typeface="Courier New" panose="02070309020205020404" pitchFamily="49" charset="0"/>
              </a:rPr>
              <a:t>targetNode</a:t>
            </a:r>
            <a:r>
              <a:rPr lang="en-US" dirty="0">
                <a:latin typeface="Courier New" panose="02070309020205020404" pitchFamily="49" charset="0"/>
                <a:cs typeface="Courier New" panose="02070309020205020404" pitchFamily="49" charset="0"/>
              </a:rPr>
              <a:t>,'Undefined Term Used’ AS </a:t>
            </a:r>
            <a:r>
              <a:rPr lang="en-US" dirty="0" err="1">
                <a:latin typeface="Courier New" panose="02070309020205020404" pitchFamily="49" charset="0"/>
                <a:cs typeface="Courier New" panose="02070309020205020404" pitchFamily="49" charset="0"/>
              </a:rPr>
              <a:t>incompletenessType</a:t>
            </a:r>
            <a:endParaRPr lang="en-US" dirty="0">
              <a:latin typeface="Courier New" panose="02070309020205020404" pitchFamily="49" charset="0"/>
              <a:cs typeface="Courier New" panose="02070309020205020404" pitchFamily="49" charset="0"/>
            </a:endParaRPr>
          </a:p>
          <a:p>
            <a:endParaRPr lang="en-US" dirty="0"/>
          </a:p>
          <a:p>
            <a:r>
              <a:rPr lang="en-US" b="1" dirty="0"/>
              <a:t>Result: </a:t>
            </a:r>
          </a:p>
          <a:p>
            <a:r>
              <a:rPr lang="en-US" dirty="0"/>
              <a:t>Found "Portable Flow Meter" used as a node, but missing a definition. This was manually verified. This directly answers RQ3: Yes, the KG can be used to check for completeness.</a:t>
            </a:r>
          </a:p>
        </p:txBody>
      </p:sp>
      <p:sp>
        <p:nvSpPr>
          <p:cNvPr id="2" name="Title 5">
            <a:extLst>
              <a:ext uri="{FF2B5EF4-FFF2-40B4-BE49-F238E27FC236}">
                <a16:creationId xmlns:a16="http://schemas.microsoft.com/office/drawing/2014/main" id="{8CFF1B84-3785-5FF1-7380-6F5B3FB41BCC}"/>
              </a:ext>
            </a:extLst>
          </p:cNvPr>
          <p:cNvSpPr txBox="1">
            <a:spLocks/>
          </p:cNvSpPr>
          <p:nvPr/>
        </p:nvSpPr>
        <p:spPr>
          <a:xfrm>
            <a:off x="854337" y="715617"/>
            <a:ext cx="10483326" cy="975070"/>
          </a:xfrm>
          <a:prstGeom prst="rect">
            <a:avLst/>
          </a:prstGeom>
        </p:spPr>
        <p:txBody>
          <a:bodyPr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b="1" dirty="0"/>
              <a:t>Key Findings</a:t>
            </a:r>
          </a:p>
        </p:txBody>
      </p:sp>
    </p:spTree>
    <p:extLst>
      <p:ext uri="{BB962C8B-B14F-4D97-AF65-F5344CB8AC3E}">
        <p14:creationId xmlns:p14="http://schemas.microsoft.com/office/powerpoint/2010/main" val="9089968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9BA5-BD40-A8A6-2B80-9770A3BEE57E}"/>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A6CDC9FB-D444-6513-789A-961CD2C68C5A}"/>
              </a:ext>
            </a:extLst>
          </p:cNvPr>
          <p:cNvSpPr>
            <a:spLocks noGrp="1"/>
          </p:cNvSpPr>
          <p:nvPr>
            <p:ph type="body" idx="1"/>
          </p:nvPr>
        </p:nvSpPr>
        <p:spPr/>
        <p:txBody>
          <a:bodyPr>
            <a:normAutofit/>
          </a:bodyPr>
          <a:lstStyle/>
          <a:p>
            <a:pPr marL="228600" indent="0"/>
            <a:r>
              <a:rPr lang="en-US" dirty="0"/>
              <a:t>Consistency could be determined within the Knowledge Graph</a:t>
            </a:r>
          </a:p>
          <a:p>
            <a:pPr marL="228600" indent="0"/>
            <a:r>
              <a:rPr lang="en-US" dirty="0"/>
              <a:t>Some completeness checks require external information to detect</a:t>
            </a:r>
          </a:p>
          <a:p>
            <a:pPr marL="742950" indent="-514350">
              <a:buFont typeface="+mj-lt"/>
              <a:buAutoNum type="arabicPeriod"/>
            </a:pPr>
            <a:r>
              <a:rPr lang="en-US" dirty="0"/>
              <a:t>A topic that is not referenced withing the document is missing</a:t>
            </a:r>
          </a:p>
          <a:p>
            <a:pPr marL="742950" indent="-514350">
              <a:buFont typeface="+mj-lt"/>
              <a:buAutoNum type="arabicPeriod"/>
            </a:pPr>
            <a:r>
              <a:rPr lang="en-US" dirty="0"/>
              <a:t>A common topic within the domain but not general knowledge</a:t>
            </a:r>
          </a:p>
          <a:p>
            <a:pPr marL="228600" indent="0"/>
            <a:endParaRPr lang="en-US" dirty="0"/>
          </a:p>
        </p:txBody>
      </p:sp>
      <p:sp>
        <p:nvSpPr>
          <p:cNvPr id="6" name="Title 5">
            <a:extLst>
              <a:ext uri="{FF2B5EF4-FFF2-40B4-BE49-F238E27FC236}">
                <a16:creationId xmlns:a16="http://schemas.microsoft.com/office/drawing/2014/main" id="{76D2962A-C020-9817-5C40-9AA858E8FBEB}"/>
              </a:ext>
            </a:extLst>
          </p:cNvPr>
          <p:cNvSpPr>
            <a:spLocks noGrp="1"/>
          </p:cNvSpPr>
          <p:nvPr>
            <p:ph type="title"/>
          </p:nvPr>
        </p:nvSpPr>
        <p:spPr/>
        <p:txBody>
          <a:bodyPr/>
          <a:lstStyle/>
          <a:p>
            <a:r>
              <a:rPr lang="en-US" dirty="0"/>
              <a:t>Key Findings</a:t>
            </a:r>
          </a:p>
        </p:txBody>
      </p:sp>
      <p:sp>
        <p:nvSpPr>
          <p:cNvPr id="2" name="TextBox 1">
            <a:extLst>
              <a:ext uri="{FF2B5EF4-FFF2-40B4-BE49-F238E27FC236}">
                <a16:creationId xmlns:a16="http://schemas.microsoft.com/office/drawing/2014/main" id="{83FD3B03-E8F7-49ED-5D7D-061F79BF2519}"/>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spTree>
    <p:extLst>
      <p:ext uri="{BB962C8B-B14F-4D97-AF65-F5344CB8AC3E}">
        <p14:creationId xmlns:p14="http://schemas.microsoft.com/office/powerpoint/2010/main" val="2793901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C0C7D-4DB7-1162-A403-9FC925DB426E}"/>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7282EE5E-0207-BA6D-F74A-86D29B06E863}"/>
              </a:ext>
            </a:extLst>
          </p:cNvPr>
          <p:cNvSpPr>
            <a:spLocks noGrp="1"/>
          </p:cNvSpPr>
          <p:nvPr>
            <p:ph type="body" idx="1"/>
          </p:nvPr>
        </p:nvSpPr>
        <p:spPr/>
        <p:txBody>
          <a:bodyPr>
            <a:normAutofit/>
          </a:bodyPr>
          <a:lstStyle/>
          <a:p>
            <a:pPr marL="228600" indent="0"/>
            <a:r>
              <a:rPr lang="en-US" dirty="0"/>
              <a:t>This research has shown</a:t>
            </a:r>
          </a:p>
          <a:p>
            <a:pPr marL="685800" lvl="1" indent="0"/>
            <a:r>
              <a:rPr lang="en-US" dirty="0"/>
              <a:t>The context window is not an absolute limit</a:t>
            </a:r>
          </a:p>
          <a:p>
            <a:pPr marL="685800" lvl="1" indent="0"/>
            <a:r>
              <a:rPr lang="en-US" dirty="0"/>
              <a:t>Focus is just as important as attention</a:t>
            </a:r>
          </a:p>
          <a:p>
            <a:pPr marL="685800" lvl="1" indent="0"/>
            <a:r>
              <a:rPr lang="en-US" dirty="0"/>
              <a:t>An attributed knowledge graph has explainable knowledge</a:t>
            </a:r>
          </a:p>
          <a:p>
            <a:pPr marL="685800" lvl="1" indent="0"/>
            <a:r>
              <a:rPr lang="en-US" dirty="0"/>
              <a:t>An attributed knowledge graph can be incrementally added to</a:t>
            </a:r>
          </a:p>
          <a:p>
            <a:pPr marL="685800" lvl="1" indent="0"/>
            <a:r>
              <a:rPr lang="en-US" dirty="0"/>
              <a:t>Refining an attributed knowledge graph can make it more useful</a:t>
            </a:r>
          </a:p>
          <a:p>
            <a:pPr marL="228600" indent="0"/>
            <a:endParaRPr lang="en-US" dirty="0"/>
          </a:p>
        </p:txBody>
      </p:sp>
      <p:sp>
        <p:nvSpPr>
          <p:cNvPr id="6" name="Title 5">
            <a:extLst>
              <a:ext uri="{FF2B5EF4-FFF2-40B4-BE49-F238E27FC236}">
                <a16:creationId xmlns:a16="http://schemas.microsoft.com/office/drawing/2014/main" id="{27CBFF49-D43D-F806-D8BA-0872E299DDE4}"/>
              </a:ext>
            </a:extLst>
          </p:cNvPr>
          <p:cNvSpPr>
            <a:spLocks noGrp="1"/>
          </p:cNvSpPr>
          <p:nvPr>
            <p:ph type="title"/>
          </p:nvPr>
        </p:nvSpPr>
        <p:spPr/>
        <p:txBody>
          <a:bodyPr/>
          <a:lstStyle/>
          <a:p>
            <a:r>
              <a:rPr lang="en-US" dirty="0"/>
              <a:t>Significance</a:t>
            </a:r>
          </a:p>
        </p:txBody>
      </p:sp>
      <p:sp>
        <p:nvSpPr>
          <p:cNvPr id="2" name="TextBox 1">
            <a:extLst>
              <a:ext uri="{FF2B5EF4-FFF2-40B4-BE49-F238E27FC236}">
                <a16:creationId xmlns:a16="http://schemas.microsoft.com/office/drawing/2014/main" id="{0C50ED24-3378-9E3F-0693-B0BE9676030C}"/>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a:t>
            </a:r>
            <a:r>
              <a:rPr lang="en-US" b="1" dirty="0"/>
              <a:t>Discussion</a:t>
            </a:r>
            <a:r>
              <a:rPr lang="en-US" dirty="0"/>
              <a:t>   Conclusion</a:t>
            </a:r>
          </a:p>
        </p:txBody>
      </p:sp>
    </p:spTree>
    <p:extLst>
      <p:ext uri="{BB962C8B-B14F-4D97-AF65-F5344CB8AC3E}">
        <p14:creationId xmlns:p14="http://schemas.microsoft.com/office/powerpoint/2010/main" val="33026581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7DE11-52DF-68C4-DB75-22EA5FCB7C02}"/>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30294863-B439-34B9-D964-20755CA5F5D1}"/>
              </a:ext>
            </a:extLst>
          </p:cNvPr>
          <p:cNvSpPr>
            <a:spLocks noGrp="1"/>
          </p:cNvSpPr>
          <p:nvPr>
            <p:ph type="body" idx="1"/>
          </p:nvPr>
        </p:nvSpPr>
        <p:spPr/>
        <p:txBody>
          <a:bodyPr>
            <a:normAutofit/>
          </a:bodyPr>
          <a:lstStyle/>
          <a:p>
            <a:pPr marL="228600" indent="0"/>
            <a:r>
              <a:rPr lang="en-US" dirty="0"/>
              <a:t>This research offers a scalable path forward for analyzing large-scale documents.</a:t>
            </a:r>
          </a:p>
          <a:p>
            <a:pPr marL="228600" indent="0"/>
            <a:r>
              <a:rPr lang="en-US" dirty="0"/>
              <a:t>Anyone who works with large documents can use an LLM to ensure that their work is complete and consistent</a:t>
            </a:r>
          </a:p>
        </p:txBody>
      </p:sp>
      <p:sp>
        <p:nvSpPr>
          <p:cNvPr id="6" name="Title 5">
            <a:extLst>
              <a:ext uri="{FF2B5EF4-FFF2-40B4-BE49-F238E27FC236}">
                <a16:creationId xmlns:a16="http://schemas.microsoft.com/office/drawing/2014/main" id="{708F2687-8A3D-BF29-074F-75AB809AB1AA}"/>
              </a:ext>
            </a:extLst>
          </p:cNvPr>
          <p:cNvSpPr>
            <a:spLocks noGrp="1"/>
          </p:cNvSpPr>
          <p:nvPr>
            <p:ph type="title"/>
          </p:nvPr>
        </p:nvSpPr>
        <p:spPr/>
        <p:txBody>
          <a:bodyPr/>
          <a:lstStyle/>
          <a:p>
            <a:r>
              <a:rPr lang="en-US" dirty="0"/>
              <a:t>Implications</a:t>
            </a:r>
          </a:p>
        </p:txBody>
      </p:sp>
      <p:sp>
        <p:nvSpPr>
          <p:cNvPr id="2" name="TextBox 1">
            <a:extLst>
              <a:ext uri="{FF2B5EF4-FFF2-40B4-BE49-F238E27FC236}">
                <a16:creationId xmlns:a16="http://schemas.microsoft.com/office/drawing/2014/main" id="{FDE39A3D-4D3A-22D7-5AE9-58538F80DF6B}"/>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a:t>
            </a:r>
            <a:r>
              <a:rPr lang="en-US" b="1" dirty="0"/>
              <a:t>Discussion</a:t>
            </a:r>
            <a:r>
              <a:rPr lang="en-US" dirty="0"/>
              <a:t>   Conclusion</a:t>
            </a:r>
          </a:p>
        </p:txBody>
      </p:sp>
    </p:spTree>
    <p:extLst>
      <p:ext uri="{BB962C8B-B14F-4D97-AF65-F5344CB8AC3E}">
        <p14:creationId xmlns:p14="http://schemas.microsoft.com/office/powerpoint/2010/main" val="35331474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054A5-082E-7378-581E-E40C110C454C}"/>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2FFF7282-65F0-2B51-6C1B-26C5993F47AE}"/>
              </a:ext>
            </a:extLst>
          </p:cNvPr>
          <p:cNvSpPr>
            <a:spLocks noGrp="1"/>
          </p:cNvSpPr>
          <p:nvPr>
            <p:ph type="body" idx="1"/>
          </p:nvPr>
        </p:nvSpPr>
        <p:spPr/>
        <p:txBody>
          <a:bodyPr>
            <a:normAutofit/>
          </a:bodyPr>
          <a:lstStyle/>
          <a:p>
            <a:pPr marL="228600" indent="0"/>
            <a:r>
              <a:rPr lang="en-US" dirty="0"/>
              <a:t>Develop large documents in multiple domains with well understood ground truth</a:t>
            </a:r>
          </a:p>
          <a:p>
            <a:pPr marL="228600" indent="0"/>
            <a:r>
              <a:rPr lang="en-US" dirty="0"/>
              <a:t>Work on improving performance</a:t>
            </a:r>
          </a:p>
          <a:p>
            <a:pPr marL="228600" indent="0"/>
            <a:r>
              <a:rPr lang="en-US" dirty="0"/>
              <a:t>LLMs trained for the specific tasks in the pipeline</a:t>
            </a:r>
          </a:p>
          <a:p>
            <a:pPr marL="228600" indent="0"/>
            <a:r>
              <a:rPr lang="en-US" dirty="0"/>
              <a:t>Automate the analysis of the knowledge graph (the that were not in scope, see appendix)</a:t>
            </a:r>
          </a:p>
          <a:p>
            <a:pPr marL="228600" indent="0"/>
            <a:endParaRPr lang="en-US" dirty="0"/>
          </a:p>
        </p:txBody>
      </p:sp>
      <p:sp>
        <p:nvSpPr>
          <p:cNvPr id="6" name="Title 5">
            <a:extLst>
              <a:ext uri="{FF2B5EF4-FFF2-40B4-BE49-F238E27FC236}">
                <a16:creationId xmlns:a16="http://schemas.microsoft.com/office/drawing/2014/main" id="{CBBBA840-00E3-D429-D36C-E558BC5564D5}"/>
              </a:ext>
            </a:extLst>
          </p:cNvPr>
          <p:cNvSpPr>
            <a:spLocks noGrp="1"/>
          </p:cNvSpPr>
          <p:nvPr>
            <p:ph type="title"/>
          </p:nvPr>
        </p:nvSpPr>
        <p:spPr/>
        <p:txBody>
          <a:bodyPr/>
          <a:lstStyle/>
          <a:p>
            <a:r>
              <a:rPr lang="en-US" dirty="0"/>
              <a:t>Future Research</a:t>
            </a:r>
          </a:p>
        </p:txBody>
      </p:sp>
      <p:sp>
        <p:nvSpPr>
          <p:cNvPr id="2" name="TextBox 1">
            <a:extLst>
              <a:ext uri="{FF2B5EF4-FFF2-40B4-BE49-F238E27FC236}">
                <a16:creationId xmlns:a16="http://schemas.microsoft.com/office/drawing/2014/main" id="{7E7AAEC5-482F-DF38-DFE0-AFE9726222FD}"/>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a:t>
            </a:r>
            <a:r>
              <a:rPr lang="en-US" b="1" dirty="0"/>
              <a:t>Discussion</a:t>
            </a:r>
            <a:r>
              <a:rPr lang="en-US" dirty="0"/>
              <a:t>   Conclusion</a:t>
            </a:r>
          </a:p>
        </p:txBody>
      </p:sp>
    </p:spTree>
    <p:extLst>
      <p:ext uri="{BB962C8B-B14F-4D97-AF65-F5344CB8AC3E}">
        <p14:creationId xmlns:p14="http://schemas.microsoft.com/office/powerpoint/2010/main" val="17628098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5C9EB-36B6-0E64-4662-54AEA6A0EE0E}"/>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304B4425-8FE9-273A-E0B8-EACB361AB758}"/>
              </a:ext>
            </a:extLst>
          </p:cNvPr>
          <p:cNvSpPr>
            <a:spLocks noGrp="1"/>
          </p:cNvSpPr>
          <p:nvPr>
            <p:ph type="body" idx="1"/>
          </p:nvPr>
        </p:nvSpPr>
        <p:spPr/>
        <p:txBody>
          <a:bodyPr>
            <a:normAutofit fontScale="92500"/>
          </a:bodyPr>
          <a:lstStyle/>
          <a:p>
            <a:pPr marL="228600" indent="0"/>
            <a:r>
              <a:rPr lang="en-US" dirty="0"/>
              <a:t>Attributed knowledge graphs can be built from long texts (RQ1, H1)</a:t>
            </a:r>
          </a:p>
          <a:p>
            <a:pPr marL="228600" indent="0"/>
            <a:r>
              <a:rPr lang="en-US" dirty="0"/>
              <a:t>The attributed knowledge graph can be enriched (RQ2, H2)</a:t>
            </a:r>
          </a:p>
          <a:p>
            <a:pPr marL="228600" indent="0"/>
            <a:r>
              <a:rPr lang="en-US" dirty="0"/>
              <a:t>The enriched attributed knowledge graph can be used to answer questions about the original document. At least correctness and completeness but other questions, too (RQ3, H3)</a:t>
            </a:r>
          </a:p>
          <a:p>
            <a:pPr marL="228600" indent="0"/>
            <a:r>
              <a:rPr lang="en-US" b="1" dirty="0"/>
              <a:t>This is a powerful technique to address source material that extends beyond the context window of LLMs.</a:t>
            </a:r>
          </a:p>
          <a:p>
            <a:pPr marL="228600" indent="0"/>
            <a:endParaRPr lang="en-US" dirty="0"/>
          </a:p>
          <a:p>
            <a:pPr marL="228600" indent="0"/>
            <a:endParaRPr lang="en-US" dirty="0"/>
          </a:p>
        </p:txBody>
      </p:sp>
      <p:sp>
        <p:nvSpPr>
          <p:cNvPr id="6" name="Title 5">
            <a:extLst>
              <a:ext uri="{FF2B5EF4-FFF2-40B4-BE49-F238E27FC236}">
                <a16:creationId xmlns:a16="http://schemas.microsoft.com/office/drawing/2014/main" id="{A2C6A84E-32DA-97D2-B504-BAFC014E8A16}"/>
              </a:ext>
            </a:extLst>
          </p:cNvPr>
          <p:cNvSpPr>
            <a:spLocks noGrp="1"/>
          </p:cNvSpPr>
          <p:nvPr>
            <p:ph type="title"/>
          </p:nvPr>
        </p:nvSpPr>
        <p:spPr/>
        <p:txBody>
          <a:bodyPr/>
          <a:lstStyle/>
          <a:p>
            <a:r>
              <a:rPr lang="en-US" dirty="0"/>
              <a:t>Conclusion</a:t>
            </a:r>
          </a:p>
        </p:txBody>
      </p:sp>
      <p:sp>
        <p:nvSpPr>
          <p:cNvPr id="2" name="TextBox 1">
            <a:extLst>
              <a:ext uri="{FF2B5EF4-FFF2-40B4-BE49-F238E27FC236}">
                <a16:creationId xmlns:a16="http://schemas.microsoft.com/office/drawing/2014/main" id="{9001441F-D9A7-D315-0956-FB6375D799F1}"/>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Discussion   </a:t>
            </a:r>
            <a:r>
              <a:rPr lang="en-US" b="1" dirty="0"/>
              <a:t>Conclusion</a:t>
            </a:r>
          </a:p>
        </p:txBody>
      </p:sp>
    </p:spTree>
    <p:extLst>
      <p:ext uri="{BB962C8B-B14F-4D97-AF65-F5344CB8AC3E}">
        <p14:creationId xmlns:p14="http://schemas.microsoft.com/office/powerpoint/2010/main" val="24552619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92517-6372-34EB-9EB5-CBC1EDB3A786}"/>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49B7031E-A6EE-56B1-EC5F-4ED985B45464}"/>
              </a:ext>
            </a:extLst>
          </p:cNvPr>
          <p:cNvSpPr>
            <a:spLocks noGrp="1"/>
          </p:cNvSpPr>
          <p:nvPr>
            <p:ph type="body" idx="1"/>
          </p:nvPr>
        </p:nvSpPr>
        <p:spPr>
          <a:xfrm>
            <a:off x="838200" y="1825625"/>
            <a:ext cx="6038088" cy="3474508"/>
          </a:xfrm>
        </p:spPr>
        <p:txBody>
          <a:bodyPr>
            <a:normAutofit fontScale="92500" lnSpcReduction="10000"/>
          </a:bodyPr>
          <a:lstStyle/>
          <a:p>
            <a:pPr marL="228600" indent="0"/>
            <a:r>
              <a:rPr lang="en-US" dirty="0"/>
              <a:t>Recall the 100,000-page NDA with the fatal contradiction.</a:t>
            </a:r>
          </a:p>
          <a:p>
            <a:pPr marL="228600" indent="0"/>
            <a:endParaRPr lang="en-US" dirty="0"/>
          </a:p>
          <a:p>
            <a:pPr marL="228600" indent="0"/>
            <a:endParaRPr lang="en-US" dirty="0"/>
          </a:p>
          <a:p>
            <a:pPr marL="228600" indent="0"/>
            <a:r>
              <a:rPr lang="en-US" dirty="0"/>
              <a:t>Mnemosyne's process for semantic enrichment (RQ2) and consistency checking (RQ3) would have automatically flagged this conflict, proving the value of this approach.</a:t>
            </a:r>
          </a:p>
        </p:txBody>
      </p:sp>
      <p:sp>
        <p:nvSpPr>
          <p:cNvPr id="6" name="Title 5">
            <a:extLst>
              <a:ext uri="{FF2B5EF4-FFF2-40B4-BE49-F238E27FC236}">
                <a16:creationId xmlns:a16="http://schemas.microsoft.com/office/drawing/2014/main" id="{8F43D8C0-2AEA-4F1F-4426-90D20F6B5668}"/>
              </a:ext>
            </a:extLst>
          </p:cNvPr>
          <p:cNvSpPr>
            <a:spLocks noGrp="1"/>
          </p:cNvSpPr>
          <p:nvPr>
            <p:ph type="title"/>
          </p:nvPr>
        </p:nvSpPr>
        <p:spPr/>
        <p:txBody>
          <a:bodyPr/>
          <a:lstStyle/>
          <a:p>
            <a:r>
              <a:rPr lang="en-US" dirty="0"/>
              <a:t>Revisiting the NDA Problem</a:t>
            </a:r>
          </a:p>
        </p:txBody>
      </p:sp>
      <p:sp>
        <p:nvSpPr>
          <p:cNvPr id="2" name="TextBox 1">
            <a:extLst>
              <a:ext uri="{FF2B5EF4-FFF2-40B4-BE49-F238E27FC236}">
                <a16:creationId xmlns:a16="http://schemas.microsoft.com/office/drawing/2014/main" id="{BAE9A87E-E294-15DE-DB60-E99F3B06A2E7}"/>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Discussion   </a:t>
            </a:r>
            <a:r>
              <a:rPr lang="en-US" b="1" dirty="0"/>
              <a:t>Conclusion</a:t>
            </a:r>
          </a:p>
        </p:txBody>
      </p:sp>
      <p:sp>
        <p:nvSpPr>
          <p:cNvPr id="3" name="Oval 2">
            <a:extLst>
              <a:ext uri="{FF2B5EF4-FFF2-40B4-BE49-F238E27FC236}">
                <a16:creationId xmlns:a16="http://schemas.microsoft.com/office/drawing/2014/main" id="{50677A5D-3AE9-A9DF-928E-64996A3F6307}"/>
              </a:ext>
            </a:extLst>
          </p:cNvPr>
          <p:cNvSpPr/>
          <p:nvPr/>
        </p:nvSpPr>
        <p:spPr>
          <a:xfrm>
            <a:off x="7680960" y="4190534"/>
            <a:ext cx="234751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Octreotide</a:t>
            </a:r>
            <a:br>
              <a:rPr lang="en-US" dirty="0"/>
            </a:br>
            <a:r>
              <a:rPr lang="en-US" dirty="0"/>
              <a:t>type: Drug</a:t>
            </a:r>
          </a:p>
          <a:p>
            <a:pPr algn="ctr"/>
            <a:r>
              <a:rPr lang="en-US" dirty="0"/>
              <a:t>source: page 727</a:t>
            </a:r>
          </a:p>
        </p:txBody>
      </p:sp>
      <p:sp>
        <p:nvSpPr>
          <p:cNvPr id="4" name="Oval 3">
            <a:extLst>
              <a:ext uri="{FF2B5EF4-FFF2-40B4-BE49-F238E27FC236}">
                <a16:creationId xmlns:a16="http://schemas.microsoft.com/office/drawing/2014/main" id="{8D66CC3D-22F7-0778-0A69-CF5C24BD0ADF}"/>
              </a:ext>
            </a:extLst>
          </p:cNvPr>
          <p:cNvSpPr/>
          <p:nvPr/>
        </p:nvSpPr>
        <p:spPr>
          <a:xfrm>
            <a:off x="7680960" y="1529588"/>
            <a:ext cx="234751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Somatostatin Analog</a:t>
            </a:r>
          </a:p>
        </p:txBody>
      </p:sp>
      <p:sp>
        <p:nvSpPr>
          <p:cNvPr id="5" name="Arrow: Down 4">
            <a:extLst>
              <a:ext uri="{FF2B5EF4-FFF2-40B4-BE49-F238E27FC236}">
                <a16:creationId xmlns:a16="http://schemas.microsoft.com/office/drawing/2014/main" id="{F87D92D0-8726-E871-76AD-B6885B452D4F}"/>
              </a:ext>
            </a:extLst>
          </p:cNvPr>
          <p:cNvSpPr/>
          <p:nvPr/>
        </p:nvSpPr>
        <p:spPr>
          <a:xfrm rot="10800000">
            <a:off x="8324363" y="2681753"/>
            <a:ext cx="1060704" cy="141732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dirty="0"/>
              <a:t>IS_A</a:t>
            </a:r>
          </a:p>
        </p:txBody>
      </p:sp>
      <p:sp>
        <p:nvSpPr>
          <p:cNvPr id="8" name="Oval 7">
            <a:extLst>
              <a:ext uri="{FF2B5EF4-FFF2-40B4-BE49-F238E27FC236}">
                <a16:creationId xmlns:a16="http://schemas.microsoft.com/office/drawing/2014/main" id="{87EF2E89-5119-BD47-0945-AFF86451212E}"/>
              </a:ext>
            </a:extLst>
          </p:cNvPr>
          <p:cNvSpPr/>
          <p:nvPr/>
        </p:nvSpPr>
        <p:spPr>
          <a:xfrm>
            <a:off x="9659387" y="3032527"/>
            <a:ext cx="234751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New Drug</a:t>
            </a:r>
          </a:p>
          <a:p>
            <a:pPr algn="ctr"/>
            <a:r>
              <a:rPr lang="en-US" dirty="0"/>
              <a:t>type: Drug</a:t>
            </a:r>
          </a:p>
        </p:txBody>
      </p:sp>
      <p:sp>
        <p:nvSpPr>
          <p:cNvPr id="9" name="Arrow: Down 8">
            <a:extLst>
              <a:ext uri="{FF2B5EF4-FFF2-40B4-BE49-F238E27FC236}">
                <a16:creationId xmlns:a16="http://schemas.microsoft.com/office/drawing/2014/main" id="{46A7EC2F-23F9-4748-CE83-1D35DBE506D6}"/>
              </a:ext>
            </a:extLst>
          </p:cNvPr>
          <p:cNvSpPr/>
          <p:nvPr/>
        </p:nvSpPr>
        <p:spPr>
          <a:xfrm rot="3092898">
            <a:off x="10284642" y="4169054"/>
            <a:ext cx="664464" cy="9750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Down 9">
            <a:extLst>
              <a:ext uri="{FF2B5EF4-FFF2-40B4-BE49-F238E27FC236}">
                <a16:creationId xmlns:a16="http://schemas.microsoft.com/office/drawing/2014/main" id="{828B4217-029B-DF6E-9C05-CC4F6F8304D6}"/>
              </a:ext>
            </a:extLst>
          </p:cNvPr>
          <p:cNvSpPr/>
          <p:nvPr/>
        </p:nvSpPr>
        <p:spPr>
          <a:xfrm rot="7787835">
            <a:off x="10217581" y="2014640"/>
            <a:ext cx="664464" cy="9750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0B13A44-3441-D895-29B6-61946A94C803}"/>
              </a:ext>
            </a:extLst>
          </p:cNvPr>
          <p:cNvSpPr txBox="1"/>
          <p:nvPr/>
        </p:nvSpPr>
        <p:spPr>
          <a:xfrm>
            <a:off x="10848709" y="1663436"/>
            <a:ext cx="1043241" cy="954107"/>
          </a:xfrm>
          <a:prstGeom prst="rect">
            <a:avLst/>
          </a:prstGeom>
          <a:noFill/>
        </p:spPr>
        <p:txBody>
          <a:bodyPr wrap="square" rtlCol="0">
            <a:spAutoFit/>
          </a:bodyPr>
          <a:lstStyle/>
          <a:p>
            <a:r>
              <a:rPr lang="en-US" dirty="0"/>
              <a:t>Has no side effects with</a:t>
            </a:r>
          </a:p>
        </p:txBody>
      </p:sp>
      <p:sp>
        <p:nvSpPr>
          <p:cNvPr id="12" name="TextBox 11">
            <a:extLst>
              <a:ext uri="{FF2B5EF4-FFF2-40B4-BE49-F238E27FC236}">
                <a16:creationId xmlns:a16="http://schemas.microsoft.com/office/drawing/2014/main" id="{8EB65CCF-FF58-934A-D4BD-4EC00A1754B1}"/>
              </a:ext>
            </a:extLst>
          </p:cNvPr>
          <p:cNvSpPr txBox="1"/>
          <p:nvPr/>
        </p:nvSpPr>
        <p:spPr>
          <a:xfrm>
            <a:off x="10963656" y="4498382"/>
            <a:ext cx="1043241" cy="738664"/>
          </a:xfrm>
          <a:prstGeom prst="rect">
            <a:avLst/>
          </a:prstGeom>
          <a:noFill/>
        </p:spPr>
        <p:txBody>
          <a:bodyPr wrap="square" rtlCol="0">
            <a:spAutoFit/>
          </a:bodyPr>
          <a:lstStyle/>
          <a:p>
            <a:r>
              <a:rPr lang="en-US" dirty="0"/>
              <a:t>Risk of death if taken with</a:t>
            </a:r>
          </a:p>
        </p:txBody>
      </p:sp>
    </p:spTree>
    <p:extLst>
      <p:ext uri="{BB962C8B-B14F-4D97-AF65-F5344CB8AC3E}">
        <p14:creationId xmlns:p14="http://schemas.microsoft.com/office/powerpoint/2010/main" val="4744743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7E50A-79E0-0E98-8FEE-CDC153AE06F9}"/>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08D81557-7943-031F-D49B-361541C364AD}"/>
              </a:ext>
            </a:extLst>
          </p:cNvPr>
          <p:cNvSpPr>
            <a:spLocks noGrp="1"/>
          </p:cNvSpPr>
          <p:nvPr>
            <p:ph type="body" idx="1"/>
          </p:nvPr>
        </p:nvSpPr>
        <p:spPr>
          <a:xfrm>
            <a:off x="5047486" y="1825625"/>
            <a:ext cx="6306313" cy="3474508"/>
          </a:xfrm>
        </p:spPr>
        <p:txBody>
          <a:bodyPr>
            <a:normAutofit/>
          </a:bodyPr>
          <a:lstStyle/>
          <a:p>
            <a:pPr marL="228600" indent="0"/>
            <a:r>
              <a:rPr lang="en-US" dirty="0"/>
              <a:t>Michael Wacey</a:t>
            </a:r>
          </a:p>
          <a:p>
            <a:pPr marL="228600" indent="0"/>
            <a:r>
              <a:rPr lang="en-US" dirty="0"/>
              <a:t>610-608-4759</a:t>
            </a:r>
          </a:p>
          <a:p>
            <a:pPr marL="228600" indent="0"/>
            <a:r>
              <a:rPr lang="en-US" dirty="0">
                <a:hlinkClick r:id="rId2"/>
              </a:rPr>
              <a:t>michaelwacey@msn.com</a:t>
            </a:r>
            <a:endParaRPr lang="en-US" dirty="0"/>
          </a:p>
          <a:p>
            <a:pPr marL="228600" indent="0"/>
            <a:endParaRPr lang="en-US" dirty="0"/>
          </a:p>
          <a:p>
            <a:pPr marL="228600" indent="0"/>
            <a:r>
              <a:rPr lang="en-US" sz="4400" b="1" dirty="0"/>
              <a:t>Thank You</a:t>
            </a:r>
          </a:p>
          <a:p>
            <a:pPr marL="228600" indent="0"/>
            <a:endParaRPr lang="en-US" dirty="0"/>
          </a:p>
        </p:txBody>
      </p:sp>
      <p:sp>
        <p:nvSpPr>
          <p:cNvPr id="6" name="Title 5">
            <a:extLst>
              <a:ext uri="{FF2B5EF4-FFF2-40B4-BE49-F238E27FC236}">
                <a16:creationId xmlns:a16="http://schemas.microsoft.com/office/drawing/2014/main" id="{8BD56BE4-F5D4-4198-23EB-0F390B310C7C}"/>
              </a:ext>
            </a:extLst>
          </p:cNvPr>
          <p:cNvSpPr>
            <a:spLocks noGrp="1"/>
          </p:cNvSpPr>
          <p:nvPr>
            <p:ph type="title"/>
          </p:nvPr>
        </p:nvSpPr>
        <p:spPr>
          <a:xfrm>
            <a:off x="5047487" y="715617"/>
            <a:ext cx="6290175" cy="975070"/>
          </a:xfrm>
        </p:spPr>
        <p:txBody>
          <a:bodyPr/>
          <a:lstStyle/>
          <a:p>
            <a:r>
              <a:rPr lang="en-US" dirty="0"/>
              <a:t>Questions?</a:t>
            </a:r>
          </a:p>
        </p:txBody>
      </p:sp>
      <p:sp>
        <p:nvSpPr>
          <p:cNvPr id="2" name="TextBox 1">
            <a:extLst>
              <a:ext uri="{FF2B5EF4-FFF2-40B4-BE49-F238E27FC236}">
                <a16:creationId xmlns:a16="http://schemas.microsoft.com/office/drawing/2014/main" id="{90C399ED-8869-418F-D164-0805537136EB}"/>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Discussion   </a:t>
            </a:r>
            <a:r>
              <a:rPr lang="en-US" b="1" dirty="0"/>
              <a:t>Conclusion</a:t>
            </a:r>
          </a:p>
        </p:txBody>
      </p:sp>
      <p:pic>
        <p:nvPicPr>
          <p:cNvPr id="4" name="Picture 3">
            <a:extLst>
              <a:ext uri="{FF2B5EF4-FFF2-40B4-BE49-F238E27FC236}">
                <a16:creationId xmlns:a16="http://schemas.microsoft.com/office/drawing/2014/main" id="{25EA817A-1283-D8B0-3E85-E855C283C4D8}"/>
              </a:ext>
            </a:extLst>
          </p:cNvPr>
          <p:cNvPicPr>
            <a:picLocks noChangeAspect="1"/>
          </p:cNvPicPr>
          <p:nvPr/>
        </p:nvPicPr>
        <p:blipFill>
          <a:blip r:embed="rId3"/>
          <a:stretch>
            <a:fillRect/>
          </a:stretch>
        </p:blipFill>
        <p:spPr>
          <a:xfrm>
            <a:off x="1039368" y="715617"/>
            <a:ext cx="3020568" cy="4228795"/>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6116104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42655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FEFC2-3CA4-8483-644B-B525DC443936}"/>
              </a:ext>
            </a:extLst>
          </p:cNvPr>
          <p:cNvSpPr>
            <a:spLocks noGrp="1"/>
          </p:cNvSpPr>
          <p:nvPr>
            <p:ph type="title"/>
          </p:nvPr>
        </p:nvSpPr>
        <p:spPr/>
        <p:txBody>
          <a:bodyPr/>
          <a:lstStyle/>
          <a:p>
            <a:r>
              <a:rPr lang="en-US" dirty="0"/>
              <a:t>Appendix</a:t>
            </a:r>
          </a:p>
        </p:txBody>
      </p:sp>
      <p:sp>
        <p:nvSpPr>
          <p:cNvPr id="3" name="Text Placeholder 2">
            <a:extLst>
              <a:ext uri="{FF2B5EF4-FFF2-40B4-BE49-F238E27FC236}">
                <a16:creationId xmlns:a16="http://schemas.microsoft.com/office/drawing/2014/main" id="{63ED4F62-1ACF-D9A3-B95E-3EE8AD508C3B}"/>
              </a:ext>
            </a:extLst>
          </p:cNvPr>
          <p:cNvSpPr>
            <a:spLocks noGrp="1"/>
          </p:cNvSpPr>
          <p:nvPr>
            <p:ph type="body" idx="1"/>
          </p:nvPr>
        </p:nvSpPr>
        <p:spPr/>
        <p:txBody>
          <a:bodyPr/>
          <a:lstStyle/>
          <a:p>
            <a:r>
              <a:rPr lang="en-US" dirty="0"/>
              <a:t>Details</a:t>
            </a:r>
          </a:p>
        </p:txBody>
      </p:sp>
    </p:spTree>
    <p:extLst>
      <p:ext uri="{BB962C8B-B14F-4D97-AF65-F5344CB8AC3E}">
        <p14:creationId xmlns:p14="http://schemas.microsoft.com/office/powerpoint/2010/main" val="38339476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FCDD8-F88C-60EF-E023-564596BB7515}"/>
            </a:ext>
          </a:extLst>
        </p:cNvPr>
        <p:cNvGrpSpPr/>
        <p:nvPr/>
      </p:nvGrpSpPr>
      <p:grpSpPr>
        <a:xfrm>
          <a:off x="0" y="0"/>
          <a:ext cx="0" cy="0"/>
          <a:chOff x="0" y="0"/>
          <a:chExt cx="0" cy="0"/>
        </a:xfrm>
      </p:grpSpPr>
      <p:sp>
        <p:nvSpPr>
          <p:cNvPr id="97" name="Rectangle 96">
            <a:extLst>
              <a:ext uri="{FF2B5EF4-FFF2-40B4-BE49-F238E27FC236}">
                <a16:creationId xmlns:a16="http://schemas.microsoft.com/office/drawing/2014/main" id="{3E3BEB4B-93A3-4BAE-58DF-E728C188A3EA}"/>
              </a:ext>
            </a:extLst>
          </p:cNvPr>
          <p:cNvSpPr/>
          <p:nvPr/>
        </p:nvSpPr>
        <p:spPr>
          <a:xfrm>
            <a:off x="3822515" y="381680"/>
            <a:ext cx="6644960" cy="588381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 name="Rectangle 1">
            <a:extLst>
              <a:ext uri="{FF2B5EF4-FFF2-40B4-BE49-F238E27FC236}">
                <a16:creationId xmlns:a16="http://schemas.microsoft.com/office/drawing/2014/main" id="{B1CF879C-8A58-77E8-61A1-B4C7A97B90E5}"/>
              </a:ext>
            </a:extLst>
          </p:cNvPr>
          <p:cNvSpPr/>
          <p:nvPr/>
        </p:nvSpPr>
        <p:spPr>
          <a:xfrm>
            <a:off x="1883391" y="4793549"/>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(P2)</a:t>
            </a:r>
          </a:p>
          <a:p>
            <a:pPr algn="ctr" defTabSz="813816">
              <a:spcAft>
                <a:spcPts val="600"/>
              </a:spcAft>
            </a:pPr>
            <a:r>
              <a:rPr lang="en-US" sz="1400" dirty="0">
                <a:solidFill>
                  <a:schemeClr val="tx1"/>
                </a:solidFill>
              </a:rPr>
              <a:t>Prompt</a:t>
            </a:r>
            <a:r>
              <a:rPr lang="en-US" sz="1400" kern="1200" dirty="0">
                <a:solidFill>
                  <a:schemeClr val="tx1"/>
                </a:solidFill>
                <a:latin typeface="+mn-lt"/>
                <a:ea typeface="+mn-ea"/>
                <a:cs typeface="+mn-cs"/>
              </a:rPr>
              <a:t> Processing</a:t>
            </a:r>
            <a:endParaRPr lang="en-US" sz="1400" dirty="0">
              <a:solidFill>
                <a:schemeClr val="tx1"/>
              </a:solidFill>
            </a:endParaRPr>
          </a:p>
        </p:txBody>
      </p:sp>
      <p:sp>
        <p:nvSpPr>
          <p:cNvPr id="6" name="Oval 5">
            <a:extLst>
              <a:ext uri="{FF2B5EF4-FFF2-40B4-BE49-F238E27FC236}">
                <a16:creationId xmlns:a16="http://schemas.microsoft.com/office/drawing/2014/main" id="{7E4EC2A5-F5C6-D6CC-2680-38996D895D89}"/>
              </a:ext>
            </a:extLst>
          </p:cNvPr>
          <p:cNvSpPr/>
          <p:nvPr/>
        </p:nvSpPr>
        <p:spPr>
          <a:xfrm>
            <a:off x="4099026" y="3604829"/>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a:t>
            </a:r>
            <a:r>
              <a:rPr lang="en-US" sz="1400" dirty="0">
                <a:solidFill>
                  <a:schemeClr val="tx1"/>
                </a:solidFill>
              </a:rPr>
              <a:t>3</a:t>
            </a:r>
            <a:r>
              <a:rPr lang="en-US" sz="1400" kern="1200" dirty="0">
                <a:solidFill>
                  <a:schemeClr val="tx1"/>
                </a:solidFill>
                <a:latin typeface="+mn-lt"/>
                <a:ea typeface="+mn-ea"/>
                <a:cs typeface="+mn-cs"/>
              </a:rPr>
              <a:t>)</a:t>
            </a:r>
          </a:p>
          <a:p>
            <a:pPr algn="ctr" defTabSz="813816">
              <a:spcAft>
                <a:spcPts val="600"/>
              </a:spcAft>
            </a:pPr>
            <a:r>
              <a:rPr lang="en-US" sz="1400" kern="1200" dirty="0">
                <a:solidFill>
                  <a:schemeClr val="tx1"/>
                </a:solidFill>
                <a:latin typeface="+mn-lt"/>
                <a:ea typeface="+mn-ea"/>
                <a:cs typeface="+mn-cs"/>
              </a:rPr>
              <a:t>Input Processing</a:t>
            </a:r>
            <a:endParaRPr lang="en-US" sz="1400" dirty="0">
              <a:solidFill>
                <a:schemeClr val="tx1"/>
              </a:solidFill>
            </a:endParaRPr>
          </a:p>
        </p:txBody>
      </p:sp>
      <p:sp>
        <p:nvSpPr>
          <p:cNvPr id="7" name="Oval 6">
            <a:extLst>
              <a:ext uri="{FF2B5EF4-FFF2-40B4-BE49-F238E27FC236}">
                <a16:creationId xmlns:a16="http://schemas.microsoft.com/office/drawing/2014/main" id="{BA0E06E1-55A9-F4F7-46FE-7A5B53DC3E81}"/>
              </a:ext>
            </a:extLst>
          </p:cNvPr>
          <p:cNvSpPr/>
          <p:nvPr/>
        </p:nvSpPr>
        <p:spPr>
          <a:xfrm>
            <a:off x="8703616" y="4199189"/>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a:t>
            </a:r>
            <a:r>
              <a:rPr lang="en-US" sz="1400" dirty="0">
                <a:solidFill>
                  <a:schemeClr val="tx1"/>
                </a:solidFill>
              </a:rPr>
              <a:t>P6</a:t>
            </a:r>
            <a:r>
              <a:rPr lang="en-US" sz="1400" kern="1200" dirty="0">
                <a:solidFill>
                  <a:schemeClr val="tx1"/>
                </a:solidFill>
                <a:latin typeface="+mn-lt"/>
                <a:ea typeface="+mn-ea"/>
                <a:cs typeface="+mn-cs"/>
              </a:rPr>
              <a:t>)</a:t>
            </a:r>
          </a:p>
          <a:p>
            <a:pPr algn="ctr" defTabSz="813816"/>
            <a:r>
              <a:rPr lang="en-US" sz="1400" kern="1200" dirty="0">
                <a:solidFill>
                  <a:schemeClr val="tx1"/>
                </a:solidFill>
                <a:latin typeface="+mn-lt"/>
                <a:ea typeface="+mn-ea"/>
                <a:cs typeface="+mn-cs"/>
              </a:rPr>
              <a:t>Response Processing</a:t>
            </a:r>
          </a:p>
          <a:p>
            <a:pPr algn="ctr" defTabSz="813816"/>
            <a:r>
              <a:rPr lang="en-US" sz="1400" dirty="0">
                <a:solidFill>
                  <a:schemeClr val="tx1"/>
                </a:solidFill>
              </a:rPr>
              <a:t>Agent</a:t>
            </a:r>
          </a:p>
        </p:txBody>
      </p:sp>
      <p:cxnSp>
        <p:nvCxnSpPr>
          <p:cNvPr id="8" name="Straight Arrow Connector 7">
            <a:extLst>
              <a:ext uri="{FF2B5EF4-FFF2-40B4-BE49-F238E27FC236}">
                <a16:creationId xmlns:a16="http://schemas.microsoft.com/office/drawing/2014/main" id="{3F0242E7-9EF6-7F33-33E2-A0F461822C3C}"/>
              </a:ext>
            </a:extLst>
          </p:cNvPr>
          <p:cNvCxnSpPr>
            <a:cxnSpLocks/>
            <a:stCxn id="2" idx="3"/>
            <a:endCxn id="6" idx="3"/>
          </p:cNvCxnSpPr>
          <p:nvPr/>
        </p:nvCxnSpPr>
        <p:spPr>
          <a:xfrm flipV="1">
            <a:off x="3254991" y="4619465"/>
            <a:ext cx="1085074" cy="6312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59C99E5-1D54-B424-B54F-2A2F98C66616}"/>
              </a:ext>
            </a:extLst>
          </p:cNvPr>
          <p:cNvCxnSpPr>
            <a:cxnSpLocks/>
            <a:stCxn id="7" idx="7"/>
            <a:endCxn id="94" idx="1"/>
          </p:cNvCxnSpPr>
          <p:nvPr/>
        </p:nvCxnSpPr>
        <p:spPr>
          <a:xfrm flipV="1">
            <a:off x="10108497" y="3252803"/>
            <a:ext cx="627030" cy="11204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FCF291E-2ABC-3170-C5F1-4A1FC6054A42}"/>
              </a:ext>
            </a:extLst>
          </p:cNvPr>
          <p:cNvCxnSpPr>
            <a:cxnSpLocks/>
            <a:stCxn id="144" idx="4"/>
            <a:endCxn id="7" idx="2"/>
          </p:cNvCxnSpPr>
          <p:nvPr/>
        </p:nvCxnSpPr>
        <p:spPr>
          <a:xfrm>
            <a:off x="7395400" y="4373962"/>
            <a:ext cx="1308216" cy="4195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7EC576EF-37BF-A410-32FC-0D2A3D5187F8}"/>
              </a:ext>
            </a:extLst>
          </p:cNvPr>
          <p:cNvCxnSpPr>
            <a:cxnSpLocks/>
            <a:stCxn id="6" idx="6"/>
            <a:endCxn id="144" idx="2"/>
          </p:cNvCxnSpPr>
          <p:nvPr/>
        </p:nvCxnSpPr>
        <p:spPr>
          <a:xfrm>
            <a:off x="5744946" y="4199189"/>
            <a:ext cx="377971" cy="1747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5C5E61F-6D2D-FEFD-6CE5-C5BD34217924}"/>
              </a:ext>
            </a:extLst>
          </p:cNvPr>
          <p:cNvCxnSpPr>
            <a:cxnSpLocks/>
            <a:stCxn id="27" idx="0"/>
            <a:endCxn id="145" idx="3"/>
          </p:cNvCxnSpPr>
          <p:nvPr/>
        </p:nvCxnSpPr>
        <p:spPr>
          <a:xfrm flipH="1" flipV="1">
            <a:off x="6732242" y="1755459"/>
            <a:ext cx="16995" cy="732367"/>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0500603C-D91C-3477-E5AB-A3320069CF1A}"/>
              </a:ext>
            </a:extLst>
          </p:cNvPr>
          <p:cNvCxnSpPr>
            <a:cxnSpLocks/>
            <a:stCxn id="144" idx="1"/>
            <a:endCxn id="27" idx="2"/>
          </p:cNvCxnSpPr>
          <p:nvPr/>
        </p:nvCxnSpPr>
        <p:spPr>
          <a:xfrm flipH="1" flipV="1">
            <a:off x="6749237" y="3402226"/>
            <a:ext cx="9922" cy="4463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Connector: Elbow 19">
            <a:extLst>
              <a:ext uri="{FF2B5EF4-FFF2-40B4-BE49-F238E27FC236}">
                <a16:creationId xmlns:a16="http://schemas.microsoft.com/office/drawing/2014/main" id="{1400EADA-0EBE-FBFE-B0F3-270DA2AE3235}"/>
              </a:ext>
            </a:extLst>
          </p:cNvPr>
          <p:cNvCxnSpPr>
            <a:cxnSpLocks/>
            <a:stCxn id="145" idx="2"/>
            <a:endCxn id="6" idx="0"/>
          </p:cNvCxnSpPr>
          <p:nvPr/>
        </p:nvCxnSpPr>
        <p:spPr>
          <a:xfrm rot="10800000" flipV="1">
            <a:off x="4921986" y="1230083"/>
            <a:ext cx="1174014" cy="237474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8492355D-4F80-21CD-976B-D47F39F5A490}"/>
              </a:ext>
            </a:extLst>
          </p:cNvPr>
          <p:cNvCxnSpPr>
            <a:cxnSpLocks/>
            <a:stCxn id="51" idx="3"/>
            <a:endCxn id="6" idx="1"/>
          </p:cNvCxnSpPr>
          <p:nvPr/>
        </p:nvCxnSpPr>
        <p:spPr>
          <a:xfrm>
            <a:off x="3371030" y="2498112"/>
            <a:ext cx="969035" cy="12808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Flowchart: Multidocument 24">
            <a:extLst>
              <a:ext uri="{FF2B5EF4-FFF2-40B4-BE49-F238E27FC236}">
                <a16:creationId xmlns:a16="http://schemas.microsoft.com/office/drawing/2014/main" id="{04DA5563-8DAC-EC35-57B9-AC479F721185}"/>
              </a:ext>
            </a:extLst>
          </p:cNvPr>
          <p:cNvSpPr/>
          <p:nvPr/>
        </p:nvSpPr>
        <p:spPr>
          <a:xfrm>
            <a:off x="191499" y="1835280"/>
            <a:ext cx="1371600" cy="914400"/>
          </a:xfrm>
          <a:prstGeom prst="flowChartMulti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(D1)</a:t>
            </a:r>
          </a:p>
          <a:p>
            <a:pPr algn="ctr"/>
            <a:r>
              <a:rPr lang="en-US" sz="1400" dirty="0">
                <a:solidFill>
                  <a:schemeClr val="tx1"/>
                </a:solidFill>
              </a:rPr>
              <a:t>Documents</a:t>
            </a:r>
          </a:p>
        </p:txBody>
      </p:sp>
      <p:cxnSp>
        <p:nvCxnSpPr>
          <p:cNvPr id="26" name="Straight Arrow Connector 25">
            <a:extLst>
              <a:ext uri="{FF2B5EF4-FFF2-40B4-BE49-F238E27FC236}">
                <a16:creationId xmlns:a16="http://schemas.microsoft.com/office/drawing/2014/main" id="{8564BF5E-D4D7-59E1-7F20-C09593B582FC}"/>
              </a:ext>
            </a:extLst>
          </p:cNvPr>
          <p:cNvCxnSpPr>
            <a:cxnSpLocks/>
            <a:stCxn id="25" idx="3"/>
            <a:endCxn id="51" idx="1"/>
          </p:cNvCxnSpPr>
          <p:nvPr/>
        </p:nvCxnSpPr>
        <p:spPr>
          <a:xfrm>
            <a:off x="1563099" y="2292480"/>
            <a:ext cx="436331" cy="2056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Rectangle 26">
            <a:extLst>
              <a:ext uri="{FF2B5EF4-FFF2-40B4-BE49-F238E27FC236}">
                <a16:creationId xmlns:a16="http://schemas.microsoft.com/office/drawing/2014/main" id="{857FE361-45FD-A945-34BC-95D69D4729F4}"/>
              </a:ext>
            </a:extLst>
          </p:cNvPr>
          <p:cNvSpPr/>
          <p:nvPr/>
        </p:nvSpPr>
        <p:spPr>
          <a:xfrm>
            <a:off x="6063437" y="2487826"/>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(P4)</a:t>
            </a:r>
          </a:p>
          <a:p>
            <a:pPr algn="ctr" defTabSz="813816">
              <a:spcAft>
                <a:spcPts val="600"/>
              </a:spcAft>
            </a:pPr>
            <a:r>
              <a:rPr lang="en-US" sz="1400" kern="1200" dirty="0">
                <a:solidFill>
                  <a:schemeClr val="tx1"/>
                </a:solidFill>
                <a:latin typeface="+mn-lt"/>
                <a:ea typeface="+mn-ea"/>
                <a:cs typeface="+mn-cs"/>
              </a:rPr>
              <a:t>Long Term Memory Formation</a:t>
            </a:r>
            <a:endParaRPr lang="en-US" sz="1400" dirty="0">
              <a:solidFill>
                <a:schemeClr val="tx1"/>
              </a:solidFill>
            </a:endParaRPr>
          </a:p>
        </p:txBody>
      </p:sp>
      <p:cxnSp>
        <p:nvCxnSpPr>
          <p:cNvPr id="31" name="Connector: Elbow 30">
            <a:extLst>
              <a:ext uri="{FF2B5EF4-FFF2-40B4-BE49-F238E27FC236}">
                <a16:creationId xmlns:a16="http://schemas.microsoft.com/office/drawing/2014/main" id="{10D8126E-B830-A84B-2A72-C800737C4066}"/>
              </a:ext>
            </a:extLst>
          </p:cNvPr>
          <p:cNvCxnSpPr>
            <a:cxnSpLocks/>
            <a:stCxn id="145" idx="1"/>
            <a:endCxn id="7" idx="0"/>
          </p:cNvCxnSpPr>
          <p:nvPr/>
        </p:nvCxnSpPr>
        <p:spPr>
          <a:xfrm rot="16200000" flipH="1">
            <a:off x="6382168" y="1054781"/>
            <a:ext cx="3494482" cy="2794334"/>
          </a:xfrm>
          <a:prstGeom prst="bentConnector3">
            <a:avLst>
              <a:gd name="adj1" fmla="val -654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8C1C7C93-6244-458C-9653-3B0748D788C7}"/>
              </a:ext>
            </a:extLst>
          </p:cNvPr>
          <p:cNvCxnSpPr>
            <a:cxnSpLocks/>
            <a:stCxn id="19" idx="1"/>
            <a:endCxn id="145" idx="4"/>
          </p:cNvCxnSpPr>
          <p:nvPr/>
        </p:nvCxnSpPr>
        <p:spPr>
          <a:xfrm flipH="1" flipV="1">
            <a:off x="7368483" y="1230083"/>
            <a:ext cx="620034" cy="786245"/>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7547C59C-E72D-BEA9-8B73-AE0038754C6E}"/>
              </a:ext>
            </a:extLst>
          </p:cNvPr>
          <p:cNvSpPr txBox="1"/>
          <p:nvPr/>
        </p:nvSpPr>
        <p:spPr>
          <a:xfrm>
            <a:off x="191499" y="376964"/>
            <a:ext cx="1954431" cy="1103922"/>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endParaRPr lang="en-US" sz="1200" dirty="0"/>
          </a:p>
        </p:txBody>
      </p:sp>
      <p:cxnSp>
        <p:nvCxnSpPr>
          <p:cNvPr id="38" name="Straight Connector 37">
            <a:extLst>
              <a:ext uri="{FF2B5EF4-FFF2-40B4-BE49-F238E27FC236}">
                <a16:creationId xmlns:a16="http://schemas.microsoft.com/office/drawing/2014/main" id="{9744F470-54E8-6190-046A-6738D1D2D0CD}"/>
              </a:ext>
            </a:extLst>
          </p:cNvPr>
          <p:cNvCxnSpPr>
            <a:cxnSpLocks/>
          </p:cNvCxnSpPr>
          <p:nvPr/>
        </p:nvCxnSpPr>
        <p:spPr>
          <a:xfrm flipH="1">
            <a:off x="7797700" y="1915981"/>
            <a:ext cx="2167540" cy="4092725"/>
          </a:xfrm>
          <a:prstGeom prst="line">
            <a:avLst/>
          </a:prstGeom>
        </p:spPr>
        <p:style>
          <a:lnRef idx="2">
            <a:schemeClr val="accent2"/>
          </a:lnRef>
          <a:fillRef idx="0">
            <a:schemeClr val="accent2"/>
          </a:fillRef>
          <a:effectRef idx="1">
            <a:schemeClr val="accent2"/>
          </a:effectRef>
          <a:fontRef idx="minor">
            <a:schemeClr val="tx1"/>
          </a:fontRef>
        </p:style>
      </p:cxnSp>
      <p:sp>
        <p:nvSpPr>
          <p:cNvPr id="39" name="TextBox 38">
            <a:extLst>
              <a:ext uri="{FF2B5EF4-FFF2-40B4-BE49-F238E27FC236}">
                <a16:creationId xmlns:a16="http://schemas.microsoft.com/office/drawing/2014/main" id="{1744B6DC-AEE2-0372-1736-259AA2E06E92}"/>
              </a:ext>
            </a:extLst>
          </p:cNvPr>
          <p:cNvSpPr txBox="1"/>
          <p:nvPr/>
        </p:nvSpPr>
        <p:spPr>
          <a:xfrm>
            <a:off x="10832063" y="2102551"/>
            <a:ext cx="1037463" cy="276999"/>
          </a:xfrm>
          <a:prstGeom prst="rect">
            <a:avLst/>
          </a:prstGeom>
          <a:noFill/>
        </p:spPr>
        <p:txBody>
          <a:bodyPr wrap="none" rtlCol="0">
            <a:spAutoFit/>
          </a:bodyPr>
          <a:lstStyle/>
          <a:p>
            <a:r>
              <a:rPr lang="en-US" sz="1200" dirty="0">
                <a:solidFill>
                  <a:schemeClr val="accent2"/>
                </a:solidFill>
              </a:rPr>
              <a:t>Out of scope</a:t>
            </a:r>
          </a:p>
        </p:txBody>
      </p:sp>
      <p:sp>
        <p:nvSpPr>
          <p:cNvPr id="22" name="Flowchart: Document 21">
            <a:extLst>
              <a:ext uri="{FF2B5EF4-FFF2-40B4-BE49-F238E27FC236}">
                <a16:creationId xmlns:a16="http://schemas.microsoft.com/office/drawing/2014/main" id="{3D4CDF1D-33FC-B2C8-04FA-821E77A82EF0}"/>
              </a:ext>
            </a:extLst>
          </p:cNvPr>
          <p:cNvSpPr/>
          <p:nvPr/>
        </p:nvSpPr>
        <p:spPr>
          <a:xfrm>
            <a:off x="191499" y="4846075"/>
            <a:ext cx="1371600" cy="914400"/>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(D2)</a:t>
            </a:r>
          </a:p>
          <a:p>
            <a:pPr algn="ctr"/>
            <a:r>
              <a:rPr lang="en-US" sz="1400" dirty="0">
                <a:solidFill>
                  <a:schemeClr val="tx1"/>
                </a:solidFill>
              </a:rPr>
              <a:t>Prompts</a:t>
            </a:r>
          </a:p>
        </p:txBody>
      </p:sp>
      <p:cxnSp>
        <p:nvCxnSpPr>
          <p:cNvPr id="23" name="Straight Arrow Connector 22">
            <a:extLst>
              <a:ext uri="{FF2B5EF4-FFF2-40B4-BE49-F238E27FC236}">
                <a16:creationId xmlns:a16="http://schemas.microsoft.com/office/drawing/2014/main" id="{CC29E1F6-92F6-8E50-AE3D-059A7459C01B}"/>
              </a:ext>
            </a:extLst>
          </p:cNvPr>
          <p:cNvCxnSpPr>
            <a:cxnSpLocks/>
            <a:stCxn id="22" idx="3"/>
            <a:endCxn id="2" idx="1"/>
          </p:cNvCxnSpPr>
          <p:nvPr/>
        </p:nvCxnSpPr>
        <p:spPr>
          <a:xfrm flipV="1">
            <a:off x="1563099" y="5250749"/>
            <a:ext cx="320292" cy="52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4" name="Flowchart: Document 93">
            <a:extLst>
              <a:ext uri="{FF2B5EF4-FFF2-40B4-BE49-F238E27FC236}">
                <a16:creationId xmlns:a16="http://schemas.microsoft.com/office/drawing/2014/main" id="{7AAFFF08-B24F-6CAE-73C7-E1961012466E}"/>
              </a:ext>
            </a:extLst>
          </p:cNvPr>
          <p:cNvSpPr/>
          <p:nvPr/>
        </p:nvSpPr>
        <p:spPr>
          <a:xfrm>
            <a:off x="10735527" y="2795603"/>
            <a:ext cx="1371600" cy="914400"/>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(D3)</a:t>
            </a:r>
          </a:p>
          <a:p>
            <a:pPr algn="ctr"/>
            <a:r>
              <a:rPr lang="en-US" sz="1400" dirty="0">
                <a:solidFill>
                  <a:schemeClr val="tx1"/>
                </a:solidFill>
              </a:rPr>
              <a:t>Responses</a:t>
            </a:r>
          </a:p>
        </p:txBody>
      </p:sp>
      <p:cxnSp>
        <p:nvCxnSpPr>
          <p:cNvPr id="121" name="Straight Connector 120">
            <a:extLst>
              <a:ext uri="{FF2B5EF4-FFF2-40B4-BE49-F238E27FC236}">
                <a16:creationId xmlns:a16="http://schemas.microsoft.com/office/drawing/2014/main" id="{923B6526-C247-3B19-E35B-F4C71C5E9E3D}"/>
              </a:ext>
            </a:extLst>
          </p:cNvPr>
          <p:cNvCxnSpPr>
            <a:cxnSpLocks/>
          </p:cNvCxnSpPr>
          <p:nvPr/>
        </p:nvCxnSpPr>
        <p:spPr>
          <a:xfrm>
            <a:off x="2113424" y="3323588"/>
            <a:ext cx="3500936" cy="2545769"/>
          </a:xfrm>
          <a:prstGeom prst="line">
            <a:avLst/>
          </a:prstGeom>
        </p:spPr>
        <p:style>
          <a:lnRef idx="2">
            <a:schemeClr val="accent2"/>
          </a:lnRef>
          <a:fillRef idx="0">
            <a:schemeClr val="accent2"/>
          </a:fillRef>
          <a:effectRef idx="1">
            <a:schemeClr val="accent2"/>
          </a:effectRef>
          <a:fontRef idx="minor">
            <a:schemeClr val="tx1"/>
          </a:fontRef>
        </p:style>
      </p:cxnSp>
      <p:cxnSp>
        <p:nvCxnSpPr>
          <p:cNvPr id="126" name="Straight Connector 125">
            <a:extLst>
              <a:ext uri="{FF2B5EF4-FFF2-40B4-BE49-F238E27FC236}">
                <a16:creationId xmlns:a16="http://schemas.microsoft.com/office/drawing/2014/main" id="{36310D77-C505-0675-52BE-771AB05A89C7}"/>
              </a:ext>
            </a:extLst>
          </p:cNvPr>
          <p:cNvCxnSpPr>
            <a:cxnSpLocks/>
          </p:cNvCxnSpPr>
          <p:nvPr/>
        </p:nvCxnSpPr>
        <p:spPr>
          <a:xfrm>
            <a:off x="220107" y="3278313"/>
            <a:ext cx="1925823" cy="45275"/>
          </a:xfrm>
          <a:prstGeom prst="line">
            <a:avLst/>
          </a:prstGeom>
        </p:spPr>
        <p:style>
          <a:lnRef idx="2">
            <a:schemeClr val="accent2"/>
          </a:lnRef>
          <a:fillRef idx="0">
            <a:schemeClr val="accent2"/>
          </a:fillRef>
          <a:effectRef idx="1">
            <a:schemeClr val="accent2"/>
          </a:effectRef>
          <a:fontRef idx="minor">
            <a:schemeClr val="tx1"/>
          </a:fontRef>
        </p:style>
      </p:cxnSp>
      <p:sp>
        <p:nvSpPr>
          <p:cNvPr id="133" name="TextBox 132">
            <a:extLst>
              <a:ext uri="{FF2B5EF4-FFF2-40B4-BE49-F238E27FC236}">
                <a16:creationId xmlns:a16="http://schemas.microsoft.com/office/drawing/2014/main" id="{8BE3BF8F-B2F4-EE35-101B-2BDD18E4015F}"/>
              </a:ext>
            </a:extLst>
          </p:cNvPr>
          <p:cNvSpPr txBox="1"/>
          <p:nvPr/>
        </p:nvSpPr>
        <p:spPr>
          <a:xfrm>
            <a:off x="327328" y="3402226"/>
            <a:ext cx="1037463" cy="276999"/>
          </a:xfrm>
          <a:prstGeom prst="rect">
            <a:avLst/>
          </a:prstGeom>
          <a:noFill/>
        </p:spPr>
        <p:txBody>
          <a:bodyPr wrap="none" rtlCol="0">
            <a:spAutoFit/>
          </a:bodyPr>
          <a:lstStyle/>
          <a:p>
            <a:r>
              <a:rPr lang="en-US" sz="1200" dirty="0">
                <a:solidFill>
                  <a:schemeClr val="accent2"/>
                </a:solidFill>
              </a:rPr>
              <a:t>Out of scope</a:t>
            </a:r>
          </a:p>
        </p:txBody>
      </p:sp>
      <p:cxnSp>
        <p:nvCxnSpPr>
          <p:cNvPr id="134" name="Straight Connector 133">
            <a:extLst>
              <a:ext uri="{FF2B5EF4-FFF2-40B4-BE49-F238E27FC236}">
                <a16:creationId xmlns:a16="http://schemas.microsoft.com/office/drawing/2014/main" id="{45276407-0586-E3B4-B3DE-855A95C2FC13}"/>
              </a:ext>
            </a:extLst>
          </p:cNvPr>
          <p:cNvCxnSpPr>
            <a:cxnSpLocks/>
          </p:cNvCxnSpPr>
          <p:nvPr/>
        </p:nvCxnSpPr>
        <p:spPr>
          <a:xfrm>
            <a:off x="9951694" y="1915981"/>
            <a:ext cx="1925823" cy="45275"/>
          </a:xfrm>
          <a:prstGeom prst="line">
            <a:avLst/>
          </a:prstGeom>
        </p:spPr>
        <p:style>
          <a:lnRef idx="2">
            <a:schemeClr val="accent2"/>
          </a:lnRef>
          <a:fillRef idx="0">
            <a:schemeClr val="accent2"/>
          </a:fillRef>
          <a:effectRef idx="1">
            <a:schemeClr val="accent2"/>
          </a:effectRef>
          <a:fontRef idx="minor">
            <a:schemeClr val="tx1"/>
          </a:fontRef>
        </p:style>
      </p:cxnSp>
      <p:sp>
        <p:nvSpPr>
          <p:cNvPr id="144" name="Flowchart: Magnetic Disk 143">
            <a:extLst>
              <a:ext uri="{FF2B5EF4-FFF2-40B4-BE49-F238E27FC236}">
                <a16:creationId xmlns:a16="http://schemas.microsoft.com/office/drawing/2014/main" id="{D894D678-5C50-B2DB-71D8-FDD23C94FA35}"/>
              </a:ext>
            </a:extLst>
          </p:cNvPr>
          <p:cNvSpPr/>
          <p:nvPr/>
        </p:nvSpPr>
        <p:spPr>
          <a:xfrm>
            <a:off x="6122917" y="3848586"/>
            <a:ext cx="1272483" cy="1050752"/>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a:p>
            <a:pPr algn="ctr"/>
            <a:r>
              <a:rPr lang="en-US" sz="1400" dirty="0">
                <a:solidFill>
                  <a:schemeClr val="tx1"/>
                </a:solidFill>
              </a:rPr>
              <a:t>(KG1)</a:t>
            </a:r>
          </a:p>
          <a:p>
            <a:pPr algn="ctr"/>
            <a:r>
              <a:rPr lang="en-US" sz="1400" dirty="0">
                <a:solidFill>
                  <a:schemeClr val="tx1"/>
                </a:solidFill>
              </a:rPr>
              <a:t>Short-Term Memory</a:t>
            </a:r>
          </a:p>
        </p:txBody>
      </p:sp>
      <p:sp>
        <p:nvSpPr>
          <p:cNvPr id="145" name="Flowchart: Magnetic Disk 144">
            <a:extLst>
              <a:ext uri="{FF2B5EF4-FFF2-40B4-BE49-F238E27FC236}">
                <a16:creationId xmlns:a16="http://schemas.microsoft.com/office/drawing/2014/main" id="{E7B6E9BC-7E89-BBF6-9081-AB7DFBDEAC45}"/>
              </a:ext>
            </a:extLst>
          </p:cNvPr>
          <p:cNvSpPr/>
          <p:nvPr/>
        </p:nvSpPr>
        <p:spPr>
          <a:xfrm>
            <a:off x="6096000" y="704707"/>
            <a:ext cx="1272483" cy="1050752"/>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a:p>
            <a:pPr algn="ctr"/>
            <a:r>
              <a:rPr lang="en-US" sz="1400" dirty="0">
                <a:solidFill>
                  <a:schemeClr val="tx1"/>
                </a:solidFill>
              </a:rPr>
              <a:t>(KG2)</a:t>
            </a:r>
          </a:p>
          <a:p>
            <a:pPr algn="ctr"/>
            <a:r>
              <a:rPr lang="en-US" sz="1400" dirty="0">
                <a:solidFill>
                  <a:schemeClr val="tx1"/>
                </a:solidFill>
              </a:rPr>
              <a:t>Long-Term Memory</a:t>
            </a:r>
          </a:p>
        </p:txBody>
      </p:sp>
      <p:sp>
        <p:nvSpPr>
          <p:cNvPr id="5" name="Flowchart: Document 4">
            <a:extLst>
              <a:ext uri="{FF2B5EF4-FFF2-40B4-BE49-F238E27FC236}">
                <a16:creationId xmlns:a16="http://schemas.microsoft.com/office/drawing/2014/main" id="{4B30121F-46FD-9594-4E08-1A74F6800A7C}"/>
              </a:ext>
            </a:extLst>
          </p:cNvPr>
          <p:cNvSpPr/>
          <p:nvPr/>
        </p:nvSpPr>
        <p:spPr>
          <a:xfrm>
            <a:off x="368315" y="471393"/>
            <a:ext cx="156410" cy="180474"/>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TextBox 10">
            <a:extLst>
              <a:ext uri="{FF2B5EF4-FFF2-40B4-BE49-F238E27FC236}">
                <a16:creationId xmlns:a16="http://schemas.microsoft.com/office/drawing/2014/main" id="{5B46B65A-7810-F3C7-3196-34B4A16DC144}"/>
              </a:ext>
            </a:extLst>
          </p:cNvPr>
          <p:cNvSpPr txBox="1"/>
          <p:nvPr/>
        </p:nvSpPr>
        <p:spPr>
          <a:xfrm>
            <a:off x="533716" y="376964"/>
            <a:ext cx="1465338" cy="276999"/>
          </a:xfrm>
          <a:prstGeom prst="rect">
            <a:avLst/>
          </a:prstGeom>
          <a:noFill/>
        </p:spPr>
        <p:txBody>
          <a:bodyPr wrap="none" rtlCol="0">
            <a:spAutoFit/>
          </a:bodyPr>
          <a:lstStyle/>
          <a:p>
            <a:r>
              <a:rPr lang="en-US" sz="1200" dirty="0"/>
              <a:t>User Input / Output</a:t>
            </a:r>
          </a:p>
        </p:txBody>
      </p:sp>
      <p:sp>
        <p:nvSpPr>
          <p:cNvPr id="13" name="Rectangle 20">
            <a:extLst>
              <a:ext uri="{FF2B5EF4-FFF2-40B4-BE49-F238E27FC236}">
                <a16:creationId xmlns:a16="http://schemas.microsoft.com/office/drawing/2014/main" id="{F8E8E75A-0640-D07E-C1AF-8E4CB542F94A}"/>
              </a:ext>
            </a:extLst>
          </p:cNvPr>
          <p:cNvSpPr/>
          <p:nvPr/>
        </p:nvSpPr>
        <p:spPr>
          <a:xfrm>
            <a:off x="332965" y="703794"/>
            <a:ext cx="227109" cy="163643"/>
          </a:xfrm>
          <a:custGeom>
            <a:avLst/>
            <a:gdLst>
              <a:gd name="connsiteX0" fmla="*/ 0 w 1317090"/>
              <a:gd name="connsiteY0" fmla="*/ 0 h 770795"/>
              <a:gd name="connsiteX1" fmla="*/ 1317090 w 1317090"/>
              <a:gd name="connsiteY1" fmla="*/ 0 h 770795"/>
              <a:gd name="connsiteX2" fmla="*/ 1317090 w 1317090"/>
              <a:gd name="connsiteY2" fmla="*/ 770795 h 770795"/>
              <a:gd name="connsiteX3" fmla="*/ 0 w 1317090"/>
              <a:gd name="connsiteY3" fmla="*/ 770795 h 770795"/>
              <a:gd name="connsiteX4" fmla="*/ 0 w 1317090"/>
              <a:gd name="connsiteY4" fmla="*/ 0 h 770795"/>
              <a:gd name="connsiteX0" fmla="*/ 0 w 1317090"/>
              <a:gd name="connsiteY0" fmla="*/ 638 h 771433"/>
              <a:gd name="connsiteX1" fmla="*/ 309711 w 1317090"/>
              <a:gd name="connsiteY1" fmla="*/ 0 h 771433"/>
              <a:gd name="connsiteX2" fmla="*/ 1317090 w 1317090"/>
              <a:gd name="connsiteY2" fmla="*/ 638 h 771433"/>
              <a:gd name="connsiteX3" fmla="*/ 1317090 w 1317090"/>
              <a:gd name="connsiteY3" fmla="*/ 771433 h 771433"/>
              <a:gd name="connsiteX4" fmla="*/ 0 w 1317090"/>
              <a:gd name="connsiteY4" fmla="*/ 771433 h 771433"/>
              <a:gd name="connsiteX5" fmla="*/ 0 w 1317090"/>
              <a:gd name="connsiteY5" fmla="*/ 638 h 771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17090" h="771433">
                <a:moveTo>
                  <a:pt x="0" y="638"/>
                </a:moveTo>
                <a:lnTo>
                  <a:pt x="309711" y="0"/>
                </a:lnTo>
                <a:lnTo>
                  <a:pt x="1317090" y="638"/>
                </a:lnTo>
                <a:lnTo>
                  <a:pt x="1317090" y="771433"/>
                </a:lnTo>
                <a:lnTo>
                  <a:pt x="0" y="771433"/>
                </a:lnTo>
                <a:lnTo>
                  <a:pt x="0" y="638"/>
                </a:lnTo>
                <a:close/>
              </a:path>
            </a:pathLst>
          </a:cu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endParaRPr lang="en-US" sz="1200" dirty="0">
              <a:solidFill>
                <a:schemeClr val="bg1"/>
              </a:solidFill>
            </a:endParaRPr>
          </a:p>
        </p:txBody>
      </p:sp>
      <p:sp>
        <p:nvSpPr>
          <p:cNvPr id="14" name="TextBox 13">
            <a:extLst>
              <a:ext uri="{FF2B5EF4-FFF2-40B4-BE49-F238E27FC236}">
                <a16:creationId xmlns:a16="http://schemas.microsoft.com/office/drawing/2014/main" id="{F04984C7-0040-5656-76A3-74142F630B14}"/>
              </a:ext>
            </a:extLst>
          </p:cNvPr>
          <p:cNvSpPr txBox="1"/>
          <p:nvPr/>
        </p:nvSpPr>
        <p:spPr>
          <a:xfrm>
            <a:off x="531673" y="592196"/>
            <a:ext cx="1271374" cy="276999"/>
          </a:xfrm>
          <a:prstGeom prst="rect">
            <a:avLst/>
          </a:prstGeom>
          <a:noFill/>
        </p:spPr>
        <p:txBody>
          <a:bodyPr wrap="none" rtlCol="0">
            <a:spAutoFit/>
          </a:bodyPr>
          <a:lstStyle/>
          <a:p>
            <a:r>
              <a:rPr lang="en-US" sz="1200" dirty="0"/>
              <a:t>Normal Program</a:t>
            </a:r>
          </a:p>
        </p:txBody>
      </p:sp>
      <p:sp>
        <p:nvSpPr>
          <p:cNvPr id="17" name="Oval 16">
            <a:extLst>
              <a:ext uri="{FF2B5EF4-FFF2-40B4-BE49-F238E27FC236}">
                <a16:creationId xmlns:a16="http://schemas.microsoft.com/office/drawing/2014/main" id="{85E3EB41-6452-C4D1-8C5D-3DD5474AFE04}"/>
              </a:ext>
            </a:extLst>
          </p:cNvPr>
          <p:cNvSpPr/>
          <p:nvPr/>
        </p:nvSpPr>
        <p:spPr>
          <a:xfrm>
            <a:off x="294305" y="919364"/>
            <a:ext cx="284929" cy="218168"/>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endParaRPr lang="en-US" sz="1200" dirty="0">
              <a:solidFill>
                <a:schemeClr val="bg1"/>
              </a:solidFill>
            </a:endParaRPr>
          </a:p>
        </p:txBody>
      </p:sp>
      <p:sp>
        <p:nvSpPr>
          <p:cNvPr id="18" name="TextBox 17">
            <a:extLst>
              <a:ext uri="{FF2B5EF4-FFF2-40B4-BE49-F238E27FC236}">
                <a16:creationId xmlns:a16="http://schemas.microsoft.com/office/drawing/2014/main" id="{E2389BA1-6B19-C1AE-5F27-9A02CF1E5A83}"/>
              </a:ext>
            </a:extLst>
          </p:cNvPr>
          <p:cNvSpPr txBox="1"/>
          <p:nvPr/>
        </p:nvSpPr>
        <p:spPr>
          <a:xfrm>
            <a:off x="538621" y="841162"/>
            <a:ext cx="1048557" cy="276999"/>
          </a:xfrm>
          <a:prstGeom prst="rect">
            <a:avLst/>
          </a:prstGeom>
          <a:noFill/>
        </p:spPr>
        <p:txBody>
          <a:bodyPr wrap="none" rtlCol="0">
            <a:spAutoFit/>
          </a:bodyPr>
          <a:lstStyle/>
          <a:p>
            <a:r>
              <a:rPr lang="en-US" sz="1200" dirty="0"/>
              <a:t>LLM Program</a:t>
            </a:r>
          </a:p>
        </p:txBody>
      </p:sp>
      <p:sp>
        <p:nvSpPr>
          <p:cNvPr id="19" name="Oval 18">
            <a:extLst>
              <a:ext uri="{FF2B5EF4-FFF2-40B4-BE49-F238E27FC236}">
                <a16:creationId xmlns:a16="http://schemas.microsoft.com/office/drawing/2014/main" id="{A8027C81-9ADE-7B6F-8767-77E36EB7E76C}"/>
              </a:ext>
            </a:extLst>
          </p:cNvPr>
          <p:cNvSpPr/>
          <p:nvPr/>
        </p:nvSpPr>
        <p:spPr>
          <a:xfrm>
            <a:off x="7747478" y="1842244"/>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(P5)</a:t>
            </a:r>
          </a:p>
          <a:p>
            <a:pPr algn="ctr" defTabSz="813816">
              <a:spcAft>
                <a:spcPts val="600"/>
              </a:spcAft>
            </a:pPr>
            <a:r>
              <a:rPr lang="en-US" sz="1400" kern="1200" dirty="0">
                <a:solidFill>
                  <a:schemeClr val="tx1"/>
                </a:solidFill>
                <a:latin typeface="+mn-lt"/>
                <a:ea typeface="+mn-ea"/>
                <a:cs typeface="+mn-cs"/>
              </a:rPr>
              <a:t>Long Term Memory Processing</a:t>
            </a:r>
            <a:endParaRPr lang="en-US" sz="1400" dirty="0">
              <a:solidFill>
                <a:schemeClr val="tx1"/>
              </a:solidFill>
            </a:endParaRPr>
          </a:p>
        </p:txBody>
      </p:sp>
      <p:sp>
        <p:nvSpPr>
          <p:cNvPr id="34" name="Flowchart: Magnetic Disk 33">
            <a:extLst>
              <a:ext uri="{FF2B5EF4-FFF2-40B4-BE49-F238E27FC236}">
                <a16:creationId xmlns:a16="http://schemas.microsoft.com/office/drawing/2014/main" id="{1D38A457-5F17-98CC-1FD2-0295ADADAC47}"/>
              </a:ext>
            </a:extLst>
          </p:cNvPr>
          <p:cNvSpPr/>
          <p:nvPr/>
        </p:nvSpPr>
        <p:spPr>
          <a:xfrm>
            <a:off x="304788" y="1208567"/>
            <a:ext cx="263961" cy="215040"/>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6" name="TextBox 35">
            <a:extLst>
              <a:ext uri="{FF2B5EF4-FFF2-40B4-BE49-F238E27FC236}">
                <a16:creationId xmlns:a16="http://schemas.microsoft.com/office/drawing/2014/main" id="{DF808A41-E386-B711-89F3-1A200679BE62}"/>
              </a:ext>
            </a:extLst>
          </p:cNvPr>
          <p:cNvSpPr txBox="1"/>
          <p:nvPr/>
        </p:nvSpPr>
        <p:spPr>
          <a:xfrm>
            <a:off x="531673" y="1113084"/>
            <a:ext cx="1038554" cy="276999"/>
          </a:xfrm>
          <a:prstGeom prst="rect">
            <a:avLst/>
          </a:prstGeom>
          <a:noFill/>
        </p:spPr>
        <p:txBody>
          <a:bodyPr wrap="none" rtlCol="0">
            <a:spAutoFit/>
          </a:bodyPr>
          <a:lstStyle/>
          <a:p>
            <a:r>
              <a:rPr lang="en-US" sz="1200" dirty="0"/>
              <a:t>Data Storage</a:t>
            </a:r>
          </a:p>
        </p:txBody>
      </p:sp>
      <p:sp>
        <p:nvSpPr>
          <p:cNvPr id="51" name="Rectangle 50">
            <a:extLst>
              <a:ext uri="{FF2B5EF4-FFF2-40B4-BE49-F238E27FC236}">
                <a16:creationId xmlns:a16="http://schemas.microsoft.com/office/drawing/2014/main" id="{AFBAAF97-0342-F1E4-FD70-81EF0B555E2A}"/>
              </a:ext>
            </a:extLst>
          </p:cNvPr>
          <p:cNvSpPr/>
          <p:nvPr/>
        </p:nvSpPr>
        <p:spPr>
          <a:xfrm>
            <a:off x="1999430" y="2040912"/>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(P1)</a:t>
            </a:r>
          </a:p>
          <a:p>
            <a:pPr algn="ctr" defTabSz="813816">
              <a:spcAft>
                <a:spcPts val="600"/>
              </a:spcAft>
            </a:pPr>
            <a:r>
              <a:rPr lang="en-US" sz="1400" kern="1200" dirty="0">
                <a:solidFill>
                  <a:schemeClr val="tx1"/>
                </a:solidFill>
                <a:latin typeface="+mn-lt"/>
                <a:ea typeface="+mn-ea"/>
                <a:cs typeface="+mn-cs"/>
              </a:rPr>
              <a:t>Document Processing</a:t>
            </a:r>
            <a:endParaRPr lang="en-US" sz="1400" dirty="0">
              <a:solidFill>
                <a:schemeClr val="tx1"/>
              </a:solidFill>
            </a:endParaRPr>
          </a:p>
        </p:txBody>
      </p:sp>
      <p:sp>
        <p:nvSpPr>
          <p:cNvPr id="3" name="TextBox 2">
            <a:extLst>
              <a:ext uri="{FF2B5EF4-FFF2-40B4-BE49-F238E27FC236}">
                <a16:creationId xmlns:a16="http://schemas.microsoft.com/office/drawing/2014/main" id="{C2FF721D-527B-314C-0AD5-5E0FF5C1AAAE}"/>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2901793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0-#ppt_w/2"/>
                                          </p:val>
                                        </p:tav>
                                        <p:tav tm="100000">
                                          <p:val>
                                            <p:strVal val="#ppt_x"/>
                                          </p:val>
                                        </p:tav>
                                      </p:tavLst>
                                    </p:anim>
                                    <p:anim calcmode="lin" valueType="num">
                                      <p:cBhvr additive="base">
                                        <p:cTn id="8" dur="5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anim calcmode="lin" valueType="num">
                                      <p:cBhvr additive="base">
                                        <p:cTn id="13" dur="500" fill="hold"/>
                                        <p:tgtEl>
                                          <p:spTgt spid="26"/>
                                        </p:tgtEl>
                                        <p:attrNameLst>
                                          <p:attrName>ppt_x</p:attrName>
                                        </p:attrNameLst>
                                      </p:cBhvr>
                                      <p:tavLst>
                                        <p:tav tm="0">
                                          <p:val>
                                            <p:strVal val="0-#ppt_w/2"/>
                                          </p:val>
                                        </p:tav>
                                        <p:tav tm="100000">
                                          <p:val>
                                            <p:strVal val="#ppt_x"/>
                                          </p:val>
                                        </p:tav>
                                      </p:tavLst>
                                    </p:anim>
                                    <p:anim calcmode="lin" valueType="num">
                                      <p:cBhvr additive="base">
                                        <p:cTn id="14" dur="500" fill="hold"/>
                                        <p:tgtEl>
                                          <p:spTgt spid="2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51"/>
                                        </p:tgtEl>
                                        <p:attrNameLst>
                                          <p:attrName>style.visibility</p:attrName>
                                        </p:attrNameLst>
                                      </p:cBhvr>
                                      <p:to>
                                        <p:strVal val="visible"/>
                                      </p:to>
                                    </p:set>
                                    <p:anim calcmode="lin" valueType="num">
                                      <p:cBhvr additive="base">
                                        <p:cTn id="19" dur="500" fill="hold"/>
                                        <p:tgtEl>
                                          <p:spTgt spid="51"/>
                                        </p:tgtEl>
                                        <p:attrNameLst>
                                          <p:attrName>ppt_x</p:attrName>
                                        </p:attrNameLst>
                                      </p:cBhvr>
                                      <p:tavLst>
                                        <p:tav tm="0">
                                          <p:val>
                                            <p:strVal val="0-#ppt_w/2"/>
                                          </p:val>
                                        </p:tav>
                                        <p:tav tm="100000">
                                          <p:val>
                                            <p:strVal val="#ppt_x"/>
                                          </p:val>
                                        </p:tav>
                                      </p:tavLst>
                                    </p:anim>
                                    <p:anim calcmode="lin" valueType="num">
                                      <p:cBhvr additive="base">
                                        <p:cTn id="20" dur="500" fill="hold"/>
                                        <p:tgtEl>
                                          <p:spTgt spid="51"/>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anim calcmode="lin" valueType="num">
                                      <p:cBhvr additive="base">
                                        <p:cTn id="25" dur="500" fill="hold"/>
                                        <p:tgtEl>
                                          <p:spTgt spid="24"/>
                                        </p:tgtEl>
                                        <p:attrNameLst>
                                          <p:attrName>ppt_x</p:attrName>
                                        </p:attrNameLst>
                                      </p:cBhvr>
                                      <p:tavLst>
                                        <p:tav tm="0">
                                          <p:val>
                                            <p:strVal val="0-#ppt_w/2"/>
                                          </p:val>
                                        </p:tav>
                                        <p:tav tm="100000">
                                          <p:val>
                                            <p:strVal val="#ppt_x"/>
                                          </p:val>
                                        </p:tav>
                                      </p:tavLst>
                                    </p:anim>
                                    <p:anim calcmode="lin" valueType="num">
                                      <p:cBhvr additive="base">
                                        <p:cTn id="26"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500" fill="hold"/>
                                        <p:tgtEl>
                                          <p:spTgt spid="6"/>
                                        </p:tgtEl>
                                        <p:attrNameLst>
                                          <p:attrName>ppt_x</p:attrName>
                                        </p:attrNameLst>
                                      </p:cBhvr>
                                      <p:tavLst>
                                        <p:tav tm="0">
                                          <p:val>
                                            <p:strVal val="0-#ppt_w/2"/>
                                          </p:val>
                                        </p:tav>
                                        <p:tav tm="100000">
                                          <p:val>
                                            <p:strVal val="#ppt_x"/>
                                          </p:val>
                                        </p:tav>
                                      </p:tavLst>
                                    </p:anim>
                                    <p:anim calcmode="lin" valueType="num">
                                      <p:cBhvr additive="base">
                                        <p:cTn id="3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nodeType="clickEffect">
                                  <p:stCondLst>
                                    <p:cond delay="0"/>
                                  </p:stCondLst>
                                  <p:childTnLst>
                                    <p:set>
                                      <p:cBhvr>
                                        <p:cTn id="36" dur="1" fill="hold">
                                          <p:stCondLst>
                                            <p:cond delay="0"/>
                                          </p:stCondLst>
                                        </p:cTn>
                                        <p:tgtEl>
                                          <p:spTgt spid="12"/>
                                        </p:tgtEl>
                                        <p:attrNameLst>
                                          <p:attrName>style.visibility</p:attrName>
                                        </p:attrNameLst>
                                      </p:cBhvr>
                                      <p:to>
                                        <p:strVal val="visible"/>
                                      </p:to>
                                    </p:set>
                                    <p:anim calcmode="lin" valueType="num">
                                      <p:cBhvr additive="base">
                                        <p:cTn id="37" dur="500" fill="hold"/>
                                        <p:tgtEl>
                                          <p:spTgt spid="12"/>
                                        </p:tgtEl>
                                        <p:attrNameLst>
                                          <p:attrName>ppt_x</p:attrName>
                                        </p:attrNameLst>
                                      </p:cBhvr>
                                      <p:tavLst>
                                        <p:tav tm="0">
                                          <p:val>
                                            <p:strVal val="0-#ppt_w/2"/>
                                          </p:val>
                                        </p:tav>
                                        <p:tav tm="100000">
                                          <p:val>
                                            <p:strVal val="#ppt_x"/>
                                          </p:val>
                                        </p:tav>
                                      </p:tavLst>
                                    </p:anim>
                                    <p:anim calcmode="lin" valueType="num">
                                      <p:cBhvr additive="base">
                                        <p:cTn id="38"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144"/>
                                        </p:tgtEl>
                                        <p:attrNameLst>
                                          <p:attrName>style.visibility</p:attrName>
                                        </p:attrNameLst>
                                      </p:cBhvr>
                                      <p:to>
                                        <p:strVal val="visible"/>
                                      </p:to>
                                    </p:set>
                                    <p:anim calcmode="lin" valueType="num">
                                      <p:cBhvr additive="base">
                                        <p:cTn id="43" dur="500" fill="hold"/>
                                        <p:tgtEl>
                                          <p:spTgt spid="144"/>
                                        </p:tgtEl>
                                        <p:attrNameLst>
                                          <p:attrName>ppt_x</p:attrName>
                                        </p:attrNameLst>
                                      </p:cBhvr>
                                      <p:tavLst>
                                        <p:tav tm="0">
                                          <p:val>
                                            <p:strVal val="0-#ppt_w/2"/>
                                          </p:val>
                                        </p:tav>
                                        <p:tav tm="100000">
                                          <p:val>
                                            <p:strVal val="#ppt_x"/>
                                          </p:val>
                                        </p:tav>
                                      </p:tavLst>
                                    </p:anim>
                                    <p:anim calcmode="lin" valueType="num">
                                      <p:cBhvr additive="base">
                                        <p:cTn id="44" dur="500" fill="hold"/>
                                        <p:tgtEl>
                                          <p:spTgt spid="144"/>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8"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additive="base">
                                        <p:cTn id="49" dur="500" fill="hold"/>
                                        <p:tgtEl>
                                          <p:spTgt spid="16"/>
                                        </p:tgtEl>
                                        <p:attrNameLst>
                                          <p:attrName>ppt_x</p:attrName>
                                        </p:attrNameLst>
                                      </p:cBhvr>
                                      <p:tavLst>
                                        <p:tav tm="0">
                                          <p:val>
                                            <p:strVal val="0-#ppt_w/2"/>
                                          </p:val>
                                        </p:tav>
                                        <p:tav tm="100000">
                                          <p:val>
                                            <p:strVal val="#ppt_x"/>
                                          </p:val>
                                        </p:tav>
                                      </p:tavLst>
                                    </p:anim>
                                    <p:anim calcmode="lin" valueType="num">
                                      <p:cBhvr additive="base">
                                        <p:cTn id="50" dur="500" fill="hold"/>
                                        <p:tgtEl>
                                          <p:spTgt spid="16"/>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additive="base">
                                        <p:cTn id="55" dur="500" fill="hold"/>
                                        <p:tgtEl>
                                          <p:spTgt spid="27"/>
                                        </p:tgtEl>
                                        <p:attrNameLst>
                                          <p:attrName>ppt_x</p:attrName>
                                        </p:attrNameLst>
                                      </p:cBhvr>
                                      <p:tavLst>
                                        <p:tav tm="0">
                                          <p:val>
                                            <p:strVal val="0-#ppt_w/2"/>
                                          </p:val>
                                        </p:tav>
                                        <p:tav tm="100000">
                                          <p:val>
                                            <p:strVal val="#ppt_x"/>
                                          </p:val>
                                        </p:tav>
                                      </p:tavLst>
                                    </p:anim>
                                    <p:anim calcmode="lin" valueType="num">
                                      <p:cBhvr additive="base">
                                        <p:cTn id="56"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8" fill="hold" nodeType="click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additive="base">
                                        <p:cTn id="61" dur="500" fill="hold"/>
                                        <p:tgtEl>
                                          <p:spTgt spid="15"/>
                                        </p:tgtEl>
                                        <p:attrNameLst>
                                          <p:attrName>ppt_x</p:attrName>
                                        </p:attrNameLst>
                                      </p:cBhvr>
                                      <p:tavLst>
                                        <p:tav tm="0">
                                          <p:val>
                                            <p:strVal val="0-#ppt_w/2"/>
                                          </p:val>
                                        </p:tav>
                                        <p:tav tm="100000">
                                          <p:val>
                                            <p:strVal val="#ppt_x"/>
                                          </p:val>
                                        </p:tav>
                                      </p:tavLst>
                                    </p:anim>
                                    <p:anim calcmode="lin" valueType="num">
                                      <p:cBhvr additive="base">
                                        <p:cTn id="62"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grpId="0" nodeType="clickEffect">
                                  <p:stCondLst>
                                    <p:cond delay="0"/>
                                  </p:stCondLst>
                                  <p:childTnLst>
                                    <p:set>
                                      <p:cBhvr>
                                        <p:cTn id="66" dur="1" fill="hold">
                                          <p:stCondLst>
                                            <p:cond delay="0"/>
                                          </p:stCondLst>
                                        </p:cTn>
                                        <p:tgtEl>
                                          <p:spTgt spid="145"/>
                                        </p:tgtEl>
                                        <p:attrNameLst>
                                          <p:attrName>style.visibility</p:attrName>
                                        </p:attrNameLst>
                                      </p:cBhvr>
                                      <p:to>
                                        <p:strVal val="visible"/>
                                      </p:to>
                                    </p:set>
                                    <p:anim calcmode="lin" valueType="num">
                                      <p:cBhvr additive="base">
                                        <p:cTn id="67" dur="500" fill="hold"/>
                                        <p:tgtEl>
                                          <p:spTgt spid="145"/>
                                        </p:tgtEl>
                                        <p:attrNameLst>
                                          <p:attrName>ppt_x</p:attrName>
                                        </p:attrNameLst>
                                      </p:cBhvr>
                                      <p:tavLst>
                                        <p:tav tm="0">
                                          <p:val>
                                            <p:strVal val="0-#ppt_w/2"/>
                                          </p:val>
                                        </p:tav>
                                        <p:tav tm="100000">
                                          <p:val>
                                            <p:strVal val="#ppt_x"/>
                                          </p:val>
                                        </p:tav>
                                      </p:tavLst>
                                    </p:anim>
                                    <p:anim calcmode="lin" valueType="num">
                                      <p:cBhvr additive="base">
                                        <p:cTn id="68" dur="500" fill="hold"/>
                                        <p:tgtEl>
                                          <p:spTgt spid="145"/>
                                        </p:tgtEl>
                                        <p:attrNameLst>
                                          <p:attrName>ppt_y</p:attrName>
                                        </p:attrNameLst>
                                      </p:cBhvr>
                                      <p:tavLst>
                                        <p:tav tm="0">
                                          <p:val>
                                            <p:strVal val="#ppt_y"/>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nodeType="clickEffect">
                                  <p:stCondLst>
                                    <p:cond delay="0"/>
                                  </p:stCondLst>
                                  <p:childTnLst>
                                    <p:set>
                                      <p:cBhvr>
                                        <p:cTn id="72" dur="1" fill="hold">
                                          <p:stCondLst>
                                            <p:cond delay="0"/>
                                          </p:stCondLst>
                                        </p:cTn>
                                        <p:tgtEl>
                                          <p:spTgt spid="35"/>
                                        </p:tgtEl>
                                        <p:attrNameLst>
                                          <p:attrName>style.visibility</p:attrName>
                                        </p:attrNameLst>
                                      </p:cBhvr>
                                      <p:to>
                                        <p:strVal val="visible"/>
                                      </p:to>
                                    </p:set>
                                    <p:anim calcmode="lin" valueType="num">
                                      <p:cBhvr additive="base">
                                        <p:cTn id="73" dur="500" fill="hold"/>
                                        <p:tgtEl>
                                          <p:spTgt spid="35"/>
                                        </p:tgtEl>
                                        <p:attrNameLst>
                                          <p:attrName>ppt_x</p:attrName>
                                        </p:attrNameLst>
                                      </p:cBhvr>
                                      <p:tavLst>
                                        <p:tav tm="0">
                                          <p:val>
                                            <p:strVal val="0-#ppt_w/2"/>
                                          </p:val>
                                        </p:tav>
                                        <p:tav tm="100000">
                                          <p:val>
                                            <p:strVal val="#ppt_x"/>
                                          </p:val>
                                        </p:tav>
                                      </p:tavLst>
                                    </p:anim>
                                    <p:anim calcmode="lin" valueType="num">
                                      <p:cBhvr additive="base">
                                        <p:cTn id="74" dur="500" fill="hold"/>
                                        <p:tgtEl>
                                          <p:spTgt spid="35"/>
                                        </p:tgtEl>
                                        <p:attrNameLst>
                                          <p:attrName>ppt_y</p:attrName>
                                        </p:attrNameLst>
                                      </p:cBhvr>
                                      <p:tavLst>
                                        <p:tav tm="0">
                                          <p:val>
                                            <p:strVal val="#ppt_y"/>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8" fill="hold" grpId="0" nodeType="clickEffect">
                                  <p:stCondLst>
                                    <p:cond delay="0"/>
                                  </p:stCondLst>
                                  <p:childTnLst>
                                    <p:set>
                                      <p:cBhvr>
                                        <p:cTn id="78" dur="1" fill="hold">
                                          <p:stCondLst>
                                            <p:cond delay="0"/>
                                          </p:stCondLst>
                                        </p:cTn>
                                        <p:tgtEl>
                                          <p:spTgt spid="19"/>
                                        </p:tgtEl>
                                        <p:attrNameLst>
                                          <p:attrName>style.visibility</p:attrName>
                                        </p:attrNameLst>
                                      </p:cBhvr>
                                      <p:to>
                                        <p:strVal val="visible"/>
                                      </p:to>
                                    </p:set>
                                    <p:anim calcmode="lin" valueType="num">
                                      <p:cBhvr additive="base">
                                        <p:cTn id="79" dur="500" fill="hold"/>
                                        <p:tgtEl>
                                          <p:spTgt spid="19"/>
                                        </p:tgtEl>
                                        <p:attrNameLst>
                                          <p:attrName>ppt_x</p:attrName>
                                        </p:attrNameLst>
                                      </p:cBhvr>
                                      <p:tavLst>
                                        <p:tav tm="0">
                                          <p:val>
                                            <p:strVal val="0-#ppt_w/2"/>
                                          </p:val>
                                        </p:tav>
                                        <p:tav tm="100000">
                                          <p:val>
                                            <p:strVal val="#ppt_x"/>
                                          </p:val>
                                        </p:tav>
                                      </p:tavLst>
                                    </p:anim>
                                    <p:anim calcmode="lin" valueType="num">
                                      <p:cBhvr additive="base">
                                        <p:cTn id="80" dur="500" fill="hold"/>
                                        <p:tgtEl>
                                          <p:spTgt spid="19"/>
                                        </p:tgtEl>
                                        <p:attrNameLst>
                                          <p:attrName>ppt_y</p:attrName>
                                        </p:attrNameLst>
                                      </p:cBhvr>
                                      <p:tavLst>
                                        <p:tav tm="0">
                                          <p:val>
                                            <p:strVal val="#ppt_y"/>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2" presetClass="entr" presetSubtype="4" fill="hold" nodeType="clickEffect">
                                  <p:stCondLst>
                                    <p:cond delay="0"/>
                                  </p:stCondLst>
                                  <p:childTnLst>
                                    <p:set>
                                      <p:cBhvr>
                                        <p:cTn id="84" dur="1" fill="hold">
                                          <p:stCondLst>
                                            <p:cond delay="0"/>
                                          </p:stCondLst>
                                        </p:cTn>
                                        <p:tgtEl>
                                          <p:spTgt spid="20"/>
                                        </p:tgtEl>
                                        <p:attrNameLst>
                                          <p:attrName>style.visibility</p:attrName>
                                        </p:attrNameLst>
                                      </p:cBhvr>
                                      <p:to>
                                        <p:strVal val="visible"/>
                                      </p:to>
                                    </p:set>
                                    <p:anim calcmode="lin" valueType="num">
                                      <p:cBhvr additive="base">
                                        <p:cTn id="85" dur="500" fill="hold"/>
                                        <p:tgtEl>
                                          <p:spTgt spid="20"/>
                                        </p:tgtEl>
                                        <p:attrNameLst>
                                          <p:attrName>ppt_x</p:attrName>
                                        </p:attrNameLst>
                                      </p:cBhvr>
                                      <p:tavLst>
                                        <p:tav tm="0">
                                          <p:val>
                                            <p:strVal val="#ppt_x"/>
                                          </p:val>
                                        </p:tav>
                                        <p:tav tm="100000">
                                          <p:val>
                                            <p:strVal val="#ppt_x"/>
                                          </p:val>
                                        </p:tav>
                                      </p:tavLst>
                                    </p:anim>
                                    <p:anim calcmode="lin" valueType="num">
                                      <p:cBhvr additive="base">
                                        <p:cTn id="86" dur="500" fill="hold"/>
                                        <p:tgtEl>
                                          <p:spTgt spid="20"/>
                                        </p:tgtEl>
                                        <p:attrNameLst>
                                          <p:attrName>ppt_y</p:attrName>
                                        </p:attrNameLst>
                                      </p:cBhvr>
                                      <p:tavLst>
                                        <p:tav tm="0">
                                          <p:val>
                                            <p:strVal val="1+#ppt_h/2"/>
                                          </p:val>
                                        </p:tav>
                                        <p:tav tm="100000">
                                          <p:val>
                                            <p:strVal val="#ppt_y"/>
                                          </p:val>
                                        </p:tav>
                                      </p:tavLst>
                                    </p:anim>
                                  </p:childTnLst>
                                </p:cTn>
                              </p:par>
                              <p:par>
                                <p:cTn id="87" presetID="2" presetClass="entr" presetSubtype="4" fill="hold" nodeType="withEffect">
                                  <p:stCondLst>
                                    <p:cond delay="0"/>
                                  </p:stCondLst>
                                  <p:childTnLst>
                                    <p:set>
                                      <p:cBhvr>
                                        <p:cTn id="88" dur="1" fill="hold">
                                          <p:stCondLst>
                                            <p:cond delay="0"/>
                                          </p:stCondLst>
                                        </p:cTn>
                                        <p:tgtEl>
                                          <p:spTgt spid="31"/>
                                        </p:tgtEl>
                                        <p:attrNameLst>
                                          <p:attrName>style.visibility</p:attrName>
                                        </p:attrNameLst>
                                      </p:cBhvr>
                                      <p:to>
                                        <p:strVal val="visible"/>
                                      </p:to>
                                    </p:set>
                                    <p:anim calcmode="lin" valueType="num">
                                      <p:cBhvr additive="base">
                                        <p:cTn id="89" dur="500" fill="hold"/>
                                        <p:tgtEl>
                                          <p:spTgt spid="31"/>
                                        </p:tgtEl>
                                        <p:attrNameLst>
                                          <p:attrName>ppt_x</p:attrName>
                                        </p:attrNameLst>
                                      </p:cBhvr>
                                      <p:tavLst>
                                        <p:tav tm="0">
                                          <p:val>
                                            <p:strVal val="#ppt_x"/>
                                          </p:val>
                                        </p:tav>
                                        <p:tav tm="100000">
                                          <p:val>
                                            <p:strVal val="#ppt_x"/>
                                          </p:val>
                                        </p:tav>
                                      </p:tavLst>
                                    </p:anim>
                                    <p:anim calcmode="lin" valueType="num">
                                      <p:cBhvr additive="base">
                                        <p:cTn id="90" dur="500" fill="hold"/>
                                        <p:tgtEl>
                                          <p:spTgt spid="31"/>
                                        </p:tgtEl>
                                        <p:attrNameLst>
                                          <p:attrName>ppt_y</p:attrName>
                                        </p:attrNameLst>
                                      </p:cBhvr>
                                      <p:tavLst>
                                        <p:tav tm="0">
                                          <p:val>
                                            <p:strVal val="1+#ppt_h/2"/>
                                          </p:val>
                                        </p:tav>
                                        <p:tav tm="100000">
                                          <p:val>
                                            <p:strVal val="#ppt_y"/>
                                          </p:val>
                                        </p:tav>
                                      </p:tavLst>
                                    </p:anim>
                                  </p:childTnLst>
                                </p:cTn>
                              </p:par>
                              <p:par>
                                <p:cTn id="91" presetID="2" presetClass="entr" presetSubtype="4" fill="hold" grpId="0" nodeType="withEffect">
                                  <p:stCondLst>
                                    <p:cond delay="0"/>
                                  </p:stCondLst>
                                  <p:childTnLst>
                                    <p:set>
                                      <p:cBhvr>
                                        <p:cTn id="92" dur="1" fill="hold">
                                          <p:stCondLst>
                                            <p:cond delay="0"/>
                                          </p:stCondLst>
                                        </p:cTn>
                                        <p:tgtEl>
                                          <p:spTgt spid="7"/>
                                        </p:tgtEl>
                                        <p:attrNameLst>
                                          <p:attrName>style.visibility</p:attrName>
                                        </p:attrNameLst>
                                      </p:cBhvr>
                                      <p:to>
                                        <p:strVal val="visible"/>
                                      </p:to>
                                    </p:set>
                                    <p:anim calcmode="lin" valueType="num">
                                      <p:cBhvr additive="base">
                                        <p:cTn id="93" dur="500" fill="hold"/>
                                        <p:tgtEl>
                                          <p:spTgt spid="7"/>
                                        </p:tgtEl>
                                        <p:attrNameLst>
                                          <p:attrName>ppt_x</p:attrName>
                                        </p:attrNameLst>
                                      </p:cBhvr>
                                      <p:tavLst>
                                        <p:tav tm="0">
                                          <p:val>
                                            <p:strVal val="#ppt_x"/>
                                          </p:val>
                                        </p:tav>
                                        <p:tav tm="100000">
                                          <p:val>
                                            <p:strVal val="#ppt_x"/>
                                          </p:val>
                                        </p:tav>
                                      </p:tavLst>
                                    </p:anim>
                                    <p:anim calcmode="lin" valueType="num">
                                      <p:cBhvr additive="base">
                                        <p:cTn id="94" dur="500" fill="hold"/>
                                        <p:tgtEl>
                                          <p:spTgt spid="7"/>
                                        </p:tgtEl>
                                        <p:attrNameLst>
                                          <p:attrName>ppt_y</p:attrName>
                                        </p:attrNameLst>
                                      </p:cBhvr>
                                      <p:tavLst>
                                        <p:tav tm="0">
                                          <p:val>
                                            <p:strVal val="1+#ppt_h/2"/>
                                          </p:val>
                                        </p:tav>
                                        <p:tav tm="100000">
                                          <p:val>
                                            <p:strVal val="#ppt_y"/>
                                          </p:val>
                                        </p:tav>
                                      </p:tavLst>
                                    </p:anim>
                                  </p:childTnLst>
                                </p:cTn>
                              </p:par>
                              <p:par>
                                <p:cTn id="95" presetID="2" presetClass="entr" presetSubtype="4" fill="hold" nodeType="withEffect">
                                  <p:stCondLst>
                                    <p:cond delay="0"/>
                                  </p:stCondLst>
                                  <p:childTnLst>
                                    <p:set>
                                      <p:cBhvr>
                                        <p:cTn id="96" dur="1" fill="hold">
                                          <p:stCondLst>
                                            <p:cond delay="0"/>
                                          </p:stCondLst>
                                        </p:cTn>
                                        <p:tgtEl>
                                          <p:spTgt spid="10"/>
                                        </p:tgtEl>
                                        <p:attrNameLst>
                                          <p:attrName>style.visibility</p:attrName>
                                        </p:attrNameLst>
                                      </p:cBhvr>
                                      <p:to>
                                        <p:strVal val="visible"/>
                                      </p:to>
                                    </p:set>
                                    <p:anim calcmode="lin" valueType="num">
                                      <p:cBhvr additive="base">
                                        <p:cTn id="97" dur="500" fill="hold"/>
                                        <p:tgtEl>
                                          <p:spTgt spid="10"/>
                                        </p:tgtEl>
                                        <p:attrNameLst>
                                          <p:attrName>ppt_x</p:attrName>
                                        </p:attrNameLst>
                                      </p:cBhvr>
                                      <p:tavLst>
                                        <p:tav tm="0">
                                          <p:val>
                                            <p:strVal val="#ppt_x"/>
                                          </p:val>
                                        </p:tav>
                                        <p:tav tm="100000">
                                          <p:val>
                                            <p:strVal val="#ppt_x"/>
                                          </p:val>
                                        </p:tav>
                                      </p:tavLst>
                                    </p:anim>
                                    <p:anim calcmode="lin" valueType="num">
                                      <p:cBhvr additive="base">
                                        <p:cTn id="98" dur="500" fill="hold"/>
                                        <p:tgtEl>
                                          <p:spTgt spid="10"/>
                                        </p:tgtEl>
                                        <p:attrNameLst>
                                          <p:attrName>ppt_y</p:attrName>
                                        </p:attrNameLst>
                                      </p:cBhvr>
                                      <p:tavLst>
                                        <p:tav tm="0">
                                          <p:val>
                                            <p:strVal val="1+#ppt_h/2"/>
                                          </p:val>
                                        </p:tav>
                                        <p:tav tm="100000">
                                          <p:val>
                                            <p:strVal val="#ppt_y"/>
                                          </p:val>
                                        </p:tav>
                                      </p:tavLst>
                                    </p:anim>
                                  </p:childTnLst>
                                </p:cTn>
                              </p:par>
                              <p:par>
                                <p:cTn id="99" presetID="2" presetClass="entr" presetSubtype="4" fill="hold" nodeType="withEffect">
                                  <p:stCondLst>
                                    <p:cond delay="0"/>
                                  </p:stCondLst>
                                  <p:childTnLst>
                                    <p:set>
                                      <p:cBhvr>
                                        <p:cTn id="100" dur="1" fill="hold">
                                          <p:stCondLst>
                                            <p:cond delay="0"/>
                                          </p:stCondLst>
                                        </p:cTn>
                                        <p:tgtEl>
                                          <p:spTgt spid="38"/>
                                        </p:tgtEl>
                                        <p:attrNameLst>
                                          <p:attrName>style.visibility</p:attrName>
                                        </p:attrNameLst>
                                      </p:cBhvr>
                                      <p:to>
                                        <p:strVal val="visible"/>
                                      </p:to>
                                    </p:set>
                                    <p:anim calcmode="lin" valueType="num">
                                      <p:cBhvr additive="base">
                                        <p:cTn id="101" dur="500" fill="hold"/>
                                        <p:tgtEl>
                                          <p:spTgt spid="38"/>
                                        </p:tgtEl>
                                        <p:attrNameLst>
                                          <p:attrName>ppt_x</p:attrName>
                                        </p:attrNameLst>
                                      </p:cBhvr>
                                      <p:tavLst>
                                        <p:tav tm="0">
                                          <p:val>
                                            <p:strVal val="#ppt_x"/>
                                          </p:val>
                                        </p:tav>
                                        <p:tav tm="100000">
                                          <p:val>
                                            <p:strVal val="#ppt_x"/>
                                          </p:val>
                                        </p:tav>
                                      </p:tavLst>
                                    </p:anim>
                                    <p:anim calcmode="lin" valueType="num">
                                      <p:cBhvr additive="base">
                                        <p:cTn id="102" dur="500" fill="hold"/>
                                        <p:tgtEl>
                                          <p:spTgt spid="38"/>
                                        </p:tgtEl>
                                        <p:attrNameLst>
                                          <p:attrName>ppt_y</p:attrName>
                                        </p:attrNameLst>
                                      </p:cBhvr>
                                      <p:tavLst>
                                        <p:tav tm="0">
                                          <p:val>
                                            <p:strVal val="1+#ppt_h/2"/>
                                          </p:val>
                                        </p:tav>
                                        <p:tav tm="100000">
                                          <p:val>
                                            <p:strVal val="#ppt_y"/>
                                          </p:val>
                                        </p:tav>
                                      </p:tavLst>
                                    </p:anim>
                                  </p:childTnLst>
                                </p:cTn>
                              </p:par>
                              <p:par>
                                <p:cTn id="103" presetID="2" presetClass="entr" presetSubtype="4" fill="hold" nodeType="withEffect">
                                  <p:stCondLst>
                                    <p:cond delay="0"/>
                                  </p:stCondLst>
                                  <p:childTnLst>
                                    <p:set>
                                      <p:cBhvr>
                                        <p:cTn id="104" dur="1" fill="hold">
                                          <p:stCondLst>
                                            <p:cond delay="0"/>
                                          </p:stCondLst>
                                        </p:cTn>
                                        <p:tgtEl>
                                          <p:spTgt spid="9"/>
                                        </p:tgtEl>
                                        <p:attrNameLst>
                                          <p:attrName>style.visibility</p:attrName>
                                        </p:attrNameLst>
                                      </p:cBhvr>
                                      <p:to>
                                        <p:strVal val="visible"/>
                                      </p:to>
                                    </p:set>
                                    <p:anim calcmode="lin" valueType="num">
                                      <p:cBhvr additive="base">
                                        <p:cTn id="105" dur="500" fill="hold"/>
                                        <p:tgtEl>
                                          <p:spTgt spid="9"/>
                                        </p:tgtEl>
                                        <p:attrNameLst>
                                          <p:attrName>ppt_x</p:attrName>
                                        </p:attrNameLst>
                                      </p:cBhvr>
                                      <p:tavLst>
                                        <p:tav tm="0">
                                          <p:val>
                                            <p:strVal val="#ppt_x"/>
                                          </p:val>
                                        </p:tav>
                                        <p:tav tm="100000">
                                          <p:val>
                                            <p:strVal val="#ppt_x"/>
                                          </p:val>
                                        </p:tav>
                                      </p:tavLst>
                                    </p:anim>
                                    <p:anim calcmode="lin" valueType="num">
                                      <p:cBhvr additive="base">
                                        <p:cTn id="106" dur="500" fill="hold"/>
                                        <p:tgtEl>
                                          <p:spTgt spid="9"/>
                                        </p:tgtEl>
                                        <p:attrNameLst>
                                          <p:attrName>ppt_y</p:attrName>
                                        </p:attrNameLst>
                                      </p:cBhvr>
                                      <p:tavLst>
                                        <p:tav tm="0">
                                          <p:val>
                                            <p:strVal val="1+#ppt_h/2"/>
                                          </p:val>
                                        </p:tav>
                                        <p:tav tm="100000">
                                          <p:val>
                                            <p:strVal val="#ppt_y"/>
                                          </p:val>
                                        </p:tav>
                                      </p:tavLst>
                                    </p:anim>
                                  </p:childTnLst>
                                </p:cTn>
                              </p:par>
                              <p:par>
                                <p:cTn id="107" presetID="2" presetClass="entr" presetSubtype="4" fill="hold" grpId="0" nodeType="withEffect">
                                  <p:stCondLst>
                                    <p:cond delay="0"/>
                                  </p:stCondLst>
                                  <p:childTnLst>
                                    <p:set>
                                      <p:cBhvr>
                                        <p:cTn id="108" dur="1" fill="hold">
                                          <p:stCondLst>
                                            <p:cond delay="0"/>
                                          </p:stCondLst>
                                        </p:cTn>
                                        <p:tgtEl>
                                          <p:spTgt spid="94"/>
                                        </p:tgtEl>
                                        <p:attrNameLst>
                                          <p:attrName>style.visibility</p:attrName>
                                        </p:attrNameLst>
                                      </p:cBhvr>
                                      <p:to>
                                        <p:strVal val="visible"/>
                                      </p:to>
                                    </p:set>
                                    <p:anim calcmode="lin" valueType="num">
                                      <p:cBhvr additive="base">
                                        <p:cTn id="109" dur="500" fill="hold"/>
                                        <p:tgtEl>
                                          <p:spTgt spid="94"/>
                                        </p:tgtEl>
                                        <p:attrNameLst>
                                          <p:attrName>ppt_x</p:attrName>
                                        </p:attrNameLst>
                                      </p:cBhvr>
                                      <p:tavLst>
                                        <p:tav tm="0">
                                          <p:val>
                                            <p:strVal val="#ppt_x"/>
                                          </p:val>
                                        </p:tav>
                                        <p:tav tm="100000">
                                          <p:val>
                                            <p:strVal val="#ppt_x"/>
                                          </p:val>
                                        </p:tav>
                                      </p:tavLst>
                                    </p:anim>
                                    <p:anim calcmode="lin" valueType="num">
                                      <p:cBhvr additive="base">
                                        <p:cTn id="110" dur="500" fill="hold"/>
                                        <p:tgtEl>
                                          <p:spTgt spid="94"/>
                                        </p:tgtEl>
                                        <p:attrNameLst>
                                          <p:attrName>ppt_y</p:attrName>
                                        </p:attrNameLst>
                                      </p:cBhvr>
                                      <p:tavLst>
                                        <p:tav tm="0">
                                          <p:val>
                                            <p:strVal val="1+#ppt_h/2"/>
                                          </p:val>
                                        </p:tav>
                                        <p:tav tm="100000">
                                          <p:val>
                                            <p:strVal val="#ppt_y"/>
                                          </p:val>
                                        </p:tav>
                                      </p:tavLst>
                                    </p:anim>
                                  </p:childTnLst>
                                </p:cTn>
                              </p:par>
                              <p:par>
                                <p:cTn id="111" presetID="2" presetClass="entr" presetSubtype="4" fill="hold" nodeType="withEffect">
                                  <p:stCondLst>
                                    <p:cond delay="0"/>
                                  </p:stCondLst>
                                  <p:childTnLst>
                                    <p:set>
                                      <p:cBhvr>
                                        <p:cTn id="112" dur="1" fill="hold">
                                          <p:stCondLst>
                                            <p:cond delay="0"/>
                                          </p:stCondLst>
                                        </p:cTn>
                                        <p:tgtEl>
                                          <p:spTgt spid="8"/>
                                        </p:tgtEl>
                                        <p:attrNameLst>
                                          <p:attrName>style.visibility</p:attrName>
                                        </p:attrNameLst>
                                      </p:cBhvr>
                                      <p:to>
                                        <p:strVal val="visible"/>
                                      </p:to>
                                    </p:set>
                                    <p:anim calcmode="lin" valueType="num">
                                      <p:cBhvr additive="base">
                                        <p:cTn id="113" dur="500" fill="hold"/>
                                        <p:tgtEl>
                                          <p:spTgt spid="8"/>
                                        </p:tgtEl>
                                        <p:attrNameLst>
                                          <p:attrName>ppt_x</p:attrName>
                                        </p:attrNameLst>
                                      </p:cBhvr>
                                      <p:tavLst>
                                        <p:tav tm="0">
                                          <p:val>
                                            <p:strVal val="#ppt_x"/>
                                          </p:val>
                                        </p:tav>
                                        <p:tav tm="100000">
                                          <p:val>
                                            <p:strVal val="#ppt_x"/>
                                          </p:val>
                                        </p:tav>
                                      </p:tavLst>
                                    </p:anim>
                                    <p:anim calcmode="lin" valueType="num">
                                      <p:cBhvr additive="base">
                                        <p:cTn id="114" dur="500" fill="hold"/>
                                        <p:tgtEl>
                                          <p:spTgt spid="8"/>
                                        </p:tgtEl>
                                        <p:attrNameLst>
                                          <p:attrName>ppt_y</p:attrName>
                                        </p:attrNameLst>
                                      </p:cBhvr>
                                      <p:tavLst>
                                        <p:tav tm="0">
                                          <p:val>
                                            <p:strVal val="1+#ppt_h/2"/>
                                          </p:val>
                                        </p:tav>
                                        <p:tav tm="100000">
                                          <p:val>
                                            <p:strVal val="#ppt_y"/>
                                          </p:val>
                                        </p:tav>
                                      </p:tavLst>
                                    </p:anim>
                                  </p:childTnLst>
                                </p:cTn>
                              </p:par>
                              <p:par>
                                <p:cTn id="115" presetID="2" presetClass="entr" presetSubtype="4" fill="hold" nodeType="withEffect">
                                  <p:stCondLst>
                                    <p:cond delay="0"/>
                                  </p:stCondLst>
                                  <p:childTnLst>
                                    <p:set>
                                      <p:cBhvr>
                                        <p:cTn id="116" dur="1" fill="hold">
                                          <p:stCondLst>
                                            <p:cond delay="0"/>
                                          </p:stCondLst>
                                        </p:cTn>
                                        <p:tgtEl>
                                          <p:spTgt spid="121"/>
                                        </p:tgtEl>
                                        <p:attrNameLst>
                                          <p:attrName>style.visibility</p:attrName>
                                        </p:attrNameLst>
                                      </p:cBhvr>
                                      <p:to>
                                        <p:strVal val="visible"/>
                                      </p:to>
                                    </p:set>
                                    <p:anim calcmode="lin" valueType="num">
                                      <p:cBhvr additive="base">
                                        <p:cTn id="117" dur="500" fill="hold"/>
                                        <p:tgtEl>
                                          <p:spTgt spid="121"/>
                                        </p:tgtEl>
                                        <p:attrNameLst>
                                          <p:attrName>ppt_x</p:attrName>
                                        </p:attrNameLst>
                                      </p:cBhvr>
                                      <p:tavLst>
                                        <p:tav tm="0">
                                          <p:val>
                                            <p:strVal val="#ppt_x"/>
                                          </p:val>
                                        </p:tav>
                                        <p:tav tm="100000">
                                          <p:val>
                                            <p:strVal val="#ppt_x"/>
                                          </p:val>
                                        </p:tav>
                                      </p:tavLst>
                                    </p:anim>
                                    <p:anim calcmode="lin" valueType="num">
                                      <p:cBhvr additive="base">
                                        <p:cTn id="118" dur="500" fill="hold"/>
                                        <p:tgtEl>
                                          <p:spTgt spid="121"/>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2"/>
                                        </p:tgtEl>
                                        <p:attrNameLst>
                                          <p:attrName>style.visibility</p:attrName>
                                        </p:attrNameLst>
                                      </p:cBhvr>
                                      <p:to>
                                        <p:strVal val="visible"/>
                                      </p:to>
                                    </p:set>
                                    <p:anim calcmode="lin" valueType="num">
                                      <p:cBhvr additive="base">
                                        <p:cTn id="121" dur="500" fill="hold"/>
                                        <p:tgtEl>
                                          <p:spTgt spid="2"/>
                                        </p:tgtEl>
                                        <p:attrNameLst>
                                          <p:attrName>ppt_x</p:attrName>
                                        </p:attrNameLst>
                                      </p:cBhvr>
                                      <p:tavLst>
                                        <p:tav tm="0">
                                          <p:val>
                                            <p:strVal val="#ppt_x"/>
                                          </p:val>
                                        </p:tav>
                                        <p:tav tm="100000">
                                          <p:val>
                                            <p:strVal val="#ppt_x"/>
                                          </p:val>
                                        </p:tav>
                                      </p:tavLst>
                                    </p:anim>
                                    <p:anim calcmode="lin" valueType="num">
                                      <p:cBhvr additive="base">
                                        <p:cTn id="122" dur="500" fill="hold"/>
                                        <p:tgtEl>
                                          <p:spTgt spid="2"/>
                                        </p:tgtEl>
                                        <p:attrNameLst>
                                          <p:attrName>ppt_y</p:attrName>
                                        </p:attrNameLst>
                                      </p:cBhvr>
                                      <p:tavLst>
                                        <p:tav tm="0">
                                          <p:val>
                                            <p:strVal val="1+#ppt_h/2"/>
                                          </p:val>
                                        </p:tav>
                                        <p:tav tm="100000">
                                          <p:val>
                                            <p:strVal val="#ppt_y"/>
                                          </p:val>
                                        </p:tav>
                                      </p:tavLst>
                                    </p:anim>
                                  </p:childTnLst>
                                </p:cTn>
                              </p:par>
                              <p:par>
                                <p:cTn id="123" presetID="2" presetClass="entr" presetSubtype="4" fill="hold" nodeType="withEffect">
                                  <p:stCondLst>
                                    <p:cond delay="0"/>
                                  </p:stCondLst>
                                  <p:childTnLst>
                                    <p:set>
                                      <p:cBhvr>
                                        <p:cTn id="124" dur="1" fill="hold">
                                          <p:stCondLst>
                                            <p:cond delay="0"/>
                                          </p:stCondLst>
                                        </p:cTn>
                                        <p:tgtEl>
                                          <p:spTgt spid="126"/>
                                        </p:tgtEl>
                                        <p:attrNameLst>
                                          <p:attrName>style.visibility</p:attrName>
                                        </p:attrNameLst>
                                      </p:cBhvr>
                                      <p:to>
                                        <p:strVal val="visible"/>
                                      </p:to>
                                    </p:set>
                                    <p:anim calcmode="lin" valueType="num">
                                      <p:cBhvr additive="base">
                                        <p:cTn id="125" dur="500" fill="hold"/>
                                        <p:tgtEl>
                                          <p:spTgt spid="126"/>
                                        </p:tgtEl>
                                        <p:attrNameLst>
                                          <p:attrName>ppt_x</p:attrName>
                                        </p:attrNameLst>
                                      </p:cBhvr>
                                      <p:tavLst>
                                        <p:tav tm="0">
                                          <p:val>
                                            <p:strVal val="#ppt_x"/>
                                          </p:val>
                                        </p:tav>
                                        <p:tav tm="100000">
                                          <p:val>
                                            <p:strVal val="#ppt_x"/>
                                          </p:val>
                                        </p:tav>
                                      </p:tavLst>
                                    </p:anim>
                                    <p:anim calcmode="lin" valueType="num">
                                      <p:cBhvr additive="base">
                                        <p:cTn id="126" dur="500" fill="hold"/>
                                        <p:tgtEl>
                                          <p:spTgt spid="126"/>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133"/>
                                        </p:tgtEl>
                                        <p:attrNameLst>
                                          <p:attrName>style.visibility</p:attrName>
                                        </p:attrNameLst>
                                      </p:cBhvr>
                                      <p:to>
                                        <p:strVal val="visible"/>
                                      </p:to>
                                    </p:set>
                                    <p:anim calcmode="lin" valueType="num">
                                      <p:cBhvr additive="base">
                                        <p:cTn id="129" dur="500" fill="hold"/>
                                        <p:tgtEl>
                                          <p:spTgt spid="133"/>
                                        </p:tgtEl>
                                        <p:attrNameLst>
                                          <p:attrName>ppt_x</p:attrName>
                                        </p:attrNameLst>
                                      </p:cBhvr>
                                      <p:tavLst>
                                        <p:tav tm="0">
                                          <p:val>
                                            <p:strVal val="#ppt_x"/>
                                          </p:val>
                                        </p:tav>
                                        <p:tav tm="100000">
                                          <p:val>
                                            <p:strVal val="#ppt_x"/>
                                          </p:val>
                                        </p:tav>
                                      </p:tavLst>
                                    </p:anim>
                                    <p:anim calcmode="lin" valueType="num">
                                      <p:cBhvr additive="base">
                                        <p:cTn id="130" dur="500" fill="hold"/>
                                        <p:tgtEl>
                                          <p:spTgt spid="133"/>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39"/>
                                        </p:tgtEl>
                                        <p:attrNameLst>
                                          <p:attrName>style.visibility</p:attrName>
                                        </p:attrNameLst>
                                      </p:cBhvr>
                                      <p:to>
                                        <p:strVal val="visible"/>
                                      </p:to>
                                    </p:set>
                                    <p:anim calcmode="lin" valueType="num">
                                      <p:cBhvr additive="base">
                                        <p:cTn id="133" dur="500" fill="hold"/>
                                        <p:tgtEl>
                                          <p:spTgt spid="39"/>
                                        </p:tgtEl>
                                        <p:attrNameLst>
                                          <p:attrName>ppt_x</p:attrName>
                                        </p:attrNameLst>
                                      </p:cBhvr>
                                      <p:tavLst>
                                        <p:tav tm="0">
                                          <p:val>
                                            <p:strVal val="#ppt_x"/>
                                          </p:val>
                                        </p:tav>
                                        <p:tav tm="100000">
                                          <p:val>
                                            <p:strVal val="#ppt_x"/>
                                          </p:val>
                                        </p:tav>
                                      </p:tavLst>
                                    </p:anim>
                                    <p:anim calcmode="lin" valueType="num">
                                      <p:cBhvr additive="base">
                                        <p:cTn id="134" dur="500" fill="hold"/>
                                        <p:tgtEl>
                                          <p:spTgt spid="39"/>
                                        </p:tgtEl>
                                        <p:attrNameLst>
                                          <p:attrName>ppt_y</p:attrName>
                                        </p:attrNameLst>
                                      </p:cBhvr>
                                      <p:tavLst>
                                        <p:tav tm="0">
                                          <p:val>
                                            <p:strVal val="1+#ppt_h/2"/>
                                          </p:val>
                                        </p:tav>
                                        <p:tav tm="100000">
                                          <p:val>
                                            <p:strVal val="#ppt_y"/>
                                          </p:val>
                                        </p:tav>
                                      </p:tavLst>
                                    </p:anim>
                                  </p:childTnLst>
                                </p:cTn>
                              </p:par>
                              <p:par>
                                <p:cTn id="135" presetID="2" presetClass="entr" presetSubtype="4" fill="hold" nodeType="withEffect">
                                  <p:stCondLst>
                                    <p:cond delay="0"/>
                                  </p:stCondLst>
                                  <p:childTnLst>
                                    <p:set>
                                      <p:cBhvr>
                                        <p:cTn id="136" dur="1" fill="hold">
                                          <p:stCondLst>
                                            <p:cond delay="0"/>
                                          </p:stCondLst>
                                        </p:cTn>
                                        <p:tgtEl>
                                          <p:spTgt spid="23"/>
                                        </p:tgtEl>
                                        <p:attrNameLst>
                                          <p:attrName>style.visibility</p:attrName>
                                        </p:attrNameLst>
                                      </p:cBhvr>
                                      <p:to>
                                        <p:strVal val="visible"/>
                                      </p:to>
                                    </p:set>
                                    <p:anim calcmode="lin" valueType="num">
                                      <p:cBhvr additive="base">
                                        <p:cTn id="137" dur="500" fill="hold"/>
                                        <p:tgtEl>
                                          <p:spTgt spid="23"/>
                                        </p:tgtEl>
                                        <p:attrNameLst>
                                          <p:attrName>ppt_x</p:attrName>
                                        </p:attrNameLst>
                                      </p:cBhvr>
                                      <p:tavLst>
                                        <p:tav tm="0">
                                          <p:val>
                                            <p:strVal val="#ppt_x"/>
                                          </p:val>
                                        </p:tav>
                                        <p:tav tm="100000">
                                          <p:val>
                                            <p:strVal val="#ppt_x"/>
                                          </p:val>
                                        </p:tav>
                                      </p:tavLst>
                                    </p:anim>
                                    <p:anim calcmode="lin" valueType="num">
                                      <p:cBhvr additive="base">
                                        <p:cTn id="138" dur="500" fill="hold"/>
                                        <p:tgtEl>
                                          <p:spTgt spid="23"/>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22"/>
                                        </p:tgtEl>
                                        <p:attrNameLst>
                                          <p:attrName>style.visibility</p:attrName>
                                        </p:attrNameLst>
                                      </p:cBhvr>
                                      <p:to>
                                        <p:strVal val="visible"/>
                                      </p:to>
                                    </p:set>
                                    <p:anim calcmode="lin" valueType="num">
                                      <p:cBhvr additive="base">
                                        <p:cTn id="141" dur="500" fill="hold"/>
                                        <p:tgtEl>
                                          <p:spTgt spid="22"/>
                                        </p:tgtEl>
                                        <p:attrNameLst>
                                          <p:attrName>ppt_x</p:attrName>
                                        </p:attrNameLst>
                                      </p:cBhvr>
                                      <p:tavLst>
                                        <p:tav tm="0">
                                          <p:val>
                                            <p:strVal val="#ppt_x"/>
                                          </p:val>
                                        </p:tav>
                                        <p:tav tm="100000">
                                          <p:val>
                                            <p:strVal val="#ppt_x"/>
                                          </p:val>
                                        </p:tav>
                                      </p:tavLst>
                                    </p:anim>
                                    <p:anim calcmode="lin" valueType="num">
                                      <p:cBhvr additive="base">
                                        <p:cTn id="142" dur="500" fill="hold"/>
                                        <p:tgtEl>
                                          <p:spTgt spid="22"/>
                                        </p:tgtEl>
                                        <p:attrNameLst>
                                          <p:attrName>ppt_y</p:attrName>
                                        </p:attrNameLst>
                                      </p:cBhvr>
                                      <p:tavLst>
                                        <p:tav tm="0">
                                          <p:val>
                                            <p:strVal val="1+#ppt_h/2"/>
                                          </p:val>
                                        </p:tav>
                                        <p:tav tm="100000">
                                          <p:val>
                                            <p:strVal val="#ppt_y"/>
                                          </p:val>
                                        </p:tav>
                                      </p:tavLst>
                                    </p:anim>
                                  </p:childTnLst>
                                </p:cTn>
                              </p:par>
                              <p:par>
                                <p:cTn id="143" presetID="2" presetClass="entr" presetSubtype="4" fill="hold" nodeType="withEffect">
                                  <p:stCondLst>
                                    <p:cond delay="0"/>
                                  </p:stCondLst>
                                  <p:childTnLst>
                                    <p:set>
                                      <p:cBhvr>
                                        <p:cTn id="144" dur="1" fill="hold">
                                          <p:stCondLst>
                                            <p:cond delay="0"/>
                                          </p:stCondLst>
                                        </p:cTn>
                                        <p:tgtEl>
                                          <p:spTgt spid="134"/>
                                        </p:tgtEl>
                                        <p:attrNameLst>
                                          <p:attrName>style.visibility</p:attrName>
                                        </p:attrNameLst>
                                      </p:cBhvr>
                                      <p:to>
                                        <p:strVal val="visible"/>
                                      </p:to>
                                    </p:set>
                                    <p:anim calcmode="lin" valueType="num">
                                      <p:cBhvr additive="base">
                                        <p:cTn id="145" dur="500" fill="hold"/>
                                        <p:tgtEl>
                                          <p:spTgt spid="134"/>
                                        </p:tgtEl>
                                        <p:attrNameLst>
                                          <p:attrName>ppt_x</p:attrName>
                                        </p:attrNameLst>
                                      </p:cBhvr>
                                      <p:tavLst>
                                        <p:tav tm="0">
                                          <p:val>
                                            <p:strVal val="#ppt_x"/>
                                          </p:val>
                                        </p:tav>
                                        <p:tav tm="100000">
                                          <p:val>
                                            <p:strVal val="#ppt_x"/>
                                          </p:val>
                                        </p:tav>
                                      </p:tavLst>
                                    </p:anim>
                                    <p:anim calcmode="lin" valueType="num">
                                      <p:cBhvr additive="base">
                                        <p:cTn id="146" dur="500" fill="hold"/>
                                        <p:tgtEl>
                                          <p:spTgt spid="13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25" grpId="0" animBg="1"/>
      <p:bldP spid="27" grpId="0" animBg="1"/>
      <p:bldP spid="39" grpId="0"/>
      <p:bldP spid="22" grpId="0" animBg="1"/>
      <p:bldP spid="94" grpId="0" animBg="1"/>
      <p:bldP spid="133" grpId="0"/>
      <p:bldP spid="144" grpId="0" animBg="1"/>
      <p:bldP spid="145" grpId="0" animBg="1"/>
      <p:bldP spid="19" grpId="0" animBg="1"/>
      <p:bldP spid="5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7A9FA04-E361-AE89-0EAC-56E27C45353F}"/>
              </a:ext>
            </a:extLst>
          </p:cNvPr>
          <p:cNvGraphicFramePr>
            <a:graphicFrameLocks noGrp="1"/>
          </p:cNvGraphicFramePr>
          <p:nvPr>
            <p:extLst>
              <p:ext uri="{D42A27DB-BD31-4B8C-83A1-F6EECF244321}">
                <p14:modId xmlns:p14="http://schemas.microsoft.com/office/powerpoint/2010/main" val="1076020317"/>
              </p:ext>
            </p:extLst>
          </p:nvPr>
        </p:nvGraphicFramePr>
        <p:xfrm>
          <a:off x="3383280" y="1955800"/>
          <a:ext cx="4871720" cy="2948940"/>
        </p:xfrm>
        <a:graphic>
          <a:graphicData uri="http://schemas.openxmlformats.org/drawingml/2006/table">
            <a:tbl>
              <a:tblPr>
                <a:tableStyleId>{5C22544A-7EE6-4342-B048-85BDC9FD1C3A}</a:tableStyleId>
              </a:tblPr>
              <a:tblGrid>
                <a:gridCol w="1733759">
                  <a:extLst>
                    <a:ext uri="{9D8B030D-6E8A-4147-A177-3AD203B41FA5}">
                      <a16:colId xmlns:a16="http://schemas.microsoft.com/office/drawing/2014/main" val="4053093868"/>
                    </a:ext>
                  </a:extLst>
                </a:gridCol>
                <a:gridCol w="816730">
                  <a:extLst>
                    <a:ext uri="{9D8B030D-6E8A-4147-A177-3AD203B41FA5}">
                      <a16:colId xmlns:a16="http://schemas.microsoft.com/office/drawing/2014/main" val="2272468750"/>
                    </a:ext>
                  </a:extLst>
                </a:gridCol>
                <a:gridCol w="1131958">
                  <a:extLst>
                    <a:ext uri="{9D8B030D-6E8A-4147-A177-3AD203B41FA5}">
                      <a16:colId xmlns:a16="http://schemas.microsoft.com/office/drawing/2014/main" val="1351709736"/>
                    </a:ext>
                  </a:extLst>
                </a:gridCol>
                <a:gridCol w="1189273">
                  <a:extLst>
                    <a:ext uri="{9D8B030D-6E8A-4147-A177-3AD203B41FA5}">
                      <a16:colId xmlns:a16="http://schemas.microsoft.com/office/drawing/2014/main" val="808844946"/>
                    </a:ext>
                  </a:extLst>
                </a:gridCol>
              </a:tblGrid>
              <a:tr h="190500">
                <a:tc>
                  <a:txBody>
                    <a:bodyPr/>
                    <a:lstStyle/>
                    <a:p>
                      <a:pPr algn="l" fontAlgn="b">
                        <a:buNone/>
                      </a:pPr>
                      <a:endParaRPr lang="en-US"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dirty="0">
                          <a:effectLst/>
                        </a:rPr>
                        <a:t>Loc</a:t>
                      </a:r>
                      <a:endParaRPr lang="en-US"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dirty="0">
                          <a:effectLst/>
                        </a:rPr>
                        <a:t>Classes</a:t>
                      </a:r>
                      <a:endParaRPr lang="en-US"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dirty="0">
                          <a:effectLst/>
                        </a:rPr>
                        <a:t>Methods</a:t>
                      </a:r>
                      <a:endParaRPr lang="en-US"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40746874"/>
                  </a:ext>
                </a:extLst>
              </a:tr>
              <a:tr h="190500">
                <a:tc>
                  <a:txBody>
                    <a:bodyPr/>
                    <a:lstStyle/>
                    <a:p>
                      <a:pPr algn="l" fontAlgn="b">
                        <a:buNone/>
                      </a:pPr>
                      <a:r>
                        <a:rPr lang="en-US" sz="1100" u="none" strike="noStrike">
                          <a:effectLst/>
                        </a:rPr>
                        <a:t>Imports and Setup</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855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10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79622031"/>
                  </a:ext>
                </a:extLst>
              </a:tr>
              <a:tr h="190500">
                <a:tc>
                  <a:txBody>
                    <a:bodyPr/>
                    <a:lstStyle/>
                    <a:p>
                      <a:pPr algn="l" fontAlgn="b">
                        <a:buNone/>
                      </a:pPr>
                      <a:r>
                        <a:rPr lang="en-US" sz="1100" u="none" strike="noStrike">
                          <a:effectLst/>
                        </a:rPr>
                        <a:t>Graph Database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880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6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38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06622176"/>
                  </a:ext>
                </a:extLst>
              </a:tr>
              <a:tr h="190500">
                <a:tc>
                  <a:txBody>
                    <a:bodyPr/>
                    <a:lstStyle/>
                    <a:p>
                      <a:pPr algn="l" fontAlgn="b">
                        <a:buNone/>
                      </a:pPr>
                      <a:r>
                        <a:rPr lang="en-US" sz="1100" u="none" strike="noStrike">
                          <a:effectLst/>
                        </a:rPr>
                        <a:t>LLM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287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2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13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70439152"/>
                  </a:ext>
                </a:extLst>
              </a:tr>
              <a:tr h="190500">
                <a:tc>
                  <a:txBody>
                    <a:bodyPr/>
                    <a:lstStyle/>
                    <a:p>
                      <a:pPr algn="l" fontAlgn="b">
                        <a:buNone/>
                      </a:pPr>
                      <a:r>
                        <a:rPr lang="en-US" sz="1100" u="none" strike="noStrike">
                          <a:effectLst/>
                        </a:rPr>
                        <a:t>Document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445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2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26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828297558"/>
                  </a:ext>
                </a:extLst>
              </a:tr>
              <a:tr h="190500">
                <a:tc>
                  <a:txBody>
                    <a:bodyPr/>
                    <a:lstStyle/>
                    <a:p>
                      <a:pPr algn="l" fontAlgn="b">
                        <a:buNone/>
                      </a:pPr>
                      <a:r>
                        <a:rPr lang="en-US" sz="1100" u="none" strike="noStrike">
                          <a:effectLst/>
                        </a:rPr>
                        <a:t>Mind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1,117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6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33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610180823"/>
                  </a:ext>
                </a:extLst>
              </a:tr>
              <a:tr h="190500">
                <a:tc>
                  <a:txBody>
                    <a:bodyPr/>
                    <a:lstStyle/>
                    <a:p>
                      <a:pPr algn="l" fontAlgn="b">
                        <a:buNone/>
                      </a:pPr>
                      <a:r>
                        <a:rPr lang="en-US" sz="1100" u="none" strike="noStrike">
                          <a:effectLst/>
                        </a:rPr>
                        <a:t>Experiment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1,784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10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60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37882245"/>
                  </a:ext>
                </a:extLst>
              </a:tr>
              <a:tr h="190500">
                <a:tc>
                  <a:txBody>
                    <a:bodyPr/>
                    <a:lstStyle/>
                    <a:p>
                      <a:pPr algn="l" fontAlgn="b">
                        <a:buNone/>
                      </a:pPr>
                      <a:r>
                        <a:rPr lang="en-US" sz="1100" u="none" strike="noStrike">
                          <a:effectLst/>
                        </a:rPr>
                        <a:t>Main Execution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12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43952376"/>
                  </a:ext>
                </a:extLst>
              </a:tr>
              <a:tr h="190500">
                <a:tc>
                  <a:txBody>
                    <a:bodyPr/>
                    <a:lstStyle/>
                    <a:p>
                      <a:pPr algn="l" fontAlgn="b">
                        <a:buNone/>
                      </a:pPr>
                      <a:r>
                        <a:rPr lang="en-US" sz="1100" u="none" strike="noStrike">
                          <a:effectLst/>
                        </a:rPr>
                        <a:t>Grand Total</a:t>
                      </a:r>
                      <a:endParaRPr lang="en-US" sz="11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5,380 </a:t>
                      </a:r>
                      <a:endParaRPr lang="en-US" sz="11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36 </a:t>
                      </a:r>
                      <a:endParaRPr lang="en-US"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171 </a:t>
                      </a:r>
                      <a:endParaRPr lang="en-US"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27068380"/>
                  </a:ext>
                </a:extLst>
              </a:tr>
            </a:tbl>
          </a:graphicData>
        </a:graphic>
      </p:graphicFrame>
      <p:sp>
        <p:nvSpPr>
          <p:cNvPr id="4" name="Title 3">
            <a:extLst>
              <a:ext uri="{FF2B5EF4-FFF2-40B4-BE49-F238E27FC236}">
                <a16:creationId xmlns:a16="http://schemas.microsoft.com/office/drawing/2014/main" id="{1D4DECEB-4FDD-1AFA-1FB0-9F3FBCCD80BF}"/>
              </a:ext>
            </a:extLst>
          </p:cNvPr>
          <p:cNvSpPr>
            <a:spLocks noGrp="1"/>
          </p:cNvSpPr>
          <p:nvPr>
            <p:ph type="title"/>
          </p:nvPr>
        </p:nvSpPr>
        <p:spPr/>
        <p:txBody>
          <a:bodyPr/>
          <a:lstStyle/>
          <a:p>
            <a:r>
              <a:rPr lang="en-US" dirty="0"/>
              <a:t>Lines of Code, Classes, Methods</a:t>
            </a:r>
          </a:p>
        </p:txBody>
      </p:sp>
    </p:spTree>
    <p:extLst>
      <p:ext uri="{BB962C8B-B14F-4D97-AF65-F5344CB8AC3E}">
        <p14:creationId xmlns:p14="http://schemas.microsoft.com/office/powerpoint/2010/main" val="425977292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18860</TotalTime>
  <Words>2046</Words>
  <Application>Microsoft Office PowerPoint</Application>
  <PresentationFormat>Widescreen</PresentationFormat>
  <Paragraphs>351</Paragraphs>
  <Slides>27</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Courier New</vt:lpstr>
      <vt:lpstr>Wingdings</vt:lpstr>
      <vt:lpstr>Lato</vt:lpstr>
      <vt:lpstr>Arial</vt:lpstr>
      <vt:lpstr>Calibri</vt:lpstr>
      <vt:lpstr>Aptos Narrow</vt:lpstr>
      <vt:lpstr>Poppins</vt:lpstr>
      <vt:lpstr>Office Theme</vt:lpstr>
      <vt:lpstr>Mnemosyne</vt:lpstr>
      <vt:lpstr>Abstract</vt:lpstr>
      <vt:lpstr>The Multi Billion Dollar Problem</vt:lpstr>
      <vt:lpstr>Research Questions and Hypothesis</vt:lpstr>
      <vt:lpstr>Scope</vt:lpstr>
      <vt:lpstr>PowerPoint Presentation</vt:lpstr>
      <vt:lpstr>Literature Review Notes</vt:lpstr>
      <vt:lpstr>PowerPoint Presentation</vt:lpstr>
      <vt:lpstr>PowerPoint Presentation</vt:lpstr>
      <vt:lpstr>Knowledge Graph Example</vt:lpstr>
      <vt:lpstr>PowerPoint Presentation</vt:lpstr>
      <vt:lpstr>Corpus &amp; Validation</vt:lpstr>
      <vt:lpstr>Mnemosyne Statistics</vt:lpstr>
      <vt:lpstr>Key Findings</vt:lpstr>
      <vt:lpstr>Key Findings</vt:lpstr>
      <vt:lpstr>PowerPoint Presentation</vt:lpstr>
      <vt:lpstr>Key Findings</vt:lpstr>
      <vt:lpstr>Significance</vt:lpstr>
      <vt:lpstr>Implications</vt:lpstr>
      <vt:lpstr>Future Research</vt:lpstr>
      <vt:lpstr>Conclusion</vt:lpstr>
      <vt:lpstr>Revisiting the NDA Problem</vt:lpstr>
      <vt:lpstr>Questions?</vt:lpstr>
      <vt:lpstr>PowerPoint Presentation</vt:lpstr>
      <vt:lpstr>Appendix</vt:lpstr>
      <vt:lpstr>PowerPoint Presentation</vt:lpstr>
      <vt:lpstr>Lines of Code, Classes, Methods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2022-23 Communications Plan</dc:title>
  <dc:creator>Healy, Devin Marie</dc:creator>
  <cp:lastModifiedBy>Michael</cp:lastModifiedBy>
  <cp:revision>38</cp:revision>
  <dcterms:created xsi:type="dcterms:W3CDTF">2020-03-10T16:22:03Z</dcterms:created>
  <dcterms:modified xsi:type="dcterms:W3CDTF">2025-11-18T20:39:07Z</dcterms:modified>
</cp:coreProperties>
</file>