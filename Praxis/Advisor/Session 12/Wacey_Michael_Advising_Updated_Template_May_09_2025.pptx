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2"/>
  </p:notesMasterIdLst>
  <p:sldIdLst>
    <p:sldId id="659" r:id="rId3"/>
    <p:sldId id="281" r:id="rId4"/>
    <p:sldId id="758" r:id="rId5"/>
    <p:sldId id="763" r:id="rId6"/>
    <p:sldId id="759" r:id="rId7"/>
    <p:sldId id="760" r:id="rId8"/>
    <p:sldId id="761" r:id="rId9"/>
    <p:sldId id="762" r:id="rId10"/>
    <p:sldId id="660" r:id="rId11"/>
    <p:sldId id="661" r:id="rId12"/>
    <p:sldId id="654" r:id="rId13"/>
    <p:sldId id="499" r:id="rId14"/>
    <p:sldId id="498" r:id="rId15"/>
    <p:sldId id="647" r:id="rId16"/>
    <p:sldId id="655" r:id="rId17"/>
    <p:sldId id="651" r:id="rId18"/>
    <p:sldId id="650" r:id="rId19"/>
    <p:sldId id="652" r:id="rId20"/>
    <p:sldId id="649" r:id="rId21"/>
    <p:sldId id="653" r:id="rId22"/>
    <p:sldId id="657" r:id="rId23"/>
    <p:sldId id="658" r:id="rId24"/>
    <p:sldId id="662" r:id="rId25"/>
    <p:sldId id="403" r:id="rId26"/>
    <p:sldId id="307" r:id="rId27"/>
    <p:sldId id="304" r:id="rId28"/>
    <p:sldId id="289" r:id="rId29"/>
    <p:sldId id="298" r:id="rId30"/>
    <p:sldId id="642"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C22"/>
    <a:srgbClr val="FFC000"/>
    <a:srgbClr val="505046"/>
    <a:srgbClr val="B22600"/>
    <a:srgbClr val="70AD47"/>
    <a:srgbClr val="4472C4"/>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59"/>
    <p:restoredTop sz="94668"/>
  </p:normalViewPr>
  <p:slideViewPr>
    <p:cSldViewPr snapToGrid="0" snapToObjects="1">
      <p:cViewPr varScale="1">
        <p:scale>
          <a:sx n="111" d="100"/>
          <a:sy n="111" d="100"/>
        </p:scale>
        <p:origin x="1860" y="96"/>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5/8/2025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dirty="0"/>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Tree>
    <p:extLst>
      <p:ext uri="{BB962C8B-B14F-4D97-AF65-F5344CB8AC3E}">
        <p14:creationId xmlns:p14="http://schemas.microsoft.com/office/powerpoint/2010/main" val="115697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 FB Campus">
    <p:spTree>
      <p:nvGrpSpPr>
        <p:cNvPr id="1" name=""/>
        <p:cNvGrpSpPr/>
        <p:nvPr/>
      </p:nvGrpSpPr>
      <p:grpSpPr>
        <a:xfrm>
          <a:off x="0" y="0"/>
          <a:ext cx="0" cy="0"/>
          <a:chOff x="0" y="0"/>
          <a:chExt cx="0" cy="0"/>
        </a:xfrm>
      </p:grpSpPr>
      <p:pic>
        <p:nvPicPr>
          <p:cNvPr id="10" name="Picture 9" descr="A picture containing sign&#10;&#10;Description automatically generated">
            <a:extLst>
              <a:ext uri="{FF2B5EF4-FFF2-40B4-BE49-F238E27FC236}">
                <a16:creationId xmlns:a16="http://schemas.microsoft.com/office/drawing/2014/main" id="{8AAEDA5C-62BF-4B4E-8FFB-CE20A9DE344D}"/>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Date Placeholder 1">
            <a:extLst>
              <a:ext uri="{FF2B5EF4-FFF2-40B4-BE49-F238E27FC236}">
                <a16:creationId xmlns:a16="http://schemas.microsoft.com/office/drawing/2014/main" id="{2D9AF850-7987-AF49-840F-16BC6BFAE8B9}"/>
              </a:ext>
            </a:extLst>
          </p:cNvPr>
          <p:cNvSpPr>
            <a:spLocks noGrp="1"/>
          </p:cNvSpPr>
          <p:nvPr>
            <p:ph type="dt" sz="half" idx="10"/>
          </p:nvPr>
        </p:nvSpPr>
        <p:spPr/>
        <p:txBody>
          <a:bodyPr/>
          <a:lstStyle/>
          <a:p>
            <a:fld id="{FDCEE23A-51A8-43B8-99B9-69A09C80768C}" type="datetime1">
              <a:rPr lang="en-US" smtClean="0"/>
              <a:t>5/8/2025</a:t>
            </a:fld>
            <a:endParaRPr lang="en-US"/>
          </a:p>
        </p:txBody>
      </p:sp>
      <p:sp>
        <p:nvSpPr>
          <p:cNvPr id="3" name="Footer Placeholder 2">
            <a:extLst>
              <a:ext uri="{FF2B5EF4-FFF2-40B4-BE49-F238E27FC236}">
                <a16:creationId xmlns:a16="http://schemas.microsoft.com/office/drawing/2014/main" id="{A9963846-3C4E-2146-B728-7439964DE37B}"/>
              </a:ext>
            </a:extLst>
          </p:cNvPr>
          <p:cNvSpPr>
            <a:spLocks noGrp="1"/>
          </p:cNvSpPr>
          <p:nvPr>
            <p:ph type="ftr" sz="quarter" idx="11"/>
          </p:nvPr>
        </p:nvSpPr>
        <p:spPr>
          <a:xfrm>
            <a:off x="5841497" y="6356351"/>
            <a:ext cx="3086100" cy="365125"/>
          </a:xfrm>
        </p:spPr>
        <p:txBody>
          <a:bodyPr/>
          <a:lstStyle/>
          <a:p>
            <a:endParaRPr lang="en-US" dirty="0"/>
          </a:p>
        </p:txBody>
      </p:sp>
      <p:sp>
        <p:nvSpPr>
          <p:cNvPr id="8" name="Title 1">
            <a:extLst>
              <a:ext uri="{FF2B5EF4-FFF2-40B4-BE49-F238E27FC236}">
                <a16:creationId xmlns:a16="http://schemas.microsoft.com/office/drawing/2014/main" id="{C5E8D9E8-CC97-C446-9F8B-57B6EC01CD22}"/>
              </a:ext>
            </a:extLst>
          </p:cNvPr>
          <p:cNvSpPr>
            <a:spLocks noGrp="1"/>
          </p:cNvSpPr>
          <p:nvPr>
            <p:ph type="ctrTitle" hasCustomPrompt="1"/>
          </p:nvPr>
        </p:nvSpPr>
        <p:spPr>
          <a:xfrm>
            <a:off x="270284" y="601091"/>
            <a:ext cx="3225952" cy="2305339"/>
          </a:xfrm>
          <a:prstGeom prst="rect">
            <a:avLst/>
          </a:prstGeom>
        </p:spPr>
        <p:txBody>
          <a:bodyPr anchor="b"/>
          <a:lstStyle>
            <a:lvl1pPr algn="l">
              <a:defRPr sz="3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title</a:t>
            </a:r>
          </a:p>
        </p:txBody>
      </p:sp>
      <p:sp>
        <p:nvSpPr>
          <p:cNvPr id="9" name="Subtitle 2">
            <a:extLst>
              <a:ext uri="{FF2B5EF4-FFF2-40B4-BE49-F238E27FC236}">
                <a16:creationId xmlns:a16="http://schemas.microsoft.com/office/drawing/2014/main" id="{4FB750C1-95FE-744D-8B30-2BA9ACDBDD6A}"/>
              </a:ext>
            </a:extLst>
          </p:cNvPr>
          <p:cNvSpPr>
            <a:spLocks noGrp="1"/>
          </p:cNvSpPr>
          <p:nvPr>
            <p:ph type="subTitle" idx="1" hasCustomPrompt="1"/>
          </p:nvPr>
        </p:nvSpPr>
        <p:spPr>
          <a:xfrm>
            <a:off x="270284" y="3137687"/>
            <a:ext cx="3225952" cy="1752600"/>
          </a:xfrm>
          <a:prstGeom prst="rect">
            <a:avLst/>
          </a:prstGeom>
        </p:spPr>
        <p:txBody>
          <a:bodyPr/>
          <a:lstStyle>
            <a:lvl1pPr marL="0" indent="0" algn="l">
              <a:buNone/>
              <a:defRPr>
                <a:solidFill>
                  <a:schemeClr val="bg2">
                    <a:lumMod val="90000"/>
                  </a:schemeClr>
                </a:solidFill>
                <a:effectLst>
                  <a:outerShdw blurRad="34925" dist="12700" dir="14400000" rotWithShape="0">
                    <a:prstClr val="black">
                      <a:alpha val="21000"/>
                    </a:prstClr>
                  </a:outerShdw>
                </a:effectLst>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subtitle</a:t>
            </a:r>
          </a:p>
        </p:txBody>
      </p:sp>
    </p:spTree>
    <p:extLst>
      <p:ext uri="{BB962C8B-B14F-4D97-AF65-F5344CB8AC3E}">
        <p14:creationId xmlns:p14="http://schemas.microsoft.com/office/powerpoint/2010/main" val="2120915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510017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442623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368958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image" Target="../media/image1.jpeg"/><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704" r:id="rId10"/>
    <p:sldLayoutId id="2147483705" r:id="rId11"/>
    <p:sldLayoutId id="2147483706" r:id="rId12"/>
    <p:sldLayoutId id="2147483707" r:id="rId13"/>
    <p:sldLayoutId id="2147483708"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code360.com/TR1485" TargetMode="External"/><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code360.com/TR1485"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186623" y="2197355"/>
            <a:ext cx="6533354" cy="1535374"/>
          </a:xfrm>
        </p:spPr>
        <p:txBody>
          <a:bodyPr>
            <a:noAutofit/>
          </a:bodyPr>
          <a:lstStyle/>
          <a:p>
            <a:pPr eaLnBrk="1" hangingPunct="1"/>
            <a:r>
              <a:rPr lang="en-US" sz="3200" dirty="0">
                <a:latin typeface="Arial" charset="0"/>
                <a:ea typeface="ＭＳ Ｐゴシック" charset="0"/>
              </a:rPr>
              <a:t>Using Large Language Models to Convert Documents to Knowledge Graphs to Check for Completeness and Consistency</a:t>
            </a:r>
          </a:p>
        </p:txBody>
      </p:sp>
      <p:sp>
        <p:nvSpPr>
          <p:cNvPr id="15362" name="Rectangle 3"/>
          <p:cNvSpPr>
            <a:spLocks noGrp="1" noChangeArrowheads="1"/>
          </p:cNvSpPr>
          <p:nvPr>
            <p:ph type="subTitle" idx="1"/>
          </p:nvPr>
        </p:nvSpPr>
        <p:spPr>
          <a:xfrm>
            <a:off x="186621" y="3732729"/>
            <a:ext cx="4058106" cy="1752600"/>
          </a:xfrm>
        </p:spPr>
        <p:txBody>
          <a:bodyPr/>
          <a:lstStyle/>
          <a:p>
            <a:pPr eaLnBrk="1" hangingPunct="1"/>
            <a:r>
              <a:rPr lang="en-US" sz="2400" dirty="0">
                <a:latin typeface="Arial" charset="0"/>
                <a:ea typeface="ＭＳ Ｐゴシック" charset="0"/>
              </a:rPr>
              <a:t>Michael </a:t>
            </a:r>
            <a:r>
              <a:rPr lang="en-US" sz="2400">
                <a:latin typeface="Arial" charset="0"/>
                <a:ea typeface="ＭＳ Ｐゴシック" charset="0"/>
              </a:rPr>
              <a:t>Wacey</a:t>
            </a:r>
            <a:endParaRPr lang="en-US" sz="2400" dirty="0">
              <a:latin typeface="Arial" charset="0"/>
              <a:ea typeface="ＭＳ Ｐゴシック" charset="0"/>
            </a:endParaRPr>
          </a:p>
        </p:txBody>
      </p:sp>
      <p:sp>
        <p:nvSpPr>
          <p:cNvPr id="15365" name="Slide Number Placeholder 1"/>
          <p:cNvSpPr>
            <a:spLocks noGrp="1"/>
          </p:cNvSpPr>
          <p:nvPr>
            <p:ph type="sldNum" sz="quarter" idx="4294967295"/>
          </p:nvPr>
        </p:nvSpPr>
        <p:spPr>
          <a:xfrm>
            <a:off x="7010400" y="6356354"/>
            <a:ext cx="2133600" cy="365125"/>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BD932FA0-379F-A34C-A330-38314102EBC0}" type="slidenum">
              <a:rPr lang="en-US" sz="1400">
                <a:solidFill>
                  <a:prstClr val="black"/>
                </a:solidFill>
              </a:rPr>
              <a:pPr/>
              <a:t>1</a:t>
            </a:fld>
            <a:endParaRPr lang="en-US" sz="1400" dirty="0">
              <a:solidFill>
                <a:prstClr val="black"/>
              </a:solidFill>
            </a:endParaRPr>
          </a:p>
        </p:txBody>
      </p:sp>
    </p:spTree>
    <p:extLst>
      <p:ext uri="{BB962C8B-B14F-4D97-AF65-F5344CB8AC3E}">
        <p14:creationId xmlns:p14="http://schemas.microsoft.com/office/powerpoint/2010/main" val="782424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DEBA28AC-7936-C464-7D7D-0D3A4EA06CF1}"/>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sp>
        <p:nvSpPr>
          <p:cNvPr id="2" name="TextBox 1">
            <a:extLst>
              <a:ext uri="{FF2B5EF4-FFF2-40B4-BE49-F238E27FC236}">
                <a16:creationId xmlns:a16="http://schemas.microsoft.com/office/drawing/2014/main" id="{2DDBFAE5-F847-F8F7-3212-9463651C07F8}"/>
              </a:ext>
            </a:extLst>
          </p:cNvPr>
          <p:cNvSpPr txBox="1"/>
          <p:nvPr/>
        </p:nvSpPr>
        <p:spPr>
          <a:xfrm>
            <a:off x="223631" y="3718490"/>
            <a:ext cx="2126352" cy="507831"/>
          </a:xfrm>
          <a:prstGeom prst="rect">
            <a:avLst/>
          </a:prstGeom>
          <a:noFill/>
          <a:ln>
            <a:solidFill>
              <a:schemeClr val="tx1"/>
            </a:solidFill>
          </a:ln>
        </p:spPr>
        <p:txBody>
          <a:bodyPr wrap="square" rtlCol="0">
            <a:spAutoFit/>
          </a:bodyPr>
          <a:lstStyle/>
          <a:p>
            <a:pPr algn="ctr"/>
            <a:r>
              <a:rPr lang="en-US" sz="1350" b="1" dirty="0"/>
              <a:t>1</a:t>
            </a:r>
            <a:r>
              <a:rPr lang="en-US" sz="1350" b="1" baseline="30000" dirty="0"/>
              <a:t>st</a:t>
            </a:r>
            <a:r>
              <a:rPr lang="en-US" sz="1350" b="1" dirty="0"/>
              <a:t> Semester (short)</a:t>
            </a:r>
          </a:p>
          <a:p>
            <a:pPr algn="ctr"/>
            <a:r>
              <a:rPr lang="en-US" sz="1350" dirty="0">
                <a:highlight>
                  <a:srgbClr val="FFFF00"/>
                </a:highlight>
              </a:rPr>
              <a:t>Chapter 1</a:t>
            </a:r>
          </a:p>
        </p:txBody>
      </p:sp>
      <p:sp>
        <p:nvSpPr>
          <p:cNvPr id="5" name="TextBox 4">
            <a:extLst>
              <a:ext uri="{FF2B5EF4-FFF2-40B4-BE49-F238E27FC236}">
                <a16:creationId xmlns:a16="http://schemas.microsoft.com/office/drawing/2014/main" id="{11B86D94-EBE7-92B2-FEDF-933D3816819F}"/>
              </a:ext>
            </a:extLst>
          </p:cNvPr>
          <p:cNvSpPr txBox="1"/>
          <p:nvPr/>
        </p:nvSpPr>
        <p:spPr>
          <a:xfrm>
            <a:off x="2618960" y="3718490"/>
            <a:ext cx="1763576" cy="507831"/>
          </a:xfrm>
          <a:prstGeom prst="rect">
            <a:avLst/>
          </a:prstGeom>
          <a:noFill/>
          <a:ln>
            <a:solidFill>
              <a:schemeClr val="tx1"/>
            </a:solidFill>
          </a:ln>
        </p:spPr>
        <p:txBody>
          <a:bodyPr wrap="square" rtlCol="0">
            <a:spAutoFit/>
          </a:bodyPr>
          <a:lstStyle/>
          <a:p>
            <a:pPr algn="ctr"/>
            <a:r>
              <a:rPr lang="en-US" sz="1350" b="1" dirty="0"/>
              <a:t>2</a:t>
            </a:r>
            <a:r>
              <a:rPr lang="en-US" sz="1350" b="1" baseline="30000" dirty="0"/>
              <a:t>nd</a:t>
            </a:r>
            <a:r>
              <a:rPr lang="en-US" sz="1350" b="1" dirty="0"/>
              <a:t> Semester (long)</a:t>
            </a:r>
          </a:p>
          <a:p>
            <a:pPr algn="ctr"/>
            <a:r>
              <a:rPr lang="en-US" sz="1350" dirty="0">
                <a:highlight>
                  <a:srgbClr val="FFFF00"/>
                </a:highlight>
              </a:rPr>
              <a:t>Chapter 2</a:t>
            </a:r>
          </a:p>
        </p:txBody>
      </p:sp>
      <p:sp>
        <p:nvSpPr>
          <p:cNvPr id="3" name="TextBox 2">
            <a:extLst>
              <a:ext uri="{FF2B5EF4-FFF2-40B4-BE49-F238E27FC236}">
                <a16:creationId xmlns:a16="http://schemas.microsoft.com/office/drawing/2014/main" id="{B0DD9CD5-BEAA-ABB9-9532-906C72BBDE8D}"/>
              </a:ext>
            </a:extLst>
          </p:cNvPr>
          <p:cNvSpPr txBox="1"/>
          <p:nvPr/>
        </p:nvSpPr>
        <p:spPr>
          <a:xfrm>
            <a:off x="4651514" y="3715108"/>
            <a:ext cx="1892162" cy="507831"/>
          </a:xfrm>
          <a:prstGeom prst="rect">
            <a:avLst/>
          </a:prstGeom>
          <a:noFill/>
          <a:ln>
            <a:solidFill>
              <a:schemeClr val="tx1"/>
            </a:solidFill>
          </a:ln>
        </p:spPr>
        <p:txBody>
          <a:bodyPr wrap="square" rtlCol="0">
            <a:spAutoFit/>
          </a:bodyPr>
          <a:lstStyle/>
          <a:p>
            <a:pPr algn="ctr"/>
            <a:r>
              <a:rPr lang="en-US" sz="1350" b="1" dirty="0"/>
              <a:t>3</a:t>
            </a:r>
            <a:r>
              <a:rPr lang="en-US" sz="1350" b="1" baseline="30000" dirty="0"/>
              <a:t>rd</a:t>
            </a:r>
            <a:r>
              <a:rPr lang="en-US" sz="1350" b="1" dirty="0"/>
              <a:t> Semester </a:t>
            </a:r>
          </a:p>
          <a:p>
            <a:pPr algn="ctr"/>
            <a:r>
              <a:rPr lang="en-US" sz="1350" dirty="0">
                <a:highlight>
                  <a:srgbClr val="FFFF00"/>
                </a:highlight>
              </a:rPr>
              <a:t>Chapter 3</a:t>
            </a:r>
          </a:p>
        </p:txBody>
      </p:sp>
      <p:sp>
        <p:nvSpPr>
          <p:cNvPr id="7" name="TextBox 6">
            <a:extLst>
              <a:ext uri="{FF2B5EF4-FFF2-40B4-BE49-F238E27FC236}">
                <a16:creationId xmlns:a16="http://schemas.microsoft.com/office/drawing/2014/main" id="{E2421BC1-69B1-3D72-1DFE-5E90A3F7BD28}"/>
              </a:ext>
            </a:extLst>
          </p:cNvPr>
          <p:cNvSpPr txBox="1"/>
          <p:nvPr/>
        </p:nvSpPr>
        <p:spPr>
          <a:xfrm>
            <a:off x="6820728" y="3611847"/>
            <a:ext cx="1892162" cy="715581"/>
          </a:xfrm>
          <a:prstGeom prst="rect">
            <a:avLst/>
          </a:prstGeom>
          <a:noFill/>
          <a:ln>
            <a:solidFill>
              <a:schemeClr val="tx1"/>
            </a:solidFill>
          </a:ln>
        </p:spPr>
        <p:txBody>
          <a:bodyPr wrap="square" rtlCol="0">
            <a:spAutoFit/>
          </a:bodyPr>
          <a:lstStyle/>
          <a:p>
            <a:pPr algn="ctr"/>
            <a:r>
              <a:rPr lang="en-US" sz="1350" b="1" dirty="0"/>
              <a:t>4</a:t>
            </a:r>
            <a:r>
              <a:rPr lang="en-US" sz="1350" b="1" baseline="30000" dirty="0"/>
              <a:t>th</a:t>
            </a:r>
            <a:r>
              <a:rPr lang="en-US" sz="1350" b="1" dirty="0"/>
              <a:t> Semester</a:t>
            </a:r>
          </a:p>
          <a:p>
            <a:pPr algn="ctr"/>
            <a:r>
              <a:rPr lang="en-US" sz="1350" dirty="0">
                <a:highlight>
                  <a:srgbClr val="FFFF00"/>
                </a:highlight>
              </a:rPr>
              <a:t>Chapters 4&amp;5</a:t>
            </a:r>
          </a:p>
          <a:p>
            <a:pPr algn="ctr"/>
            <a:r>
              <a:rPr lang="en-US" sz="1350" dirty="0"/>
              <a:t>Prepare for Defense</a:t>
            </a:r>
          </a:p>
        </p:txBody>
      </p:sp>
      <p:cxnSp>
        <p:nvCxnSpPr>
          <p:cNvPr id="10" name="Straight Arrow Connector 9">
            <a:extLst>
              <a:ext uri="{FF2B5EF4-FFF2-40B4-BE49-F238E27FC236}">
                <a16:creationId xmlns:a16="http://schemas.microsoft.com/office/drawing/2014/main" id="{C327E40E-BED7-1933-36B2-8DE061F3C344}"/>
              </a:ext>
            </a:extLst>
          </p:cNvPr>
          <p:cNvCxnSpPr>
            <a:cxnSpLocks/>
            <a:stCxn id="2" idx="3"/>
            <a:endCxn id="5" idx="1"/>
          </p:cNvCxnSpPr>
          <p:nvPr/>
        </p:nvCxnSpPr>
        <p:spPr>
          <a:xfrm>
            <a:off x="2349983" y="3972406"/>
            <a:ext cx="268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87A6FA1-C21A-1B82-96D7-227AED0C5734}"/>
              </a:ext>
            </a:extLst>
          </p:cNvPr>
          <p:cNvCxnSpPr>
            <a:cxnSpLocks/>
            <a:stCxn id="5" idx="3"/>
            <a:endCxn id="3" idx="1"/>
          </p:cNvCxnSpPr>
          <p:nvPr/>
        </p:nvCxnSpPr>
        <p:spPr>
          <a:xfrm flipV="1">
            <a:off x="4382536" y="3969024"/>
            <a:ext cx="268978" cy="3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895C6F-0423-0111-33B0-312877843B6A}"/>
              </a:ext>
            </a:extLst>
          </p:cNvPr>
          <p:cNvCxnSpPr>
            <a:cxnSpLocks/>
            <a:stCxn id="3" idx="3"/>
            <a:endCxn id="7" idx="1"/>
          </p:cNvCxnSpPr>
          <p:nvPr/>
        </p:nvCxnSpPr>
        <p:spPr>
          <a:xfrm>
            <a:off x="6543676" y="3969024"/>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3DBB79-F100-02C1-E9A5-24D8918003AD}"/>
              </a:ext>
            </a:extLst>
          </p:cNvPr>
          <p:cNvSpPr txBox="1"/>
          <p:nvPr/>
        </p:nvSpPr>
        <p:spPr>
          <a:xfrm>
            <a:off x="260688" y="1861991"/>
            <a:ext cx="4390826" cy="1754326"/>
          </a:xfrm>
          <a:prstGeom prst="rect">
            <a:avLst/>
          </a:prstGeom>
          <a:noFill/>
        </p:spPr>
        <p:txBody>
          <a:bodyPr wrap="square">
            <a:spAutoFit/>
          </a:bodyPr>
          <a:lstStyle/>
          <a:p>
            <a:r>
              <a:rPr lang="en-US" b="1" dirty="0">
                <a:solidFill>
                  <a:srgbClr val="FF0000"/>
                </a:solidFill>
              </a:rPr>
              <a:t>Chapters</a:t>
            </a:r>
          </a:p>
          <a:p>
            <a:r>
              <a:rPr lang="en-US" dirty="0"/>
              <a:t>1. Introduction</a:t>
            </a:r>
          </a:p>
          <a:p>
            <a:r>
              <a:rPr lang="en-US" dirty="0"/>
              <a:t>2. Review of Literature</a:t>
            </a:r>
          </a:p>
          <a:p>
            <a:r>
              <a:rPr lang="en-US" dirty="0"/>
              <a:t>3. Methodology</a:t>
            </a:r>
          </a:p>
          <a:p>
            <a:r>
              <a:rPr lang="en-US" dirty="0"/>
              <a:t>4. Results</a:t>
            </a:r>
          </a:p>
          <a:p>
            <a:r>
              <a:rPr lang="en-US" dirty="0"/>
              <a:t>5. Conclusion and Future Research</a:t>
            </a:r>
          </a:p>
        </p:txBody>
      </p:sp>
      <p:sp>
        <p:nvSpPr>
          <p:cNvPr id="11" name="TextBox 10">
            <a:extLst>
              <a:ext uri="{FF2B5EF4-FFF2-40B4-BE49-F238E27FC236}">
                <a16:creationId xmlns:a16="http://schemas.microsoft.com/office/drawing/2014/main" id="{99AD275D-8A96-17F3-EDF7-B24AC64C8BEC}"/>
              </a:ext>
            </a:extLst>
          </p:cNvPr>
          <p:cNvSpPr txBox="1"/>
          <p:nvPr/>
        </p:nvSpPr>
        <p:spPr>
          <a:xfrm>
            <a:off x="260688" y="4357985"/>
            <a:ext cx="8566695" cy="646331"/>
          </a:xfrm>
          <a:prstGeom prst="rect">
            <a:avLst/>
          </a:prstGeom>
          <a:noFill/>
        </p:spPr>
        <p:txBody>
          <a:bodyPr wrap="square">
            <a:spAutoFit/>
          </a:bodyPr>
          <a:lstStyle/>
          <a:p>
            <a:pPr algn="ctr"/>
            <a:r>
              <a:rPr lang="en-US" b="1" i="1" dirty="0">
                <a:solidFill>
                  <a:srgbClr val="FF0000"/>
                </a:solidFill>
              </a:rPr>
              <a:t>Failure to meet any of these deadline is grounds for giving a grade of orange for the semester and should be reported to the office</a:t>
            </a:r>
          </a:p>
        </p:txBody>
      </p:sp>
    </p:spTree>
    <p:extLst>
      <p:ext uri="{BB962C8B-B14F-4D97-AF65-F5344CB8AC3E}">
        <p14:creationId xmlns:p14="http://schemas.microsoft.com/office/powerpoint/2010/main" val="840108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D5732-81B7-BE29-EE9C-FB5384D23A4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59C7529-A844-4F62-A234-EBB68F21DAB2}"/>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cxnSp>
        <p:nvCxnSpPr>
          <p:cNvPr id="14" name="Straight Arrow Connector 13">
            <a:extLst>
              <a:ext uri="{FF2B5EF4-FFF2-40B4-BE49-F238E27FC236}">
                <a16:creationId xmlns:a16="http://schemas.microsoft.com/office/drawing/2014/main" id="{14D0D088-7F65-FC1A-B11F-85C8E9A4AC13}"/>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C675F92-1997-014B-5CC9-B178EFE89A2F}"/>
              </a:ext>
            </a:extLst>
          </p:cNvPr>
          <p:cNvSpPr txBox="1"/>
          <p:nvPr/>
        </p:nvSpPr>
        <p:spPr>
          <a:xfrm>
            <a:off x="260688" y="1861991"/>
            <a:ext cx="4390826" cy="3277820"/>
          </a:xfrm>
          <a:prstGeom prst="rect">
            <a:avLst/>
          </a:prstGeom>
          <a:noFill/>
        </p:spPr>
        <p:txBody>
          <a:bodyPr wrap="square">
            <a:spAutoFit/>
          </a:bodyPr>
          <a:lstStyle/>
          <a:p>
            <a:pPr>
              <a:buFont typeface="Arial" panose="020B0604020202020204" pitchFamily="34" charset="0"/>
              <a:buChar char="•"/>
            </a:pPr>
            <a:r>
              <a:rPr lang="en-US" sz="1050" dirty="0"/>
              <a:t>Fall 2024 (short) </a:t>
            </a:r>
          </a:p>
          <a:p>
            <a:pPr marL="557213" lvl="1" indent="-214313">
              <a:buFont typeface="Arial" panose="020B0604020202020204" pitchFamily="34" charset="0"/>
              <a:buChar char="•"/>
            </a:pPr>
            <a:r>
              <a:rPr lang="en-US" sz="1050" dirty="0"/>
              <a:t>Start Chapter 1 (Introduction)</a:t>
            </a:r>
          </a:p>
          <a:p>
            <a:pPr marL="557213" lvl="1" indent="-214313">
              <a:buFont typeface="Arial" panose="020B0604020202020204" pitchFamily="34" charset="0"/>
              <a:buChar char="•"/>
            </a:pPr>
            <a:r>
              <a:rPr lang="en-US" sz="1050" dirty="0"/>
              <a:t>Organize and outline Chapter 2 (Review Literature), start Chapter 2</a:t>
            </a:r>
          </a:p>
          <a:p>
            <a:pPr marL="557213" lvl="1" indent="-214313">
              <a:buFont typeface="Arial" panose="020B0604020202020204" pitchFamily="34" charset="0"/>
              <a:buChar char="•"/>
            </a:pPr>
            <a:r>
              <a:rPr lang="en-US" sz="1050" dirty="0"/>
              <a:t>Start thinking about experiments</a:t>
            </a:r>
          </a:p>
          <a:p>
            <a:pPr>
              <a:buFont typeface="Arial" panose="020B0604020202020204" pitchFamily="34" charset="0"/>
              <a:buChar char="•"/>
            </a:pPr>
            <a:r>
              <a:rPr lang="en-US" sz="1050" dirty="0"/>
              <a:t>Spring 2025 (long) </a:t>
            </a:r>
          </a:p>
          <a:p>
            <a:pPr marL="557213" lvl="1" indent="-214313">
              <a:buFont typeface="Arial" panose="020B0604020202020204" pitchFamily="34" charset="0"/>
              <a:buChar char="•"/>
            </a:pPr>
            <a:r>
              <a:rPr lang="en-US" sz="1050" dirty="0"/>
              <a:t>Continue writing Chapter 2</a:t>
            </a:r>
          </a:p>
          <a:p>
            <a:pPr marL="557213" lvl="1" indent="-214313">
              <a:buFont typeface="Arial" panose="020B0604020202020204" pitchFamily="34" charset="0"/>
              <a:buChar char="•"/>
            </a:pPr>
            <a:r>
              <a:rPr lang="en-US" sz="1050" dirty="0"/>
              <a:t>Organize and outline Chapter 3 (Methodology), start Chapter 3</a:t>
            </a:r>
          </a:p>
          <a:p>
            <a:pPr marL="557213" lvl="1" indent="-214313">
              <a:buFont typeface="Arial" panose="020B0604020202020204" pitchFamily="34" charset="0"/>
              <a:buChar char="•"/>
            </a:pPr>
            <a:r>
              <a:rPr lang="en-US" sz="1050" dirty="0"/>
              <a:t>Start working on experiments</a:t>
            </a:r>
          </a:p>
          <a:p>
            <a:pPr>
              <a:buFont typeface="Arial" panose="020B0604020202020204" pitchFamily="34" charset="0"/>
              <a:buChar char="•"/>
            </a:pPr>
            <a:r>
              <a:rPr lang="en-US" sz="1050" dirty="0"/>
              <a:t>Summer 2025 (short) </a:t>
            </a:r>
          </a:p>
          <a:p>
            <a:pPr marL="557213" lvl="1" indent="-214313">
              <a:buFont typeface="Arial" panose="020B0604020202020204" pitchFamily="34" charset="0"/>
              <a:buChar char="•"/>
            </a:pPr>
            <a:r>
              <a:rPr lang="en-US" sz="1050" dirty="0"/>
              <a:t>Continue working on experiments</a:t>
            </a:r>
          </a:p>
          <a:p>
            <a:pPr marL="557213" lvl="1" indent="-214313">
              <a:buFont typeface="Arial" panose="020B0604020202020204" pitchFamily="34" charset="0"/>
              <a:buChar char="•"/>
            </a:pPr>
            <a:r>
              <a:rPr lang="en-US" sz="1050" dirty="0"/>
              <a:t>Organize and outline Chapter 4 (Results), start Chapter 4</a:t>
            </a:r>
          </a:p>
          <a:p>
            <a:pPr>
              <a:buFont typeface="Arial" panose="020B0604020202020204" pitchFamily="34" charset="0"/>
              <a:buChar char="•"/>
            </a:pPr>
            <a:r>
              <a:rPr lang="en-US" sz="1050" dirty="0"/>
              <a:t>Fall 2025 (long) </a:t>
            </a:r>
          </a:p>
          <a:p>
            <a:pPr marL="557213" lvl="1" indent="-214313">
              <a:buFont typeface="Arial" panose="020B0604020202020204" pitchFamily="34" charset="0"/>
              <a:buChar char="•"/>
            </a:pPr>
            <a:r>
              <a:rPr lang="en-US" sz="1050" dirty="0"/>
              <a:t>Wrap up working on experiments</a:t>
            </a:r>
          </a:p>
          <a:p>
            <a:pPr marL="557213" lvl="1" indent="-214313">
              <a:buFont typeface="Arial" panose="020B0604020202020204" pitchFamily="34" charset="0"/>
              <a:buChar char="•"/>
            </a:pPr>
            <a:r>
              <a:rPr lang="en-US" sz="1050" dirty="0"/>
              <a:t>Organize and outline Chapter 5 (Conclusion and Future Research)</a:t>
            </a:r>
          </a:p>
          <a:p>
            <a:pPr marL="557213" lvl="1" indent="-214313">
              <a:buFont typeface="Arial" panose="020B0604020202020204" pitchFamily="34" charset="0"/>
              <a:buChar char="•"/>
            </a:pPr>
            <a:r>
              <a:rPr lang="en-US" sz="1050" dirty="0"/>
              <a:t>Finalize Praxis Paper and prepare for submittal</a:t>
            </a:r>
          </a:p>
          <a:p>
            <a:pPr marL="557213" lvl="1" indent="-214313">
              <a:buFont typeface="Arial" panose="020B0604020202020204" pitchFamily="34" charset="0"/>
              <a:buChar char="•"/>
            </a:pPr>
            <a:r>
              <a:rPr lang="en-US" sz="1050" dirty="0"/>
              <a:t>Submit to AIR</a:t>
            </a:r>
          </a:p>
          <a:p>
            <a:pPr marL="557213" lvl="1" indent="-214313">
              <a:buFont typeface="Arial" panose="020B0604020202020204" pitchFamily="34" charset="0"/>
              <a:buChar char="•"/>
            </a:pPr>
            <a:r>
              <a:rPr lang="en-US" sz="1050" dirty="0"/>
              <a:t>Submit to Defense Committee</a:t>
            </a:r>
          </a:p>
          <a:p>
            <a:pPr marL="557213" lvl="1" indent="-214313">
              <a:buFont typeface="Arial" panose="020B0604020202020204" pitchFamily="34" charset="0"/>
              <a:buChar char="•"/>
            </a:pPr>
            <a:r>
              <a:rPr lang="en-US" sz="1050" dirty="0"/>
              <a:t>Conduct Praxis Defense</a:t>
            </a:r>
          </a:p>
          <a:p>
            <a:endParaRPr lang="en-US" dirty="0"/>
          </a:p>
        </p:txBody>
      </p:sp>
    </p:spTree>
    <p:extLst>
      <p:ext uri="{BB962C8B-B14F-4D97-AF65-F5344CB8AC3E}">
        <p14:creationId xmlns:p14="http://schemas.microsoft.com/office/powerpoint/2010/main" val="3951354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5828-BE32-3843-4401-97A0D65E28C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7DACDAC8-72B9-235C-D8F8-D273737ADFC2}"/>
              </a:ext>
            </a:extLst>
          </p:cNvPr>
          <p:cNvSpPr>
            <a:spLocks noGrp="1"/>
          </p:cNvSpPr>
          <p:nvPr>
            <p:ph type="title"/>
          </p:nvPr>
        </p:nvSpPr>
        <p:spPr>
          <a:xfrm>
            <a:off x="628651" y="892063"/>
            <a:ext cx="7874597" cy="790688"/>
          </a:xfrm>
        </p:spPr>
        <p:txBody>
          <a:bodyPr>
            <a:normAutofit/>
          </a:bodyPr>
          <a:lstStyle/>
          <a:p>
            <a:pPr algn="ctr"/>
            <a:r>
              <a:rPr lang="en-US" dirty="0"/>
              <a:t>Praxis Deadlines Based on email</a:t>
            </a:r>
          </a:p>
        </p:txBody>
      </p:sp>
      <p:cxnSp>
        <p:nvCxnSpPr>
          <p:cNvPr id="14" name="Straight Arrow Connector 13">
            <a:extLst>
              <a:ext uri="{FF2B5EF4-FFF2-40B4-BE49-F238E27FC236}">
                <a16:creationId xmlns:a16="http://schemas.microsoft.com/office/drawing/2014/main" id="{5320BD65-9267-BA4E-4E85-902752F338CB}"/>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AA4415E-3D2D-7BBE-A09A-7FE34101EF9D}"/>
              </a:ext>
            </a:extLst>
          </p:cNvPr>
          <p:cNvSpPr txBox="1"/>
          <p:nvPr/>
        </p:nvSpPr>
        <p:spPr>
          <a:xfrm>
            <a:off x="260687" y="1861991"/>
            <a:ext cx="6560041" cy="1384995"/>
          </a:xfrm>
          <a:prstGeom prst="rect">
            <a:avLst/>
          </a:prstGeom>
          <a:noFill/>
        </p:spPr>
        <p:txBody>
          <a:bodyPr wrap="square">
            <a:spAutoFit/>
          </a:bodyPr>
          <a:lstStyle/>
          <a:p>
            <a:pPr algn="l"/>
            <a:r>
              <a:rPr lang="en-US" sz="1050" b="0" i="0" dirty="0">
                <a:solidFill>
                  <a:srgbClr val="222222"/>
                </a:solidFill>
                <a:effectLst/>
                <a:latin typeface="verdana" panose="020B0604030504040204" pitchFamily="34" charset="0"/>
              </a:rPr>
              <a:t>We are writing to remind you of the deadlines by which you must submit praxis chapters to your advisors. Since you started research in Fall 2024:</a:t>
            </a:r>
          </a:p>
          <a:p>
            <a:pPr algn="l"/>
            <a:endParaRPr lang="en-US" sz="1050" b="0" i="0" dirty="0">
              <a:solidFill>
                <a:srgbClr val="222222"/>
              </a:solidFill>
              <a:effectLst/>
              <a:latin typeface="verdana" panose="020B0604030504040204" pitchFamily="34" charset="0"/>
            </a:endParaRP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1 by February 15, 2025 (5 – 7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2 by May 1, 2025 (20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3 by July 1, 2025 (20 – 25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4 by October 15, 2025 (25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5 and complete praxis by November 1, 2025 (3 – 5 Pages)</a:t>
            </a:r>
          </a:p>
        </p:txBody>
      </p:sp>
    </p:spTree>
    <p:extLst>
      <p:ext uri="{BB962C8B-B14F-4D97-AF65-F5344CB8AC3E}">
        <p14:creationId xmlns:p14="http://schemas.microsoft.com/office/powerpoint/2010/main" val="2747964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9A560C-9BB2-7AA5-9615-DDE72D1076A9}"/>
              </a:ext>
            </a:extLst>
          </p:cNvPr>
          <p:cNvSpPr>
            <a:spLocks noGrp="1"/>
          </p:cNvSpPr>
          <p:nvPr>
            <p:ph idx="1"/>
          </p:nvPr>
        </p:nvSpPr>
        <p:spPr>
          <a:xfrm>
            <a:off x="699248" y="1861441"/>
            <a:ext cx="7745505" cy="3170264"/>
          </a:xfrm>
        </p:spPr>
        <p:txBody>
          <a:bodyPr>
            <a:normAutofit/>
          </a:bodyPr>
          <a:lstStyle/>
          <a:p>
            <a:r>
              <a:rPr lang="en-US" dirty="0"/>
              <a:t>My focus was n completing chapter 2.</a:t>
            </a:r>
          </a:p>
          <a:p>
            <a:r>
              <a:rPr lang="en-US" dirty="0"/>
              <a:t>I have started working with Orange on my source data</a:t>
            </a:r>
          </a:p>
        </p:txBody>
      </p:sp>
      <p:sp>
        <p:nvSpPr>
          <p:cNvPr id="6" name="Title 2"/>
          <p:cNvSpPr>
            <a:spLocks noGrp="1"/>
          </p:cNvSpPr>
          <p:nvPr>
            <p:ph type="title"/>
          </p:nvPr>
        </p:nvSpPr>
        <p:spPr>
          <a:xfrm>
            <a:off x="688490" y="570156"/>
            <a:ext cx="7756263" cy="1054250"/>
          </a:xfrm>
        </p:spPr>
        <p:txBody>
          <a:bodyPr>
            <a:normAutofit fontScale="90000"/>
          </a:bodyPr>
          <a:lstStyle/>
          <a:p>
            <a:r>
              <a:rPr lang="en-US" dirty="0"/>
              <a:t>Response to Advisor Feedback from previous meeting(s)</a:t>
            </a:r>
          </a:p>
        </p:txBody>
      </p:sp>
    </p:spTree>
    <p:extLst>
      <p:ext uri="{BB962C8B-B14F-4D97-AF65-F5344CB8AC3E}">
        <p14:creationId xmlns:p14="http://schemas.microsoft.com/office/powerpoint/2010/main" val="122705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47AF-4213-322F-BFBC-3CAC5ECA0C0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F92B6429-EA71-7820-B62E-7CB24B9E472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Progress Since Last Meeting</a:t>
            </a:r>
          </a:p>
        </p:txBody>
      </p:sp>
      <p:sp>
        <p:nvSpPr>
          <p:cNvPr id="3" name="Content Placeholder 2">
            <a:extLst>
              <a:ext uri="{FF2B5EF4-FFF2-40B4-BE49-F238E27FC236}">
                <a16:creationId xmlns:a16="http://schemas.microsoft.com/office/drawing/2014/main" id="{22ECF865-F672-1F53-D8D6-7314B7D9DA76}"/>
              </a:ext>
            </a:extLst>
          </p:cNvPr>
          <p:cNvSpPr>
            <a:spLocks noGrp="1"/>
          </p:cNvSpPr>
          <p:nvPr>
            <p:ph idx="1"/>
          </p:nvPr>
        </p:nvSpPr>
        <p:spPr>
          <a:xfrm>
            <a:off x="423154" y="1659783"/>
            <a:ext cx="8021600" cy="3835244"/>
          </a:xfrm>
        </p:spPr>
        <p:txBody>
          <a:bodyPr>
            <a:normAutofit/>
          </a:bodyPr>
          <a:lstStyle/>
          <a:p>
            <a:r>
              <a:rPr lang="en-US" dirty="0"/>
              <a:t>Completed Chapter 2</a:t>
            </a:r>
          </a:p>
          <a:p>
            <a:r>
              <a:rPr lang="en-US" dirty="0"/>
              <a:t>Converted most references to Journal Articles or Conference Proceedings</a:t>
            </a:r>
          </a:p>
          <a:p>
            <a:r>
              <a:rPr lang="en-US" dirty="0"/>
              <a:t>Started working with </a:t>
            </a:r>
            <a:r>
              <a:rPr lang="en-US" dirty="0" err="1"/>
              <a:t>Oragnge</a:t>
            </a:r>
            <a:endParaRPr lang="en-US" dirty="0"/>
          </a:p>
          <a:p>
            <a:endParaRPr lang="en-US" dirty="0"/>
          </a:p>
        </p:txBody>
      </p:sp>
    </p:spTree>
    <p:extLst>
      <p:ext uri="{BB962C8B-B14F-4D97-AF65-F5344CB8AC3E}">
        <p14:creationId xmlns:p14="http://schemas.microsoft.com/office/powerpoint/2010/main" val="390177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0BC8-D766-9247-3980-E0CC5723AFC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CB913CDE-0E31-9890-BC65-7AD36833A06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Issues Encountered and Setbacks</a:t>
            </a:r>
          </a:p>
        </p:txBody>
      </p:sp>
      <p:sp>
        <p:nvSpPr>
          <p:cNvPr id="3" name="Content Placeholder 2">
            <a:extLst>
              <a:ext uri="{FF2B5EF4-FFF2-40B4-BE49-F238E27FC236}">
                <a16:creationId xmlns:a16="http://schemas.microsoft.com/office/drawing/2014/main" id="{519F5E3C-3808-C7FF-6232-D41643AB49CB}"/>
              </a:ext>
            </a:extLst>
          </p:cNvPr>
          <p:cNvSpPr>
            <a:spLocks noGrp="1"/>
          </p:cNvSpPr>
          <p:nvPr>
            <p:ph idx="1"/>
          </p:nvPr>
        </p:nvSpPr>
        <p:spPr>
          <a:xfrm>
            <a:off x="423154" y="1659782"/>
            <a:ext cx="8021600" cy="2971247"/>
          </a:xfrm>
        </p:spPr>
        <p:txBody>
          <a:bodyPr>
            <a:normAutofit/>
          </a:bodyPr>
          <a:lstStyle/>
          <a:p>
            <a:r>
              <a:rPr lang="en-US" dirty="0"/>
              <a:t>Finding Journal, Conference Proceedings and Books</a:t>
            </a:r>
          </a:p>
          <a:p>
            <a:endParaRPr lang="en-US" dirty="0"/>
          </a:p>
        </p:txBody>
      </p:sp>
    </p:spTree>
    <p:extLst>
      <p:ext uri="{BB962C8B-B14F-4D97-AF65-F5344CB8AC3E}">
        <p14:creationId xmlns:p14="http://schemas.microsoft.com/office/powerpoint/2010/main" val="3157497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CD14-5020-435D-D06C-4C7B37D1F433}"/>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9878A52F-4F5E-0FC1-2809-35E593426637}"/>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Tasks for the Next Two Weeks</a:t>
            </a:r>
          </a:p>
        </p:txBody>
      </p:sp>
      <p:sp>
        <p:nvSpPr>
          <p:cNvPr id="3" name="Content Placeholder 2">
            <a:extLst>
              <a:ext uri="{FF2B5EF4-FFF2-40B4-BE49-F238E27FC236}">
                <a16:creationId xmlns:a16="http://schemas.microsoft.com/office/drawing/2014/main" id="{CEBB12F3-EE85-7851-660F-A710A1A25CC4}"/>
              </a:ext>
            </a:extLst>
          </p:cNvPr>
          <p:cNvSpPr>
            <a:spLocks noGrp="1"/>
          </p:cNvSpPr>
          <p:nvPr>
            <p:ph idx="1"/>
          </p:nvPr>
        </p:nvSpPr>
        <p:spPr>
          <a:xfrm>
            <a:off x="423154" y="1659782"/>
            <a:ext cx="8021600" cy="2971247"/>
          </a:xfrm>
        </p:spPr>
        <p:txBody>
          <a:bodyPr>
            <a:normAutofit/>
          </a:bodyPr>
          <a:lstStyle/>
          <a:p>
            <a:r>
              <a:rPr lang="en-US" dirty="0"/>
              <a:t>Continue working on Chapter 3</a:t>
            </a:r>
          </a:p>
          <a:p>
            <a:r>
              <a:rPr lang="en-US" dirty="0"/>
              <a:t>Start looking into Orange</a:t>
            </a:r>
          </a:p>
          <a:p>
            <a:r>
              <a:rPr lang="en-US" dirty="0"/>
              <a:t>Continue working on project</a:t>
            </a:r>
            <a:endParaRPr lang="en-US" sz="900" dirty="0"/>
          </a:p>
          <a:p>
            <a:pPr marL="0" indent="0">
              <a:buNone/>
            </a:pPr>
            <a:endParaRPr lang="en-US" sz="900" dirty="0"/>
          </a:p>
          <a:p>
            <a:pPr marL="0" indent="0">
              <a:buNone/>
            </a:pPr>
            <a:endParaRPr lang="en-US" sz="900" dirty="0"/>
          </a:p>
        </p:txBody>
      </p:sp>
    </p:spTree>
    <p:extLst>
      <p:ext uri="{BB962C8B-B14F-4D97-AF65-F5344CB8AC3E}">
        <p14:creationId xmlns:p14="http://schemas.microsoft.com/office/powerpoint/2010/main" val="2553896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44583958"/>
              </p:ext>
            </p:extLst>
          </p:nvPr>
        </p:nvGraphicFramePr>
        <p:xfrm>
          <a:off x="125608" y="1686063"/>
          <a:ext cx="8878824" cy="4702605"/>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Term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315034">
                <a:tc>
                  <a:txBody>
                    <a:bodyPr/>
                    <a:lstStyle/>
                    <a:p>
                      <a:r>
                        <a:rPr lang="en-US" sz="1200" dirty="0"/>
                        <a:t>Coherence</a:t>
                      </a:r>
                    </a:p>
                  </a:txBody>
                  <a:tcPr/>
                </a:tc>
                <a:tc>
                  <a:txBody>
                    <a:bodyPr/>
                    <a:lstStyle/>
                    <a:p>
                      <a:pPr marL="0" indent="0">
                        <a:buFont typeface="Arial" panose="020B0604020202020204" pitchFamily="34" charset="0"/>
                        <a:buNone/>
                      </a:pPr>
                      <a:r>
                        <a:rPr lang="en-US" sz="1200" dirty="0"/>
                        <a:t>Coherence in documents refers to the logical and smooth flow of ideas or information from one sentence to the next and throughout the entire piece. It's about how well the different parts of the document connect and make sense together.</a:t>
                      </a:r>
                    </a:p>
                  </a:txBody>
                  <a:tcPr/>
                </a:tc>
                <a:extLst>
                  <a:ext uri="{0D108BD9-81ED-4DB2-BD59-A6C34878D82A}">
                    <a16:rowId xmlns:a16="http://schemas.microsoft.com/office/drawing/2014/main" val="10002"/>
                  </a:ext>
                </a:extLst>
              </a:tr>
              <a:tr h="390432">
                <a:tc>
                  <a:txBody>
                    <a:bodyPr/>
                    <a:lstStyle/>
                    <a:p>
                      <a:r>
                        <a:rPr lang="en-US" sz="1200" dirty="0"/>
                        <a:t>Completeness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Completeness in documents refers to the thoroughness and comprehensiveness of the information presented. It means that the document contains all the necessary details to effectively convey its message or fulfill its purpose.</a:t>
                      </a:r>
                    </a:p>
                  </a:txBody>
                  <a:tcPr/>
                </a:tc>
                <a:extLst>
                  <a:ext uri="{0D108BD9-81ED-4DB2-BD59-A6C34878D82A}">
                    <a16:rowId xmlns:a16="http://schemas.microsoft.com/office/drawing/2014/main" val="10003"/>
                  </a:ext>
                </a:extLst>
              </a:tr>
              <a:tr h="28881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 of content in documents refers to the coherence and uniformity of the information presented. It ensures that the ideas and arguments flow logically, and that there are no contradictions or inconsistencies in the facts or claims.</a:t>
                      </a:r>
                    </a:p>
                  </a:txBody>
                  <a:tcPr/>
                </a:tc>
                <a:extLst>
                  <a:ext uri="{0D108BD9-81ED-4DB2-BD59-A6C34878D82A}">
                    <a16:rowId xmlns:a16="http://schemas.microsoft.com/office/drawing/2014/main" val="10004"/>
                  </a:ext>
                </a:extLst>
              </a:tr>
              <a:tr h="390432">
                <a:tc>
                  <a:txBody>
                    <a:bodyPr/>
                    <a:lstStyle/>
                    <a:p>
                      <a:r>
                        <a:rPr lang="en-US" sz="1200" dirty="0"/>
                        <a:t>Dynamic GNN</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A dynamic GNN (Graph Neural Network) is a type of GNN specifically designed to handle graphs that evolve over time. In traditional GNNs, the graph structure remains fixed throughout the learning process. However, in many real-world applications, the relationships between nodes in a graph can change dynamically. Dynamic GNNs are equipped to handle such scenarios.</a:t>
                      </a:r>
                    </a:p>
                  </a:txBody>
                  <a:tcPr/>
                </a:tc>
                <a:extLst>
                  <a:ext uri="{0D108BD9-81ED-4DB2-BD59-A6C34878D82A}">
                    <a16:rowId xmlns:a16="http://schemas.microsoft.com/office/drawing/2014/main" val="10005"/>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Knowledge Graph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structured and interconnected representation of information that models real-world entities, their attributes, and the relationships between them. It organizes data in the form of nodes (representing entities such as people, places, objects, or concepts) and edges (depicting the relationships or associations between these entities) within a graph structure.</a:t>
                      </a:r>
                    </a:p>
                  </a:txBody>
                  <a:tcPr/>
                </a:tc>
                <a:extLst>
                  <a:ext uri="{0D108BD9-81ED-4DB2-BD59-A6C34878D82A}">
                    <a16:rowId xmlns:a16="http://schemas.microsoft.com/office/drawing/2014/main" val="2362749533"/>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Transformer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transformer is a neural network architecture that uses an attention mechanism to process input data in parallel, making it highly effective for tasks like machine translation and text summarization.</a:t>
                      </a:r>
                    </a:p>
                  </a:txBody>
                  <a:tcPr/>
                </a:tc>
                <a:extLst>
                  <a:ext uri="{0D108BD9-81ED-4DB2-BD59-A6C34878D82A}">
                    <a16:rowId xmlns:a16="http://schemas.microsoft.com/office/drawing/2014/main" val="10006"/>
                  </a:ext>
                </a:extLst>
              </a:tr>
              <a:tr h="390432">
                <a:tc>
                  <a:txBody>
                    <a:bodyPr/>
                    <a:lstStyle/>
                    <a:p>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0007"/>
                  </a:ext>
                </a:extLst>
              </a:tr>
            </a:tbl>
          </a:graphicData>
        </a:graphic>
      </p:graphicFrame>
      <p:sp>
        <p:nvSpPr>
          <p:cNvPr id="9" name="Title 2">
            <a:extLst>
              <a:ext uri="{FF2B5EF4-FFF2-40B4-BE49-F238E27FC236}">
                <a16:creationId xmlns:a16="http://schemas.microsoft.com/office/drawing/2014/main" id="{AFC37406-1BEF-4348-BEA0-96EECF88929D}"/>
              </a:ext>
            </a:extLst>
          </p:cNvPr>
          <p:cNvSpPr>
            <a:spLocks noGrp="1"/>
          </p:cNvSpPr>
          <p:nvPr>
            <p:ph type="title"/>
          </p:nvPr>
        </p:nvSpPr>
        <p:spPr>
          <a:xfrm>
            <a:off x="640754" y="500780"/>
            <a:ext cx="7874597" cy="1054250"/>
          </a:xfrm>
        </p:spPr>
        <p:txBody>
          <a:bodyPr/>
          <a:lstStyle/>
          <a:p>
            <a:r>
              <a:rPr lang="en-US" dirty="0"/>
              <a:t>Glossary of Terms</a:t>
            </a:r>
          </a:p>
        </p:txBody>
      </p:sp>
    </p:spTree>
    <p:extLst>
      <p:ext uri="{BB962C8B-B14F-4D97-AF65-F5344CB8AC3E}">
        <p14:creationId xmlns:p14="http://schemas.microsoft.com/office/powerpoint/2010/main" val="4206817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83413262"/>
              </p:ext>
            </p:extLst>
          </p:nvPr>
        </p:nvGraphicFramePr>
        <p:xfrm>
          <a:off x="125605" y="1686063"/>
          <a:ext cx="8878824" cy="2529786"/>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Acronym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288813">
                <a:tc>
                  <a:txBody>
                    <a:bodyPr/>
                    <a:lstStyle/>
                    <a:p>
                      <a:r>
                        <a:rPr lang="en-US" sz="1200" dirty="0"/>
                        <a:t>AI</a:t>
                      </a:r>
                    </a:p>
                  </a:txBody>
                  <a:tcPr/>
                </a:tc>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Artificial </a:t>
                      </a:r>
                      <a:r>
                        <a:rPr lang="en-US" sz="1200" dirty="0"/>
                        <a:t>Intelligence</a:t>
                      </a:r>
                    </a:p>
                  </a:txBody>
                  <a:tcPr/>
                </a:tc>
                <a:extLst>
                  <a:ext uri="{0D108BD9-81ED-4DB2-BD59-A6C34878D82A}">
                    <a16:rowId xmlns:a16="http://schemas.microsoft.com/office/drawing/2014/main" val="10001"/>
                  </a:ext>
                </a:extLst>
              </a:tr>
              <a:tr h="390432">
                <a:tc>
                  <a:txBody>
                    <a:bodyPr/>
                    <a:lstStyle/>
                    <a:p>
                      <a:r>
                        <a:rPr lang="en-US" sz="1200" b="0" dirty="0"/>
                        <a:t>GAT</a:t>
                      </a:r>
                    </a:p>
                  </a:txBody>
                  <a:tcPr/>
                </a:tc>
                <a:tc>
                  <a:txBody>
                    <a:bodyPr/>
                    <a:lstStyle/>
                    <a:p>
                      <a:r>
                        <a:rPr lang="en-US" sz="1200" dirty="0"/>
                        <a:t>Graph Attention Networks</a:t>
                      </a:r>
                    </a:p>
                  </a:txBody>
                  <a:tcPr/>
                </a:tc>
                <a:extLst>
                  <a:ext uri="{0D108BD9-81ED-4DB2-BD59-A6C34878D82A}">
                    <a16:rowId xmlns:a16="http://schemas.microsoft.com/office/drawing/2014/main" val="10006"/>
                  </a:ext>
                </a:extLst>
              </a:tr>
              <a:tr h="390432">
                <a:tc>
                  <a:txBody>
                    <a:bodyPr/>
                    <a:lstStyle/>
                    <a:p>
                      <a:r>
                        <a:rPr lang="en-US" sz="1200" dirty="0"/>
                        <a:t>GCNN</a:t>
                      </a:r>
                    </a:p>
                  </a:txBody>
                  <a:tcPr/>
                </a:tc>
                <a:tc>
                  <a:txBody>
                    <a:bodyPr/>
                    <a:lstStyle/>
                    <a:p>
                      <a:pPr marL="0" indent="0">
                        <a:buFont typeface="Arial" panose="020B0604020202020204" pitchFamily="34" charset="0"/>
                        <a:buNone/>
                      </a:pPr>
                      <a:r>
                        <a:rPr lang="en-US" sz="1200" dirty="0"/>
                        <a:t>Graph Convolutional Neural Network</a:t>
                      </a:r>
                    </a:p>
                  </a:txBody>
                  <a:tcPr/>
                </a:tc>
                <a:extLst>
                  <a:ext uri="{0D108BD9-81ED-4DB2-BD59-A6C34878D82A}">
                    <a16:rowId xmlns:a16="http://schemas.microsoft.com/office/drawing/2014/main" val="10007"/>
                  </a:ext>
                </a:extLst>
              </a:tr>
              <a:tr h="390432">
                <a:tc>
                  <a:txBody>
                    <a:bodyPr/>
                    <a:lstStyle/>
                    <a:p>
                      <a:r>
                        <a:rPr lang="en-US" sz="1200" dirty="0"/>
                        <a:t>GNN</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Graph Neural Network</a:t>
                      </a:r>
                    </a:p>
                  </a:txBody>
                  <a:tcPr/>
                </a:tc>
                <a:extLst>
                  <a:ext uri="{0D108BD9-81ED-4DB2-BD59-A6C34878D82A}">
                    <a16:rowId xmlns:a16="http://schemas.microsoft.com/office/drawing/2014/main" val="3925171416"/>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ML</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Machine Learning</a:t>
                      </a:r>
                    </a:p>
                  </a:txBody>
                  <a:tcPr/>
                </a:tc>
                <a:extLst>
                  <a:ext uri="{0D108BD9-81ED-4DB2-BD59-A6C34878D82A}">
                    <a16:rowId xmlns:a16="http://schemas.microsoft.com/office/drawing/2014/main" val="2655391664"/>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NER</a:t>
                      </a:r>
                    </a:p>
                  </a:txBody>
                  <a:tcPr/>
                </a:tc>
                <a:tc>
                  <a:txBody>
                    <a:bodyPr/>
                    <a:lstStyle/>
                    <a:p>
                      <a:r>
                        <a:rPr lang="en-US" sz="1200" dirty="0"/>
                        <a:t>Named Entity Recognition</a:t>
                      </a:r>
                    </a:p>
                  </a:txBody>
                  <a:tcPr/>
                </a:tc>
                <a:extLst>
                  <a:ext uri="{0D108BD9-81ED-4DB2-BD59-A6C34878D82A}">
                    <a16:rowId xmlns:a16="http://schemas.microsoft.com/office/drawing/2014/main" val="3183640610"/>
                  </a:ext>
                </a:extLst>
              </a:tr>
            </a:tbl>
          </a:graphicData>
        </a:graphic>
      </p:graphicFrame>
      <p:sp>
        <p:nvSpPr>
          <p:cNvPr id="6" name="Title 2">
            <a:extLst>
              <a:ext uri="{FF2B5EF4-FFF2-40B4-BE49-F238E27FC236}">
                <a16:creationId xmlns:a16="http://schemas.microsoft.com/office/drawing/2014/main" id="{3CDCDFF2-0628-5A44-B167-F3F6CD8C05DB}"/>
              </a:ext>
            </a:extLst>
          </p:cNvPr>
          <p:cNvSpPr>
            <a:spLocks noGrp="1"/>
          </p:cNvSpPr>
          <p:nvPr>
            <p:ph type="title"/>
          </p:nvPr>
        </p:nvSpPr>
        <p:spPr>
          <a:xfrm>
            <a:off x="640754" y="500780"/>
            <a:ext cx="7874597" cy="1054250"/>
          </a:xfrm>
        </p:spPr>
        <p:txBody>
          <a:bodyPr/>
          <a:lstStyle/>
          <a:p>
            <a:r>
              <a:rPr lang="en-US" dirty="0"/>
              <a:t>Acronyms</a:t>
            </a:r>
          </a:p>
        </p:txBody>
      </p:sp>
    </p:spTree>
    <p:extLst>
      <p:ext uri="{BB962C8B-B14F-4D97-AF65-F5344CB8AC3E}">
        <p14:creationId xmlns:p14="http://schemas.microsoft.com/office/powerpoint/2010/main" val="2865499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EFB91CE-0825-3544-837B-FB95B0202A8A}"/>
              </a:ext>
            </a:extLst>
          </p:cNvPr>
          <p:cNvSpPr>
            <a:spLocks noGrp="1"/>
          </p:cNvSpPr>
          <p:nvPr>
            <p:ph idx="1"/>
          </p:nvPr>
        </p:nvSpPr>
        <p:spPr>
          <a:xfrm>
            <a:off x="699248" y="1555029"/>
            <a:ext cx="7745505" cy="3476675"/>
          </a:xfrm>
        </p:spPr>
        <p:txBody>
          <a:bodyPr/>
          <a:lstStyle/>
          <a:p>
            <a:pPr marL="0" indent="0">
              <a:buNone/>
            </a:pPr>
            <a:r>
              <a:rPr lang="en-US" sz="1800" dirty="0">
                <a:effectLst/>
                <a:latin typeface="Segoe UI" panose="020B0502040204020203" pitchFamily="34" charset="0"/>
              </a:rPr>
              <a:t>Analyzing Inconsistencies and Gaps in Municipal Laws using LLM-Based Models: Developing an automated tool to identify and annotate contradictions, redundancies, and missing references in municipal law documents, with a focus on Pennsylvania townships.</a:t>
            </a:r>
            <a:endParaRPr lang="en-US" sz="2400" dirty="0">
              <a:latin typeface="Calibri" panose="020F0502020204030204" pitchFamily="34" charset="0"/>
              <a:cs typeface="Calibri" panose="020F0502020204030204" pitchFamily="34" charset="0"/>
            </a:endParaRPr>
          </a:p>
        </p:txBody>
      </p:sp>
      <p:sp>
        <p:nvSpPr>
          <p:cNvPr id="8" name="Title 2">
            <a:extLst>
              <a:ext uri="{FF2B5EF4-FFF2-40B4-BE49-F238E27FC236}">
                <a16:creationId xmlns:a16="http://schemas.microsoft.com/office/drawing/2014/main" id="{543FA557-0A22-5E47-A9A2-43A5EC016E50}"/>
              </a:ext>
            </a:extLst>
          </p:cNvPr>
          <p:cNvSpPr>
            <a:spLocks noGrp="1"/>
          </p:cNvSpPr>
          <p:nvPr>
            <p:ph type="title"/>
          </p:nvPr>
        </p:nvSpPr>
        <p:spPr>
          <a:xfrm>
            <a:off x="640754" y="500780"/>
            <a:ext cx="7874597" cy="1054250"/>
          </a:xfrm>
        </p:spPr>
        <p:txBody>
          <a:bodyPr/>
          <a:lstStyle/>
          <a:p>
            <a:r>
              <a:rPr lang="en-US" dirty="0"/>
              <a:t>Scope of Work (SOW)</a:t>
            </a:r>
          </a:p>
        </p:txBody>
      </p:sp>
    </p:spTree>
    <p:extLst>
      <p:ext uri="{BB962C8B-B14F-4D97-AF65-F5344CB8AC3E}">
        <p14:creationId xmlns:p14="http://schemas.microsoft.com/office/powerpoint/2010/main" val="14236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24002090"/>
              </p:ext>
            </p:extLst>
          </p:nvPr>
        </p:nvGraphicFramePr>
        <p:xfrm>
          <a:off x="131446" y="621690"/>
          <a:ext cx="8881108" cy="4722906"/>
        </p:xfrm>
        <a:graphic>
          <a:graphicData uri="http://schemas.openxmlformats.org/drawingml/2006/table">
            <a:tbl>
              <a:tblPr firstRow="1" bandRow="1">
                <a:tableStyleId>{5C22544A-7EE6-4342-B048-85BDC9FD1C3A}</a:tableStyleId>
              </a:tblPr>
              <a:tblGrid>
                <a:gridCol w="1655854">
                  <a:extLst>
                    <a:ext uri="{9D8B030D-6E8A-4147-A177-3AD203B41FA5}">
                      <a16:colId xmlns:a16="http://schemas.microsoft.com/office/drawing/2014/main" val="20000"/>
                    </a:ext>
                  </a:extLst>
                </a:gridCol>
                <a:gridCol w="6457904">
                  <a:extLst>
                    <a:ext uri="{9D8B030D-6E8A-4147-A177-3AD203B41FA5}">
                      <a16:colId xmlns:a16="http://schemas.microsoft.com/office/drawing/2014/main" val="20001"/>
                    </a:ext>
                  </a:extLst>
                </a:gridCol>
                <a:gridCol w="767350">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458603">
                <a:tc>
                  <a:txBody>
                    <a:bodyPr/>
                    <a:lstStyle/>
                    <a:p>
                      <a:r>
                        <a:rPr lang="en-US" sz="1200" b="1" dirty="0">
                          <a:solidFill>
                            <a:schemeClr val="tx1"/>
                          </a:solidFill>
                          <a:latin typeface="+mn-lt"/>
                          <a:cs typeface="Arial" panose="020B0604020202020204" pitchFamily="34" charset="0"/>
                        </a:rPr>
                        <a:t>Issue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2076857690"/>
                  </a:ext>
                </a:extLst>
              </a:tr>
              <a:tr h="287079">
                <a:tc>
                  <a:txBody>
                    <a:bodyPr/>
                    <a:lstStyle/>
                    <a:p>
                      <a:r>
                        <a:rPr lang="en-US" sz="1200" b="1" dirty="0">
                          <a:solidFill>
                            <a:schemeClr val="tx1"/>
                          </a:solidFill>
                          <a:latin typeface="+mn-lt"/>
                          <a:cs typeface="Arial" panose="020B0604020202020204" pitchFamily="34" charset="0"/>
                        </a:rPr>
                        <a:t>”so what”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18</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994788455"/>
                  </a:ext>
                </a:extLst>
              </a:tr>
              <a:tr h="497142">
                <a:tc>
                  <a:txBody>
                    <a:bodyPr/>
                    <a:lstStyle/>
                    <a:p>
                      <a:r>
                        <a:rPr lang="en-US" sz="1200" b="1" dirty="0">
                          <a:solidFill>
                            <a:schemeClr val="tx1"/>
                          </a:solidFill>
                          <a:latin typeface="+mn-lt"/>
                          <a:cs typeface="Arial" panose="020B0604020202020204" pitchFamily="34" charset="0"/>
                        </a:rPr>
                        <a:t>Problem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r>
                        <a:rPr lang="en-US" sz="1200" kern="1200" dirty="0">
                          <a:solidFill>
                            <a:schemeClr val="tx1"/>
                          </a:solidFill>
                          <a:effectLst/>
                          <a:latin typeface="+mn-lt"/>
                          <a:ea typeface="+mn-ea"/>
                          <a:cs typeface="Arial" panose="020B0604020202020204" pitchFamily="34" charset="0"/>
                        </a:rPr>
                        <a:t>, </a:t>
                      </a: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34</a:t>
                      </a:r>
                    </a:p>
                  </a:txBody>
                  <a:tcPr/>
                </a:tc>
                <a:extLst>
                  <a:ext uri="{0D108BD9-81ED-4DB2-BD59-A6C34878D82A}">
                    <a16:rowId xmlns:a16="http://schemas.microsoft.com/office/drawing/2014/main" val="10003"/>
                  </a:ext>
                </a:extLst>
              </a:tr>
              <a:tr h="213061">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Industry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122434743"/>
                  </a:ext>
                </a:extLst>
              </a:tr>
              <a:tr h="304535">
                <a:tc>
                  <a:txBody>
                    <a:bodyPr/>
                    <a:lstStyle/>
                    <a:p>
                      <a:r>
                        <a:rPr lang="en-US" sz="1200" b="1" dirty="0">
                          <a:solidFill>
                            <a:schemeClr val="tx1"/>
                          </a:solidFill>
                          <a:latin typeface="+mn-lt"/>
                          <a:cs typeface="Arial" panose="020B0604020202020204" pitchFamily="34" charset="0"/>
                        </a:rPr>
                        <a:t>PS elaboration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Documents that are authored by multiple people over time inevitably develop inconsistencies and are incomplete, even with multiple reviews these often are never identified and resolved.</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26</a:t>
                      </a:r>
                    </a:p>
                  </a:txBody>
                  <a:tcPr/>
                </a:tc>
                <a:extLst>
                  <a:ext uri="{0D108BD9-81ED-4DB2-BD59-A6C34878D82A}">
                    <a16:rowId xmlns:a16="http://schemas.microsoft.com/office/drawing/2014/main" val="10006"/>
                  </a:ext>
                </a:extLst>
              </a:tr>
              <a:tr h="0">
                <a:tc>
                  <a:txBody>
                    <a:bodyPr/>
                    <a:lstStyle/>
                    <a:p>
                      <a:r>
                        <a:rPr lang="en-US" sz="1200" b="1" dirty="0">
                          <a:solidFill>
                            <a:schemeClr val="tx1"/>
                          </a:solidFill>
                          <a:latin typeface="+mn-lt"/>
                          <a:cs typeface="Arial" panose="020B0604020202020204" pitchFamily="34" charset="0"/>
                        </a:rPr>
                        <a:t>PS elaboration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If one law says that a fee is needed to cover costs, but another law says that fees cannot be collected, the township will have to use taxpayer money.</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29</a:t>
                      </a:r>
                    </a:p>
                  </a:txBody>
                  <a:tcPr/>
                </a:tc>
                <a:extLst>
                  <a:ext uri="{0D108BD9-81ED-4DB2-BD59-A6C34878D82A}">
                    <a16:rowId xmlns:a16="http://schemas.microsoft.com/office/drawing/2014/main" val="2857562420"/>
                  </a:ext>
                </a:extLst>
              </a:tr>
            </a:tbl>
          </a:graphicData>
        </a:graphic>
      </p:graphicFrame>
      <p:sp>
        <p:nvSpPr>
          <p:cNvPr id="3" name="Title 2"/>
          <p:cNvSpPr>
            <a:spLocks noGrp="1"/>
          </p:cNvSpPr>
          <p:nvPr>
            <p:ph type="title"/>
          </p:nvPr>
        </p:nvSpPr>
        <p:spPr>
          <a:xfrm>
            <a:off x="131446" y="0"/>
            <a:ext cx="7756263" cy="621690"/>
          </a:xfrm>
        </p:spPr>
        <p:txBody>
          <a:bodyPr/>
          <a:lstStyle/>
          <a:p>
            <a:r>
              <a:rPr lang="en-US" sz="1400" dirty="0"/>
              <a:t>Problem Statement</a:t>
            </a:r>
          </a:p>
        </p:txBody>
      </p:sp>
    </p:spTree>
    <p:extLst>
      <p:ext uri="{BB962C8B-B14F-4D97-AF65-F5344CB8AC3E}">
        <p14:creationId xmlns:p14="http://schemas.microsoft.com/office/powerpoint/2010/main" val="116372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51910676"/>
              </p:ext>
            </p:extLst>
          </p:nvPr>
        </p:nvGraphicFramePr>
        <p:xfrm>
          <a:off x="148441" y="442578"/>
          <a:ext cx="8847118" cy="4492302"/>
        </p:xfrm>
        <a:graphic>
          <a:graphicData uri="http://schemas.openxmlformats.org/drawingml/2006/table">
            <a:tbl>
              <a:tblPr firstRow="1" bandRow="1">
                <a:tableStyleId>{5C22544A-7EE6-4342-B048-85BDC9FD1C3A}</a:tableStyleId>
              </a:tblPr>
              <a:tblGrid>
                <a:gridCol w="1514104">
                  <a:extLst>
                    <a:ext uri="{9D8B030D-6E8A-4147-A177-3AD203B41FA5}">
                      <a16:colId xmlns:a16="http://schemas.microsoft.com/office/drawing/2014/main" val="20000"/>
                    </a:ext>
                  </a:extLst>
                </a:gridCol>
                <a:gridCol w="6893626">
                  <a:extLst>
                    <a:ext uri="{9D8B030D-6E8A-4147-A177-3AD203B41FA5}">
                      <a16:colId xmlns:a16="http://schemas.microsoft.com/office/drawing/2014/main" val="20001"/>
                    </a:ext>
                  </a:extLst>
                </a:gridCol>
                <a:gridCol w="439388">
                  <a:extLst>
                    <a:ext uri="{9D8B030D-6E8A-4147-A177-3AD203B41FA5}">
                      <a16:colId xmlns:a16="http://schemas.microsoft.com/office/drawing/2014/main" val="2172403899"/>
                    </a:ext>
                  </a:extLst>
                </a:gridCol>
              </a:tblGrid>
              <a:tr h="0">
                <a:tc>
                  <a:txBody>
                    <a:bodyPr/>
                    <a:lstStyle/>
                    <a:p>
                      <a:r>
                        <a:rPr lang="en-US" sz="1200" baseline="0" dirty="0">
                          <a:solidFill>
                            <a:schemeClr val="bg1"/>
                          </a:solidFill>
                          <a:latin typeface="+mn-lt"/>
                          <a:cs typeface="Arial" panose="020B0604020202020204" pitchFamily="34" charset="0"/>
                        </a:rPr>
                        <a:t>(A) Deliverable</a:t>
                      </a:r>
                      <a:endParaRPr lang="en-US" sz="1200" dirty="0">
                        <a:solidFill>
                          <a:schemeClr val="bg1"/>
                        </a:solidFill>
                        <a:latin typeface="+mn-lt"/>
                        <a:cs typeface="Arial" panose="020B0604020202020204" pitchFamily="34" charset="0"/>
                      </a:endParaRPr>
                    </a:p>
                  </a:txBody>
                  <a:tcPr/>
                </a:tc>
                <a:tc>
                  <a:txBody>
                    <a:bodyPr/>
                    <a:lstStyle/>
                    <a:p>
                      <a:pPr algn="ctr"/>
                      <a:endParaRPr lang="en-US" sz="1200" dirty="0">
                        <a:solidFill>
                          <a:schemeClr val="bg1"/>
                        </a:solidFill>
                        <a:latin typeface="+mn-lt"/>
                        <a:cs typeface="Arial" panose="020B0604020202020204" pitchFamily="34" charset="0"/>
                      </a:endParaRPr>
                    </a:p>
                  </a:txBody>
                  <a:tcPr/>
                </a:tc>
                <a:tc>
                  <a:txBody>
                    <a:bodyPr/>
                    <a:lstStyle/>
                    <a:p>
                      <a:pPr algn="ctr"/>
                      <a:r>
                        <a:rPr lang="en-US" sz="1200" dirty="0">
                          <a:solidFill>
                            <a:schemeClr val="bg1"/>
                          </a:solidFill>
                          <a:latin typeface="+mn-lt"/>
                          <a:cs typeface="Arial" panose="020B0604020202020204" pitchFamily="34" charset="0"/>
                        </a:rPr>
                        <a:t>WC</a:t>
                      </a:r>
                    </a:p>
                  </a:txBody>
                  <a:tcPr/>
                </a:tc>
                <a:extLst>
                  <a:ext uri="{0D108BD9-81ED-4DB2-BD59-A6C34878D82A}">
                    <a16:rowId xmlns:a16="http://schemas.microsoft.com/office/drawing/2014/main" val="10000"/>
                  </a:ext>
                </a:extLst>
              </a:tr>
              <a:tr h="513201">
                <a:tc>
                  <a:txBody>
                    <a:bodyPr/>
                    <a:lstStyle/>
                    <a:p>
                      <a:r>
                        <a:rPr lang="en-US" sz="1200" b="1" dirty="0">
                          <a:solidFill>
                            <a:schemeClr val="tx1"/>
                          </a:solidFill>
                          <a:latin typeface="+mn-lt"/>
                          <a:cs typeface="Arial" panose="020B0604020202020204" pitchFamily="34" charset="0"/>
                        </a:rPr>
                        <a:t>Thesis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An LLM-based tool to convert a document into an attributed knowledge graph can be used to check for consistency and completeness will allow municipal lawyers to create consistent and complete law documents which prevent costly disputes and reduce revenue losses</a:t>
                      </a:r>
                      <a:r>
                        <a:rPr lang="en-US" sz="1200" strike="noStrike" kern="1200" dirty="0">
                          <a:solidFill>
                            <a:schemeClr val="tx1"/>
                          </a:solidFill>
                          <a:effectLst/>
                          <a:latin typeface="+mn-lt"/>
                          <a:ea typeface="+mn-ea"/>
                          <a:cs typeface="Arial" panose="020B0604020202020204" pitchFamily="34" charset="0"/>
                        </a:rPr>
                        <a:t>.</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28</a:t>
                      </a:r>
                    </a:p>
                  </a:txBody>
                  <a:tcPr/>
                </a:tc>
                <a:extLst>
                  <a:ext uri="{0D108BD9-81ED-4DB2-BD59-A6C34878D82A}">
                    <a16:rowId xmlns:a16="http://schemas.microsoft.com/office/drawing/2014/main" val="10001"/>
                  </a:ext>
                </a:extLst>
              </a:tr>
              <a:tr h="227106">
                <a:tc>
                  <a:txBody>
                    <a:bodyPr/>
                    <a:lstStyle/>
                    <a:p>
                      <a:r>
                        <a:rPr lang="en-US" sz="1200" b="1" dirty="0">
                          <a:solidFill>
                            <a:schemeClr val="tx1"/>
                          </a:solidFill>
                          <a:latin typeface="+mn-lt"/>
                          <a:cs typeface="Arial" panose="020B0604020202020204" pitchFamily="34" charset="0"/>
                        </a:rPr>
                        <a:t>Research Product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LLM-based tool</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10002"/>
                  </a:ext>
                </a:extLst>
              </a:tr>
              <a:tr h="227106">
                <a:tc>
                  <a:txBody>
                    <a:bodyPr/>
                    <a:lstStyle/>
                    <a:p>
                      <a:r>
                        <a:rPr lang="en-US" sz="1200" b="1" dirty="0">
                          <a:solidFill>
                            <a:schemeClr val="tx1"/>
                          </a:solidFill>
                          <a:latin typeface="+mn-lt"/>
                          <a:cs typeface="Arial" panose="020B0604020202020204" pitchFamily="34" charset="0"/>
                        </a:rPr>
                        <a:t>Format</a:t>
                      </a:r>
                    </a:p>
                  </a:txBody>
                  <a:tcPr/>
                </a:tc>
                <a:tc>
                  <a:txBody>
                    <a:bodyPr/>
                    <a:lstStyle/>
                    <a:p>
                      <a:r>
                        <a:rPr lang="en-US" sz="1200" dirty="0">
                          <a:solidFill>
                            <a:schemeClr val="tx1"/>
                          </a:solidFill>
                          <a:latin typeface="+mn-lt"/>
                          <a:cs typeface="Arial" panose="020B0604020202020204" pitchFamily="34" charset="0"/>
                        </a:rPr>
                        <a:t>Python Program</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4003017393"/>
                  </a:ext>
                </a:extLst>
              </a:tr>
              <a:tr h="513201">
                <a:tc>
                  <a:txBody>
                    <a:bodyPr/>
                    <a:lstStyle/>
                    <a:p>
                      <a:r>
                        <a:rPr lang="en-US" sz="1200" b="1" dirty="0">
                          <a:solidFill>
                            <a:schemeClr val="tx1"/>
                          </a:solidFill>
                          <a:latin typeface="+mn-lt"/>
                          <a:cs typeface="Arial" panose="020B0604020202020204" pitchFamily="34" charset="0"/>
                        </a:rPr>
                        <a:t>Deliverable Usage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Lawyers who draft new regulations will use the tool to check if the new regulation adds any inconsistencies.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770052122"/>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Arial" panose="020B0604020202020204" pitchFamily="34" charset="0"/>
                        </a:rPr>
                        <a:t>Tie back to PS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Inconsistent and incomplete laws are found sooner and resolved thereby eradicating their cost to the municipality and taxpayers.</a:t>
                      </a:r>
                      <a:endParaRPr lang="en-US" sz="1200"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833044523"/>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New Contributions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Work has focused on financial documents and business requirements to date. It has not leveraged the power of transformers.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19</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baseline="0" dirty="0">
                        <a:solidFill>
                          <a:schemeClr val="tx1"/>
                        </a:solidFill>
                        <a:latin typeface="+mn-lt"/>
                        <a:ea typeface="+mn-ea"/>
                        <a:cs typeface="Arial" panose="020B0604020202020204" pitchFamily="34" charset="0"/>
                      </a:endParaRPr>
                    </a:p>
                  </a:txBody>
                  <a:tcPr/>
                </a:tc>
                <a:extLst>
                  <a:ext uri="{0D108BD9-81ED-4DB2-BD59-A6C34878D82A}">
                    <a16:rowId xmlns:a16="http://schemas.microsoft.com/office/drawing/2014/main" val="1096071760"/>
                  </a:ext>
                </a:extLst>
              </a:tr>
              <a:tr h="36657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Scope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 am using municipal laws due to the free availability of laws. The tool should be able to work on any large documents.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23</a:t>
                      </a:r>
                    </a:p>
                  </a:txBody>
                  <a:tcPr/>
                </a:tc>
                <a:extLst>
                  <a:ext uri="{0D108BD9-81ED-4DB2-BD59-A6C34878D82A}">
                    <a16:rowId xmlns:a16="http://schemas.microsoft.com/office/drawing/2014/main" val="1343236813"/>
                  </a:ext>
                </a:extLst>
              </a:tr>
              <a:tr h="228624">
                <a:tc>
                  <a:txBody>
                    <a:bodyPr/>
                    <a:lstStyle/>
                    <a:p>
                      <a:r>
                        <a:rPr lang="en-US" sz="1200" b="1" baseline="0" dirty="0">
                          <a:solidFill>
                            <a:schemeClr val="tx1"/>
                          </a:solidFill>
                          <a:latin typeface="+mn-lt"/>
                          <a:cs typeface="Arial" panose="020B0604020202020204" pitchFamily="34" charset="0"/>
                        </a:rPr>
                        <a:t>Main methodology</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356598693"/>
                  </a:ext>
                </a:extLst>
              </a:tr>
              <a:tr h="236295">
                <a:tc>
                  <a:txBody>
                    <a:bodyPr/>
                    <a:lstStyle/>
                    <a:p>
                      <a:r>
                        <a:rPr lang="en-US" sz="1200" b="1" baseline="0" dirty="0">
                          <a:solidFill>
                            <a:schemeClr val="tx1"/>
                          </a:solidFill>
                          <a:latin typeface="+mn-lt"/>
                          <a:cs typeface="Arial" panose="020B0604020202020204" pitchFamily="34" charset="0"/>
                        </a:rPr>
                        <a:t>Inputs</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A subset of the laws of the 1,456 Pennsylvania Townships of the Second Class, </a:t>
                      </a:r>
                      <a:r>
                        <a:rPr lang="en-US" sz="1200" dirty="0" err="1">
                          <a:solidFill>
                            <a:schemeClr val="tx1"/>
                          </a:solidFill>
                          <a:latin typeface="+mn-lt"/>
                          <a:cs typeface="Arial" panose="020B0604020202020204" pitchFamily="34" charset="0"/>
                        </a:rPr>
                        <a:t>Easttown</a:t>
                      </a:r>
                      <a:r>
                        <a:rPr lang="en-US" sz="1200" dirty="0">
                          <a:solidFill>
                            <a:schemeClr val="tx1"/>
                          </a:solidFill>
                          <a:latin typeface="+mn-lt"/>
                          <a:cs typeface="Arial" panose="020B0604020202020204" pitchFamily="34" charset="0"/>
                        </a:rPr>
                        <a:t> Township (DOCX), Willistown Township (DOCX), etc.</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882876628"/>
                  </a:ext>
                </a:extLst>
              </a:tr>
              <a:tr h="300939">
                <a:tc>
                  <a:txBody>
                    <a:bodyPr/>
                    <a:lstStyle/>
                    <a:p>
                      <a:r>
                        <a:rPr lang="en-US" sz="1200" b="1" dirty="0">
                          <a:solidFill>
                            <a:schemeClr val="tx1"/>
                          </a:solidFill>
                          <a:latin typeface="+mn-lt"/>
                          <a:cs typeface="Arial" panose="020B0604020202020204" pitchFamily="34" charset="0"/>
                        </a:rPr>
                        <a:t>Outputs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Laws annotated with anything that is inconsistent or incomplete in DOCX format.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3544266992"/>
                  </a:ext>
                </a:extLst>
              </a:tr>
            </a:tbl>
          </a:graphicData>
        </a:graphic>
      </p:graphicFrame>
      <p:sp>
        <p:nvSpPr>
          <p:cNvPr id="6" name="Title 2">
            <a:extLst>
              <a:ext uri="{FF2B5EF4-FFF2-40B4-BE49-F238E27FC236}">
                <a16:creationId xmlns:a16="http://schemas.microsoft.com/office/drawing/2014/main" id="{FA01919A-EAD0-434D-990E-2E4C06142748}"/>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Thesis Statement</a:t>
            </a:r>
          </a:p>
        </p:txBody>
      </p:sp>
    </p:spTree>
    <p:extLst>
      <p:ext uri="{BB962C8B-B14F-4D97-AF65-F5344CB8AC3E}">
        <p14:creationId xmlns:p14="http://schemas.microsoft.com/office/powerpoint/2010/main" val="1676332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36374215"/>
              </p:ext>
            </p:extLst>
          </p:nvPr>
        </p:nvGraphicFramePr>
        <p:xfrm>
          <a:off x="131446" y="692026"/>
          <a:ext cx="8880783" cy="1482090"/>
        </p:xfrm>
        <a:graphic>
          <a:graphicData uri="http://schemas.openxmlformats.org/drawingml/2006/table">
            <a:tbl>
              <a:tblPr firstRow="1" bandRow="1">
                <a:tableStyleId>{5C22544A-7EE6-4342-B048-85BDC9FD1C3A}</a:tableStyleId>
              </a:tblPr>
              <a:tblGrid>
                <a:gridCol w="1958611">
                  <a:extLst>
                    <a:ext uri="{9D8B030D-6E8A-4147-A177-3AD203B41FA5}">
                      <a16:colId xmlns:a16="http://schemas.microsoft.com/office/drawing/2014/main" val="20000"/>
                    </a:ext>
                  </a:extLst>
                </a:gridCol>
                <a:gridCol w="6260123">
                  <a:extLst>
                    <a:ext uri="{9D8B030D-6E8A-4147-A177-3AD203B41FA5}">
                      <a16:colId xmlns:a16="http://schemas.microsoft.com/office/drawing/2014/main" val="20001"/>
                    </a:ext>
                  </a:extLst>
                </a:gridCol>
                <a:gridCol w="662049">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latin typeface="+mn-lt"/>
                          <a:cs typeface="Arial" panose="020B0604020202020204" pitchFamily="34" charset="0"/>
                        </a:rPr>
                        <a:t>Research Question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Can an LLM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latin typeface="+mn-lt"/>
                          <a:cs typeface="Arial" panose="020B0604020202020204" pitchFamily="34" charset="0"/>
                        </a:rPr>
                        <a:t>Research Question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an LLM be used to process multiple knowledge graphs into a typed cluster of knowledge graphs.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txBody>
                  <a:tcPr/>
                </a:tc>
                <a:extLst>
                  <a:ext uri="{0D108BD9-81ED-4DB2-BD59-A6C34878D82A}">
                    <a16:rowId xmlns:a16="http://schemas.microsoft.com/office/drawing/2014/main" val="10002"/>
                  </a:ext>
                </a:extLst>
              </a:tr>
              <a:tr h="125730">
                <a:tc>
                  <a:txBody>
                    <a:bodyPr/>
                    <a:lstStyle/>
                    <a:p>
                      <a:r>
                        <a:rPr lang="en-US" sz="1200" b="1" dirty="0">
                          <a:solidFill>
                            <a:schemeClr val="tx1"/>
                          </a:solidFill>
                          <a:latin typeface="+mn-lt"/>
                          <a:cs typeface="Arial" panose="020B0604020202020204" pitchFamily="34" charset="0"/>
                        </a:rPr>
                        <a:t>Research Question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 typed cluster of knowledge graphs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25</a:t>
                      </a:r>
                    </a:p>
                    <a:p>
                      <a:endParaRPr lang="en-US" sz="1200" b="0" dirty="0">
                        <a:latin typeface="+mn-lt"/>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
        <p:nvSpPr>
          <p:cNvPr id="5" name="Title 2">
            <a:extLst>
              <a:ext uri="{FF2B5EF4-FFF2-40B4-BE49-F238E27FC236}">
                <a16:creationId xmlns:a16="http://schemas.microsoft.com/office/drawing/2014/main" id="{FC1D2AB2-2600-E247-AB3F-FCA58484E415}"/>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Questions</a:t>
            </a:r>
          </a:p>
        </p:txBody>
      </p:sp>
    </p:spTree>
    <p:extLst>
      <p:ext uri="{BB962C8B-B14F-4D97-AF65-F5344CB8AC3E}">
        <p14:creationId xmlns:p14="http://schemas.microsoft.com/office/powerpoint/2010/main" val="1799658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03474218"/>
              </p:ext>
            </p:extLst>
          </p:nvPr>
        </p:nvGraphicFramePr>
        <p:xfrm>
          <a:off x="121398" y="611642"/>
          <a:ext cx="8878824" cy="4537710"/>
        </p:xfrm>
        <a:graphic>
          <a:graphicData uri="http://schemas.openxmlformats.org/drawingml/2006/table">
            <a:tbl>
              <a:tblPr firstRow="1" bandRow="1">
                <a:tableStyleId>{5C22544A-7EE6-4342-B048-85BDC9FD1C3A}</a:tableStyleId>
              </a:tblPr>
              <a:tblGrid>
                <a:gridCol w="1858128">
                  <a:extLst>
                    <a:ext uri="{9D8B030D-6E8A-4147-A177-3AD203B41FA5}">
                      <a16:colId xmlns:a16="http://schemas.microsoft.com/office/drawing/2014/main" val="20000"/>
                    </a:ext>
                  </a:extLst>
                </a:gridCol>
                <a:gridCol w="6380703">
                  <a:extLst>
                    <a:ext uri="{9D8B030D-6E8A-4147-A177-3AD203B41FA5}">
                      <a16:colId xmlns:a16="http://schemas.microsoft.com/office/drawing/2014/main" val="20001"/>
                    </a:ext>
                  </a:extLst>
                </a:gridCol>
                <a:gridCol w="639993">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solidFill>
                            <a:schemeClr val="tx1"/>
                          </a:solidFill>
                          <a:latin typeface="+mn-lt"/>
                          <a:cs typeface="Arial" panose="020B0604020202020204" pitchFamily="34" charset="0"/>
                        </a:rPr>
                        <a:t>Hypothesis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An LLM can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19</a:t>
                      </a:r>
                    </a:p>
                  </a:txBody>
                  <a:tcPr/>
                </a:tc>
                <a:extLst>
                  <a:ext uri="{0D108BD9-81ED-4DB2-BD59-A6C34878D82A}">
                    <a16:rowId xmlns:a16="http://schemas.microsoft.com/office/drawing/2014/main" val="1342735920"/>
                  </a:ext>
                </a:extLst>
              </a:tr>
              <a:tr h="29337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and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4269454427"/>
                  </a:ext>
                </a:extLst>
              </a:tr>
              <a:tr h="29337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 or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204264010"/>
                  </a:ext>
                </a:extLst>
              </a:tr>
              <a:tr h="29337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Review generated GNN graphs to identify differences between graphs of consistent/inconsistent and complete/incomplete entities.</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txBody>
                  <a:tcPr/>
                </a:tc>
                <a:extLst>
                  <a:ext uri="{0D108BD9-81ED-4DB2-BD59-A6C34878D82A}">
                    <a16:rowId xmlns:a16="http://schemas.microsoft.com/office/drawing/2014/main" val="61720671"/>
                  </a:ext>
                </a:extLst>
              </a:tr>
              <a:tr h="293370">
                <a:tc>
                  <a:txBody>
                    <a:bodyPr/>
                    <a:lstStyle/>
                    <a:p>
                      <a:r>
                        <a:rPr lang="en-US" sz="1200" b="1" dirty="0">
                          <a:solidFill>
                            <a:schemeClr val="tx1"/>
                          </a:solidFill>
                          <a:latin typeface="+mn-lt"/>
                          <a:cs typeface="Arial" panose="020B0604020202020204" pitchFamily="34" charset="0"/>
                        </a:rPr>
                        <a:t>Hypothesis 2</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a:t>
                      </a:r>
                      <a:r>
                        <a:rPr lang="en-US" sz="1200" strike="noStrike" dirty="0">
                          <a:solidFill>
                            <a:schemeClr val="tx1"/>
                          </a:solidFill>
                          <a:latin typeface="+mn-lt"/>
                          <a:cs typeface="Arial" panose="020B0604020202020204" pitchFamily="34" charset="0"/>
                        </a:rPr>
                        <a:t>n LLM can be used to process multiple knowledge graphs into a typed cluster of knowledge graphs.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0002"/>
                  </a:ext>
                </a:extLst>
              </a:tr>
              <a:tr h="12573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10003"/>
                  </a:ext>
                </a:extLst>
              </a:tr>
              <a:tr h="12573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Switch paragraphs in documents and see if the model detects the inconsistency.</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10007"/>
                  </a:ext>
                </a:extLst>
              </a:tr>
              <a:tr h="0">
                <a:tc>
                  <a:txBody>
                    <a:bodyPr/>
                    <a:lstStyle/>
                    <a:p>
                      <a:r>
                        <a:rPr lang="en-US" sz="1200" b="1" dirty="0">
                          <a:solidFill>
                            <a:schemeClr val="tx1"/>
                          </a:solidFill>
                          <a:latin typeface="+mn-lt"/>
                          <a:cs typeface="Arial" panose="020B0604020202020204" pitchFamily="34" charset="0"/>
                        </a:rPr>
                        <a:t>Hypothesis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A typed cluster of knowledge graphs can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96071760"/>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343236813"/>
                  </a:ext>
                </a:extLst>
              </a:tr>
              <a:tr h="20955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560585428"/>
                  </a:ext>
                </a:extLst>
              </a:tr>
              <a:tr h="20955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Remove paragraphs and see if the model detects the incompleteness.</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3028355428"/>
                  </a:ext>
                </a:extLst>
              </a:tr>
            </a:tbl>
          </a:graphicData>
        </a:graphic>
      </p:graphicFrame>
      <p:sp>
        <p:nvSpPr>
          <p:cNvPr id="5" name="Title 2">
            <a:extLst>
              <a:ext uri="{FF2B5EF4-FFF2-40B4-BE49-F238E27FC236}">
                <a16:creationId xmlns:a16="http://schemas.microsoft.com/office/drawing/2014/main" id="{93CFF7CA-B4E9-9747-8737-F9518DA2EFAA}"/>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Hypotheses</a:t>
            </a:r>
          </a:p>
        </p:txBody>
      </p:sp>
    </p:spTree>
    <p:extLst>
      <p:ext uri="{BB962C8B-B14F-4D97-AF65-F5344CB8AC3E}">
        <p14:creationId xmlns:p14="http://schemas.microsoft.com/office/powerpoint/2010/main" val="149705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374867472"/>
              </p:ext>
            </p:extLst>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Laban, P., Dai, L., </a:t>
                      </a:r>
                      <a:r>
                        <a:rPr lang="en-US" sz="1200" kern="1200" dirty="0" err="1">
                          <a:solidFill>
                            <a:schemeClr val="tx1"/>
                          </a:solidFill>
                          <a:effectLst/>
                          <a:latin typeface="+mn-lt"/>
                          <a:ea typeface="+mn-ea"/>
                          <a:cs typeface="Arial" panose="020B0604020202020204" pitchFamily="34" charset="0"/>
                        </a:rPr>
                        <a:t>Bandarkar</a:t>
                      </a:r>
                      <a:r>
                        <a:rPr lang="en-US" sz="1200" kern="1200" dirty="0">
                          <a:solidFill>
                            <a:schemeClr val="tx1"/>
                          </a:solidFill>
                          <a:effectLst/>
                          <a:latin typeface="+mn-lt"/>
                          <a:ea typeface="+mn-ea"/>
                          <a:cs typeface="Arial" panose="020B0604020202020204" pitchFamily="34" charset="0"/>
                        </a:rPr>
                        <a:t>, L., &amp; Hearst, M. A. (2021). Can Transformer Models Measure Coherence In Text? Re-Thinking the Shuffle Test.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10.48550/arxiv.2107.03448</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Introduces the concept of coherence and the difficulty defining it.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Summarizes the various ways to measure coherence and focuses on the shuffle test.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Shows that the shuffle test can have a perfect score but still not measure coherence.</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10</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15</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GPT-2</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Aggregate model performance drops  from 94.5% for block-size 1 to 77.9% for block-size 5.</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the problem that shuffle test can be perfect without measuring coherence.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a solution (zero shot shuffle test) that does as well as humans, 97.5% for human's vs 94.5 for average model.</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14</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the term coherence for consistency.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many references on coherence and how to test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Confirmed that this is a problem being researched.</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(1 of 5)</a:t>
            </a:r>
          </a:p>
        </p:txBody>
      </p:sp>
    </p:spTree>
    <p:extLst>
      <p:ext uri="{BB962C8B-B14F-4D97-AF65-F5344CB8AC3E}">
        <p14:creationId xmlns:p14="http://schemas.microsoft.com/office/powerpoint/2010/main" val="3576355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579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Gemelli, A., Biswas, S., </a:t>
                      </a:r>
                      <a:r>
                        <a:rPr lang="en-US" sz="1200" kern="1200" dirty="0" err="1">
                          <a:solidFill>
                            <a:schemeClr val="tx1"/>
                          </a:solidFill>
                          <a:effectLst/>
                          <a:latin typeface="+mn-lt"/>
                          <a:ea typeface="+mn-ea"/>
                          <a:cs typeface="Arial" panose="020B0604020202020204" pitchFamily="34" charset="0"/>
                        </a:rPr>
                        <a:t>Civitelli</a:t>
                      </a:r>
                      <a:r>
                        <a:rPr lang="en-US" sz="1200" kern="1200" dirty="0">
                          <a:solidFill>
                            <a:schemeClr val="tx1"/>
                          </a:solidFill>
                          <a:effectLst/>
                          <a:latin typeface="+mn-lt"/>
                          <a:ea typeface="+mn-ea"/>
                          <a:cs typeface="Arial" panose="020B0604020202020204" pitchFamily="34" charset="0"/>
                        </a:rPr>
                        <a:t>, E., </a:t>
                      </a:r>
                      <a:r>
                        <a:rPr lang="en-US" sz="1200" kern="1200" dirty="0" err="1">
                          <a:solidFill>
                            <a:schemeClr val="tx1"/>
                          </a:solidFill>
                          <a:effectLst/>
                          <a:latin typeface="+mn-lt"/>
                          <a:ea typeface="+mn-ea"/>
                          <a:cs typeface="Arial" panose="020B0604020202020204" pitchFamily="34" charset="0"/>
                        </a:rPr>
                        <a:t>Lladós</a:t>
                      </a:r>
                      <a:r>
                        <a:rPr lang="en-US" sz="1200" kern="1200" dirty="0">
                          <a:solidFill>
                            <a:schemeClr val="tx1"/>
                          </a:solidFill>
                          <a:effectLst/>
                          <a:latin typeface="+mn-lt"/>
                          <a:ea typeface="+mn-ea"/>
                          <a:cs typeface="Arial" panose="020B0604020202020204" pitchFamily="34" charset="0"/>
                        </a:rPr>
                        <a:t>, J., &amp; </a:t>
                      </a:r>
                      <a:r>
                        <a:rPr lang="en-US" sz="1200" kern="1200" dirty="0" err="1">
                          <a:solidFill>
                            <a:schemeClr val="tx1"/>
                          </a:solidFill>
                          <a:effectLst/>
                          <a:latin typeface="+mn-lt"/>
                          <a:ea typeface="+mn-ea"/>
                          <a:cs typeface="Arial" panose="020B0604020202020204" pitchFamily="34" charset="0"/>
                        </a:rPr>
                        <a:t>Marinai</a:t>
                      </a:r>
                      <a:r>
                        <a:rPr lang="en-US" sz="1200" kern="1200" dirty="0">
                          <a:solidFill>
                            <a:schemeClr val="tx1"/>
                          </a:solidFill>
                          <a:effectLst/>
                          <a:latin typeface="+mn-lt"/>
                          <a:ea typeface="+mn-ea"/>
                          <a:cs typeface="Arial" panose="020B0604020202020204" pitchFamily="34" charset="0"/>
                        </a:rPr>
                        <a:t>, S. (2022). Doc2Graph: a Task Agnostic Document Understanding Framework based on Graph Neural Networks. (). Ithaca: Cornell University Library, arXiv.org. 10.48550/arxiv.2208.11168 Retrieved from Publicly Available Content Database https://www.proquest.com/docview/2706457673/abstract/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Historically documents have been understood as they relate to specific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article takes a structural approach to understanding documents using GNNs.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is applied to form and invoice understanding.</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Graph Neural Networks (GNN)</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article compares the GNN approach to existing approaches.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have a good F1 on forms (0.82 vs 0.81) and a better F1 (0.37 vs 0.31) on invoices.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But they only need 6.2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 vs 138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 had planned to use GNNs to process the documents, and this seems very related to that.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It provides me with a start on how to process documents into a form that can be used for consistency and completeness checks.</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endParaRPr lang="en-US" sz="1200" b="0" kern="1200" dirty="0">
                        <a:solidFill>
                          <a:schemeClr val="dk1"/>
                        </a:solidFill>
                        <a:latin typeface="+mn-lt"/>
                        <a:ea typeface="+mn-ea"/>
                        <a:cs typeface="Arial" panose="020B0604020202020204" pitchFamily="34" charset="0"/>
                      </a:endParaRPr>
                    </a:p>
                    <a:p>
                      <a:pPr marL="0" algn="ctr" defTabSz="457200" rtl="0" eaLnBrk="1" latinLnBrk="0" hangingPunct="1"/>
                      <a:r>
                        <a:rPr lang="en-US" sz="1200" b="0" kern="1200" dirty="0">
                          <a:solidFill>
                            <a:schemeClr val="dk1"/>
                          </a:solidFill>
                          <a:latin typeface="+mn-lt"/>
                          <a:ea typeface="+mn-ea"/>
                          <a:cs typeface="Arial" panose="020B0604020202020204" pitchFamily="34" charset="0"/>
                        </a:rPr>
                        <a:t>23</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(2 of 5)</a:t>
            </a:r>
          </a:p>
        </p:txBody>
      </p:sp>
    </p:spTree>
    <p:extLst>
      <p:ext uri="{BB962C8B-B14F-4D97-AF65-F5344CB8AC3E}">
        <p14:creationId xmlns:p14="http://schemas.microsoft.com/office/powerpoint/2010/main" val="1676717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Yang, J., Yoon, S., Kim, B., &amp; Lee, H. (2024). FIZZ: Factual Inconsistency Detection by Zoom-in Summary and Zoom-out Document.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10.48550/arxiv.2404.11184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 new approach to check that the summary of a document is consistent with a document.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Break the summary down into Atomic Facts.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Compare Atomic Facts to the original document.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Natural Language Inference (NLI)</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only looked at article and news domains, no results for other domains.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tool does not create the summaries.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Higher interpretability by breaking it down into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FIZZ performed with highest average accuracy (71.2) on two standard data sets (</a:t>
                      </a:r>
                      <a:r>
                        <a:rPr lang="en-US" sz="1200" kern="1200" dirty="0" err="1">
                          <a:solidFill>
                            <a:schemeClr val="tx1"/>
                          </a:solidFill>
                          <a:effectLst/>
                          <a:latin typeface="+mn-lt"/>
                          <a:ea typeface="+mn-ea"/>
                          <a:cs typeface="Arial" panose="020B0604020202020204" pitchFamily="34" charset="0"/>
                        </a:rPr>
                        <a:t>AggreFact-Cnn</a:t>
                      </a:r>
                      <a:r>
                        <a:rPr lang="en-US" sz="1200" kern="1200" dirty="0">
                          <a:solidFill>
                            <a:schemeClr val="tx1"/>
                          </a:solidFill>
                          <a:effectLst/>
                          <a:latin typeface="+mn-lt"/>
                          <a:ea typeface="+mn-ea"/>
                          <a:cs typeface="Arial" panose="020B0604020202020204" pitchFamily="34" charset="0"/>
                        </a:rPr>
                        <a:t>, </a:t>
                      </a:r>
                      <a:r>
                        <a:rPr lang="en-US" sz="1200" kern="1200" dirty="0" err="1">
                          <a:solidFill>
                            <a:schemeClr val="tx1"/>
                          </a:solidFill>
                          <a:effectLst/>
                          <a:latin typeface="+mn-lt"/>
                          <a:ea typeface="+mn-ea"/>
                          <a:cs typeface="Arial" panose="020B0604020202020204" pitchFamily="34" charset="0"/>
                        </a:rPr>
                        <a:t>AggreFact-XSum</a:t>
                      </a:r>
                      <a:r>
                        <a:rPr lang="en-US" sz="1200" kern="1200" dirty="0">
                          <a:solidFill>
                            <a:schemeClr val="tx1"/>
                          </a:solidFill>
                          <a:effectLst/>
                          <a:latin typeface="+mn-lt"/>
                          <a:ea typeface="+mn-ea"/>
                          <a:cs typeface="Arial" panose="020B0604020202020204" pitchFamily="34" charset="0"/>
                        </a:rPr>
                        <a: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14</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will be useful to break a document down for analysis, into the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works well but is slow.</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15</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7</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(3 of 5)</a:t>
            </a:r>
          </a:p>
        </p:txBody>
      </p:sp>
    </p:spTree>
    <p:extLst>
      <p:ext uri="{BB962C8B-B14F-4D97-AF65-F5344CB8AC3E}">
        <p14:creationId xmlns:p14="http://schemas.microsoft.com/office/powerpoint/2010/main" val="1514820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82777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err="1">
                          <a:solidFill>
                            <a:schemeClr val="tx1"/>
                          </a:solidFill>
                          <a:effectLst/>
                          <a:latin typeface="+mn-lt"/>
                          <a:ea typeface="+mn-ea"/>
                          <a:cs typeface="Arial" panose="020B0604020202020204" pitchFamily="34" charset="0"/>
                        </a:rPr>
                        <a:t>Aumiller</a:t>
                      </a:r>
                      <a:r>
                        <a:rPr lang="en-US" sz="1200" kern="1200" dirty="0">
                          <a:solidFill>
                            <a:schemeClr val="tx1"/>
                          </a:solidFill>
                          <a:effectLst/>
                          <a:latin typeface="+mn-lt"/>
                          <a:ea typeface="+mn-ea"/>
                          <a:cs typeface="Arial" panose="020B0604020202020204" pitchFamily="34" charset="0"/>
                        </a:rPr>
                        <a:t>, D., </a:t>
                      </a:r>
                      <a:r>
                        <a:rPr lang="en-US" sz="1200" kern="1200" dirty="0" err="1">
                          <a:solidFill>
                            <a:schemeClr val="tx1"/>
                          </a:solidFill>
                          <a:effectLst/>
                          <a:latin typeface="+mn-lt"/>
                          <a:ea typeface="+mn-ea"/>
                          <a:cs typeface="Arial" panose="020B0604020202020204" pitchFamily="34" charset="0"/>
                        </a:rPr>
                        <a:t>Almasian</a:t>
                      </a:r>
                      <a:r>
                        <a:rPr lang="en-US" sz="1200" kern="1200" dirty="0">
                          <a:solidFill>
                            <a:schemeClr val="tx1"/>
                          </a:solidFill>
                          <a:effectLst/>
                          <a:latin typeface="+mn-lt"/>
                          <a:ea typeface="+mn-ea"/>
                          <a:cs typeface="Arial" panose="020B0604020202020204" pitchFamily="34" charset="0"/>
                        </a:rPr>
                        <a:t>, S., Lackner, S., &amp; Gertz, M. (Jun 21, 2021). Structural text segmentation of legal documents. Paper presented at the 2–11. 10.1145/3462757.3466085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use LLMs to process legal documents into a standard structure.</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Most previous work focused on sentences while this work focuses on paragraphs.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data they use is Terms of Service from over 70,000 web sites where they have extracted section headings to use as labels.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23</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Transformers using models from Hugging Face.</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show improvement in errors with their method over prior methods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Ensemble approaches performed better.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For example, one prior method had an error rate (misclassification of a section) of 32.28 while the authors approach had an error rate of 12.95.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25</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paper makes it clear that Transformers can be used to understand legal documents and their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There are many references in this paper that will help 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My expectation had been that paragraphs would be the right unit to work with and this confirms that.</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11</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(4 of 5)</a:t>
            </a:r>
          </a:p>
        </p:txBody>
      </p:sp>
    </p:spTree>
    <p:extLst>
      <p:ext uri="{BB962C8B-B14F-4D97-AF65-F5344CB8AC3E}">
        <p14:creationId xmlns:p14="http://schemas.microsoft.com/office/powerpoint/2010/main" val="2830673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859210756"/>
              </p:ext>
            </p:extLst>
          </p:nvPr>
        </p:nvGraphicFramePr>
        <p:xfrm>
          <a:off x="173736" y="1461154"/>
          <a:ext cx="8796528" cy="346291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solidFill>
                            <a:schemeClr val="tx1"/>
                          </a:solidFill>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mn-lt"/>
                          <a:cs typeface="Arial" panose="020B0604020202020204" pitchFamily="34" charset="0"/>
                        </a:rPr>
                        <a:t>Carbonell, M., Riba, P., Villegas, M., </a:t>
                      </a:r>
                      <a:r>
                        <a:rPr lang="en-US" sz="1200" dirty="0" err="1">
                          <a:solidFill>
                            <a:schemeClr val="tx1"/>
                          </a:solidFill>
                          <a:latin typeface="+mn-lt"/>
                          <a:cs typeface="Arial" panose="020B0604020202020204" pitchFamily="34" charset="0"/>
                        </a:rPr>
                        <a:t>Fornes</a:t>
                      </a:r>
                      <a:r>
                        <a:rPr lang="en-US" sz="1200" dirty="0">
                          <a:solidFill>
                            <a:schemeClr val="tx1"/>
                          </a:solidFill>
                          <a:latin typeface="+mn-lt"/>
                          <a:cs typeface="Arial" panose="020B0604020202020204" pitchFamily="34" charset="0"/>
                        </a:rPr>
                        <a:t>, A., &amp; </a:t>
                      </a:r>
                      <a:r>
                        <a:rPr lang="en-US" sz="1200" dirty="0" err="1">
                          <a:solidFill>
                            <a:schemeClr val="tx1"/>
                          </a:solidFill>
                          <a:latin typeface="+mn-lt"/>
                          <a:cs typeface="Arial" panose="020B0604020202020204" pitchFamily="34" charset="0"/>
                        </a:rPr>
                        <a:t>Llados</a:t>
                      </a:r>
                      <a:r>
                        <a:rPr lang="en-US" sz="1200" dirty="0">
                          <a:solidFill>
                            <a:schemeClr val="tx1"/>
                          </a:solidFill>
                          <a:latin typeface="+mn-lt"/>
                          <a:cs typeface="Arial" panose="020B0604020202020204" pitchFamily="34" charset="0"/>
                        </a:rPr>
                        <a:t>, J. (Jan 10, 2021). Named Entity Recognition and Relation Extraction with Graph Neural Networks in Semi Structured Documents. Paper presented at the 9622–9627. 10.1109/ICPR48806.2021.9412669 https://ieeexplore.ieee.org/document/9412669</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 task is to take a document, group words that relate to an entity, label the entities, and identify pair wise relationships between entities.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a GNN to learn how to do these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the FUNSD and IEHHR datasets.</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solidFill>
                            <a:schemeClr val="tx1"/>
                          </a:solidFill>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dirty="0">
                          <a:solidFill>
                            <a:schemeClr val="tx1"/>
                          </a:solidFill>
                          <a:latin typeface="+mn-lt"/>
                          <a:cs typeface="Arial" panose="020B0604020202020204" pitchFamily="34" charset="0"/>
                        </a:rPr>
                        <a:t>GNN, k-NN, GAT</a:t>
                      </a: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solidFill>
                            <a:schemeClr val="tx1"/>
                          </a:solidFill>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compare F1 scores for labeling and linking to previous work on the FUNSD data set and show an F1 of 0.64 on labeling and 0.39 on linking which is better for linking but worse for labeling.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For IEHHR they have 0.53 for labeling and 0.67 for linking but there is no prior work on this data set.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37</a:t>
                      </a:r>
                    </a:p>
                    <a:p>
                      <a:pPr marL="0" indent="0" algn="ctr">
                        <a:buFont typeface="Arial" panose="020B0604020202020204" pitchFamily="34" charset="0"/>
                        <a:buNone/>
                      </a:pPr>
                      <a:endParaRPr lang="en-US" sz="120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will provide me with an approach to understand the main entities of the law documents.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shows how to use a GNN to process a law document.</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16</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(5 of 5)</a:t>
            </a:r>
          </a:p>
        </p:txBody>
      </p:sp>
    </p:spTree>
    <p:extLst>
      <p:ext uri="{BB962C8B-B14F-4D97-AF65-F5344CB8AC3E}">
        <p14:creationId xmlns:p14="http://schemas.microsoft.com/office/powerpoint/2010/main" val="3281784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68687519"/>
              </p:ext>
            </p:extLst>
          </p:nvPr>
        </p:nvGraphicFramePr>
        <p:xfrm>
          <a:off x="177165" y="1050294"/>
          <a:ext cx="8789670" cy="3021048"/>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9288">
                <a:tc>
                  <a:txBody>
                    <a:bodyPr/>
                    <a:lstStyle/>
                    <a:p>
                      <a:r>
                        <a:rPr lang="en-US" sz="1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3"/>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9288">
                <a:tc>
                  <a:txBody>
                    <a:bodyPr/>
                    <a:lstStyle/>
                    <a:p>
                      <a:r>
                        <a:rPr lang="en-US" sz="1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844753"/>
                  </a:ext>
                </a:extLst>
              </a:tr>
            </a:tbl>
          </a:graphicData>
        </a:graphic>
      </p:graphicFrame>
      <p:sp>
        <p:nvSpPr>
          <p:cNvPr id="3" name="Title 2"/>
          <p:cNvSpPr>
            <a:spLocks noGrp="1"/>
          </p:cNvSpPr>
          <p:nvPr>
            <p:ph type="title"/>
          </p:nvPr>
        </p:nvSpPr>
        <p:spPr>
          <a:xfrm>
            <a:off x="607808" y="211294"/>
            <a:ext cx="7756263" cy="657386"/>
          </a:xfrm>
        </p:spPr>
        <p:txBody>
          <a:bodyPr/>
          <a:lstStyle/>
          <a:p>
            <a:r>
              <a:rPr lang="en-US" sz="3600" dirty="0">
                <a:solidFill>
                  <a:srgbClr val="B22600"/>
                </a:solidFill>
              </a:rPr>
              <a:t>Data Sources List</a:t>
            </a:r>
          </a:p>
        </p:txBody>
      </p:sp>
    </p:spTree>
    <p:extLst>
      <p:ext uri="{BB962C8B-B14F-4D97-AF65-F5344CB8AC3E}">
        <p14:creationId xmlns:p14="http://schemas.microsoft.com/office/powerpoint/2010/main" val="1291836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836CC-FD00-C345-BAEB-837501B6C1B7}"/>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72F42877-0A5A-4E47-93CF-852B591BA204}"/>
              </a:ext>
            </a:extLst>
          </p:cNvPr>
          <p:cNvGraphicFramePr>
            <a:graphicFrameLocks/>
          </p:cNvGraphicFramePr>
          <p:nvPr>
            <p:extLst>
              <p:ext uri="{D42A27DB-BD31-4B8C-83A1-F6EECF244321}">
                <p14:modId xmlns:p14="http://schemas.microsoft.com/office/powerpoint/2010/main" val="2052785682"/>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3C87D6F4-2CF4-DC40-8E0F-EEDBB952745B}"/>
              </a:ext>
            </a:extLst>
          </p:cNvPr>
          <p:cNvGraphicFramePr>
            <a:graphicFrameLocks noGrp="1"/>
          </p:cNvGraphicFramePr>
          <p:nvPr>
            <p:extLst>
              <p:ext uri="{D42A27DB-BD31-4B8C-83A1-F6EECF244321}">
                <p14:modId xmlns:p14="http://schemas.microsoft.com/office/powerpoint/2010/main" val="3135756212"/>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CF6B851D-ACA9-D84D-BED9-E279509EE465}"/>
              </a:ext>
            </a:extLst>
          </p:cNvPr>
          <p:cNvSpPr/>
          <p:nvPr/>
        </p:nvSpPr>
        <p:spPr>
          <a:xfrm>
            <a:off x="256651" y="4511962"/>
            <a:ext cx="8630695" cy="216488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6571F813-61EE-785C-4400-BC90673EEA41}"/>
              </a:ext>
            </a:extLst>
          </p:cNvPr>
          <p:cNvPicPr>
            <a:picLocks noChangeAspect="1"/>
          </p:cNvPicPr>
          <p:nvPr/>
        </p:nvPicPr>
        <p:blipFill>
          <a:blip r:embed="rId3"/>
          <a:stretch>
            <a:fillRect/>
          </a:stretch>
        </p:blipFill>
        <p:spPr>
          <a:xfrm>
            <a:off x="400049" y="4633156"/>
            <a:ext cx="2256309" cy="2011680"/>
          </a:xfrm>
          <a:prstGeom prst="rect">
            <a:avLst/>
          </a:prstGeom>
        </p:spPr>
      </p:pic>
      <p:sp>
        <p:nvSpPr>
          <p:cNvPr id="8" name="TextBox 7">
            <a:extLst>
              <a:ext uri="{FF2B5EF4-FFF2-40B4-BE49-F238E27FC236}">
                <a16:creationId xmlns:a16="http://schemas.microsoft.com/office/drawing/2014/main" id="{463E9558-F4F1-49F2-F0CB-9C3127E48ECD}"/>
              </a:ext>
            </a:extLst>
          </p:cNvPr>
          <p:cNvSpPr txBox="1"/>
          <p:nvPr/>
        </p:nvSpPr>
        <p:spPr>
          <a:xfrm>
            <a:off x="2935582" y="4946499"/>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4F31EDCC-BF08-AC3C-4192-4170A2A17EFF}"/>
              </a:ext>
            </a:extLst>
          </p:cNvPr>
          <p:cNvPicPr>
            <a:picLocks noChangeAspect="1"/>
          </p:cNvPicPr>
          <p:nvPr/>
        </p:nvPicPr>
        <p:blipFill>
          <a:blip r:embed="rId4"/>
          <a:stretch>
            <a:fillRect/>
          </a:stretch>
        </p:blipFill>
        <p:spPr>
          <a:xfrm>
            <a:off x="4618662" y="4633156"/>
            <a:ext cx="2369017" cy="2011680"/>
          </a:xfrm>
          <a:prstGeom prst="rect">
            <a:avLst/>
          </a:prstGeom>
        </p:spPr>
      </p:pic>
      <p:sp>
        <p:nvSpPr>
          <p:cNvPr id="11" name="TextBox 10">
            <a:extLst>
              <a:ext uri="{FF2B5EF4-FFF2-40B4-BE49-F238E27FC236}">
                <a16:creationId xmlns:a16="http://schemas.microsoft.com/office/drawing/2014/main" id="{D245566C-C427-9F76-BA50-F6578FEA77B5}"/>
              </a:ext>
            </a:extLst>
          </p:cNvPr>
          <p:cNvSpPr txBox="1"/>
          <p:nvPr/>
        </p:nvSpPr>
        <p:spPr>
          <a:xfrm>
            <a:off x="7266902" y="5377386"/>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2139836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5CB95-C1D7-A2CB-7C59-2B11D07EE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0A00ED-9B61-CFAA-4B06-21CF03984086}"/>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84DD0C29-0D80-5BD6-2686-850CC11214A1}"/>
              </a:ext>
            </a:extLst>
          </p:cNvPr>
          <p:cNvGraphicFramePr>
            <a:graphicFrameLocks/>
          </p:cNvGraphicFramePr>
          <p:nvPr>
            <p:extLst>
              <p:ext uri="{D42A27DB-BD31-4B8C-83A1-F6EECF244321}">
                <p14:modId xmlns:p14="http://schemas.microsoft.com/office/powerpoint/2010/main" val="1780938388"/>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2"/>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D9A86544-ADA7-EE89-EC5B-BB7F121212B4}"/>
              </a:ext>
            </a:extLst>
          </p:cNvPr>
          <p:cNvGraphicFramePr>
            <a:graphicFrameLocks noGrp="1"/>
          </p:cNvGraphicFramePr>
          <p:nvPr>
            <p:extLst>
              <p:ext uri="{D42A27DB-BD31-4B8C-83A1-F6EECF244321}">
                <p14:modId xmlns:p14="http://schemas.microsoft.com/office/powerpoint/2010/main" val="1547319799"/>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77B8F622-C595-912C-C438-97CA0F40866C}"/>
              </a:ext>
            </a:extLst>
          </p:cNvPr>
          <p:cNvSpPr/>
          <p:nvPr/>
        </p:nvSpPr>
        <p:spPr>
          <a:xfrm>
            <a:off x="256651" y="4511962"/>
            <a:ext cx="8630695" cy="225977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A30BF093-EF93-E413-C3B5-4929094D3D61}"/>
              </a:ext>
            </a:extLst>
          </p:cNvPr>
          <p:cNvPicPr>
            <a:picLocks noChangeAspect="1"/>
          </p:cNvPicPr>
          <p:nvPr/>
        </p:nvPicPr>
        <p:blipFill>
          <a:blip r:embed="rId3"/>
          <a:stretch>
            <a:fillRect/>
          </a:stretch>
        </p:blipFill>
        <p:spPr>
          <a:xfrm>
            <a:off x="483078" y="4579059"/>
            <a:ext cx="2489351" cy="2011680"/>
          </a:xfrm>
          <a:prstGeom prst="rect">
            <a:avLst/>
          </a:prstGeom>
        </p:spPr>
      </p:pic>
      <p:sp>
        <p:nvSpPr>
          <p:cNvPr id="8" name="TextBox 7">
            <a:extLst>
              <a:ext uri="{FF2B5EF4-FFF2-40B4-BE49-F238E27FC236}">
                <a16:creationId xmlns:a16="http://schemas.microsoft.com/office/drawing/2014/main" id="{972566E1-9A6E-2677-383A-05A125737A05}"/>
              </a:ext>
            </a:extLst>
          </p:cNvPr>
          <p:cNvSpPr txBox="1"/>
          <p:nvPr/>
        </p:nvSpPr>
        <p:spPr>
          <a:xfrm>
            <a:off x="3131112" y="4982224"/>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EC7F74AB-0A7A-B8D7-DB1C-70BDBE85FAAB}"/>
              </a:ext>
            </a:extLst>
          </p:cNvPr>
          <p:cNvPicPr>
            <a:picLocks noChangeAspect="1"/>
          </p:cNvPicPr>
          <p:nvPr/>
        </p:nvPicPr>
        <p:blipFill>
          <a:blip r:embed="rId4"/>
          <a:stretch>
            <a:fillRect/>
          </a:stretch>
        </p:blipFill>
        <p:spPr>
          <a:xfrm>
            <a:off x="4693651" y="4579059"/>
            <a:ext cx="2414568" cy="2011680"/>
          </a:xfrm>
          <a:prstGeom prst="rect">
            <a:avLst/>
          </a:prstGeom>
        </p:spPr>
      </p:pic>
      <p:sp>
        <p:nvSpPr>
          <p:cNvPr id="11" name="TextBox 10">
            <a:extLst>
              <a:ext uri="{FF2B5EF4-FFF2-40B4-BE49-F238E27FC236}">
                <a16:creationId xmlns:a16="http://schemas.microsoft.com/office/drawing/2014/main" id="{9CA74E9B-FD39-EA32-4612-37D1EE56B336}"/>
              </a:ext>
            </a:extLst>
          </p:cNvPr>
          <p:cNvSpPr txBox="1"/>
          <p:nvPr/>
        </p:nvSpPr>
        <p:spPr>
          <a:xfrm>
            <a:off x="7266902" y="5413111"/>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429633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0" y="857250"/>
            <a:ext cx="6858000" cy="4123944"/>
          </a:xfrm>
          <a:solidFill>
            <a:srgbClr val="00B050"/>
          </a:solidFill>
          <a:ln>
            <a:solidFill>
              <a:schemeClr val="bg1"/>
            </a:solidFill>
          </a:ln>
        </p:spPr>
        <p:style>
          <a:lnRef idx="1">
            <a:schemeClr val="accent2"/>
          </a:lnRef>
          <a:fillRef idx="3">
            <a:schemeClr val="accent2"/>
          </a:fillRef>
          <a:effectRef idx="2">
            <a:schemeClr val="accent2"/>
          </a:effectRef>
          <a:fontRef idx="minor">
            <a:schemeClr val="lt1"/>
          </a:fontRef>
        </p:style>
        <p:txBody>
          <a:bodyPr/>
          <a:lstStyle/>
          <a:p>
            <a:br>
              <a:rPr lang="en-US" sz="4950" dirty="0">
                <a:solidFill>
                  <a:schemeClr val="bg1"/>
                </a:solidFill>
              </a:rPr>
            </a:br>
            <a:r>
              <a:rPr lang="en-US" sz="4950" dirty="0">
                <a:solidFill>
                  <a:schemeClr val="bg1"/>
                </a:solidFill>
              </a:rPr>
              <a:t>   Appendix</a:t>
            </a:r>
          </a:p>
        </p:txBody>
      </p:sp>
    </p:spTree>
    <p:extLst>
      <p:ext uri="{BB962C8B-B14F-4D97-AF65-F5344CB8AC3E}">
        <p14:creationId xmlns:p14="http://schemas.microsoft.com/office/powerpoint/2010/main" val="2422766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483D-2CAD-1F49-9D21-49246DE3CD4A}"/>
              </a:ext>
            </a:extLst>
          </p:cNvPr>
          <p:cNvSpPr>
            <a:spLocks noGrp="1"/>
          </p:cNvSpPr>
          <p:nvPr>
            <p:ph type="ctrTitle"/>
          </p:nvPr>
        </p:nvSpPr>
        <p:spPr>
          <a:xfrm>
            <a:off x="188285" y="2620735"/>
            <a:ext cx="5544108" cy="944752"/>
          </a:xfrm>
        </p:spPr>
        <p:txBody>
          <a:bodyPr>
            <a:normAutofit fontScale="90000"/>
          </a:bodyPr>
          <a:lstStyle/>
          <a:p>
            <a:r>
              <a:rPr lang="en-US" dirty="0"/>
              <a:t>Appendix B</a:t>
            </a:r>
            <a:br>
              <a:rPr lang="en-US" dirty="0"/>
            </a:br>
            <a:r>
              <a:rPr lang="en-US" dirty="0"/>
              <a:t>Chapter Guidelines</a:t>
            </a:r>
            <a:br>
              <a:rPr lang="en-US" dirty="0"/>
            </a:br>
            <a:endParaRPr lang="en-US" i="1" dirty="0"/>
          </a:p>
        </p:txBody>
      </p:sp>
      <p:pic>
        <p:nvPicPr>
          <p:cNvPr id="7" name="Picture 6" descr="A close up of a logo&#10;&#10;Description automatically generated">
            <a:extLst>
              <a:ext uri="{FF2B5EF4-FFF2-40B4-BE49-F238E27FC236}">
                <a16:creationId xmlns:a16="http://schemas.microsoft.com/office/drawing/2014/main" id="{29346F4C-AAE4-7D20-CC82-EAFE0C375C8B}"/>
              </a:ext>
            </a:extLst>
          </p:cNvPr>
          <p:cNvPicPr>
            <a:picLocks noChangeAspect="1"/>
          </p:cNvPicPr>
          <p:nvPr/>
        </p:nvPicPr>
        <p:blipFill rotWithShape="1">
          <a:blip r:embed="rId2"/>
          <a:srcRect t="81632"/>
          <a:stretch/>
        </p:blipFill>
        <p:spPr>
          <a:xfrm>
            <a:off x="0" y="5055998"/>
            <a:ext cx="9144000" cy="944752"/>
          </a:xfrm>
          <a:prstGeom prst="rect">
            <a:avLst/>
          </a:prstGeom>
        </p:spPr>
      </p:pic>
    </p:spTree>
    <p:extLst>
      <p:ext uri="{BB962C8B-B14F-4D97-AF65-F5344CB8AC3E}">
        <p14:creationId xmlns:p14="http://schemas.microsoft.com/office/powerpoint/2010/main" val="4188673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119270" y="1751773"/>
            <a:ext cx="8885583" cy="3227732"/>
          </a:xfrm>
        </p:spPr>
        <p:txBody>
          <a:bodyPr>
            <a:normAutofit/>
          </a:bodyPr>
          <a:lstStyle/>
          <a:p>
            <a:pPr marL="126206" indent="-126206">
              <a:buFont typeface="Arial" panose="020B0604020202020204" pitchFamily="34" charset="0"/>
              <a:buChar char="•"/>
            </a:pPr>
            <a:r>
              <a:rPr lang="en-US" sz="1650" b="1" dirty="0"/>
              <a:t>Chapter 1 Introduction </a:t>
            </a:r>
            <a:r>
              <a:rPr lang="en-US" sz="1650" dirty="0"/>
              <a:t>(5 pages)</a:t>
            </a:r>
          </a:p>
          <a:p>
            <a:pPr lvl="1" indent="0">
              <a:buNone/>
            </a:pPr>
            <a:r>
              <a:rPr lang="en-US" sz="1500" dirty="0"/>
              <a:t>Should answer:</a:t>
            </a:r>
          </a:p>
          <a:p>
            <a:pPr marL="646510" lvl="1" indent="-132160"/>
            <a:r>
              <a:rPr lang="en-US" sz="1500" dirty="0"/>
              <a:t>What are you doing?</a:t>
            </a:r>
          </a:p>
          <a:p>
            <a:pPr marL="646510" lvl="1" indent="-132160"/>
            <a:r>
              <a:rPr lang="en-US" sz="1500" dirty="0"/>
              <a:t>Why is it important?</a:t>
            </a:r>
          </a:p>
          <a:p>
            <a:pPr marL="646510" lvl="1" indent="-132160"/>
            <a:r>
              <a:rPr lang="en-US" sz="1500" dirty="0"/>
              <a:t>What have others done?</a:t>
            </a:r>
          </a:p>
          <a:p>
            <a:pPr marL="646510" lvl="1" indent="-132160"/>
            <a:r>
              <a:rPr lang="en-US" sz="1500" dirty="0"/>
              <a:t>What are you doing that’s different or better?</a:t>
            </a:r>
          </a:p>
          <a:p>
            <a:pPr marL="646510" lvl="1" indent="-132160"/>
            <a:r>
              <a:rPr lang="en-US" sz="1500" dirty="0"/>
              <a:t>What do you hope to achieve?</a:t>
            </a:r>
          </a:p>
          <a:p>
            <a:pPr marL="126206" indent="-126206">
              <a:buFont typeface="Arial" panose="020B0604020202020204" pitchFamily="34" charset="0"/>
              <a:buChar char="•"/>
            </a:pPr>
            <a:r>
              <a:rPr lang="en-US" sz="1500" dirty="0"/>
              <a:t> </a:t>
            </a:r>
            <a:r>
              <a:rPr lang="en-US" sz="1650" b="1" dirty="0"/>
              <a:t>Chapter 2 Literature Review </a:t>
            </a:r>
            <a:r>
              <a:rPr lang="en-US" sz="1650" dirty="0"/>
              <a:t>(25-30 pages)</a:t>
            </a:r>
          </a:p>
          <a:p>
            <a:pPr marL="646510" lvl="1" indent="-132160"/>
            <a:r>
              <a:rPr lang="en-US" sz="1500" dirty="0"/>
              <a:t>Should be a comparing and contrasting of the work done on the subject to date. </a:t>
            </a:r>
          </a:p>
          <a:p>
            <a:pPr marL="646510" lvl="1" indent="-132160"/>
            <a:r>
              <a:rPr lang="en-US" sz="1500" dirty="0"/>
              <a:t>Should be well organized and easy to follow</a:t>
            </a:r>
          </a:p>
          <a:p>
            <a:pPr marL="646510" lvl="1" indent="-132160"/>
            <a:r>
              <a:rPr lang="en-US" sz="1500" dirty="0"/>
              <a:t>This should be based on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1006653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3 Methodology </a:t>
            </a:r>
            <a:r>
              <a:rPr lang="en-US" sz="1650" dirty="0"/>
              <a:t>(25-30 pages) </a:t>
            </a:r>
          </a:p>
          <a:p>
            <a:pPr marL="0" algn="ctr"/>
            <a:r>
              <a:rPr lang="en-US" sz="1650" dirty="0"/>
              <a:t> </a:t>
            </a:r>
            <a:r>
              <a:rPr lang="en-US" sz="1500" b="1" dirty="0">
                <a:solidFill>
                  <a:srgbClr val="FF0000"/>
                </a:solidFill>
              </a:rPr>
              <a:t>No qualitative research methods (survey, grounded theory, etc.).</a:t>
            </a:r>
          </a:p>
          <a:p>
            <a:pPr marL="0" algn="ctr"/>
            <a:r>
              <a:rPr lang="en-US" sz="1500" b="1" dirty="0">
                <a:solidFill>
                  <a:srgbClr val="FF0000"/>
                </a:solidFill>
              </a:rPr>
              <a:t> No method that requires the IRB</a:t>
            </a:r>
          </a:p>
          <a:p>
            <a:pPr marL="646510" lvl="1" indent="-132160"/>
            <a:r>
              <a:rPr lang="en-US" sz="1500" dirty="0"/>
              <a:t>Describe any data, data manipulation, and data cleaning used</a:t>
            </a:r>
          </a:p>
          <a:p>
            <a:pPr marL="646510" lvl="1" indent="-132160"/>
            <a:r>
              <a:rPr lang="en-US" sz="1500" dirty="0"/>
              <a:t>Explain the methodology with its strengths and weaknesses</a:t>
            </a:r>
          </a:p>
          <a:p>
            <a:pPr marL="646510" lvl="1" indent="-132160"/>
            <a:r>
              <a:rPr lang="en-US" sz="1500" dirty="0"/>
              <a:t>Explain any variation of the methodology required to address the problem in the praxis</a:t>
            </a:r>
          </a:p>
          <a:p>
            <a:pPr marL="126206" indent="-126206">
              <a:buFont typeface="Arial" panose="020B0604020202020204" pitchFamily="34" charset="0"/>
              <a:buChar char="•"/>
            </a:pPr>
            <a:r>
              <a:rPr lang="en-US" sz="1650" b="1" dirty="0"/>
              <a:t>Chapter 4 Results </a:t>
            </a:r>
            <a:r>
              <a:rPr lang="en-US" sz="1650" dirty="0"/>
              <a:t>(25-30 pages)</a:t>
            </a:r>
          </a:p>
          <a:p>
            <a:pPr marL="646510" lvl="1" indent="-132160"/>
            <a:r>
              <a:rPr lang="en-US" sz="1500" dirty="0"/>
              <a:t>Using the results from the methodology, lead the reader through the proof of the research hypotheses</a:t>
            </a:r>
          </a:p>
          <a:p>
            <a:pPr marL="646510" lvl="1" indent="-132160"/>
            <a:r>
              <a:rPr lang="en-US" sz="1500" dirty="0"/>
              <a:t>Clearly state all findings using tables and graphics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788786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5 Conclusions </a:t>
            </a:r>
            <a:r>
              <a:rPr lang="en-US" sz="1650" dirty="0"/>
              <a:t>(~5 pages)</a:t>
            </a:r>
          </a:p>
          <a:p>
            <a:pPr marL="646510" lvl="1" indent="-132160"/>
            <a:r>
              <a:rPr lang="en-US" sz="1500" dirty="0"/>
              <a:t>Discuss the results of proving the research hypotheses</a:t>
            </a:r>
          </a:p>
          <a:p>
            <a:pPr marL="646510" lvl="1" indent="-132160"/>
            <a:r>
              <a:rPr lang="en-US" sz="1500" dirty="0"/>
              <a:t>Clearly state any weakness or limitation in the analysis</a:t>
            </a:r>
          </a:p>
          <a:p>
            <a:pPr marL="646510" lvl="1" indent="-132160"/>
            <a:r>
              <a:rPr lang="en-US" sz="1500" dirty="0"/>
              <a:t>Clearly state the scope of the study and its implications</a:t>
            </a:r>
          </a:p>
          <a:p>
            <a:pPr marL="646510" lvl="1" indent="-132160"/>
            <a:r>
              <a:rPr lang="en-US" sz="1500" dirty="0"/>
              <a:t>Provide a roadmap for future research</a:t>
            </a:r>
          </a:p>
          <a:p>
            <a:pPr marL="126206" indent="-126206">
              <a:buFont typeface="Arial" panose="020B0604020202020204" pitchFamily="34" charset="0"/>
              <a:buChar char="•"/>
            </a:pPr>
            <a:r>
              <a:rPr lang="en-US" sz="1650" b="1" dirty="0"/>
              <a:t>References</a:t>
            </a:r>
            <a:r>
              <a:rPr lang="en-US" sz="1650" dirty="0"/>
              <a:t> (5-10 pages)</a:t>
            </a:r>
          </a:p>
          <a:p>
            <a:pPr marL="702945" lvl="1" indent="-257175"/>
            <a:r>
              <a:rPr lang="en-US" sz="1500" dirty="0"/>
              <a:t>Minimum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106061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12AF15C-2928-C946-AF44-578030B4A5C7}"/>
              </a:ext>
            </a:extLst>
          </p:cNvPr>
          <p:cNvGraphicFramePr>
            <a:graphicFrameLocks noGrp="1"/>
          </p:cNvGraphicFramePr>
          <p:nvPr>
            <p:ph idx="1"/>
            <p:extLst>
              <p:ext uri="{D42A27DB-BD31-4B8C-83A1-F6EECF244321}">
                <p14:modId xmlns:p14="http://schemas.microsoft.com/office/powerpoint/2010/main" val="2763163980"/>
              </p:ext>
            </p:extLst>
          </p:nvPr>
        </p:nvGraphicFramePr>
        <p:xfrm>
          <a:off x="1011333" y="2558059"/>
          <a:ext cx="7205552" cy="1278800"/>
        </p:xfrm>
        <a:graphic>
          <a:graphicData uri="http://schemas.openxmlformats.org/drawingml/2006/table">
            <a:tbl>
              <a:tblPr>
                <a:tableStyleId>{46F890A9-2807-4EBB-B81D-B2AA78EC7F39}</a:tableStyleId>
              </a:tblPr>
              <a:tblGrid>
                <a:gridCol w="1513289">
                  <a:extLst>
                    <a:ext uri="{9D8B030D-6E8A-4147-A177-3AD203B41FA5}">
                      <a16:colId xmlns:a16="http://schemas.microsoft.com/office/drawing/2014/main" val="4043085832"/>
                    </a:ext>
                  </a:extLst>
                </a:gridCol>
                <a:gridCol w="5692263">
                  <a:extLst>
                    <a:ext uri="{9D8B030D-6E8A-4147-A177-3AD203B41FA5}">
                      <a16:colId xmlns:a16="http://schemas.microsoft.com/office/drawing/2014/main" val="1595140951"/>
                    </a:ext>
                  </a:extLst>
                </a:gridCol>
              </a:tblGrid>
              <a:tr h="219196">
                <a:tc>
                  <a:txBody>
                    <a:bodyPr/>
                    <a:lstStyle/>
                    <a:p>
                      <a:pPr algn="l" fontAlgn="t"/>
                      <a:r>
                        <a:rPr lang="en-US" sz="1200" dirty="0">
                          <a:effectLst/>
                        </a:rPr>
                        <a:t>1 author</a:t>
                      </a:r>
                    </a:p>
                  </a:txBody>
                  <a:tcPr marL="91101" marR="91101" marT="45550" marB="45550"/>
                </a:tc>
                <a:tc>
                  <a:txBody>
                    <a:bodyPr/>
                    <a:lstStyle/>
                    <a:p>
                      <a:pPr fontAlgn="t"/>
                      <a:r>
                        <a:rPr lang="en-US" sz="1200" dirty="0">
                          <a:effectLst/>
                        </a:rPr>
                        <a:t>(Taylor, 2018, p. 23)</a:t>
                      </a:r>
                    </a:p>
                  </a:txBody>
                  <a:tcPr marL="91101" marR="91101" marT="45550" marB="45550"/>
                </a:tc>
                <a:extLst>
                  <a:ext uri="{0D108BD9-81ED-4DB2-BD59-A6C34878D82A}">
                    <a16:rowId xmlns:a16="http://schemas.microsoft.com/office/drawing/2014/main" val="3898324175"/>
                  </a:ext>
                </a:extLst>
              </a:tr>
              <a:tr h="219196">
                <a:tc>
                  <a:txBody>
                    <a:bodyPr/>
                    <a:lstStyle/>
                    <a:p>
                      <a:pPr algn="l" fontAlgn="t"/>
                      <a:r>
                        <a:rPr lang="en-US" sz="1200" dirty="0">
                          <a:effectLst/>
                        </a:rPr>
                        <a:t>2 authors</a:t>
                      </a:r>
                    </a:p>
                  </a:txBody>
                  <a:tcPr marL="91101" marR="91101" marT="45550" marB="45550"/>
                </a:tc>
                <a:tc>
                  <a:txBody>
                    <a:bodyPr/>
                    <a:lstStyle/>
                    <a:p>
                      <a:pPr fontAlgn="t"/>
                      <a:r>
                        <a:rPr lang="en-US" sz="1200" dirty="0">
                          <a:effectLst/>
                        </a:rPr>
                        <a:t>(Taylor &amp; Kotler, 2018, p. 23)</a:t>
                      </a:r>
                    </a:p>
                  </a:txBody>
                  <a:tcPr marL="91101" marR="91101" marT="45550" marB="45550"/>
                </a:tc>
                <a:extLst>
                  <a:ext uri="{0D108BD9-81ED-4DB2-BD59-A6C34878D82A}">
                    <a16:rowId xmlns:a16="http://schemas.microsoft.com/office/drawing/2014/main" val="2573026158"/>
                  </a:ext>
                </a:extLst>
              </a:tr>
              <a:tr h="365508">
                <a:tc>
                  <a:txBody>
                    <a:bodyPr/>
                    <a:lstStyle/>
                    <a:p>
                      <a:pPr algn="l" fontAlgn="t"/>
                      <a:r>
                        <a:rPr lang="en-US" sz="1200" dirty="0">
                          <a:effectLst/>
                        </a:rPr>
                        <a:t>3–5 authors</a:t>
                      </a:r>
                    </a:p>
                  </a:txBody>
                  <a:tcPr marL="91101" marR="91101" marT="45550" marB="45550"/>
                </a:tc>
                <a:tc>
                  <a:txBody>
                    <a:bodyPr/>
                    <a:lstStyle/>
                    <a:p>
                      <a:pPr fontAlgn="t"/>
                      <a:r>
                        <a:rPr lang="en-US" sz="1200" dirty="0">
                          <a:effectLst/>
                        </a:rPr>
                        <a:t>First citation: (Taylor, Kotler, Johnson, &amp; Parker, 2018, p. 23)</a:t>
                      </a:r>
                    </a:p>
                    <a:p>
                      <a:pPr fontAlgn="t"/>
                      <a:r>
                        <a:rPr lang="en-US" sz="1200" dirty="0">
                          <a:effectLst/>
                        </a:rPr>
                        <a:t>Subsequent citations: (Taylor et al., 2018, p. 23)</a:t>
                      </a:r>
                    </a:p>
                  </a:txBody>
                  <a:tcPr marL="91101" marR="91101" marT="45550" marB="45550"/>
                </a:tc>
                <a:extLst>
                  <a:ext uri="{0D108BD9-81ED-4DB2-BD59-A6C34878D82A}">
                    <a16:rowId xmlns:a16="http://schemas.microsoft.com/office/drawing/2014/main" val="2516117376"/>
                  </a:ext>
                </a:extLst>
              </a:tr>
              <a:tr h="259517">
                <a:tc>
                  <a:txBody>
                    <a:bodyPr/>
                    <a:lstStyle/>
                    <a:p>
                      <a:pPr algn="l" fontAlgn="t"/>
                      <a:r>
                        <a:rPr lang="en-US" sz="1200" dirty="0">
                          <a:effectLst/>
                        </a:rPr>
                        <a:t>6+ authors</a:t>
                      </a:r>
                    </a:p>
                  </a:txBody>
                  <a:tcPr marL="91101" marR="91101" marT="45550" marB="45550"/>
                </a:tc>
                <a:tc>
                  <a:txBody>
                    <a:bodyPr/>
                    <a:lstStyle/>
                    <a:p>
                      <a:pPr fontAlgn="t"/>
                      <a:r>
                        <a:rPr lang="en-US" sz="1200" dirty="0">
                          <a:effectLst/>
                        </a:rPr>
                        <a:t>(Taylor et al., 2018, p. 23)</a:t>
                      </a:r>
                    </a:p>
                  </a:txBody>
                  <a:tcPr marL="91101" marR="91101" marT="45550" marB="45550"/>
                </a:tc>
                <a:extLst>
                  <a:ext uri="{0D108BD9-81ED-4DB2-BD59-A6C34878D82A}">
                    <a16:rowId xmlns:a16="http://schemas.microsoft.com/office/drawing/2014/main" val="1875433718"/>
                  </a:ext>
                </a:extLst>
              </a:tr>
            </a:tbl>
          </a:graphicData>
        </a:graphic>
      </p:graphicFrame>
      <p:sp>
        <p:nvSpPr>
          <p:cNvPr id="5" name="Rectangle 4">
            <a:extLst>
              <a:ext uri="{FF2B5EF4-FFF2-40B4-BE49-F238E27FC236}">
                <a16:creationId xmlns:a16="http://schemas.microsoft.com/office/drawing/2014/main" id="{2EA5A575-9B03-D04F-A685-CC8E2DC92E9F}"/>
              </a:ext>
            </a:extLst>
          </p:cNvPr>
          <p:cNvSpPr/>
          <p:nvPr/>
        </p:nvSpPr>
        <p:spPr>
          <a:xfrm>
            <a:off x="589546" y="1291827"/>
            <a:ext cx="7756263" cy="646331"/>
          </a:xfrm>
          <a:prstGeom prst="rect">
            <a:avLst/>
          </a:prstGeom>
        </p:spPr>
        <p:txBody>
          <a:bodyPr wrap="square">
            <a:spAutoFit/>
          </a:bodyPr>
          <a:lstStyle/>
          <a:p>
            <a:pPr marL="285750" indent="-285750">
              <a:buFont typeface="Arial" panose="020B0604020202020204" pitchFamily="34" charset="0"/>
              <a:buChar char="•"/>
            </a:pPr>
            <a:r>
              <a:rPr lang="en-US" sz="1200" dirty="0"/>
              <a:t>Source citation consists of:</a:t>
            </a:r>
          </a:p>
          <a:p>
            <a:pPr marL="742950" lvl="1" indent="-285750">
              <a:buFont typeface="Arial" panose="020B0604020202020204" pitchFamily="34" charset="0"/>
              <a:buChar char="•"/>
            </a:pPr>
            <a:r>
              <a:rPr lang="en-US" sz="1200" dirty="0"/>
              <a:t>A brief </a:t>
            </a:r>
            <a:r>
              <a:rPr lang="en-US" sz="1200" b="1" dirty="0"/>
              <a:t>parenthetical citation</a:t>
            </a:r>
            <a:r>
              <a:rPr lang="en-US" sz="1200" dirty="0"/>
              <a:t> in the text</a:t>
            </a:r>
          </a:p>
          <a:p>
            <a:pPr marL="742950" lvl="1" indent="-285750">
              <a:buFont typeface="Arial" panose="020B0604020202020204" pitchFamily="34" charset="0"/>
              <a:buChar char="•"/>
            </a:pPr>
            <a:r>
              <a:rPr lang="en-US" sz="1200" dirty="0"/>
              <a:t>A</a:t>
            </a:r>
            <a:r>
              <a:rPr lang="en-US" sz="1200" b="1" dirty="0"/>
              <a:t> full reference</a:t>
            </a:r>
            <a:r>
              <a:rPr lang="en-US" sz="1200" dirty="0"/>
              <a:t> at the end of the paper</a:t>
            </a:r>
          </a:p>
        </p:txBody>
      </p:sp>
      <p:sp>
        <p:nvSpPr>
          <p:cNvPr id="8" name="Rectangle 7">
            <a:extLst>
              <a:ext uri="{FF2B5EF4-FFF2-40B4-BE49-F238E27FC236}">
                <a16:creationId xmlns:a16="http://schemas.microsoft.com/office/drawing/2014/main" id="{D36C3350-6B7B-6C45-BDCA-49C47BCBCE28}"/>
              </a:ext>
            </a:extLst>
          </p:cNvPr>
          <p:cNvSpPr/>
          <p:nvPr/>
        </p:nvSpPr>
        <p:spPr>
          <a:xfrm>
            <a:off x="688490" y="1853202"/>
            <a:ext cx="5516575" cy="954107"/>
          </a:xfrm>
          <a:prstGeom prst="rect">
            <a:avLst/>
          </a:prstGeom>
        </p:spPr>
        <p:txBody>
          <a:bodyPr wrap="none">
            <a:spAutoFit/>
          </a:bodyPr>
          <a:lstStyle/>
          <a:p>
            <a:r>
              <a:rPr lang="en-US" sz="1400" b="1" u="sng" dirty="0">
                <a:solidFill>
                  <a:srgbClr val="0070C0"/>
                </a:solidFill>
              </a:rPr>
              <a:t>APA In-text Citations</a:t>
            </a:r>
          </a:p>
          <a:p>
            <a:pPr marL="285750" indent="-285750">
              <a:buFont typeface="Arial" panose="020B0604020202020204" pitchFamily="34" charset="0"/>
              <a:buChar char="•"/>
            </a:pPr>
            <a:r>
              <a:rPr lang="en-US" sz="1200" dirty="0"/>
              <a:t>An APA in-text citation includes the author’s last name and the publication year.</a:t>
            </a:r>
          </a:p>
          <a:p>
            <a:pPr marL="285750" indent="-285750">
              <a:buFont typeface="Arial" panose="020B0604020202020204" pitchFamily="34" charset="0"/>
              <a:buChar char="•"/>
            </a:pPr>
            <a:r>
              <a:rPr lang="en-US" sz="1200" dirty="0"/>
              <a:t>If you’re quoting or paraphrasing a specific passage, you also add a page number.</a:t>
            </a:r>
          </a:p>
          <a:p>
            <a:endParaRPr lang="en-US" b="1" dirty="0"/>
          </a:p>
        </p:txBody>
      </p:sp>
      <p:sp>
        <p:nvSpPr>
          <p:cNvPr id="9" name="Rectangle 8">
            <a:extLst>
              <a:ext uri="{FF2B5EF4-FFF2-40B4-BE49-F238E27FC236}">
                <a16:creationId xmlns:a16="http://schemas.microsoft.com/office/drawing/2014/main" id="{3418D132-D12B-5948-8EB4-3BB4107E719F}"/>
              </a:ext>
            </a:extLst>
          </p:cNvPr>
          <p:cNvSpPr/>
          <p:nvPr/>
        </p:nvSpPr>
        <p:spPr>
          <a:xfrm>
            <a:off x="589546" y="3840155"/>
            <a:ext cx="8049126" cy="1415772"/>
          </a:xfrm>
          <a:prstGeom prst="rect">
            <a:avLst/>
          </a:prstGeom>
        </p:spPr>
        <p:txBody>
          <a:bodyPr wrap="square">
            <a:spAutoFit/>
          </a:bodyPr>
          <a:lstStyle/>
          <a:p>
            <a:r>
              <a:rPr lang="en-US" sz="1400" b="1" u="sng" dirty="0">
                <a:solidFill>
                  <a:srgbClr val="0070C0"/>
                </a:solidFill>
                <a:latin typeface="Circular-Bold"/>
              </a:rPr>
              <a:t>APA Reference List</a:t>
            </a:r>
          </a:p>
          <a:p>
            <a:pPr lvl="1"/>
            <a:r>
              <a:rPr lang="en-US" sz="1200" dirty="0"/>
              <a:t>Smith, T. (2019). </a:t>
            </a:r>
            <a:r>
              <a:rPr lang="en-US" sz="1200" i="1" dirty="0"/>
              <a:t>Citing sources and referencing: A quick guide</a:t>
            </a:r>
            <a:r>
              <a:rPr lang="en-US" sz="1200" dirty="0"/>
              <a:t>. (J. M. Taylor, Ed.) (2nd ed.). Amsterdam, The Netherlands: Scribbr.</a:t>
            </a:r>
          </a:p>
          <a:p>
            <a:r>
              <a:rPr lang="en-US" sz="1200" b="1" i="1" dirty="0"/>
              <a:t>In-text citation</a:t>
            </a:r>
          </a:p>
          <a:p>
            <a:r>
              <a:rPr lang="en-US" sz="1200" i="1" dirty="0"/>
              <a:t>According to new research (Smith, 2019, pp. 11–12) …</a:t>
            </a:r>
          </a:p>
          <a:p>
            <a:r>
              <a:rPr lang="en-US" sz="1200" i="1" dirty="0"/>
              <a:t>As mentioned before (Smith, 2019, pp. 11–12) …</a:t>
            </a:r>
          </a:p>
          <a:p>
            <a:r>
              <a:rPr lang="en-US" sz="1200" i="1" dirty="0"/>
              <a:t>(See Smith, 2019)</a:t>
            </a:r>
            <a:endParaRPr lang="en-US" sz="1200" b="0" i="1" u="none" strike="noStrike" dirty="0">
              <a:effectLst/>
            </a:endParaRPr>
          </a:p>
        </p:txBody>
      </p:sp>
      <p:sp>
        <p:nvSpPr>
          <p:cNvPr id="10" name="Rectangle 9">
            <a:extLst>
              <a:ext uri="{FF2B5EF4-FFF2-40B4-BE49-F238E27FC236}">
                <a16:creationId xmlns:a16="http://schemas.microsoft.com/office/drawing/2014/main" id="{63E9D0AA-9634-6F42-84A1-DE21F60B0DDF}"/>
              </a:ext>
            </a:extLst>
          </p:cNvPr>
          <p:cNvSpPr/>
          <p:nvPr/>
        </p:nvSpPr>
        <p:spPr>
          <a:xfrm>
            <a:off x="505328" y="5280085"/>
            <a:ext cx="4572000" cy="261610"/>
          </a:xfrm>
          <a:prstGeom prst="rect">
            <a:avLst/>
          </a:prstGeom>
        </p:spPr>
        <p:txBody>
          <a:bodyPr>
            <a:spAutoFit/>
          </a:bodyPr>
          <a:lstStyle/>
          <a:p>
            <a:r>
              <a:rPr lang="en-US" sz="1050" dirty="0"/>
              <a:t>* https://www.scribbr.com/citing-sources/apa-vs-mla/</a:t>
            </a:r>
          </a:p>
        </p:txBody>
      </p:sp>
      <p:sp>
        <p:nvSpPr>
          <p:cNvPr id="12" name="Title 2">
            <a:extLst>
              <a:ext uri="{FF2B5EF4-FFF2-40B4-BE49-F238E27FC236}">
                <a16:creationId xmlns:a16="http://schemas.microsoft.com/office/drawing/2014/main" id="{0F68BAF4-0714-AE4A-A95C-F9F041133744}"/>
              </a:ext>
            </a:extLst>
          </p:cNvPr>
          <p:cNvSpPr>
            <a:spLocks noGrp="1"/>
          </p:cNvSpPr>
          <p:nvPr>
            <p:ph type="title"/>
          </p:nvPr>
        </p:nvSpPr>
        <p:spPr>
          <a:xfrm>
            <a:off x="640754" y="500780"/>
            <a:ext cx="7874597" cy="1054250"/>
          </a:xfrm>
        </p:spPr>
        <p:txBody>
          <a:bodyPr/>
          <a:lstStyle/>
          <a:p>
            <a:r>
              <a:rPr lang="en-US" dirty="0"/>
              <a:t>APA Guidelines</a:t>
            </a:r>
            <a:r>
              <a:rPr lang="en-US" baseline="30000" dirty="0"/>
              <a:t>(*)</a:t>
            </a:r>
          </a:p>
        </p:txBody>
      </p:sp>
    </p:spTree>
    <p:extLst>
      <p:ext uri="{BB962C8B-B14F-4D97-AF65-F5344CB8AC3E}">
        <p14:creationId xmlns:p14="http://schemas.microsoft.com/office/powerpoint/2010/main" val="121924032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8541</TotalTime>
  <Words>3546</Words>
  <Application>Microsoft Office PowerPoint</Application>
  <PresentationFormat>On-screen Show (4:3)</PresentationFormat>
  <Paragraphs>513</Paragraphs>
  <Slides>29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Calibri</vt:lpstr>
      <vt:lpstr>Circular-Bold</vt:lpstr>
      <vt:lpstr>Segoe UI</vt:lpstr>
      <vt:lpstr>verdana</vt:lpstr>
      <vt:lpstr>Custom Design</vt:lpstr>
      <vt:lpstr>1_Custom Design</vt:lpstr>
      <vt:lpstr>Using Large Language Models to Convert Documents to Knowledge Graphs to Check for Completeness and Consistency</vt:lpstr>
      <vt:lpstr>Preparing the Praxis Chapters</vt:lpstr>
      <vt:lpstr>Preparing the Praxis Chapters</vt:lpstr>
      <vt:lpstr>Praxis Deadlines Based on email</vt:lpstr>
      <vt:lpstr>Response to Advisor Feedback from previous meeting(s)</vt:lpstr>
      <vt:lpstr>Progress Since Last Meeting</vt:lpstr>
      <vt:lpstr>Issues Encountered and Setbacks</vt:lpstr>
      <vt:lpstr>Tasks for the Next Two Weeks</vt:lpstr>
      <vt:lpstr>Glossary of Terms</vt:lpstr>
      <vt:lpstr>Acronyms</vt:lpstr>
      <vt:lpstr>Scope of Work (SOW)</vt:lpstr>
      <vt:lpstr>Problem Statement</vt:lpstr>
      <vt:lpstr>PowerPoint Presentation</vt:lpstr>
      <vt:lpstr>PowerPoint Presentation</vt:lpstr>
      <vt:lpstr>PowerPoint Presentation</vt:lpstr>
      <vt:lpstr>Annotated Bibliography (1 of 5)</vt:lpstr>
      <vt:lpstr>Annotated Bibliography (2 of 5)</vt:lpstr>
      <vt:lpstr>Annotated Bibliography (3 of 5)</vt:lpstr>
      <vt:lpstr>Annotated Bibliography (4 of 5)</vt:lpstr>
      <vt:lpstr>Annotated Bibliography (5 of 5)</vt:lpstr>
      <vt:lpstr>Data Sources List</vt:lpstr>
      <vt:lpstr>Data Source Example</vt:lpstr>
      <vt:lpstr>Data Source Example</vt:lpstr>
      <vt:lpstr>    Appendix</vt:lpstr>
      <vt:lpstr>Appendix B Chapter Guidelines </vt:lpstr>
      <vt:lpstr>General Chapter Guidelines</vt:lpstr>
      <vt:lpstr>General Chapter Guidelines</vt:lpstr>
      <vt:lpstr>General Chapter Guidelines</vt:lpstr>
      <vt:lpstr>APA Guidelines(*)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Alsarhan, Hamza</dc:creator>
  <cp:keywords/>
  <dc:description/>
  <cp:lastModifiedBy>Michael</cp:lastModifiedBy>
  <cp:revision>270</cp:revision>
  <dcterms:created xsi:type="dcterms:W3CDTF">2020-01-15T21:27:56Z</dcterms:created>
  <dcterms:modified xsi:type="dcterms:W3CDTF">2025-05-08T18:01:46Z</dcterms:modified>
  <cp:category/>
</cp:coreProperties>
</file>